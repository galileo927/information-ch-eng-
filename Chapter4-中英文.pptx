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handoutMasterIdLst>
    <p:handoutMasterId r:id="rId113"/>
  </p:handoutMasterIdLst>
  <p:sldIdLst>
    <p:sldId id="812" r:id="rId3"/>
    <p:sldId id="1138" r:id="rId4"/>
    <p:sldId id="1139" r:id="rId5"/>
    <p:sldId id="1140" r:id="rId6"/>
    <p:sldId id="1141" r:id="rId7"/>
    <p:sldId id="1142" r:id="rId8"/>
    <p:sldId id="1143" r:id="rId9"/>
    <p:sldId id="1144" r:id="rId10"/>
    <p:sldId id="1145" r:id="rId11"/>
    <p:sldId id="1146" r:id="rId12"/>
    <p:sldId id="1147" r:id="rId13"/>
    <p:sldId id="1148" r:id="rId14"/>
    <p:sldId id="1149" r:id="rId15"/>
    <p:sldId id="1150" r:id="rId16"/>
    <p:sldId id="1151" r:id="rId17"/>
    <p:sldId id="1152" r:id="rId18"/>
    <p:sldId id="1153" r:id="rId19"/>
    <p:sldId id="1154" r:id="rId20"/>
    <p:sldId id="1155" r:id="rId21"/>
    <p:sldId id="1156" r:id="rId22"/>
    <p:sldId id="1157" r:id="rId23"/>
    <p:sldId id="1158" r:id="rId24"/>
    <p:sldId id="1159" r:id="rId25"/>
    <p:sldId id="1160" r:id="rId26"/>
    <p:sldId id="1161" r:id="rId27"/>
    <p:sldId id="1162" r:id="rId28"/>
    <p:sldId id="1163" r:id="rId29"/>
    <p:sldId id="1164" r:id="rId30"/>
    <p:sldId id="1165" r:id="rId31"/>
    <p:sldId id="1166" r:id="rId32"/>
    <p:sldId id="1167" r:id="rId33"/>
    <p:sldId id="1168" r:id="rId34"/>
    <p:sldId id="1169" r:id="rId35"/>
    <p:sldId id="1170" r:id="rId36"/>
    <p:sldId id="1171" r:id="rId37"/>
    <p:sldId id="1172" r:id="rId38"/>
    <p:sldId id="1175" r:id="rId39"/>
    <p:sldId id="1176" r:id="rId40"/>
    <p:sldId id="1177" r:id="rId41"/>
    <p:sldId id="1178" r:id="rId42"/>
    <p:sldId id="1179" r:id="rId43"/>
    <p:sldId id="1180" r:id="rId44"/>
    <p:sldId id="1181" r:id="rId45"/>
    <p:sldId id="1182" r:id="rId46"/>
    <p:sldId id="1184" r:id="rId47"/>
    <p:sldId id="1185" r:id="rId48"/>
    <p:sldId id="1186" r:id="rId49"/>
    <p:sldId id="1187" r:id="rId50"/>
    <p:sldId id="1188" r:id="rId51"/>
    <p:sldId id="1189" r:id="rId52"/>
    <p:sldId id="1190" r:id="rId53"/>
    <p:sldId id="1191" r:id="rId54"/>
    <p:sldId id="1192" r:id="rId55"/>
    <p:sldId id="1193" r:id="rId56"/>
    <p:sldId id="1194" r:id="rId57"/>
    <p:sldId id="1195" r:id="rId58"/>
    <p:sldId id="1196" r:id="rId59"/>
    <p:sldId id="1197" r:id="rId60"/>
    <p:sldId id="1198" r:id="rId61"/>
    <p:sldId id="1199" r:id="rId62"/>
    <p:sldId id="1200" r:id="rId63"/>
    <p:sldId id="1201" r:id="rId64"/>
    <p:sldId id="1202" r:id="rId65"/>
    <p:sldId id="1203" r:id="rId66"/>
    <p:sldId id="1204" r:id="rId67"/>
    <p:sldId id="1205" r:id="rId68"/>
    <p:sldId id="1206" r:id="rId69"/>
    <p:sldId id="1207" r:id="rId70"/>
    <p:sldId id="1208" r:id="rId71"/>
    <p:sldId id="1209" r:id="rId72"/>
    <p:sldId id="1210" r:id="rId73"/>
    <p:sldId id="1211" r:id="rId74"/>
    <p:sldId id="1212" r:id="rId75"/>
    <p:sldId id="1213" r:id="rId76"/>
    <p:sldId id="1214" r:id="rId77"/>
    <p:sldId id="1215" r:id="rId78"/>
    <p:sldId id="1216" r:id="rId79"/>
    <p:sldId id="1217" r:id="rId80"/>
    <p:sldId id="1218" r:id="rId81"/>
    <p:sldId id="1219" r:id="rId82"/>
    <p:sldId id="1220" r:id="rId83"/>
    <p:sldId id="1221" r:id="rId84"/>
    <p:sldId id="1222" r:id="rId85"/>
    <p:sldId id="1223" r:id="rId86"/>
    <p:sldId id="1224" r:id="rId87"/>
    <p:sldId id="1225" r:id="rId88"/>
    <p:sldId id="1226" r:id="rId89"/>
    <p:sldId id="1227" r:id="rId90"/>
    <p:sldId id="1228" r:id="rId91"/>
    <p:sldId id="1229" r:id="rId92"/>
    <p:sldId id="1230" r:id="rId93"/>
    <p:sldId id="1231" r:id="rId94"/>
    <p:sldId id="1232" r:id="rId95"/>
    <p:sldId id="1233" r:id="rId96"/>
    <p:sldId id="1234" r:id="rId97"/>
    <p:sldId id="1235" r:id="rId98"/>
    <p:sldId id="1236" r:id="rId99"/>
    <p:sldId id="1237" r:id="rId100"/>
    <p:sldId id="1238" r:id="rId101"/>
    <p:sldId id="1239" r:id="rId102"/>
    <p:sldId id="1240" r:id="rId103"/>
    <p:sldId id="1241" r:id="rId104"/>
    <p:sldId id="1242" r:id="rId105"/>
    <p:sldId id="1243" r:id="rId106"/>
    <p:sldId id="1244" r:id="rId107"/>
    <p:sldId id="1245" r:id="rId108"/>
    <p:sldId id="1246" r:id="rId109"/>
    <p:sldId id="1247" r:id="rId110"/>
    <p:sldId id="1248" r:id="rId111"/>
    <p:sldId id="1137" r:id="rId112"/>
  </p:sldIdLst>
  <p:sldSz cx="9144000" cy="6858000" type="screen4x3"/>
  <p:notesSz cx="9144000" cy="6858000"/>
  <p:custDataLst>
    <p:tags r:id="rId114"/>
  </p:custDataLst>
  <p:defaultTextStyle>
    <a:defPPr>
      <a:defRPr lang="ru-RU"/>
    </a:defPPr>
    <a:lvl1pPr marL="0" lvl="0" indent="0" algn="l" defTabSz="914400" rtl="0" eaLnBrk="1" fontAlgn="base" latinLnBrk="0" hangingPunct="1">
      <a:lnSpc>
        <a:spcPct val="100000"/>
      </a:lnSpc>
      <a:spcBef>
        <a:spcPct val="0"/>
      </a:spcBef>
      <a:spcAft>
        <a:spcPct val="0"/>
      </a:spcAft>
      <a:buSzPct val="100000"/>
      <a:buNone/>
      <a:defRPr b="0" i="0" u="none" kern="1200">
        <a:solidFill>
          <a:schemeClr val="tx1"/>
        </a:solidFill>
        <a:latin typeface="Arial" panose="020B0604020202020204"/>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ClrTx/>
      <a:buSzPct val="100000"/>
      <a:buFontTx/>
      <a:buNone/>
      <a:defRPr sz="1800" b="0" i="0" u="none" kern="1200">
        <a:solidFill>
          <a:schemeClr val="tx1"/>
        </a:solidFill>
        <a:latin typeface="Arial" panose="020B0604020202020204"/>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ClrTx/>
      <a:buSzPct val="100000"/>
      <a:buFontTx/>
      <a:buNone/>
      <a:defRPr sz="1800" b="0" i="0" u="none" kern="1200">
        <a:solidFill>
          <a:schemeClr val="tx1"/>
        </a:solidFill>
        <a:latin typeface="Arial" panose="020B0604020202020204"/>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ClrTx/>
      <a:buSzPct val="100000"/>
      <a:buFontTx/>
      <a:buNone/>
      <a:defRPr sz="1800" b="0" i="0" u="none" kern="1200">
        <a:solidFill>
          <a:schemeClr val="tx1"/>
        </a:solidFill>
        <a:latin typeface="Arial" panose="020B0604020202020204"/>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ClrTx/>
      <a:buSzPct val="100000"/>
      <a:buFontTx/>
      <a:buNone/>
      <a:defRPr sz="1800" b="0" i="0" u="none" kern="1200">
        <a:solidFill>
          <a:schemeClr val="tx1"/>
        </a:solidFill>
        <a:latin typeface="Arial" panose="020B0604020202020204"/>
        <a:ea typeface="宋体" panose="02010600030101010101" pitchFamily="2" charset="-122"/>
        <a:cs typeface="+mn-cs"/>
      </a:defRPr>
    </a:lvl9pPr>
  </p:defaultTextStyle>
  <p:extLst>
    <p:ext uri="{EFAFB233-063F-42B5-8137-9DF3F51BA10A}">
      <p15:sldGuideLst xmlns:p15="http://schemas.microsoft.com/office/powerpoint/2012/main">
        <p15:guide id="1" orient="horz" pos="215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7" d="100"/>
          <a:sy n="77" d="100"/>
        </p:scale>
        <p:origin x="1618" y="72"/>
      </p:cViewPr>
      <p:guideLst>
        <p:guide orient="horz" pos="215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theme" Target="theme/theme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handoutMaster" Target="handoutMasters/handoutMaster1.xml"/><Relationship Id="rId118"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tags" Target="tags/tag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emf"/><Relationship Id="rId5" Type="http://schemas.openxmlformats.org/officeDocument/2006/relationships/image" Target="../media/image41.wmf"/><Relationship Id="rId4" Type="http://schemas.openxmlformats.org/officeDocument/2006/relationships/image" Target="../media/image40.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 Id="rId4" Type="http://schemas.openxmlformats.org/officeDocument/2006/relationships/image" Target="../media/image59.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8.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 Id="rId4" Type="http://schemas.openxmlformats.org/officeDocument/2006/relationships/image" Target="../media/image70.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image" Target="../media/image86.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88.wmf"/><Relationship Id="rId1" Type="http://schemas.openxmlformats.org/officeDocument/2006/relationships/image" Target="../media/image87.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89.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image" Target="../media/image91.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3.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100.wmf"/><Relationship Id="rId1" Type="http://schemas.openxmlformats.org/officeDocument/2006/relationships/image" Target="../media/image99.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image" Target="../media/image101.w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112.wmf"/><Relationship Id="rId1" Type="http://schemas.openxmlformats.org/officeDocument/2006/relationships/image" Target="../media/image111.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13.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118.wmf"/><Relationship Id="rId1" Type="http://schemas.openxmlformats.org/officeDocument/2006/relationships/image" Target="../media/image1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页眉占位符 5121"/>
          <p:cNvSpPr>
            <a:spLocks noGrp="1"/>
          </p:cNvSpPr>
          <p:nvPr>
            <p:ph type="hdr" sz="quarter"/>
          </p:nvPr>
        </p:nvSpPr>
        <p:spPr>
          <a:xfrm>
            <a:off x="0" y="0"/>
            <a:ext cx="3962400" cy="342900"/>
          </a:xfrm>
          <a:prstGeom prst="rect">
            <a:avLst/>
          </a:prstGeom>
          <a:noFill/>
          <a:ln w="9525">
            <a:noFill/>
          </a:ln>
        </p:spPr>
        <p:txBody>
          <a:bodyPr/>
          <a:lstStyle/>
          <a:p>
            <a:pPr lvl="0"/>
            <a:r>
              <a:rPr lang="en-US" altLang="zh-CN" sz="1200"/>
              <a:t>*</a:t>
            </a:r>
          </a:p>
        </p:txBody>
      </p:sp>
      <p:sp>
        <p:nvSpPr>
          <p:cNvPr id="5123" name="日期占位符 5122"/>
          <p:cNvSpPr>
            <a:spLocks noGrp="1"/>
          </p:cNvSpPr>
          <p:nvPr>
            <p:ph type="dt" sz="quarter" idx="1"/>
          </p:nvPr>
        </p:nvSpPr>
        <p:spPr>
          <a:xfrm>
            <a:off x="5180013" y="0"/>
            <a:ext cx="3962400" cy="342900"/>
          </a:xfrm>
          <a:prstGeom prst="rect">
            <a:avLst/>
          </a:prstGeom>
          <a:noFill/>
          <a:ln w="9525">
            <a:noFill/>
          </a:ln>
        </p:spPr>
        <p:txBody>
          <a:bodyPr/>
          <a:lstStyle/>
          <a:p>
            <a:pPr lvl="0" algn="r"/>
            <a:endParaRPr lang="ru-RU" sz="1200"/>
          </a:p>
        </p:txBody>
      </p:sp>
      <p:sp>
        <p:nvSpPr>
          <p:cNvPr id="5124" name="页脚占位符 5123"/>
          <p:cNvSpPr>
            <a:spLocks noGrp="1"/>
          </p:cNvSpPr>
          <p:nvPr>
            <p:ph type="ftr" sz="quarter" idx="2"/>
          </p:nvPr>
        </p:nvSpPr>
        <p:spPr>
          <a:xfrm>
            <a:off x="0" y="6513513"/>
            <a:ext cx="3962400" cy="342900"/>
          </a:xfrm>
          <a:prstGeom prst="rect">
            <a:avLst/>
          </a:prstGeom>
          <a:noFill/>
          <a:ln w="9525">
            <a:noFill/>
          </a:ln>
        </p:spPr>
        <p:txBody>
          <a:bodyPr anchor="b" anchorCtr="0"/>
          <a:lstStyle/>
          <a:p>
            <a:pPr lvl="0"/>
            <a:endParaRPr lang="ru-RU" sz="1200"/>
          </a:p>
        </p:txBody>
      </p:sp>
      <p:sp>
        <p:nvSpPr>
          <p:cNvPr id="5125" name="灯片编号占位符 5124"/>
          <p:cNvSpPr>
            <a:spLocks noGrp="1"/>
          </p:cNvSpPr>
          <p:nvPr>
            <p:ph type="sldNum" sz="quarter" idx="3"/>
          </p:nvPr>
        </p:nvSpPr>
        <p:spPr>
          <a:xfrm>
            <a:off x="5180013" y="6513513"/>
            <a:ext cx="3962400" cy="342900"/>
          </a:xfrm>
          <a:prstGeom prst="rect">
            <a:avLst/>
          </a:prstGeom>
          <a:noFill/>
          <a:ln w="9525">
            <a:noFill/>
          </a:ln>
        </p:spPr>
        <p:txBody>
          <a:bodyPr anchor="b" anchorCtr="0"/>
          <a:lstStyle/>
          <a:p>
            <a:pPr lvl="0" algn="r"/>
            <a:fld id="{9A0DB2DC-4C9A-4742-B13C-FB6460FD3503}" type="slidenum">
              <a:rPr lang="ru-RU" sz="1200"/>
              <a:t>‹#›</a:t>
            </a:fld>
            <a:endParaRPr lang="ru-RU" sz="120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a:t>
            </a:fld>
            <a:r>
              <a:rPr lang="zh-CN" altLang="en-US" sz="1600" u="none">
                <a:solidFill>
                  <a:srgbClr val="808080"/>
                </a:solidFill>
                <a:latin typeface="Times New Roman" panose="02020603050405020304" pitchFamily="18" charset="0"/>
              </a:rPr>
              <a:t>页</a:t>
            </a:r>
          </a:p>
        </p:txBody>
      </p:sp>
    </p:spTree>
  </p:cSld>
  <p:clrMapOvr>
    <a:masterClrMapping/>
  </p:clrMapOvr>
  <p:transition spd="med">
    <p:spli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a:t>
            </a:fld>
            <a:r>
              <a:rPr lang="zh-CN" altLang="en-US" sz="1600" u="none">
                <a:solidFill>
                  <a:srgbClr val="808080"/>
                </a:solidFill>
                <a:latin typeface="Times New Roman" panose="02020603050405020304" pitchFamily="18" charset="0"/>
              </a:rPr>
              <a:t>页</a:t>
            </a:r>
          </a:p>
        </p:txBody>
      </p:sp>
    </p:spTree>
  </p:cSld>
  <p:clrMapOvr>
    <a:masterClrMapping/>
  </p:clrMapOvr>
  <p:transition spd="med">
    <p:spli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a:t>
            </a:fld>
            <a:r>
              <a:rPr lang="zh-CN" altLang="en-US" sz="1600" u="none">
                <a:solidFill>
                  <a:srgbClr val="808080"/>
                </a:solidFill>
                <a:latin typeface="Times New Roman" panose="02020603050405020304" pitchFamily="18" charset="0"/>
              </a:rPr>
              <a:t>页</a:t>
            </a:r>
          </a:p>
        </p:txBody>
      </p:sp>
    </p:spTree>
  </p:cSld>
  <p:clrMapOvr>
    <a:masterClrMapping/>
  </p:clrMapOvr>
  <p:transition spd="med">
    <p:spli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81075"/>
            <a:ext cx="4032504" cy="5327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4296" y="981075"/>
            <a:ext cx="4032504" cy="5327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6" name="页脚占位符 5"/>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a:t>
            </a:fld>
            <a:r>
              <a:rPr lang="zh-CN" altLang="en-US" sz="1600" u="none">
                <a:solidFill>
                  <a:srgbClr val="808080"/>
                </a:solidFill>
                <a:latin typeface="Times New Roman" panose="02020603050405020304" pitchFamily="18" charset="0"/>
              </a:rPr>
              <a:t>页</a:t>
            </a:r>
          </a:p>
        </p:txBody>
      </p:sp>
    </p:spTree>
  </p:cSld>
  <p:clrMapOvr>
    <a:masterClrMapping/>
  </p:clrMapOvr>
  <p:transition spd="med">
    <p:spli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8" name="页脚占位符 7"/>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9" name="灯片编号占位符 8"/>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a:t>
            </a:fld>
            <a:r>
              <a:rPr lang="zh-CN" altLang="en-US" sz="1600" u="none">
                <a:solidFill>
                  <a:srgbClr val="808080"/>
                </a:solidFill>
                <a:latin typeface="Times New Roman" panose="02020603050405020304" pitchFamily="18" charset="0"/>
              </a:rPr>
              <a:t>页</a:t>
            </a:r>
          </a:p>
        </p:txBody>
      </p:sp>
    </p:spTree>
  </p:cSld>
  <p:clrMapOvr>
    <a:masterClrMapping/>
  </p:clrMapOvr>
  <p:transition spd="med">
    <p:spli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a:t>
            </a:fld>
            <a:r>
              <a:rPr lang="zh-CN" altLang="en-US" sz="1600" u="none">
                <a:solidFill>
                  <a:srgbClr val="808080"/>
                </a:solidFill>
                <a:latin typeface="Times New Roman" panose="02020603050405020304" pitchFamily="18" charset="0"/>
              </a:rPr>
              <a:t>页</a:t>
            </a:r>
          </a:p>
        </p:txBody>
      </p:sp>
    </p:spTree>
  </p:cSld>
  <p:clrMapOvr>
    <a:masterClrMapping/>
  </p:clrMapOvr>
  <p:transition spd="med">
    <p:spli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3" name="页脚占位符 2"/>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4" name="灯片编号占位符 3"/>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a:t>
            </a:fld>
            <a:r>
              <a:rPr lang="zh-CN" altLang="en-US" sz="1600" u="none">
                <a:solidFill>
                  <a:srgbClr val="808080"/>
                </a:solidFill>
                <a:latin typeface="Times New Roman" panose="02020603050405020304" pitchFamily="18" charset="0"/>
              </a:rPr>
              <a:t>页</a:t>
            </a:r>
          </a:p>
        </p:txBody>
      </p:sp>
    </p:spTree>
  </p:cSld>
  <p:clrMapOvr>
    <a:masterClrMapping/>
  </p:clrMapOvr>
  <p:transition spd="med">
    <p:spli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6" name="页脚占位符 5"/>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a:t>
            </a:fld>
            <a:r>
              <a:rPr lang="zh-CN" altLang="en-US" sz="1600" u="none">
                <a:solidFill>
                  <a:srgbClr val="808080"/>
                </a:solidFill>
                <a:latin typeface="Times New Roman" panose="02020603050405020304" pitchFamily="18" charset="0"/>
              </a:rPr>
              <a:t>页</a:t>
            </a:r>
          </a:p>
        </p:txBody>
      </p:sp>
    </p:spTree>
  </p:cSld>
  <p:clrMapOvr>
    <a:masterClrMapping/>
  </p:clrMapOvr>
  <p:transition spd="med">
    <p:spli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6" name="页脚占位符 5"/>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a:t>
            </a:fld>
            <a:r>
              <a:rPr lang="zh-CN" altLang="en-US" sz="1600" u="none">
                <a:solidFill>
                  <a:srgbClr val="808080"/>
                </a:solidFill>
                <a:latin typeface="Times New Roman" panose="02020603050405020304" pitchFamily="18" charset="0"/>
              </a:rPr>
              <a:t>页</a:t>
            </a:r>
          </a:p>
        </p:txBody>
      </p:sp>
    </p:spTree>
  </p:cSld>
  <p:clrMapOvr>
    <a:masterClrMapping/>
  </p:clrMapOvr>
  <p:transition spd="med">
    <p:spli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a:t>
            </a:fld>
            <a:r>
              <a:rPr lang="zh-CN" altLang="en-US" sz="1600" u="none">
                <a:solidFill>
                  <a:srgbClr val="808080"/>
                </a:solidFill>
                <a:latin typeface="Times New Roman" panose="02020603050405020304" pitchFamily="18" charset="0"/>
              </a:rPr>
              <a:t>页</a:t>
            </a:r>
          </a:p>
        </p:txBody>
      </p:sp>
    </p:spTree>
  </p:cSld>
  <p:clrMapOvr>
    <a:masterClrMapping/>
  </p:clrMapOvr>
  <p:transition spd="med">
    <p:spli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23831" y="188913"/>
            <a:ext cx="2162969" cy="61198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4925" y="188913"/>
            <a:ext cx="6363517" cy="61198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a:t>
            </a:fld>
            <a:r>
              <a:rPr lang="zh-CN" altLang="en-US" sz="1600" u="none">
                <a:solidFill>
                  <a:srgbClr val="808080"/>
                </a:solidFill>
                <a:latin typeface="Times New Roman" panose="02020603050405020304" pitchFamily="18" charset="0"/>
              </a:rPr>
              <a:t>页</a:t>
            </a:r>
          </a:p>
        </p:txBody>
      </p:sp>
    </p:spTree>
  </p:cSld>
  <p:clrMapOvr>
    <a:masterClrMapping/>
  </p:clrMapOvr>
  <p:transition spd="med">
    <p:spli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400" u="none">
              <a:solidFill>
                <a:schemeClr val="tx1"/>
              </a:solidFill>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400" u="none">
              <a:solidFill>
                <a:schemeClr val="tx1"/>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400" u="none">
              <a:solidFill>
                <a:schemeClr val="tx1"/>
              </a:solidFill>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400" u="none">
              <a:solidFill>
                <a:schemeClr val="tx1"/>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400" u="none">
              <a:solidFill>
                <a:schemeClr val="tx1"/>
              </a:solidFill>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400" u="none">
              <a:solidFill>
                <a:schemeClr val="tx1"/>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2504"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4296" y="1600200"/>
            <a:ext cx="4032504"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6" name="页脚占位符 5"/>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400" u="none">
              <a:solidFill>
                <a:schemeClr val="tx1"/>
              </a:solidFill>
            </a:endParaRPr>
          </a:p>
        </p:txBody>
      </p:sp>
      <p:sp>
        <p:nvSpPr>
          <p:cNvPr id="7" name="灯片编号占位符 6"/>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400" u="none">
              <a:solidFill>
                <a:schemeClr val="tx1"/>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8" name="页脚占位符 7"/>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400" u="none">
              <a:solidFill>
                <a:schemeClr val="tx1"/>
              </a:solidFill>
            </a:endParaRPr>
          </a:p>
        </p:txBody>
      </p:sp>
      <p:sp>
        <p:nvSpPr>
          <p:cNvPr id="9" name="灯片编号占位符 8"/>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400" u="none">
              <a:solidFill>
                <a:schemeClr val="tx1"/>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400" u="none">
              <a:solidFill>
                <a:schemeClr val="tx1"/>
              </a:solidFill>
            </a:endParaRPr>
          </a:p>
        </p:txBody>
      </p:sp>
      <p:sp>
        <p:nvSpPr>
          <p:cNvPr id="5" name="灯片编号占位符 4"/>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400" u="none">
              <a:solidFill>
                <a:schemeClr val="tx1"/>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3" name="页脚占位符 2"/>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400" u="none">
              <a:solidFill>
                <a:schemeClr val="tx1"/>
              </a:solidFill>
            </a:endParaRPr>
          </a:p>
        </p:txBody>
      </p:sp>
      <p:sp>
        <p:nvSpPr>
          <p:cNvPr id="4" name="灯片编号占位符 3"/>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400" u="none">
              <a:solidFill>
                <a:schemeClr val="tx1"/>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6" name="页脚占位符 5"/>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400" u="none">
              <a:solidFill>
                <a:schemeClr val="tx1"/>
              </a:solidFill>
            </a:endParaRPr>
          </a:p>
        </p:txBody>
      </p:sp>
      <p:sp>
        <p:nvSpPr>
          <p:cNvPr id="7" name="灯片编号占位符 6"/>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400" u="none">
              <a:solidFill>
                <a:schemeClr val="tx1"/>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6" name="页脚占位符 5"/>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400" u="none">
              <a:solidFill>
                <a:schemeClr val="tx1"/>
              </a:solidFill>
            </a:endParaRPr>
          </a:p>
        </p:txBody>
      </p:sp>
      <p:sp>
        <p:nvSpPr>
          <p:cNvPr id="7" name="灯片编号占位符 6"/>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400" u="none">
              <a:solidFill>
                <a:schemeClr val="tx1"/>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400" u="none">
              <a:solidFill>
                <a:schemeClr val="tx1"/>
              </a:solidFill>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400" u="none">
              <a:solidFill>
                <a:schemeClr val="tx1"/>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400" u="none">
              <a:solidFill>
                <a:schemeClr val="tx1"/>
              </a:solidFill>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400" u="none">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34925" y="188913"/>
            <a:ext cx="6659563" cy="6477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idx="1"/>
          </p:nvPr>
        </p:nvSpPr>
        <p:spPr>
          <a:xfrm>
            <a:off x="457200" y="981075"/>
            <a:ext cx="8229600" cy="5327650"/>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矩形 1027"/>
          <p:cNvSpPr/>
          <p:nvPr/>
        </p:nvSpPr>
        <p:spPr>
          <a:xfrm>
            <a:off x="684213" y="0"/>
            <a:ext cx="8064500" cy="188913"/>
          </a:xfrm>
          <a:gradFill rotWithShape="0">
            <a:gsLst>
              <a:gs pos="0">
                <a:srgbClr val="B4D5FF"/>
              </a:gs>
              <a:gs pos="100000">
                <a:srgbClr val="0073FF"/>
              </a:gs>
            </a:gsLst>
            <a:lin ang="0"/>
            <a:tileRect/>
          </a:gradFill>
          <a:ln w="12700">
            <a:noFill/>
          </a:ln>
        </p:spPr>
        <p:txBody>
          <a:bodyPr/>
          <a:lstStyle/>
          <a:p>
            <a:endParaRPr lang="zh-CN" altLang="en-US"/>
          </a:p>
        </p:txBody>
      </p:sp>
      <p:sp>
        <p:nvSpPr>
          <p:cNvPr id="1029" name="灯片编号占位符 1028"/>
          <p:cNvSpPr>
            <a:spLocks noGrp="1"/>
          </p:cNvSpPr>
          <p:nvPr>
            <p:ph type="sldNum" sz="quarter" idx="2"/>
          </p:nvPr>
        </p:nvSpPr>
        <p:spPr>
          <a:xfrm>
            <a:off x="8361363" y="6383338"/>
            <a:ext cx="708025" cy="358775"/>
          </a:xfrm>
          <a:prstGeom prst="rect">
            <a:avLst/>
          </a:prstGeom>
          <a:noFill/>
          <a:ln w="9525">
            <a:noFill/>
          </a:ln>
        </p:spPr>
        <p:txBody>
          <a:bodyPr wrap="none" lIns="92075" tIns="46038" rIns="92075" bIns="46038" anchor="ctr" anchorCtr="0"/>
          <a:lstStyle>
            <a:lvl1pPr marL="0" indent="0" algn="r" fontAlgn="base">
              <a:buFont typeface="Arial" panose="020B0604020202020204"/>
              <a:defRPr sz="1600">
                <a:solidFill>
                  <a:srgbClr val="808080"/>
                </a:solidFill>
                <a:latin typeface="Times New Roman" panose="02020603050405020304" pitchFamily="18" charset="0"/>
              </a:defRPr>
            </a:lvl1p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a:t>
            </a:fld>
            <a:r>
              <a:rPr lang="zh-CN" altLang="en-US" sz="1600" u="none">
                <a:solidFill>
                  <a:srgbClr val="808080"/>
                </a:solidFill>
                <a:latin typeface="Times New Roman" panose="02020603050405020304" pitchFamily="18" charset="0"/>
              </a:rPr>
              <a:t>页</a:t>
            </a:r>
          </a:p>
        </p:txBody>
      </p:sp>
      <p:sp>
        <p:nvSpPr>
          <p:cNvPr id="1030" name="日期占位符 1029"/>
          <p:cNvSpPr>
            <a:spLocks noGrp="1"/>
          </p:cNvSpPr>
          <p:nvPr>
            <p:ph type="dt" sz="half" idx="3"/>
          </p:nvPr>
        </p:nvSpPr>
        <p:spPr>
          <a:xfrm>
            <a:off x="34925" y="6381750"/>
            <a:ext cx="1041400" cy="360363"/>
          </a:xfrm>
          <a:prstGeom prst="rect">
            <a:avLst/>
          </a:prstGeom>
          <a:noFill/>
          <a:ln w="9525">
            <a:noFill/>
          </a:ln>
        </p:spPr>
        <p:txBody>
          <a:bodyPr wrap="none" lIns="92075" tIns="46038" rIns="92075" bIns="46038" anchor="ctr" anchorCtr="0"/>
          <a:lstStyle>
            <a:lvl1pPr marL="0" indent="0" algn="l" fontAlgn="base">
              <a:buFont typeface="Arial" panose="020B0604020202020204"/>
              <a:defRPr sz="1600">
                <a:solidFill>
                  <a:srgbClr val="808080"/>
                </a:solidFill>
                <a:latin typeface="Times New Roman" panose="02020603050405020304" pitchFamily="18" charset="0"/>
              </a:defRPr>
            </a:lvl1p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1031" name="页脚占位符 1030"/>
          <p:cNvSpPr>
            <a:spLocks noGrp="1"/>
          </p:cNvSpPr>
          <p:nvPr>
            <p:ph type="ftr" sz="quarter" idx="4"/>
          </p:nvPr>
        </p:nvSpPr>
        <p:spPr>
          <a:xfrm>
            <a:off x="1436688" y="6381750"/>
            <a:ext cx="6553200" cy="403225"/>
          </a:xfrm>
          <a:prstGeom prst="rect">
            <a:avLst/>
          </a:prstGeom>
          <a:noFill/>
          <a:ln w="9525">
            <a:noFill/>
          </a:ln>
        </p:spPr>
        <p:txBody>
          <a:bodyPr/>
          <a:lstStyle>
            <a:lvl1pPr marL="0" indent="0" algn="ctr" fontAlgn="base">
              <a:buFont typeface="Arial" panose="020B0604020202020204"/>
              <a:defRPr sz="1600" b="1">
                <a:solidFill>
                  <a:srgbClr val="808080"/>
                </a:solidFill>
                <a:latin typeface="Times New Roman" panose="02020603050405020304" pitchFamily="18" charset="0"/>
              </a:defRPr>
            </a:lvl1p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split/>
  </p:transition>
  <p:hf hdr="0"/>
  <p:txStyles>
    <p:titleStyle>
      <a:lvl1pPr marL="0" lvl="0" indent="0" algn="l" defTabSz="914400" rtl="0" eaLnBrk="1" fontAlgn="base" latinLnBrk="0" hangingPunct="1">
        <a:lnSpc>
          <a:spcPct val="100000"/>
        </a:lnSpc>
        <a:spcBef>
          <a:spcPct val="0"/>
        </a:spcBef>
        <a:spcAft>
          <a:spcPct val="0"/>
        </a:spcAft>
        <a:buSzPct val="100000"/>
        <a:buNone/>
        <a:defRPr sz="4000" b="1" i="0" u="none" kern="1200">
          <a:solidFill>
            <a:srgbClr val="0000CC"/>
          </a:solidFill>
          <a:effectLst>
            <a:outerShdw blurRad="38100" dist="38100" dir="2700000">
              <a:srgbClr val="C0C0C0"/>
            </a:outerShdw>
          </a:effectLst>
          <a:latin typeface="+mj-lt"/>
          <a:ea typeface="+mj-ea"/>
          <a:cs typeface="+mj-cs"/>
        </a:defRPr>
      </a:lvl1pPr>
    </p:titleStyle>
    <p:bodyStyle>
      <a:lvl1pPr marL="0" lvl="0"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ÿ"/>
        <a:defRPr sz="2800" b="1" i="0" u="none" kern="1200">
          <a:solidFill>
            <a:schemeClr val="tx1"/>
          </a:solidFill>
          <a:latin typeface="+mn-lt"/>
          <a:ea typeface="+mn-ea"/>
          <a:cs typeface="+mn-cs"/>
        </a:defRPr>
      </a:lvl1pPr>
      <a:lvl2pPr marL="357505" lvl="1"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q"/>
        <a:defRPr sz="2400" b="1" i="0" u="none" kern="1200">
          <a:solidFill>
            <a:schemeClr val="tx1"/>
          </a:solidFill>
          <a:latin typeface="Times New Roman" panose="02020603050405020304" pitchFamily="18" charset="0"/>
          <a:ea typeface="楷体_GB2312" pitchFamily="49" charset="-122"/>
          <a:cs typeface="+mn-cs"/>
        </a:defRPr>
      </a:lvl2pPr>
      <a:lvl3pPr marL="713105" lvl="2" indent="0" algn="l" defTabSz="914400" rtl="0" eaLnBrk="1" fontAlgn="base" latinLnBrk="0" hangingPunct="1">
        <a:lnSpc>
          <a:spcPct val="140000"/>
        </a:lnSpc>
        <a:spcBef>
          <a:spcPct val="0"/>
        </a:spcBef>
        <a:spcAft>
          <a:spcPct val="20000"/>
        </a:spcAft>
        <a:buClr>
          <a:srgbClr val="993366"/>
        </a:buClr>
        <a:buSzPct val="90000"/>
        <a:buFont typeface="Arial" panose="020B0604020202020204"/>
        <a:buChar char="▼"/>
        <a:defRPr sz="2000" b="1" i="0" u="none" kern="1200">
          <a:solidFill>
            <a:schemeClr val="tx1"/>
          </a:solidFill>
          <a:latin typeface="Times New Roman" panose="02020603050405020304" pitchFamily="18" charset="0"/>
          <a:ea typeface="楷体_GB2312" pitchFamily="49" charset="-122"/>
          <a:cs typeface="+mn-cs"/>
        </a:defRPr>
      </a:lvl3pPr>
      <a:lvl4pPr marL="1079500" lvl="3"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v"/>
        <a:defRPr sz="2000" b="1" i="0" u="none" kern="1200">
          <a:solidFill>
            <a:schemeClr val="tx1"/>
          </a:solidFill>
          <a:latin typeface="Times New Roman" panose="02020603050405020304" pitchFamily="18" charset="0"/>
          <a:ea typeface="楷体_GB2312" pitchFamily="49" charset="-122"/>
          <a:cs typeface="+mn-cs"/>
        </a:defRPr>
      </a:lvl4pPr>
      <a:lvl5pPr marL="1435100" lvl="4"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
        <a:defRPr sz="2000" b="1" i="0" u="none" kern="1200">
          <a:solidFill>
            <a:schemeClr val="tx1"/>
          </a:solidFill>
          <a:latin typeface="Times New Roman" panose="02020603050405020304" pitchFamily="18" charset="0"/>
          <a:ea typeface="楷体_GB2312" pitchFamily="49" charset="-122"/>
          <a:cs typeface="+mn-cs"/>
        </a:defRPr>
      </a:lvl5pPr>
      <a:lvl6pPr marL="2514600" lvl="5" indent="-22860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
        <a:defRPr sz="2000" b="1" i="0" u="none" kern="1200">
          <a:solidFill>
            <a:schemeClr val="tx1"/>
          </a:solidFill>
          <a:latin typeface="Times New Roman" panose="02020603050405020304" pitchFamily="18" charset="0"/>
          <a:ea typeface="楷体_GB2312" pitchFamily="49" charset="-122"/>
          <a:cs typeface="+mn-cs"/>
        </a:defRPr>
      </a:lvl6pPr>
      <a:lvl7pPr marL="2971800" lvl="6" indent="-22860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
        <a:defRPr sz="2000" b="1" i="0" u="none" kern="1200">
          <a:solidFill>
            <a:schemeClr val="tx1"/>
          </a:solidFill>
          <a:latin typeface="Times New Roman" panose="02020603050405020304" pitchFamily="18" charset="0"/>
          <a:ea typeface="楷体_GB2312" pitchFamily="49" charset="-122"/>
          <a:cs typeface="+mn-cs"/>
        </a:defRPr>
      </a:lvl7pPr>
      <a:lvl8pPr marL="3429000" lvl="7" indent="-22860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
        <a:defRPr sz="2000" b="1" i="0" u="none" kern="1200">
          <a:solidFill>
            <a:schemeClr val="tx1"/>
          </a:solidFill>
          <a:latin typeface="Times New Roman" panose="02020603050405020304" pitchFamily="18" charset="0"/>
          <a:ea typeface="楷体_GB2312" pitchFamily="49" charset="-122"/>
          <a:cs typeface="+mn-cs"/>
        </a:defRPr>
      </a:lvl8pPr>
      <a:lvl9pPr marL="3886200" lvl="8" indent="-22860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
        <a:defRPr sz="2000" b="1" i="0" u="none" kern="1200">
          <a:solidFill>
            <a:schemeClr val="tx1"/>
          </a:solidFill>
          <a:latin typeface="Times New Roman" panose="02020603050405020304" pitchFamily="18" charset="0"/>
          <a:ea typeface="楷体_GB2312" pitchFamily="49" charset="-122"/>
          <a:cs typeface="+mn-cs"/>
        </a:defRPr>
      </a:lvl9pPr>
    </p:bodyStyle>
    <p:otherStyle>
      <a:lvl1pPr marL="0" lvl="0"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ClrTx/>
        <a:buSzPct val="100000"/>
        <a:buFont typeface="Arial" panose="020B0604020202020204"/>
        <a:buNone/>
        <a:defRPr sz="1800" b="0" i="0" u="none" kern="120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ClrTx/>
        <a:buSzPct val="100000"/>
        <a:buFont typeface="Arial" panose="020B0604020202020204"/>
        <a:buNone/>
        <a:defRPr sz="1800" b="0" i="0" u="none" kern="120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ClrTx/>
        <a:buSzPct val="100000"/>
        <a:buFont typeface="Arial" panose="020B0604020202020204"/>
        <a:buNone/>
        <a:defRPr sz="1800" b="0" i="0" u="none" kern="120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ClrTx/>
        <a:buSzPct val="100000"/>
        <a:buFont typeface="Arial" panose="020B0604020202020204"/>
        <a:buNone/>
        <a:defRPr sz="1800" b="0" i="0" u="none"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 name="标题 1033"/>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1035" name="文本占位符 1034"/>
          <p:cNvSpPr>
            <a:spLocks noGrp="1"/>
          </p:cNvSpPr>
          <p:nvPr>
            <p:ph type="body" idx="1"/>
          </p:nvPr>
        </p:nvSpPr>
        <p:spPr>
          <a:xfrm>
            <a:off x="457200" y="1600200"/>
            <a:ext cx="8229600" cy="4525963"/>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6" name="日期占位符 1035"/>
          <p:cNvSpPr>
            <a:spLocks noGrp="1"/>
          </p:cNvSpPr>
          <p:nvPr>
            <p:ph type="dt" sz="half" idx="2"/>
          </p:nvPr>
        </p:nvSpPr>
        <p:spPr>
          <a:xfrm>
            <a:off x="457200" y="6245225"/>
            <a:ext cx="2133600" cy="476250"/>
          </a:xfrm>
          <a:prstGeom prst="rect">
            <a:avLst/>
          </a:prstGeom>
          <a:noFill/>
          <a:ln w="9525">
            <a:noFill/>
          </a:ln>
        </p:spPr>
        <p:txBody>
          <a:bodyPr/>
          <a:lstStyle>
            <a:lvl1pPr marL="0" indent="0" algn="l" fontAlgn="base">
              <a:buFont typeface="Arial" panose="020B0604020202020204"/>
              <a:defRPr sz="1400">
                <a:solidFill>
                  <a:schemeClr val="tx1"/>
                </a:solidFill>
              </a:defRPr>
            </a:lvl1p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1037" name="页脚占位符 1036"/>
          <p:cNvSpPr>
            <a:spLocks noGrp="1"/>
          </p:cNvSpPr>
          <p:nvPr>
            <p:ph type="ftr" sz="quarter" idx="3"/>
          </p:nvPr>
        </p:nvSpPr>
        <p:spPr>
          <a:xfrm>
            <a:off x="3124200" y="6245225"/>
            <a:ext cx="2895600" cy="476250"/>
          </a:xfrm>
          <a:prstGeom prst="rect">
            <a:avLst/>
          </a:prstGeom>
          <a:noFill/>
          <a:ln w="9525">
            <a:noFill/>
          </a:ln>
        </p:spPr>
        <p:txBody>
          <a:bodyPr/>
          <a:lstStyle>
            <a:lvl1pPr marL="0" indent="0" algn="ctr" fontAlgn="base">
              <a:buFont typeface="Arial" panose="020B0604020202020204"/>
              <a:defRPr sz="1400">
                <a:solidFill>
                  <a:schemeClr val="tx1"/>
                </a:solidFill>
              </a:defRPr>
            </a:lvl1pPr>
          </a:lstStyle>
          <a:p>
            <a:pPr lvl="0" defTabSz="914400" rtl="0" eaLnBrk="1" latinLnBrk="0" hangingPunct="1">
              <a:lnSpc>
                <a:spcPct val="100000"/>
              </a:lnSpc>
              <a:spcBef>
                <a:spcPct val="0"/>
              </a:spcBef>
              <a:spcAft>
                <a:spcPct val="0"/>
              </a:spcAft>
              <a:buClrTx/>
              <a:buSzPct val="100000"/>
            </a:pPr>
            <a:r>
              <a:rPr lang="en-US" altLang="zh-CN"/>
              <a:t>h</a:t>
            </a:r>
            <a:endParaRPr lang="en-US" altLang="zh-CN" sz="1400" u="none">
              <a:solidFill>
                <a:schemeClr val="tx1"/>
              </a:solidFill>
            </a:endParaRPr>
          </a:p>
        </p:txBody>
      </p:sp>
      <p:sp>
        <p:nvSpPr>
          <p:cNvPr id="1038" name="灯片编号占位符 1037"/>
          <p:cNvSpPr>
            <a:spLocks noGrp="1"/>
          </p:cNvSpPr>
          <p:nvPr>
            <p:ph type="sldNum" sz="quarter" idx="4"/>
          </p:nvPr>
        </p:nvSpPr>
        <p:spPr>
          <a:xfrm>
            <a:off x="6553200" y="6245225"/>
            <a:ext cx="2133600" cy="476250"/>
          </a:xfrm>
          <a:prstGeom prst="rect">
            <a:avLst/>
          </a:prstGeom>
          <a:noFill/>
          <a:ln w="9525">
            <a:noFill/>
          </a:ln>
        </p:spPr>
        <p:txBody>
          <a:bodyPr/>
          <a:lstStyle>
            <a:lvl1pPr marL="0" indent="0" algn="r" fontAlgn="base">
              <a:buFont typeface="Arial" panose="020B0604020202020204"/>
              <a:defRPr sz="1400">
                <a:solidFill>
                  <a:schemeClr val="tx1"/>
                </a:solidFill>
              </a:defRPr>
            </a:lvl1p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400" u="none">
              <a:solidFill>
                <a:schemeClr val="tx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marL="0" lvl="0" indent="0" algn="ctr" defTabSz="914400" rtl="0" eaLnBrk="1" fontAlgn="base" latinLnBrk="0" hangingPunct="1">
        <a:lnSpc>
          <a:spcPct val="100000"/>
        </a:lnSpc>
        <a:spcBef>
          <a:spcPct val="0"/>
        </a:spcBef>
        <a:spcAft>
          <a:spcPct val="0"/>
        </a:spcAft>
        <a:buSzPct val="100000"/>
        <a:buNone/>
        <a:defRPr sz="4400" b="0" i="0" u="none" kern="1200">
          <a:solidFill>
            <a:schemeClr val="tx2"/>
          </a:solidFill>
          <a:latin typeface="+mj-lt"/>
          <a:ea typeface="+mj-ea"/>
          <a:cs typeface="+mj-cs"/>
        </a:defRPr>
      </a:lvl1pPr>
    </p:titleStyle>
    <p:bodyStyle>
      <a:lvl1pPr marL="342900" lvl="0" indent="-342900" algn="l" defTabSz="914400" rtl="0" eaLnBrk="1" fontAlgn="base" latinLnBrk="0" hangingPunct="1">
        <a:lnSpc>
          <a:spcPct val="140000"/>
        </a:lnSpc>
        <a:spcBef>
          <a:spcPct val="0"/>
        </a:spcBef>
        <a:spcAft>
          <a:spcPct val="20000"/>
        </a:spcAft>
        <a:buSzPct val="100000"/>
        <a:buChar char="•"/>
        <a:defRPr sz="3200" b="0" i="0" u="none" kern="1200">
          <a:solidFill>
            <a:schemeClr val="tx1"/>
          </a:solidFill>
          <a:latin typeface="+mn-lt"/>
          <a:ea typeface="+mn-ea"/>
          <a:cs typeface="+mn-cs"/>
        </a:defRPr>
      </a:lvl1pPr>
      <a:lvl2pPr marL="742950" lvl="1" indent="-285750" algn="l" defTabSz="914400" rtl="0" eaLnBrk="1" fontAlgn="base" latinLnBrk="0" hangingPunct="1">
        <a:lnSpc>
          <a:spcPct val="140000"/>
        </a:lnSpc>
        <a:spcBef>
          <a:spcPct val="0"/>
        </a:spcBef>
        <a:spcAft>
          <a:spcPct val="20000"/>
        </a:spcAft>
        <a:buSzPct val="100000"/>
        <a:buFontTx/>
        <a:buChar char="–"/>
        <a:defRPr sz="2800" b="0" i="0" u="none" kern="1200">
          <a:solidFill>
            <a:schemeClr val="tx1"/>
          </a:solidFill>
          <a:latin typeface="Arial" panose="020B0604020202020204"/>
          <a:ea typeface="宋体" panose="02010600030101010101" pitchFamily="2" charset="-122"/>
          <a:cs typeface="+mn-cs"/>
        </a:defRPr>
      </a:lvl2pPr>
      <a:lvl3pPr marL="1143000" lvl="2" indent="-228600" algn="l" defTabSz="914400" rtl="0" eaLnBrk="1" fontAlgn="base" latinLnBrk="0" hangingPunct="1">
        <a:lnSpc>
          <a:spcPct val="140000"/>
        </a:lnSpc>
        <a:spcBef>
          <a:spcPct val="0"/>
        </a:spcBef>
        <a:spcAft>
          <a:spcPct val="20000"/>
        </a:spcAft>
        <a:buSzPct val="100000"/>
        <a:buFontTx/>
        <a:buChar char="•"/>
        <a:defRPr sz="2400" b="0" i="0" u="none" kern="1200">
          <a:solidFill>
            <a:schemeClr val="tx1"/>
          </a:solidFill>
          <a:latin typeface="Arial" panose="020B0604020202020204"/>
          <a:ea typeface="宋体" panose="02010600030101010101" pitchFamily="2" charset="-122"/>
          <a:cs typeface="+mn-cs"/>
        </a:defRPr>
      </a:lvl3pPr>
      <a:lvl4pPr marL="1600200" lvl="3" indent="-228600" algn="l" defTabSz="914400" rtl="0" eaLnBrk="1" fontAlgn="base" latinLnBrk="0" hangingPunct="1">
        <a:lnSpc>
          <a:spcPct val="140000"/>
        </a:lnSpc>
        <a:spcBef>
          <a:spcPct val="0"/>
        </a:spcBef>
        <a:spcAft>
          <a:spcPct val="20000"/>
        </a:spcAft>
        <a:buSzPct val="100000"/>
        <a:buFontTx/>
        <a:buChar char="–"/>
        <a:defRPr sz="2000" b="0" i="0" u="none" kern="1200">
          <a:solidFill>
            <a:schemeClr val="tx1"/>
          </a:solidFill>
          <a:latin typeface="Arial" panose="020B0604020202020204"/>
          <a:ea typeface="宋体" panose="02010600030101010101" pitchFamily="2" charset="-122"/>
          <a:cs typeface="+mn-cs"/>
        </a:defRPr>
      </a:lvl4pPr>
      <a:lvl5pPr marL="2057400" lvl="4" indent="-228600" algn="l" defTabSz="914400" rtl="0" eaLnBrk="1" fontAlgn="base" latinLnBrk="0" hangingPunct="1">
        <a:lnSpc>
          <a:spcPct val="140000"/>
        </a:lnSpc>
        <a:spcBef>
          <a:spcPct val="0"/>
        </a:spcBef>
        <a:spcAft>
          <a:spcPct val="20000"/>
        </a:spcAft>
        <a:buSzPct val="100000"/>
        <a:buFontTx/>
        <a:buChar char="»"/>
        <a:defRPr sz="2000" b="0" i="0" u="none" kern="1200">
          <a:solidFill>
            <a:schemeClr val="tx1"/>
          </a:solidFill>
          <a:latin typeface="Arial" panose="020B0604020202020204"/>
          <a:ea typeface="宋体" panose="02010600030101010101" pitchFamily="2" charset="-122"/>
          <a:cs typeface="+mn-cs"/>
        </a:defRPr>
      </a:lvl5pPr>
      <a:lvl6pPr marL="2514600" lvl="5" indent="-228600" algn="l" defTabSz="914400" rtl="0" eaLnBrk="1" fontAlgn="base" latinLnBrk="0" hangingPunct="1">
        <a:lnSpc>
          <a:spcPct val="140000"/>
        </a:lnSpc>
        <a:spcBef>
          <a:spcPct val="0"/>
        </a:spcBef>
        <a:spcAft>
          <a:spcPct val="20000"/>
        </a:spcAft>
        <a:buClrTx/>
        <a:buSzPct val="100000"/>
        <a:buFontTx/>
        <a:buChar char="»"/>
        <a:defRPr sz="2000" b="0" i="0" u="none" kern="1200">
          <a:solidFill>
            <a:schemeClr val="tx1"/>
          </a:solidFill>
          <a:latin typeface="Arial" panose="020B0604020202020204"/>
          <a:ea typeface="宋体" panose="02010600030101010101" pitchFamily="2" charset="-122"/>
          <a:cs typeface="+mn-cs"/>
        </a:defRPr>
      </a:lvl6pPr>
      <a:lvl7pPr marL="2971800" lvl="6" indent="-228600" algn="l" defTabSz="914400" rtl="0" eaLnBrk="1" fontAlgn="base" latinLnBrk="0" hangingPunct="1">
        <a:lnSpc>
          <a:spcPct val="140000"/>
        </a:lnSpc>
        <a:spcBef>
          <a:spcPct val="0"/>
        </a:spcBef>
        <a:spcAft>
          <a:spcPct val="20000"/>
        </a:spcAft>
        <a:buClrTx/>
        <a:buSzPct val="100000"/>
        <a:buFontTx/>
        <a:buChar char="»"/>
        <a:defRPr sz="2000" b="0" i="0" u="none" kern="1200">
          <a:solidFill>
            <a:schemeClr val="tx1"/>
          </a:solidFill>
          <a:latin typeface="Arial" panose="020B0604020202020204"/>
          <a:ea typeface="宋体" panose="02010600030101010101" pitchFamily="2" charset="-122"/>
          <a:cs typeface="+mn-cs"/>
        </a:defRPr>
      </a:lvl7pPr>
      <a:lvl8pPr marL="3429000" lvl="7" indent="-228600" algn="l" defTabSz="914400" rtl="0" eaLnBrk="1" fontAlgn="base" latinLnBrk="0" hangingPunct="1">
        <a:lnSpc>
          <a:spcPct val="140000"/>
        </a:lnSpc>
        <a:spcBef>
          <a:spcPct val="0"/>
        </a:spcBef>
        <a:spcAft>
          <a:spcPct val="20000"/>
        </a:spcAft>
        <a:buClrTx/>
        <a:buSzPct val="100000"/>
        <a:buFontTx/>
        <a:buChar char="»"/>
        <a:defRPr sz="2000" b="0" i="0" u="none" kern="1200">
          <a:solidFill>
            <a:schemeClr val="tx1"/>
          </a:solidFill>
          <a:latin typeface="Arial" panose="020B0604020202020204"/>
          <a:ea typeface="宋体" panose="02010600030101010101" pitchFamily="2" charset="-122"/>
          <a:cs typeface="+mn-cs"/>
        </a:defRPr>
      </a:lvl8pPr>
      <a:lvl9pPr marL="3886200" lvl="8" indent="-228600" algn="l" defTabSz="914400" rtl="0" eaLnBrk="1" fontAlgn="base" latinLnBrk="0" hangingPunct="1">
        <a:lnSpc>
          <a:spcPct val="140000"/>
        </a:lnSpc>
        <a:spcBef>
          <a:spcPct val="0"/>
        </a:spcBef>
        <a:spcAft>
          <a:spcPct val="20000"/>
        </a:spcAft>
        <a:buClrTx/>
        <a:buSzPct val="100000"/>
        <a:buFontTx/>
        <a:buChar char="»"/>
        <a:defRPr sz="2000" b="0" i="0" u="none" kern="1200">
          <a:solidFill>
            <a:schemeClr val="tx1"/>
          </a:solidFill>
          <a:latin typeface="Arial" panose="020B0604020202020204"/>
          <a:ea typeface="宋体" panose="02010600030101010101" pitchFamily="2" charset="-122"/>
          <a:cs typeface="+mn-cs"/>
        </a:defRPr>
      </a:lvl9pPr>
    </p:bodyStyle>
    <p:otherStyle>
      <a:lvl1pPr marL="0" lvl="0"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3.wmf"/><Relationship Id="rId5" Type="http://schemas.openxmlformats.org/officeDocument/2006/relationships/oleObject" Target="../embeddings/oleObject4.bin"/><Relationship Id="rId4" Type="http://schemas.openxmlformats.org/officeDocument/2006/relationships/image" Target="../media/image2.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5.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6.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6.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8.wmf"/><Relationship Id="rId5" Type="http://schemas.openxmlformats.org/officeDocument/2006/relationships/oleObject" Target="../embeddings/oleObject10.bin"/><Relationship Id="rId4" Type="http://schemas.openxmlformats.org/officeDocument/2006/relationships/image" Target="../media/image7.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0.wmf"/><Relationship Id="rId5" Type="http://schemas.openxmlformats.org/officeDocument/2006/relationships/oleObject" Target="../embeddings/oleObject12.bin"/><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12.wmf"/><Relationship Id="rId5" Type="http://schemas.openxmlformats.org/officeDocument/2006/relationships/oleObject" Target="../embeddings/oleObject14.bin"/><Relationship Id="rId4" Type="http://schemas.openxmlformats.org/officeDocument/2006/relationships/image" Target="../media/image11.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13.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14.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15.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17.wmf"/><Relationship Id="rId5" Type="http://schemas.openxmlformats.org/officeDocument/2006/relationships/oleObject" Target="../embeddings/oleObject19.bin"/><Relationship Id="rId4" Type="http://schemas.openxmlformats.org/officeDocument/2006/relationships/image" Target="../media/image16.wmf"/></Relationships>
</file>

<file path=ppt/slides/_rels/slide26.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19.wmf"/><Relationship Id="rId5" Type="http://schemas.openxmlformats.org/officeDocument/2006/relationships/oleObject" Target="../embeddings/oleObject21.bin"/><Relationship Id="rId4" Type="http://schemas.openxmlformats.org/officeDocument/2006/relationships/image" Target="../media/image18.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22.wmf"/><Relationship Id="rId5" Type="http://schemas.openxmlformats.org/officeDocument/2006/relationships/oleObject" Target="../embeddings/oleObject24.bin"/><Relationship Id="rId4" Type="http://schemas.openxmlformats.org/officeDocument/2006/relationships/image" Target="../media/image21.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23.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25.wmf"/><Relationship Id="rId5" Type="http://schemas.openxmlformats.org/officeDocument/2006/relationships/oleObject" Target="../embeddings/oleObject27.bin"/><Relationship Id="rId4" Type="http://schemas.openxmlformats.org/officeDocument/2006/relationships/image" Target="../media/image24.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26.wmf"/></Relationships>
</file>

<file path=ppt/slides/_rels/slide32.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28.wmf"/><Relationship Id="rId5" Type="http://schemas.openxmlformats.org/officeDocument/2006/relationships/oleObject" Target="../embeddings/oleObject30.bin"/><Relationship Id="rId4" Type="http://schemas.openxmlformats.org/officeDocument/2006/relationships/image" Target="../media/image27.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31.wmf"/><Relationship Id="rId5" Type="http://schemas.openxmlformats.org/officeDocument/2006/relationships/oleObject" Target="../embeddings/oleObject33.bin"/><Relationship Id="rId4" Type="http://schemas.openxmlformats.org/officeDocument/2006/relationships/image" Target="../media/image30.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33.wmf"/><Relationship Id="rId5" Type="http://schemas.openxmlformats.org/officeDocument/2006/relationships/oleObject" Target="../embeddings/oleObject35.bin"/><Relationship Id="rId4" Type="http://schemas.openxmlformats.org/officeDocument/2006/relationships/image" Target="../media/image32.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21.vml"/><Relationship Id="rId4" Type="http://schemas.openxmlformats.org/officeDocument/2006/relationships/image" Target="../media/image34.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22.vml"/><Relationship Id="rId4" Type="http://schemas.openxmlformats.org/officeDocument/2006/relationships/image" Target="../media/image35.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23.vml"/><Relationship Id="rId4" Type="http://schemas.openxmlformats.org/officeDocument/2006/relationships/image" Target="../media/image36.wmf"/></Relationships>
</file>

<file path=ppt/slides/_rels/slide42.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41.w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38.wmf"/><Relationship Id="rId11" Type="http://schemas.openxmlformats.org/officeDocument/2006/relationships/oleObject" Target="../embeddings/oleObject43.bin"/><Relationship Id="rId5" Type="http://schemas.openxmlformats.org/officeDocument/2006/relationships/oleObject" Target="../embeddings/oleObject40.bin"/><Relationship Id="rId10" Type="http://schemas.openxmlformats.org/officeDocument/2006/relationships/image" Target="../media/image40.wmf"/><Relationship Id="rId4" Type="http://schemas.openxmlformats.org/officeDocument/2006/relationships/image" Target="../media/image37.emf"/><Relationship Id="rId9" Type="http://schemas.openxmlformats.org/officeDocument/2006/relationships/oleObject" Target="../embeddings/oleObject42.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25.vml"/><Relationship Id="rId4" Type="http://schemas.openxmlformats.org/officeDocument/2006/relationships/image" Target="../media/image42.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44.wmf"/><Relationship Id="rId5" Type="http://schemas.openxmlformats.org/officeDocument/2006/relationships/oleObject" Target="../embeddings/oleObject46.bin"/><Relationship Id="rId4" Type="http://schemas.openxmlformats.org/officeDocument/2006/relationships/image" Target="../media/image43.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27.vml"/><Relationship Id="rId4" Type="http://schemas.openxmlformats.org/officeDocument/2006/relationships/image" Target="../media/image45.emf"/></Relationships>
</file>

<file path=ppt/slides/_rels/slide47.xml.rels><?xml version="1.0" encoding="UTF-8" standalone="yes"?>
<Relationships xmlns="http://schemas.openxmlformats.org/package/2006/relationships"><Relationship Id="rId8" Type="http://schemas.openxmlformats.org/officeDocument/2006/relationships/image" Target="../media/image48.wmf"/><Relationship Id="rId13" Type="http://schemas.openxmlformats.org/officeDocument/2006/relationships/oleObject" Target="../embeddings/oleObject53.bin"/><Relationship Id="rId3" Type="http://schemas.openxmlformats.org/officeDocument/2006/relationships/oleObject" Target="../embeddings/oleObject48.bin"/><Relationship Id="rId7" Type="http://schemas.openxmlformats.org/officeDocument/2006/relationships/oleObject" Target="../embeddings/oleObject50.bin"/><Relationship Id="rId12" Type="http://schemas.openxmlformats.org/officeDocument/2006/relationships/image" Target="../media/image50.w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47.wmf"/><Relationship Id="rId11" Type="http://schemas.openxmlformats.org/officeDocument/2006/relationships/oleObject" Target="../embeddings/oleObject52.bin"/><Relationship Id="rId5" Type="http://schemas.openxmlformats.org/officeDocument/2006/relationships/oleObject" Target="../embeddings/oleObject49.bin"/><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51.bin"/><Relationship Id="rId14" Type="http://schemas.openxmlformats.org/officeDocument/2006/relationships/image" Target="../media/image51.wmf"/></Relationships>
</file>

<file path=ppt/slides/_rels/slide48.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53.wmf"/><Relationship Id="rId5" Type="http://schemas.openxmlformats.org/officeDocument/2006/relationships/oleObject" Target="../embeddings/oleObject55.bin"/><Relationship Id="rId4" Type="http://schemas.openxmlformats.org/officeDocument/2006/relationships/image" Target="../media/image52.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30.vml"/><Relationship Id="rId4" Type="http://schemas.openxmlformats.org/officeDocument/2006/relationships/image" Target="../media/image55.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57.wmf"/><Relationship Id="rId5" Type="http://schemas.openxmlformats.org/officeDocument/2006/relationships/oleObject" Target="../embeddings/oleObject59.bin"/><Relationship Id="rId10" Type="http://schemas.openxmlformats.org/officeDocument/2006/relationships/image" Target="../media/image59.wmf"/><Relationship Id="rId4" Type="http://schemas.openxmlformats.org/officeDocument/2006/relationships/image" Target="../media/image56.wmf"/><Relationship Id="rId9" Type="http://schemas.openxmlformats.org/officeDocument/2006/relationships/oleObject" Target="../embeddings/oleObject61.bin"/></Relationships>
</file>

<file path=ppt/slides/_rels/slide57.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61.wmf"/><Relationship Id="rId5" Type="http://schemas.openxmlformats.org/officeDocument/2006/relationships/oleObject" Target="../embeddings/oleObject63.bin"/><Relationship Id="rId4" Type="http://schemas.openxmlformats.org/officeDocument/2006/relationships/image" Target="../media/image60.wmf"/></Relationships>
</file>

<file path=ppt/slides/_rels/slide58.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64.wmf"/><Relationship Id="rId5" Type="http://schemas.openxmlformats.org/officeDocument/2006/relationships/oleObject" Target="../embeddings/oleObject66.bin"/><Relationship Id="rId4" Type="http://schemas.openxmlformats.org/officeDocument/2006/relationships/image" Target="../media/image63.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34.vml"/><Relationship Id="rId4" Type="http://schemas.openxmlformats.org/officeDocument/2006/relationships/image" Target="../media/image66.w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7.xml"/><Relationship Id="rId1" Type="http://schemas.openxmlformats.org/officeDocument/2006/relationships/vmlDrawing" Target="../drawings/vmlDrawing35.vml"/><Relationship Id="rId4" Type="http://schemas.openxmlformats.org/officeDocument/2006/relationships/image" Target="../media/image67.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69.wmf"/><Relationship Id="rId5" Type="http://schemas.openxmlformats.org/officeDocument/2006/relationships/oleObject" Target="../embeddings/oleObject71.bin"/><Relationship Id="rId4" Type="http://schemas.openxmlformats.org/officeDocument/2006/relationships/image" Target="../media/image68.wmf"/></Relationships>
</file>

<file path=ppt/slides/_rels/slide62.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72.bin"/><Relationship Id="rId7" Type="http://schemas.openxmlformats.org/officeDocument/2006/relationships/oleObject" Target="../embeddings/oleObject74.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71.wmf"/><Relationship Id="rId5" Type="http://schemas.openxmlformats.org/officeDocument/2006/relationships/oleObject" Target="../embeddings/oleObject73.bin"/><Relationship Id="rId4" Type="http://schemas.openxmlformats.org/officeDocument/2006/relationships/image" Target="../media/image70.wmf"/></Relationships>
</file>

<file path=ppt/slides/_rels/slide63.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oleObject" Target="../embeddings/oleObject75.bin"/><Relationship Id="rId7" Type="http://schemas.openxmlformats.org/officeDocument/2006/relationships/oleObject" Target="../embeddings/oleObject77.bin"/><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74.wmf"/><Relationship Id="rId5" Type="http://schemas.openxmlformats.org/officeDocument/2006/relationships/oleObject" Target="../embeddings/oleObject76.bin"/><Relationship Id="rId10" Type="http://schemas.openxmlformats.org/officeDocument/2006/relationships/image" Target="../media/image70.wmf"/><Relationship Id="rId4" Type="http://schemas.openxmlformats.org/officeDocument/2006/relationships/image" Target="../media/image73.wmf"/><Relationship Id="rId9" Type="http://schemas.openxmlformats.org/officeDocument/2006/relationships/oleObject" Target="../embeddings/oleObject78.bin"/></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7.xml"/><Relationship Id="rId1" Type="http://schemas.openxmlformats.org/officeDocument/2006/relationships/vmlDrawing" Target="../drawings/vmlDrawing39.vml"/><Relationship Id="rId4" Type="http://schemas.openxmlformats.org/officeDocument/2006/relationships/image" Target="../media/image76.w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78.wmf"/><Relationship Id="rId5" Type="http://schemas.openxmlformats.org/officeDocument/2006/relationships/oleObject" Target="../embeddings/oleObject81.bin"/><Relationship Id="rId4" Type="http://schemas.openxmlformats.org/officeDocument/2006/relationships/image" Target="../media/image77.wmf"/></Relationships>
</file>

<file path=ppt/slides/_rels/slide66.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80.wmf"/><Relationship Id="rId5" Type="http://schemas.openxmlformats.org/officeDocument/2006/relationships/oleObject" Target="../embeddings/oleObject83.bin"/><Relationship Id="rId4" Type="http://schemas.openxmlformats.org/officeDocument/2006/relationships/image" Target="../media/image79.wmf"/></Relationships>
</file>

<file path=ppt/slides/_rels/slide6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slideLayout" Target="../slideLayouts/slideLayout7.xml"/><Relationship Id="rId1" Type="http://schemas.openxmlformats.org/officeDocument/2006/relationships/vmlDrawing" Target="../drawings/vmlDrawing42.vml"/><Relationship Id="rId5" Type="http://schemas.openxmlformats.org/officeDocument/2006/relationships/image" Target="../media/image83.wmf"/><Relationship Id="rId4" Type="http://schemas.openxmlformats.org/officeDocument/2006/relationships/oleObject" Target="../embeddings/oleObject85.bin"/></Relationships>
</file>

<file path=ppt/slides/_rels/slide6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7.xml"/><Relationship Id="rId1" Type="http://schemas.openxmlformats.org/officeDocument/2006/relationships/vmlDrawing" Target="../drawings/vmlDrawing43.vml"/><Relationship Id="rId4" Type="http://schemas.openxmlformats.org/officeDocument/2006/relationships/image" Target="../media/image84.w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44.vml"/><Relationship Id="rId4" Type="http://schemas.openxmlformats.org/officeDocument/2006/relationships/image" Target="../media/image85.w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72.wmf"/><Relationship Id="rId5" Type="http://schemas.openxmlformats.org/officeDocument/2006/relationships/oleObject" Target="../embeddings/oleObject89.bin"/><Relationship Id="rId4" Type="http://schemas.openxmlformats.org/officeDocument/2006/relationships/image" Target="../media/image86.w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88.wmf"/><Relationship Id="rId5" Type="http://schemas.openxmlformats.org/officeDocument/2006/relationships/oleObject" Target="../embeddings/oleObject91.bin"/><Relationship Id="rId4" Type="http://schemas.openxmlformats.org/officeDocument/2006/relationships/image" Target="../media/image87.w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90.wmf"/><Relationship Id="rId5" Type="http://schemas.openxmlformats.org/officeDocument/2006/relationships/oleObject" Target="../embeddings/oleObject93.bin"/><Relationship Id="rId4" Type="http://schemas.openxmlformats.org/officeDocument/2006/relationships/image" Target="../media/image89.w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7.xml"/><Relationship Id="rId1" Type="http://schemas.openxmlformats.org/officeDocument/2006/relationships/vmlDrawing" Target="../drawings/vmlDrawing48.vml"/><Relationship Id="rId6" Type="http://schemas.openxmlformats.org/officeDocument/2006/relationships/image" Target="../media/image92.wmf"/><Relationship Id="rId5" Type="http://schemas.openxmlformats.org/officeDocument/2006/relationships/oleObject" Target="../embeddings/oleObject95.bin"/><Relationship Id="rId4" Type="http://schemas.openxmlformats.org/officeDocument/2006/relationships/image" Target="../media/image91.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image" Target="../media/image94.wmf"/><Relationship Id="rId5" Type="http://schemas.openxmlformats.org/officeDocument/2006/relationships/oleObject" Target="../embeddings/oleObject97.bin"/><Relationship Id="rId4" Type="http://schemas.openxmlformats.org/officeDocument/2006/relationships/image" Target="../media/image93.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image" Target="../media/image96.wmf"/><Relationship Id="rId5" Type="http://schemas.openxmlformats.org/officeDocument/2006/relationships/oleObject" Target="../embeddings/oleObject99.bin"/><Relationship Id="rId4" Type="http://schemas.openxmlformats.org/officeDocument/2006/relationships/image" Target="../media/image95.w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Layout" Target="../slideLayouts/slideLayout7.xml"/><Relationship Id="rId1" Type="http://schemas.openxmlformats.org/officeDocument/2006/relationships/vmlDrawing" Target="../drawings/vmlDrawing51.vml"/><Relationship Id="rId4" Type="http://schemas.openxmlformats.org/officeDocument/2006/relationships/image" Target="../media/image97.wmf"/></Relationships>
</file>

<file path=ppt/slides/_rels/slide8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image" Target="../media/image100.wmf"/><Relationship Id="rId5" Type="http://schemas.openxmlformats.org/officeDocument/2006/relationships/oleObject" Target="../embeddings/oleObject102.bin"/><Relationship Id="rId4" Type="http://schemas.openxmlformats.org/officeDocument/2006/relationships/image" Target="../media/image99.w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image" Target="../media/image102.wmf"/><Relationship Id="rId5" Type="http://schemas.openxmlformats.org/officeDocument/2006/relationships/oleObject" Target="../embeddings/oleObject104.bin"/><Relationship Id="rId4" Type="http://schemas.openxmlformats.org/officeDocument/2006/relationships/image" Target="../media/image101.w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image" Target="../media/image104.wmf"/><Relationship Id="rId5" Type="http://schemas.openxmlformats.org/officeDocument/2006/relationships/oleObject" Target="../embeddings/oleObject106.bin"/><Relationship Id="rId4" Type="http://schemas.openxmlformats.org/officeDocument/2006/relationships/image" Target="../media/image103.wmf"/></Relationships>
</file>

<file path=ppt/slides/_rels/slide92.xml.rels><?xml version="1.0" encoding="UTF-8" standalone="yes"?>
<Relationships xmlns="http://schemas.openxmlformats.org/package/2006/relationships"><Relationship Id="rId8" Type="http://schemas.openxmlformats.org/officeDocument/2006/relationships/image" Target="../media/image107.wmf"/><Relationship Id="rId3" Type="http://schemas.openxmlformats.org/officeDocument/2006/relationships/oleObject" Target="../embeddings/oleObject107.bin"/><Relationship Id="rId7" Type="http://schemas.openxmlformats.org/officeDocument/2006/relationships/oleObject" Target="../embeddings/oleObject109.bin"/><Relationship Id="rId2" Type="http://schemas.openxmlformats.org/officeDocument/2006/relationships/slideLayout" Target="../slideLayouts/slideLayout7.xml"/><Relationship Id="rId1" Type="http://schemas.openxmlformats.org/officeDocument/2006/relationships/vmlDrawing" Target="../drawings/vmlDrawing55.vml"/><Relationship Id="rId6" Type="http://schemas.openxmlformats.org/officeDocument/2006/relationships/image" Target="../media/image106.wmf"/><Relationship Id="rId5" Type="http://schemas.openxmlformats.org/officeDocument/2006/relationships/oleObject" Target="../embeddings/oleObject108.bin"/><Relationship Id="rId4" Type="http://schemas.openxmlformats.org/officeDocument/2006/relationships/image" Target="../media/image105.wmf"/></Relationships>
</file>

<file path=ppt/slides/_rels/slide93.xml.rels><?xml version="1.0" encoding="UTF-8" standalone="yes"?>
<Relationships xmlns="http://schemas.openxmlformats.org/package/2006/relationships"><Relationship Id="rId8" Type="http://schemas.openxmlformats.org/officeDocument/2006/relationships/image" Target="../media/image110.wmf"/><Relationship Id="rId3" Type="http://schemas.openxmlformats.org/officeDocument/2006/relationships/oleObject" Target="../embeddings/oleObject110.bin"/><Relationship Id="rId7" Type="http://schemas.openxmlformats.org/officeDocument/2006/relationships/oleObject" Target="../embeddings/oleObject112.bin"/><Relationship Id="rId2" Type="http://schemas.openxmlformats.org/officeDocument/2006/relationships/slideLayout" Target="../slideLayouts/slideLayout7.xml"/><Relationship Id="rId1" Type="http://schemas.openxmlformats.org/officeDocument/2006/relationships/vmlDrawing" Target="../drawings/vmlDrawing56.vml"/><Relationship Id="rId6" Type="http://schemas.openxmlformats.org/officeDocument/2006/relationships/image" Target="../media/image109.wmf"/><Relationship Id="rId5" Type="http://schemas.openxmlformats.org/officeDocument/2006/relationships/oleObject" Target="../embeddings/oleObject111.bin"/><Relationship Id="rId4" Type="http://schemas.openxmlformats.org/officeDocument/2006/relationships/image" Target="../media/image108.wmf"/></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7.xml"/><Relationship Id="rId1" Type="http://schemas.openxmlformats.org/officeDocument/2006/relationships/vmlDrawing" Target="../drawings/vmlDrawing57.vml"/><Relationship Id="rId6" Type="http://schemas.openxmlformats.org/officeDocument/2006/relationships/image" Target="../media/image112.wmf"/><Relationship Id="rId5" Type="http://schemas.openxmlformats.org/officeDocument/2006/relationships/oleObject" Target="../embeddings/oleObject114.bin"/><Relationship Id="rId4" Type="http://schemas.openxmlformats.org/officeDocument/2006/relationships/image" Target="../media/image111.wmf"/></Relationships>
</file>

<file path=ppt/slides/_rels/slide9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slideLayout" Target="../slideLayouts/slideLayout7.xml"/><Relationship Id="rId1" Type="http://schemas.openxmlformats.org/officeDocument/2006/relationships/vmlDrawing" Target="../drawings/vmlDrawing58.vml"/><Relationship Id="rId5" Type="http://schemas.openxmlformats.org/officeDocument/2006/relationships/image" Target="../media/image113.wmf"/><Relationship Id="rId4" Type="http://schemas.openxmlformats.org/officeDocument/2006/relationships/oleObject" Target="../embeddings/oleObject115.bin"/></Relationships>
</file>

<file path=ppt/slides/_rels/slide9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116.bin"/><Relationship Id="rId2" Type="http://schemas.openxmlformats.org/officeDocument/2006/relationships/slideLayout" Target="../slideLayouts/slideLayout7.xml"/><Relationship Id="rId1" Type="http://schemas.openxmlformats.org/officeDocument/2006/relationships/vmlDrawing" Target="../drawings/vmlDrawing59.vml"/><Relationship Id="rId4" Type="http://schemas.openxmlformats.org/officeDocument/2006/relationships/image" Target="../media/image115.wmf"/></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slideLayout" Target="../slideLayouts/slideLayout7.xml"/><Relationship Id="rId1" Type="http://schemas.openxmlformats.org/officeDocument/2006/relationships/vmlDrawing" Target="../drawings/vmlDrawing60.vml"/><Relationship Id="rId4" Type="http://schemas.openxmlformats.org/officeDocument/2006/relationships/image" Target="../media/image116.wmf"/></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118.bin"/><Relationship Id="rId2" Type="http://schemas.openxmlformats.org/officeDocument/2006/relationships/slideLayout" Target="../slideLayouts/slideLayout7.xml"/><Relationship Id="rId1" Type="http://schemas.openxmlformats.org/officeDocument/2006/relationships/vmlDrawing" Target="../drawings/vmlDrawing61.vml"/><Relationship Id="rId6" Type="http://schemas.openxmlformats.org/officeDocument/2006/relationships/image" Target="../media/image118.wmf"/><Relationship Id="rId5" Type="http://schemas.openxmlformats.org/officeDocument/2006/relationships/oleObject" Target="../embeddings/oleObject119.bin"/><Relationship Id="rId4" Type="http://schemas.openxmlformats.org/officeDocument/2006/relationships/image" Target="../media/image117.wmf"/></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050" name="矩形 2049"/>
          <p:cNvSpPr/>
          <p:nvPr/>
        </p:nvSpPr>
        <p:spPr>
          <a:xfrm>
            <a:off x="1763713" y="3230563"/>
            <a:ext cx="5976937" cy="144462"/>
          </a:xfrm>
          <a:gradFill rotWithShape="0">
            <a:gsLst>
              <a:gs pos="0">
                <a:srgbClr val="B4D5FF"/>
              </a:gs>
              <a:gs pos="100000">
                <a:srgbClr val="0073FF"/>
              </a:gs>
            </a:gsLst>
            <a:lin ang="0"/>
            <a:tileRect/>
          </a:gradFill>
          <a:ln w="12700">
            <a:noFill/>
          </a:ln>
        </p:spPr>
        <p:txBody>
          <a:bodyPr/>
          <a:lstStyle/>
          <a:p>
            <a:endParaRPr lang="zh-CN" altLang="en-US"/>
          </a:p>
        </p:txBody>
      </p:sp>
      <p:graphicFrame>
        <p:nvGraphicFramePr>
          <p:cNvPr id="2051" name="对象 2050"/>
          <p:cNvGraphicFramePr>
            <a:graphicFrameLocks noChangeAspect="1"/>
          </p:cNvGraphicFramePr>
          <p:nvPr/>
        </p:nvGraphicFramePr>
        <p:xfrm>
          <a:off x="0" y="5949950"/>
          <a:ext cx="9144000" cy="908050"/>
        </p:xfrm>
        <a:graphic>
          <a:graphicData uri="http://schemas.openxmlformats.org/presentationml/2006/ole">
            <mc:AlternateContent xmlns:mc="http://schemas.openxmlformats.org/markup-compatibility/2006">
              <mc:Choice xmlns:v="urn:schemas-microsoft-com:vml" Requires="v">
                <p:oleObj spid="_x0000_s3080" r:id="rId3" imgW="2651760" imgH="1188720" progId="Visio.Drawing.11">
                  <p:embed/>
                </p:oleObj>
              </mc:Choice>
              <mc:Fallback>
                <p:oleObj r:id="rId3" imgW="2651760" imgH="1188720" progId="Visio.Drawing.11">
                  <p:embed/>
                  <p:pic>
                    <p:nvPicPr>
                      <p:cNvPr id="0" name="图片 3076"/>
                      <p:cNvPicPr/>
                      <p:nvPr/>
                    </p:nvPicPr>
                    <p:blipFill>
                      <a:blip r:embed="rId4"/>
                      <a:stretch>
                        <a:fillRect/>
                      </a:stretch>
                    </p:blipFill>
                    <p:spPr>
                      <a:xfrm>
                        <a:off x="0" y="5949950"/>
                        <a:ext cx="9144000" cy="908050"/>
                      </a:xfrm>
                      <a:prstGeom prst="rect">
                        <a:avLst/>
                      </a:prstGeom>
                      <a:noFill/>
                      <a:ln w="38100">
                        <a:noFill/>
                        <a:miter/>
                      </a:ln>
                    </p:spPr>
                  </p:pic>
                </p:oleObj>
              </mc:Fallback>
            </mc:AlternateContent>
          </a:graphicData>
        </a:graphic>
      </p:graphicFrame>
      <p:graphicFrame>
        <p:nvGraphicFramePr>
          <p:cNvPr id="2052" name="对象 2051"/>
          <p:cNvGraphicFramePr>
            <a:graphicFrameLocks noChangeAspect="1"/>
          </p:cNvGraphicFramePr>
          <p:nvPr/>
        </p:nvGraphicFramePr>
        <p:xfrm>
          <a:off x="6588125" y="174625"/>
          <a:ext cx="2476500" cy="965200"/>
        </p:xfrm>
        <a:graphic>
          <a:graphicData uri="http://schemas.openxmlformats.org/presentationml/2006/ole">
            <mc:AlternateContent xmlns:mc="http://schemas.openxmlformats.org/markup-compatibility/2006">
              <mc:Choice xmlns:v="urn:schemas-microsoft-com:vml" Requires="v">
                <p:oleObj spid="_x0000_s3081" r:id="rId5" imgW="2651760" imgH="1188720" progId="Visio.Drawing.11">
                  <p:embed/>
                </p:oleObj>
              </mc:Choice>
              <mc:Fallback>
                <p:oleObj r:id="rId5" imgW="2651760" imgH="1188720" progId="Visio.Drawing.11">
                  <p:embed/>
                  <p:pic>
                    <p:nvPicPr>
                      <p:cNvPr id="0" name="图片 3075"/>
                      <p:cNvPicPr/>
                      <p:nvPr/>
                    </p:nvPicPr>
                    <p:blipFill>
                      <a:blip r:embed="rId4"/>
                      <a:stretch>
                        <a:fillRect/>
                      </a:stretch>
                    </p:blipFill>
                    <p:spPr>
                      <a:xfrm>
                        <a:off x="6588125" y="174625"/>
                        <a:ext cx="2476500" cy="965200"/>
                      </a:xfrm>
                      <a:prstGeom prst="rect">
                        <a:avLst/>
                      </a:prstGeom>
                      <a:noFill/>
                      <a:ln w="38100">
                        <a:noFill/>
                        <a:miter/>
                      </a:ln>
                    </p:spPr>
                  </p:pic>
                </p:oleObj>
              </mc:Fallback>
            </mc:AlternateContent>
          </a:graphicData>
        </a:graphic>
      </p:graphicFrame>
      <p:sp>
        <p:nvSpPr>
          <p:cNvPr id="2053" name="矩形 2052"/>
          <p:cNvSpPr/>
          <p:nvPr/>
        </p:nvSpPr>
        <p:spPr>
          <a:xfrm>
            <a:off x="1475423" y="1700848"/>
            <a:ext cx="5688012" cy="863600"/>
          </a:xfrm>
          <a:prstGeom prst="rect">
            <a:avLst/>
          </a:prstGeom>
          <a:noFill/>
          <a:ln w="12700">
            <a:noFill/>
          </a:ln>
        </p:spPr>
        <p:txBody>
          <a:bodyPr lIns="90488" tIns="44450" rIns="90488" bIns="44450" anchor="ctr" anchorCtr="0"/>
          <a:lstStyle>
            <a:lvl1pPr marL="0" lvl="0" indent="0" algn="l" defTabSz="914400" rtl="0" eaLnBrk="1" fontAlgn="base" latinLnBrk="0" hangingPunct="1">
              <a:lnSpc>
                <a:spcPct val="100000"/>
              </a:lnSpc>
              <a:spcBef>
                <a:spcPct val="0"/>
              </a:spcBef>
              <a:spcAft>
                <a:spcPct val="0"/>
              </a:spcAft>
              <a:buClrTx/>
              <a:buSzPct val="100000"/>
              <a:buFontTx/>
              <a:buNone/>
              <a:defRPr sz="4000" b="1" u="none" kern="1200">
                <a:solidFill>
                  <a:srgbClr val="0000CC"/>
                </a:solidFill>
                <a:effectLst>
                  <a:outerShdw blurRad="38100" dist="38100" dir="2700000">
                    <a:srgbClr val="C0C0C0"/>
                  </a:outerShdw>
                </a:effectLst>
                <a:latin typeface="Times New Roman" panose="02020603050405020304" pitchFamily="18" charset="0"/>
                <a:ea typeface="黑体" panose="02010609060101010101" pitchFamily="2" charset="-122"/>
              </a:defRPr>
            </a:lvl1pPr>
          </a:lstStyle>
          <a:p>
            <a:pPr lvl="0" algn="ctr"/>
            <a:r>
              <a:rPr lang="zh-CN" altLang="en-US" sz="5400" b="0">
                <a:latin typeface="华文琥珀" panose="02010800040101010101" pitchFamily="2" charset="-122"/>
                <a:ea typeface="宋体" panose="02010600030101010101" pitchFamily="2" charset="-122"/>
              </a:rPr>
              <a:t>信息科学基础</a:t>
            </a:r>
          </a:p>
        </p:txBody>
      </p:sp>
      <p:sp>
        <p:nvSpPr>
          <p:cNvPr id="2054" name="矩形 2053"/>
          <p:cNvSpPr/>
          <p:nvPr/>
        </p:nvSpPr>
        <p:spPr>
          <a:xfrm>
            <a:off x="2519680" y="3536950"/>
            <a:ext cx="3802380" cy="1152525"/>
          </a:xfrm>
          <a:prstGeom prst="rect">
            <a:avLst/>
          </a:prstGeom>
          <a:noFill/>
          <a:ln w="12700">
            <a:noFill/>
          </a:ln>
        </p:spPr>
        <p:txBody>
          <a:bodyPr lIns="90488" tIns="44450" rIns="90488" bIns="44450" anchor="ctr" anchorCtr="0"/>
          <a:lstStyle>
            <a:lvl1pPr marL="0" lvl="0" indent="0" algn="l" defTabSz="914400" rtl="0" eaLnBrk="1" fontAlgn="base" latinLnBrk="0" hangingPunct="1">
              <a:lnSpc>
                <a:spcPct val="100000"/>
              </a:lnSpc>
              <a:spcBef>
                <a:spcPct val="0"/>
              </a:spcBef>
              <a:spcAft>
                <a:spcPct val="0"/>
              </a:spcAft>
              <a:buClrTx/>
              <a:buSzPct val="100000"/>
              <a:buFontTx/>
              <a:buNone/>
              <a:defRPr sz="4000" b="1" u="none" kern="1200">
                <a:solidFill>
                  <a:srgbClr val="0000CC"/>
                </a:solidFill>
                <a:effectLst>
                  <a:outerShdw blurRad="38100" dist="38100" dir="2700000">
                    <a:srgbClr val="C0C0C0"/>
                  </a:outerShdw>
                </a:effectLst>
                <a:latin typeface="Times New Roman" panose="02020603050405020304" pitchFamily="18" charset="0"/>
                <a:ea typeface="黑体" panose="02010609060101010101" pitchFamily="2" charset="-122"/>
              </a:defRPr>
            </a:lvl1pPr>
          </a:lstStyle>
          <a:p>
            <a:pPr lvl="0" algn="ctr"/>
            <a:r>
              <a:rPr lang="zh-CN" altLang="en-US" sz="2800" b="0">
                <a:ea typeface="MingLiU_HKSCS-ExtB" panose="02020500000000000000" charset="-120"/>
              </a:rPr>
              <a:t>（第四章）</a:t>
            </a:r>
            <a:br>
              <a:rPr lang="zh-CN" altLang="en-US" sz="2800" b="0">
                <a:ea typeface="MingLiU_HKSCS-ExtB" panose="02020500000000000000" charset="-120"/>
              </a:rPr>
            </a:br>
            <a:r>
              <a:rPr lang="en-US" altLang="zh-CN" sz="1000" b="0">
                <a:ea typeface="MingLiU_HKSCS-ExtB" panose="02020500000000000000" charset="-120"/>
              </a:rPr>
              <a:t>──────────────</a:t>
            </a:r>
            <a:br>
              <a:rPr lang="en-US" altLang="zh-CN" sz="1000" b="0">
                <a:ea typeface="MingLiU_HKSCS-ExtB" panose="02020500000000000000" charset="-120"/>
              </a:rPr>
            </a:br>
            <a:r>
              <a:rPr lang="en-US" altLang="zh-CN" sz="2800" b="0">
                <a:ea typeface="MingLiU_HKSCS-ExtB" panose="02020500000000000000" charset="-120"/>
              </a:rPr>
              <a:t>Rate Distortion Function</a:t>
            </a:r>
          </a:p>
        </p:txBody>
      </p:sp>
    </p:spTree>
  </p:cSld>
  <p:clrMapOvr>
    <a:masterClrMapping/>
  </p:clrMapOvr>
  <p:transition spd="med">
    <p:spli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2</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057" name="标题 2056"/>
          <p:cNvSpPr>
            <a:spLocks noGrp="1"/>
          </p:cNvSpPr>
          <p:nvPr>
            <p:ph type="title" idx="4294967295"/>
          </p:nvPr>
        </p:nvSpPr>
        <p:spPr>
          <a:xfrm>
            <a:off x="1114425" y="188913"/>
            <a:ext cx="8029575" cy="719137"/>
          </a:xfrm>
        </p:spPr>
        <p:txBody>
          <a:bodyPr anchor="ctr" anchorCtr="0"/>
          <a:lstStyle/>
          <a:p>
            <a:r>
              <a:rPr lang="en-US" altLang="zh-CN">
                <a:ea typeface="MingLiU_HKSCS-ExtB" panose="02020500000000000000" charset="-120"/>
              </a:rPr>
              <a:t>Chapter4</a:t>
            </a:r>
            <a:r>
              <a:rPr lang="zh-CN" altLang="en-US">
                <a:ea typeface="MingLiU_HKSCS-ExtB" panose="02020500000000000000" charset="-120"/>
              </a:rPr>
              <a:t>  </a:t>
            </a:r>
            <a:r>
              <a:rPr lang="en-US" altLang="zh-CN">
                <a:ea typeface="MingLiU_HKSCS-ExtB" panose="02020500000000000000" charset="-120"/>
              </a:rPr>
              <a:t>Rate Distortion Function</a:t>
            </a:r>
          </a:p>
        </p:txBody>
      </p:sp>
      <p:sp>
        <p:nvSpPr>
          <p:cNvPr id="2058" name="文本占位符 2057"/>
          <p:cNvSpPr>
            <a:spLocks noGrp="1"/>
          </p:cNvSpPr>
          <p:nvPr>
            <p:ph type="body" idx="4294967295"/>
          </p:nvPr>
        </p:nvSpPr>
        <p:spPr/>
        <p:txBody>
          <a:bodyPr/>
          <a:lstStyle/>
          <a:p>
            <a:pPr marL="355600" indent="-355600">
              <a:buClr>
                <a:srgbClr val="993366"/>
              </a:buClr>
              <a:buNone/>
            </a:pPr>
            <a:r>
              <a:rPr lang="en-US" altLang="zh-CN">
                <a:ea typeface="MingLiU_HKSCS-ExtB" panose="02020500000000000000" charset="-120"/>
              </a:rPr>
              <a:t>4.1 </a:t>
            </a:r>
            <a:r>
              <a:rPr lang="zh-CN" altLang="en-US">
                <a:ea typeface="MingLiU_HKSCS-ExtB" panose="02020500000000000000" charset="-120"/>
                <a:hlinkClick r:id="" action="ppaction://hlinkshowjump?jump=nextslide" tooltip="下一页"/>
              </a:rPr>
              <a:t>基本概念</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4.2 </a:t>
            </a:r>
            <a:r>
              <a:rPr lang="zh-CN" altLang="en-US">
                <a:ea typeface="MingLiU_HKSCS-ExtB" panose="02020500000000000000" charset="-120"/>
              </a:rPr>
              <a:t>离散信源的信息率失真函数</a:t>
            </a:r>
          </a:p>
          <a:p>
            <a:pPr marL="355600" indent="-355600">
              <a:buClr>
                <a:srgbClr val="993366"/>
              </a:buClr>
              <a:buNone/>
            </a:pPr>
            <a:r>
              <a:rPr lang="en-US" altLang="zh-CN">
                <a:ea typeface="MingLiU_HKSCS-ExtB" panose="02020500000000000000" charset="-120"/>
              </a:rPr>
              <a:t>4.3 </a:t>
            </a:r>
            <a:r>
              <a:rPr lang="zh-CN" altLang="en-US">
                <a:ea typeface="MingLiU_HKSCS-ExtB" panose="02020500000000000000" charset="-120"/>
              </a:rPr>
              <a:t>连续信源的信息率失真函数 </a:t>
            </a:r>
          </a:p>
          <a:p>
            <a:pPr marL="355600" indent="-355600">
              <a:buClr>
                <a:srgbClr val="993366"/>
              </a:buClr>
              <a:buNone/>
            </a:pPr>
            <a:r>
              <a:rPr lang="en-US" altLang="zh-CN">
                <a:ea typeface="MingLiU_HKSCS-ExtB" panose="02020500000000000000" charset="-120"/>
              </a:rPr>
              <a:t>4.4 </a:t>
            </a:r>
            <a:r>
              <a:rPr lang="zh-CN" altLang="en-US">
                <a:ea typeface="MingLiU_HKSCS-ExtB" panose="02020500000000000000" charset="-120"/>
              </a:rPr>
              <a:t>信息率失真函数与信息价值</a:t>
            </a:r>
          </a:p>
          <a:p>
            <a:pPr marL="355600" indent="-355600">
              <a:buClr>
                <a:srgbClr val="993366"/>
              </a:buClr>
              <a:buNone/>
            </a:pPr>
            <a:r>
              <a:rPr lang="en-US" altLang="zh-CN">
                <a:ea typeface="MingLiU_HKSCS-ExtB" panose="02020500000000000000" charset="-120"/>
              </a:rPr>
              <a:t>4.5 </a:t>
            </a:r>
            <a:r>
              <a:rPr lang="zh-CN" altLang="en-US">
                <a:ea typeface="MingLiU_HKSCS-ExtB" panose="02020500000000000000" charset="-120"/>
              </a:rPr>
              <a:t>信道容量与信息率失真函数的比较</a:t>
            </a:r>
          </a:p>
          <a:p>
            <a:pPr marL="355600" indent="-355600">
              <a:buClr>
                <a:srgbClr val="993366"/>
              </a:buClr>
              <a:buNone/>
            </a:pPr>
            <a:r>
              <a:rPr lang="en-US" altLang="zh-CN">
                <a:ea typeface="MingLiU_HKSCS-ExtB" panose="02020500000000000000" charset="-120"/>
              </a:rPr>
              <a:t>4.6 </a:t>
            </a:r>
            <a:r>
              <a:rPr lang="zh-CN" altLang="en-US">
                <a:ea typeface="MingLiU_HKSCS-ExtB" panose="02020500000000000000" charset="-120"/>
              </a:rPr>
              <a:t>保真度准则下的信源编码定理 </a:t>
            </a:r>
          </a:p>
          <a:p>
            <a:pPr marL="355600" indent="-355600">
              <a:buClr>
                <a:srgbClr val="993366"/>
              </a:buClr>
              <a:buNone/>
            </a:pPr>
            <a:r>
              <a:rPr lang="en-US" altLang="zh-CN">
                <a:ea typeface="MingLiU_HKSCS-ExtB" panose="02020500000000000000" charset="-120"/>
              </a:rPr>
              <a:t>4.7 </a:t>
            </a:r>
            <a:r>
              <a:rPr lang="zh-CN" altLang="en-US">
                <a:ea typeface="MingLiU_HKSCS-ExtB" panose="02020500000000000000" charset="-120"/>
              </a:rPr>
              <a:t>信息论“三大定理”总结</a:t>
            </a:r>
          </a:p>
        </p:txBody>
      </p:sp>
    </p:spTree>
  </p:cSld>
  <p:clrMapOvr>
    <a:masterClrMapping/>
  </p:clrMapOvr>
  <p:transition spd="med">
    <p:spli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3</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061" name="标题 2060"/>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 </a:t>
            </a:r>
            <a:r>
              <a:rPr lang="zh-CN" altLang="en-US">
                <a:ea typeface="MingLiU_HKSCS-ExtB" panose="02020500000000000000" charset="-120"/>
              </a:rPr>
              <a:t>基本概念</a:t>
            </a:r>
          </a:p>
        </p:txBody>
      </p:sp>
      <p:sp>
        <p:nvSpPr>
          <p:cNvPr id="2062" name="文本占位符 2061"/>
          <p:cNvSpPr>
            <a:spLocks noGrp="1"/>
          </p:cNvSpPr>
          <p:nvPr>
            <p:ph type="body" idx="4294967295"/>
          </p:nvPr>
        </p:nvSpPr>
        <p:spPr/>
        <p:txBody>
          <a:bodyPr/>
          <a:lstStyle/>
          <a:p>
            <a:pPr marL="355600" indent="-355600">
              <a:buClr>
                <a:srgbClr val="993366"/>
              </a:buClr>
              <a:buNone/>
            </a:pPr>
            <a:r>
              <a:rPr lang="en-US" altLang="zh-CN">
                <a:ea typeface="MingLiU_HKSCS-ExtB" panose="02020500000000000000" charset="-120"/>
              </a:rPr>
              <a:t>4.1.1 </a:t>
            </a:r>
            <a:r>
              <a:rPr lang="zh-CN" altLang="en-US">
                <a:ea typeface="MingLiU_HKSCS-ExtB" panose="02020500000000000000" charset="-120"/>
                <a:hlinkClick r:id="" action="ppaction://hlinkshowjump?jump=nextslide" tooltip="下一页"/>
              </a:rPr>
              <a:t>引言</a:t>
            </a:r>
            <a:r>
              <a:rPr lang="en-US" altLang="zh-CN">
                <a:ea typeface="MingLiU_HKSCS-ExtB" panose="02020500000000000000" charset="-120"/>
                <a:hlinkClick r:id="" action="ppaction://hlinkshowjump?jump=nextslide" tooltip="下一页"/>
              </a:rPr>
              <a:t>(</a:t>
            </a:r>
            <a:r>
              <a:rPr lang="en-US" altLang="zh-CN">
                <a:ea typeface="MingLiU_HKSCS-ExtB" panose="02020500000000000000" charset="-120"/>
              </a:rPr>
              <a:t>Introduction)</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4.1.2 </a:t>
            </a:r>
            <a:r>
              <a:rPr lang="zh-CN" altLang="en-US">
                <a:ea typeface="MingLiU_HKSCS-ExtB" panose="02020500000000000000" charset="-120"/>
              </a:rPr>
              <a:t>失真度与平均失真度</a:t>
            </a:r>
          </a:p>
          <a:p>
            <a:pPr marL="355600" indent="-355600">
              <a:buClr>
                <a:srgbClr val="993366"/>
              </a:buClr>
              <a:buNone/>
            </a:pPr>
            <a:r>
              <a:rPr lang="zh-CN" altLang="en-US">
                <a:ea typeface="MingLiU_HKSCS-ExtB" panose="02020500000000000000" charset="-120"/>
              </a:rPr>
              <a:t> </a:t>
            </a:r>
            <a:r>
              <a:rPr lang="en-US" altLang="zh-CN">
                <a:ea typeface="MingLiU_HKSCS-ExtB" panose="02020500000000000000" charset="-120"/>
              </a:rPr>
              <a:t>        (Distortion and average distortion)</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4.1.3 </a:t>
            </a:r>
            <a:r>
              <a:rPr lang="zh-CN" altLang="en-US">
                <a:ea typeface="MingLiU_HKSCS-ExtB" panose="02020500000000000000" charset="-120"/>
              </a:rPr>
              <a:t>信息率失真函数的定义</a:t>
            </a:r>
          </a:p>
          <a:p>
            <a:pPr marL="355600" indent="-355600">
              <a:buClr>
                <a:srgbClr val="993366"/>
              </a:buClr>
              <a:buNone/>
            </a:pPr>
            <a:r>
              <a:rPr lang="en-US" altLang="zh-CN">
                <a:ea typeface="MingLiU_HKSCS-ExtB" panose="02020500000000000000" charset="-120"/>
              </a:rPr>
              <a:t>(Definition of Information Rate Distortion Function)</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4.1.4 </a:t>
            </a:r>
            <a:r>
              <a:rPr lang="zh-CN" altLang="en-US">
                <a:ea typeface="MingLiU_HKSCS-ExtB" panose="02020500000000000000" charset="-120"/>
              </a:rPr>
              <a:t>信息率失真函数的性质</a:t>
            </a:r>
          </a:p>
          <a:p>
            <a:pPr marL="355600" indent="-355600">
              <a:buClr>
                <a:srgbClr val="993366"/>
              </a:buClr>
              <a:buNone/>
            </a:pPr>
            <a:r>
              <a:rPr lang="en-US" altLang="zh-CN">
                <a:ea typeface="MingLiU_HKSCS-ExtB" panose="02020500000000000000" charset="-120"/>
              </a:rPr>
              <a:t>(Properties of Information Rate Distortion Function)</a:t>
            </a:r>
          </a:p>
        </p:txBody>
      </p:sp>
    </p:spTree>
  </p:cSld>
  <p:clrMapOvr>
    <a:masterClrMapping/>
  </p:clrMapOvr>
  <p:transition spd="med">
    <p:spli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4</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065" name="标题 2064"/>
          <p:cNvSpPr>
            <a:spLocks noGrp="1"/>
          </p:cNvSpPr>
          <p:nvPr>
            <p:ph type="title" idx="4294967295"/>
          </p:nvPr>
        </p:nvSpPr>
        <p:spPr>
          <a:xfrm>
            <a:off x="1049338" y="188913"/>
            <a:ext cx="8094662" cy="719137"/>
          </a:xfrm>
        </p:spPr>
        <p:txBody>
          <a:bodyPr anchor="ctr" anchorCtr="0"/>
          <a:lstStyle/>
          <a:p>
            <a:r>
              <a:rPr lang="en-US" altLang="zh-CN">
                <a:ea typeface="MingLiU_HKSCS-ExtB" panose="02020500000000000000" charset="-120"/>
              </a:rPr>
              <a:t>4.1.1 </a:t>
            </a:r>
            <a:r>
              <a:rPr lang="zh-CN" altLang="en-US">
                <a:ea typeface="MingLiU_HKSCS-ExtB" panose="02020500000000000000" charset="-120"/>
              </a:rPr>
              <a:t>引    言</a:t>
            </a:r>
            <a:r>
              <a:rPr lang="en-US" altLang="zh-CN">
                <a:ea typeface="MingLiU_HKSCS-ExtB" panose="02020500000000000000" charset="-120"/>
              </a:rPr>
              <a:t> (Introduction)</a:t>
            </a:r>
          </a:p>
        </p:txBody>
      </p:sp>
      <p:sp>
        <p:nvSpPr>
          <p:cNvPr id="2066" name="文本占位符 2065"/>
          <p:cNvSpPr>
            <a:spLocks noGrp="1"/>
          </p:cNvSpPr>
          <p:nvPr>
            <p:ph type="body" idx="4294967295"/>
          </p:nvPr>
        </p:nvSpPr>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hlinkClick r:id="" action="ppaction://hlinkshowjump?jump=nextslide" tooltip="下一页"/>
              </a:rPr>
              <a:t>“消息完全无失真传送”的可实现性</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实际中允许一定程度的失真</a:t>
            </a:r>
          </a:p>
          <a:p>
            <a:pPr marL="355600" indent="-355600">
              <a:buClr>
                <a:srgbClr val="993366"/>
              </a:buClr>
              <a:buNone/>
            </a:pPr>
            <a:r>
              <a:rPr lang="en-US" altLang="zh-CN">
                <a:ea typeface="MingLiU_HKSCS-ExtB" panose="02020500000000000000" charset="-120"/>
              </a:rPr>
              <a:t>(3) </a:t>
            </a:r>
            <a:r>
              <a:rPr lang="zh-CN" altLang="en-US">
                <a:ea typeface="MingLiU_HKSCS-ExtB" panose="02020500000000000000" charset="-120"/>
              </a:rPr>
              <a:t>信息率失真理论</a:t>
            </a:r>
          </a:p>
        </p:txBody>
      </p:sp>
      <p:sp>
        <p:nvSpPr>
          <p:cNvPr id="2067" name="矩形 2066"/>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5</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070" name="标题 2069"/>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4.1.1 </a:t>
            </a:r>
            <a:r>
              <a:rPr lang="zh-CN" altLang="en-US">
                <a:ea typeface="MingLiU_HKSCS-ExtB" panose="02020500000000000000" charset="-120"/>
              </a:rPr>
              <a:t>引    言</a:t>
            </a:r>
            <a:r>
              <a:rPr lang="en-US" altLang="zh-CN">
                <a:ea typeface="MingLiU_HKSCS-ExtB" panose="02020500000000000000" charset="-120"/>
                <a:sym typeface="+mn-ea"/>
              </a:rPr>
              <a:t> (Introduction)</a:t>
            </a:r>
            <a:endParaRPr lang="zh-CN" altLang="en-US">
              <a:ea typeface="MingLiU_HKSCS-ExtB" panose="02020500000000000000" charset="-120"/>
            </a:endParaRPr>
          </a:p>
        </p:txBody>
      </p:sp>
      <p:sp>
        <p:nvSpPr>
          <p:cNvPr id="2071" name="文本占位符 2070"/>
          <p:cNvSpPr>
            <a:spLocks noGrp="1"/>
          </p:cNvSpPr>
          <p:nvPr>
            <p:ph type="body" idx="4294967295"/>
          </p:nvPr>
        </p:nvSpPr>
        <p:spPr/>
        <p:txBody>
          <a:bodyPr/>
          <a:lstStyle/>
          <a:p>
            <a:pPr>
              <a:buClr>
                <a:srgbClr val="993366"/>
              </a:buClr>
              <a:buNone/>
            </a:pPr>
            <a:r>
              <a:rPr lang="en-US" altLang="zh-CN">
                <a:ea typeface="MingLiU_HKSCS-ExtB" panose="02020500000000000000" charset="-120"/>
              </a:rPr>
              <a:t>(1) “</a:t>
            </a:r>
            <a:r>
              <a:rPr lang="zh-CN" altLang="en-US">
                <a:ea typeface="MingLiU_HKSCS-ExtB" panose="02020500000000000000" charset="-120"/>
              </a:rPr>
              <a:t>消息完全无失真传送”的可实现性</a:t>
            </a:r>
          </a:p>
          <a:p>
            <a:pPr>
              <a:buClr>
                <a:srgbClr val="993366"/>
              </a:buClr>
            </a:pPr>
            <a:r>
              <a:rPr lang="zh-CN" altLang="en-US" sz="2200">
                <a:solidFill>
                  <a:srgbClr val="0000CC"/>
                </a:solidFill>
                <a:ea typeface="MingLiU_HKSCS-ExtB" panose="02020500000000000000" charset="-120"/>
              </a:rPr>
              <a:t> 信道编码定理：</a:t>
            </a:r>
            <a:r>
              <a:rPr lang="zh-CN" altLang="en-US" sz="2200">
                <a:solidFill>
                  <a:srgbClr val="FF0000"/>
                </a:solidFill>
                <a:ea typeface="MingLiU_HKSCS-ExtB" panose="02020500000000000000" charset="-120"/>
              </a:rPr>
              <a:t>无论何种信道，只要信息率 </a:t>
            </a:r>
            <a:r>
              <a:rPr lang="en-US" altLang="zh-CN" sz="2200" i="1">
                <a:solidFill>
                  <a:srgbClr val="FF0000"/>
                </a:solidFill>
                <a:ea typeface="MingLiU_HKSCS-ExtB" panose="02020500000000000000" charset="-120"/>
              </a:rPr>
              <a:t>R </a:t>
            </a:r>
            <a:r>
              <a:rPr lang="zh-CN" altLang="en-US" sz="2200">
                <a:solidFill>
                  <a:srgbClr val="FF0000"/>
                </a:solidFill>
                <a:ea typeface="MingLiU_HKSCS-ExtB" panose="02020500000000000000" charset="-120"/>
              </a:rPr>
              <a:t>小于信道容量 </a:t>
            </a:r>
            <a:r>
              <a:rPr lang="en-US" altLang="zh-CN" sz="2200" i="1">
                <a:solidFill>
                  <a:srgbClr val="FF0000"/>
                </a:solidFill>
                <a:ea typeface="MingLiU_HKSCS-ExtB" panose="02020500000000000000" charset="-120"/>
              </a:rPr>
              <a:t>C</a:t>
            </a:r>
            <a:r>
              <a:rPr lang="zh-CN" altLang="en-US" sz="2200">
                <a:solidFill>
                  <a:srgbClr val="FF0000"/>
                </a:solidFill>
                <a:ea typeface="MingLiU_HKSCS-ExtB" panose="02020500000000000000" charset="-120"/>
              </a:rPr>
              <a:t>，总能找到一种编码，使在信道上能以任意小的错误概率和任意接近于 </a:t>
            </a:r>
            <a:r>
              <a:rPr lang="en-US" altLang="zh-CN" sz="2200" i="1">
                <a:solidFill>
                  <a:srgbClr val="FF0000"/>
                </a:solidFill>
                <a:ea typeface="MingLiU_HKSCS-ExtB" panose="02020500000000000000" charset="-120"/>
              </a:rPr>
              <a:t>C </a:t>
            </a:r>
            <a:r>
              <a:rPr lang="zh-CN" altLang="en-US" sz="2200">
                <a:solidFill>
                  <a:srgbClr val="FF0000"/>
                </a:solidFill>
                <a:ea typeface="MingLiU_HKSCS-ExtB" panose="02020500000000000000" charset="-120"/>
              </a:rPr>
              <a:t>的传输率来传送信息。反之，若 </a:t>
            </a:r>
            <a:r>
              <a:rPr lang="en-US" altLang="zh-CN" sz="2200" i="1">
                <a:solidFill>
                  <a:srgbClr val="FF0000"/>
                </a:solidFill>
                <a:ea typeface="MingLiU_HKSCS-ExtB" panose="02020500000000000000" charset="-120"/>
              </a:rPr>
              <a:t>R </a:t>
            </a:r>
            <a:r>
              <a:rPr lang="en-US" altLang="zh-CN" sz="2200">
                <a:solidFill>
                  <a:srgbClr val="FF0000"/>
                </a:solidFill>
                <a:ea typeface="MingLiU_HKSCS-ExtB" panose="02020500000000000000" charset="-120"/>
              </a:rPr>
              <a:t>&gt;</a:t>
            </a:r>
            <a:r>
              <a:rPr lang="en-US" altLang="zh-CN" sz="2200" i="1">
                <a:solidFill>
                  <a:srgbClr val="FF0000"/>
                </a:solidFill>
                <a:ea typeface="MingLiU_HKSCS-ExtB" panose="02020500000000000000" charset="-120"/>
              </a:rPr>
              <a:t>C</a:t>
            </a:r>
            <a:r>
              <a:rPr lang="zh-CN" altLang="en-US" sz="2200">
                <a:solidFill>
                  <a:srgbClr val="FF0000"/>
                </a:solidFill>
                <a:ea typeface="MingLiU_HKSCS-ExtB" panose="02020500000000000000" charset="-120"/>
              </a:rPr>
              <a:t>，则传输总要失真。</a:t>
            </a:r>
          </a:p>
          <a:p>
            <a:pPr>
              <a:buClr>
                <a:srgbClr val="993366"/>
              </a:buClr>
            </a:pPr>
            <a:r>
              <a:rPr lang="zh-CN" altLang="en-US" sz="2200">
                <a:ea typeface="MingLiU_HKSCS-ExtB" panose="02020500000000000000" charset="-120"/>
              </a:rPr>
              <a:t> 完全无失真传送不可实现</a:t>
            </a:r>
          </a:p>
          <a:p>
            <a:pPr marL="355600" lvl="1">
              <a:buClr>
                <a:srgbClr val="993366"/>
              </a:buClr>
            </a:pPr>
            <a:r>
              <a:rPr lang="zh-CN" altLang="en-US" sz="2200">
                <a:ea typeface="MingLiU_HKSCS-ExtB" panose="02020500000000000000" charset="-120"/>
              </a:rPr>
              <a:t> 实际的信源常常是连续的，信息率无限大，要无失真传送要求信息率 </a:t>
            </a:r>
            <a:r>
              <a:rPr lang="en-US" altLang="zh-CN" sz="2200" i="1">
                <a:ea typeface="MingLiU_HKSCS-ExtB" panose="02020500000000000000" charset="-120"/>
              </a:rPr>
              <a:t>R </a:t>
            </a:r>
            <a:r>
              <a:rPr lang="zh-CN" altLang="en-US" sz="2200">
                <a:ea typeface="MingLiU_HKSCS-ExtB" panose="02020500000000000000" charset="-120"/>
              </a:rPr>
              <a:t>为无穷大；</a:t>
            </a:r>
          </a:p>
          <a:p>
            <a:pPr marL="355600" lvl="1">
              <a:buClr>
                <a:srgbClr val="993366"/>
              </a:buClr>
            </a:pPr>
            <a:r>
              <a:rPr lang="zh-CN" altLang="en-US" sz="2200">
                <a:ea typeface="MingLiU_HKSCS-ExtB" panose="02020500000000000000" charset="-120"/>
              </a:rPr>
              <a:t> 实际信道带宽是有限的，所以信道容量受限制。要想无失真传输，所需的信息率大大超过信道容量 </a:t>
            </a:r>
            <a:r>
              <a:rPr lang="en-US" altLang="zh-CN" sz="2200" i="1">
                <a:ea typeface="MingLiU_HKSCS-ExtB" panose="02020500000000000000" charset="-120"/>
              </a:rPr>
              <a:t>R</a:t>
            </a:r>
            <a:r>
              <a:rPr lang="en-US" altLang="zh-CN" sz="2200">
                <a:ea typeface="MingLiU_HKSCS-ExtB" panose="02020500000000000000" charset="-120"/>
              </a:rPr>
              <a:t>&gt;&gt;</a:t>
            </a:r>
            <a:r>
              <a:rPr lang="en-US" altLang="zh-CN" sz="2200" i="1">
                <a:ea typeface="MingLiU_HKSCS-ExtB" panose="02020500000000000000" charset="-120"/>
              </a:rPr>
              <a:t>C</a:t>
            </a:r>
            <a:r>
              <a:rPr lang="zh-CN" altLang="en-US" sz="2200">
                <a:ea typeface="MingLiU_HKSCS-ExtB" panose="02020500000000000000" charset="-120"/>
              </a:rPr>
              <a:t>。</a:t>
            </a:r>
          </a:p>
        </p:txBody>
      </p:sp>
      <p:sp>
        <p:nvSpPr>
          <p:cNvPr id="2072" name="矩形 2071"/>
          <p:cNvSpPr/>
          <p:nvPr/>
        </p:nvSpPr>
        <p:spPr>
          <a:xfrm>
            <a:off x="8029575" y="5948363"/>
            <a:ext cx="796925" cy="360362"/>
          </a:xfrm>
          <a:solidFill>
            <a:srgbClr val="BBE0E3"/>
          </a:solidFill>
          <a:ln w="12700">
            <a:noFill/>
          </a:ln>
        </p:spPr>
        <p:txBody>
          <a:bodyPr/>
          <a:lstStyle/>
          <a:p>
            <a:endParaRPr lang="zh-CN" altLang="en-US"/>
          </a:p>
        </p:txBody>
      </p:sp>
      <p:sp>
        <p:nvSpPr>
          <p:cNvPr id="2073" name="矩形 2072"/>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6</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076" name="标题 2075"/>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4.1.1 </a:t>
            </a:r>
            <a:r>
              <a:rPr lang="zh-CN" altLang="en-US">
                <a:ea typeface="MingLiU_HKSCS-ExtB" panose="02020500000000000000" charset="-120"/>
              </a:rPr>
              <a:t>引    言</a:t>
            </a:r>
            <a:r>
              <a:rPr lang="en-US" altLang="zh-CN">
                <a:ea typeface="MingLiU_HKSCS-ExtB" panose="02020500000000000000" charset="-120"/>
                <a:sym typeface="+mn-ea"/>
              </a:rPr>
              <a:t> (Introduction)</a:t>
            </a:r>
            <a:endParaRPr lang="zh-CN" altLang="en-US">
              <a:ea typeface="MingLiU_HKSCS-ExtB" panose="02020500000000000000" charset="-120"/>
            </a:endParaRPr>
          </a:p>
        </p:txBody>
      </p:sp>
      <p:sp>
        <p:nvSpPr>
          <p:cNvPr id="2077" name="文本占位符 2076"/>
          <p:cNvSpPr>
            <a:spLocks noGrp="1"/>
          </p:cNvSpPr>
          <p:nvPr>
            <p:ph type="body" idx="4294967295"/>
          </p:nvPr>
        </p:nvSpPr>
        <p:spPr>
          <a:xfrm>
            <a:off x="684213" y="981075"/>
            <a:ext cx="8075612" cy="5256213"/>
          </a:xfrm>
        </p:spPr>
        <p:txBody>
          <a:bodyPr/>
          <a:lstStyle/>
          <a:p>
            <a:pPr>
              <a:buClr>
                <a:srgbClr val="993366"/>
              </a:buClr>
              <a:buNone/>
            </a:pPr>
            <a:r>
              <a:rPr lang="en-US" altLang="zh-CN">
                <a:ea typeface="MingLiU_HKSCS-ExtB" panose="02020500000000000000" charset="-120"/>
              </a:rPr>
              <a:t>(2) </a:t>
            </a:r>
            <a:r>
              <a:rPr lang="zh-CN" altLang="en-US">
                <a:ea typeface="MingLiU_HKSCS-ExtB" panose="02020500000000000000" charset="-120"/>
              </a:rPr>
              <a:t>实际中允许一定程度的失真</a:t>
            </a:r>
          </a:p>
          <a:p>
            <a:pPr>
              <a:buClr>
                <a:srgbClr val="993366"/>
              </a:buClr>
            </a:pPr>
            <a:r>
              <a:rPr lang="zh-CN" altLang="en-US" sz="2400">
                <a:ea typeface="MingLiU_HKSCS-ExtB" panose="02020500000000000000" charset="-120"/>
              </a:rPr>
              <a:t>  </a:t>
            </a:r>
            <a:r>
              <a:rPr lang="zh-CN" altLang="en-US" sz="2400" u="sng">
                <a:ea typeface="MingLiU_HKSCS-ExtB" panose="02020500000000000000" charset="-120"/>
              </a:rPr>
              <a:t>技术发展的需要</a:t>
            </a:r>
          </a:p>
          <a:p>
            <a:pPr marL="355600" lvl="1">
              <a:lnSpc>
                <a:spcPct val="120000"/>
              </a:lnSpc>
              <a:buClr>
                <a:srgbClr val="993366"/>
              </a:buClr>
            </a:pPr>
            <a:r>
              <a:rPr lang="zh-CN" altLang="en-US" sz="2000">
                <a:ea typeface="MingLiU_HKSCS-ExtB" panose="02020500000000000000" charset="-120"/>
              </a:rPr>
              <a:t> 随着科技的发展，数字系统应用得越来越广泛，需要传送、存储和处理大量的数据。为了提高传输和处理效率，需要对数据压缩，这样会带来一定的信息损失。</a:t>
            </a:r>
          </a:p>
          <a:p>
            <a:pPr marL="355600" lvl="1">
              <a:lnSpc>
                <a:spcPct val="120000"/>
              </a:lnSpc>
              <a:buClr>
                <a:srgbClr val="993366"/>
              </a:buClr>
            </a:pPr>
            <a:r>
              <a:rPr lang="zh-CN" altLang="en-US" sz="2000">
                <a:ea typeface="MingLiU_HKSCS-ExtB" panose="02020500000000000000" charset="-120"/>
              </a:rPr>
              <a:t> 信息时代，信息爆</a:t>
            </a:r>
            <a:r>
              <a:rPr lang="zh-CN" altLang="en-GB" sz="2000">
                <a:ea typeface="MingLiU_HKSCS-ExtB" panose="02020500000000000000" charset="-120"/>
              </a:rPr>
              <a:t>炸，要求解决对海量数据有效的压缩，减少数据的</a:t>
            </a:r>
            <a:r>
              <a:rPr lang="zh-CN" altLang="en-US" sz="2000" u="sng">
                <a:solidFill>
                  <a:srgbClr val="0000CC"/>
                </a:solidFill>
                <a:ea typeface="MingLiU_HKSCS-ExtB" panose="02020500000000000000" charset="-120"/>
              </a:rPr>
              <a:t>存储容量</a:t>
            </a:r>
            <a:r>
              <a:rPr lang="en-US" altLang="zh-CN" sz="2000">
                <a:ea typeface="MingLiU_HKSCS-ExtB" panose="02020500000000000000" charset="-120"/>
              </a:rPr>
              <a:t>(</a:t>
            </a:r>
            <a:r>
              <a:rPr lang="zh-CN" altLang="en-US" sz="2000">
                <a:ea typeface="MingLiU_HKSCS-ExtB" panose="02020500000000000000" charset="-120"/>
              </a:rPr>
              <a:t>如各种数据库、电子出版物、多媒体娱乐</a:t>
            </a:r>
            <a:r>
              <a:rPr lang="en-US" altLang="zh-CN" sz="2000">
                <a:ea typeface="MingLiU_HKSCS-ExtB" panose="02020500000000000000" charset="-120"/>
              </a:rPr>
              <a:t>)</a:t>
            </a:r>
            <a:r>
              <a:rPr lang="zh-CN" altLang="en-US" sz="2000">
                <a:ea typeface="MingLiU_HKSCS-ExtB" panose="02020500000000000000" charset="-120"/>
              </a:rPr>
              <a:t>、</a:t>
            </a:r>
            <a:r>
              <a:rPr lang="zh-CN" altLang="en-US" sz="2000" u="sng">
                <a:solidFill>
                  <a:srgbClr val="0000CC"/>
                </a:solidFill>
                <a:ea typeface="MingLiU_HKSCS-ExtB" panose="02020500000000000000" charset="-120"/>
              </a:rPr>
              <a:t>传输时间</a:t>
            </a:r>
            <a:r>
              <a:rPr lang="en-US" altLang="zh-CN" sz="2000">
                <a:ea typeface="MingLiU_HKSCS-ExtB" panose="02020500000000000000" charset="-120"/>
              </a:rPr>
              <a:t>(</a:t>
            </a:r>
            <a:r>
              <a:rPr lang="zh-CN" altLang="en-US" sz="2000">
                <a:ea typeface="MingLiU_HKSCS-ExtB" panose="02020500000000000000" charset="-120"/>
              </a:rPr>
              <a:t>如数据通信和遥测</a:t>
            </a:r>
            <a:r>
              <a:rPr lang="en-US" altLang="zh-CN" sz="2000">
                <a:ea typeface="MingLiU_HKSCS-ExtB" panose="02020500000000000000" charset="-120"/>
              </a:rPr>
              <a:t>)</a:t>
            </a:r>
            <a:r>
              <a:rPr lang="zh-CN" altLang="en-US" sz="2000">
                <a:ea typeface="MingLiU_HKSCS-ExtB" panose="02020500000000000000" charset="-120"/>
              </a:rPr>
              <a:t>、或</a:t>
            </a:r>
            <a:r>
              <a:rPr lang="zh-CN" altLang="en-US" sz="2000" u="sng">
                <a:solidFill>
                  <a:srgbClr val="0000CC"/>
                </a:solidFill>
                <a:ea typeface="MingLiU_HKSCS-ExtB" panose="02020500000000000000" charset="-120"/>
              </a:rPr>
              <a:t>占有带宽</a:t>
            </a:r>
            <a:r>
              <a:rPr lang="en-US" altLang="zh-CN" sz="2000">
                <a:ea typeface="MingLiU_HKSCS-ExtB" panose="02020500000000000000" charset="-120"/>
              </a:rPr>
              <a:t>(</a:t>
            </a:r>
            <a:r>
              <a:rPr lang="zh-CN" altLang="en-US" sz="2000">
                <a:ea typeface="MingLiU_HKSCS-ExtB" panose="02020500000000000000" charset="-120"/>
              </a:rPr>
              <a:t>如多媒体通信、数字音频广播、高清晰度电视</a:t>
            </a:r>
            <a:r>
              <a:rPr lang="en-US" altLang="zh-CN" sz="2000">
                <a:ea typeface="MingLiU_HKSCS-ExtB" panose="02020500000000000000" charset="-120"/>
              </a:rPr>
              <a:t>)</a:t>
            </a:r>
            <a:r>
              <a:rPr lang="zh-CN" altLang="en-US" sz="2000">
                <a:ea typeface="MingLiU_HKSCS-ExtB" panose="02020500000000000000" charset="-120"/>
              </a:rPr>
              <a:t>，想方设法压缩给定消息 集合占用的</a:t>
            </a:r>
            <a:r>
              <a:rPr lang="zh-CN" altLang="en-US" sz="2000" u="sng">
                <a:solidFill>
                  <a:srgbClr val="FF0000"/>
                </a:solidFill>
                <a:ea typeface="MingLiU_HKSCS-ExtB" panose="02020500000000000000" charset="-120"/>
              </a:rPr>
              <a:t>空间域</a:t>
            </a:r>
            <a:r>
              <a:rPr lang="zh-CN" altLang="en-US" sz="2000">
                <a:ea typeface="MingLiU_HKSCS-ExtB" panose="02020500000000000000" charset="-120"/>
              </a:rPr>
              <a:t>、</a:t>
            </a:r>
            <a:r>
              <a:rPr lang="zh-CN" altLang="en-US" sz="2000" u="sng">
                <a:solidFill>
                  <a:srgbClr val="FF0000"/>
                </a:solidFill>
                <a:ea typeface="MingLiU_HKSCS-ExtB" panose="02020500000000000000" charset="-120"/>
              </a:rPr>
              <a:t>时间域</a:t>
            </a:r>
            <a:r>
              <a:rPr lang="zh-CN" altLang="en-US" sz="2000">
                <a:ea typeface="MingLiU_HKSCS-ExtB" panose="02020500000000000000" charset="-120"/>
              </a:rPr>
              <a:t>和</a:t>
            </a:r>
            <a:r>
              <a:rPr lang="zh-CN" altLang="en-US" sz="2000" u="sng">
                <a:solidFill>
                  <a:srgbClr val="FF0000"/>
                </a:solidFill>
                <a:ea typeface="MingLiU_HKSCS-ExtB" panose="02020500000000000000" charset="-120"/>
              </a:rPr>
              <a:t>频率域</a:t>
            </a:r>
            <a:r>
              <a:rPr lang="zh-CN" altLang="en-US" sz="2000">
                <a:ea typeface="MingLiU_HKSCS-ExtB" panose="02020500000000000000" charset="-120"/>
              </a:rPr>
              <a:t>资源</a:t>
            </a:r>
            <a:r>
              <a:rPr lang="en-US" altLang="zh-CN" sz="2000">
                <a:ea typeface="MingLiU_HKSCS-ExtB" panose="02020500000000000000" charset="-120"/>
              </a:rPr>
              <a:t>.</a:t>
            </a:r>
          </a:p>
          <a:p>
            <a:pPr marL="355600" lvl="1">
              <a:lnSpc>
                <a:spcPct val="120000"/>
              </a:lnSpc>
              <a:buClr>
                <a:srgbClr val="993366"/>
              </a:buClr>
            </a:pPr>
            <a:r>
              <a:rPr lang="en-US" altLang="zh-CN" sz="2000">
                <a:ea typeface="MingLiU_HKSCS-ExtB" panose="02020500000000000000" charset="-120"/>
              </a:rPr>
              <a:t> </a:t>
            </a:r>
            <a:r>
              <a:rPr lang="zh-CN" altLang="en-US" sz="2000">
                <a:ea typeface="MingLiU_HKSCS-ExtB" panose="02020500000000000000" charset="-120"/>
              </a:rPr>
              <a:t>如海洋地球物理勘探遥测数据，用 </a:t>
            </a:r>
            <a:r>
              <a:rPr lang="en-US" altLang="zh-CN" sz="2000">
                <a:ea typeface="MingLiU_HKSCS-ExtB" panose="02020500000000000000" charset="-120"/>
              </a:rPr>
              <a:t>60 </a:t>
            </a:r>
            <a:r>
              <a:rPr lang="zh-CN" altLang="en-US" sz="2000">
                <a:ea typeface="MingLiU_HKSCS-ExtB" panose="02020500000000000000" charset="-120"/>
              </a:rPr>
              <a:t>路传感器，每路信号 </a:t>
            </a:r>
            <a:r>
              <a:rPr lang="en-US" altLang="zh-CN" sz="2000">
                <a:ea typeface="MingLiU_HKSCS-ExtB" panose="02020500000000000000" charset="-120"/>
              </a:rPr>
              <a:t>1</a:t>
            </a:r>
            <a:r>
              <a:rPr lang="en-US" altLang="zh-CN" sz="2000" i="1">
                <a:ea typeface="MingLiU_HKSCS-ExtB" panose="02020500000000000000" charset="-120"/>
              </a:rPr>
              <a:t>kHz</a:t>
            </a:r>
            <a:r>
              <a:rPr lang="zh-CN" altLang="en-US" sz="2000">
                <a:ea typeface="MingLiU_HKSCS-ExtB" panose="02020500000000000000" charset="-120"/>
              </a:rPr>
              <a:t>，</a:t>
            </a:r>
            <a:r>
              <a:rPr lang="en-US" altLang="zh-CN" sz="2000">
                <a:ea typeface="MingLiU_HKSCS-ExtB" panose="02020500000000000000" charset="-120"/>
              </a:rPr>
              <a:t>16 </a:t>
            </a:r>
            <a:r>
              <a:rPr lang="zh-CN" altLang="en-US" sz="2000">
                <a:ea typeface="MingLiU_HKSCS-ExtB" panose="02020500000000000000" charset="-120"/>
              </a:rPr>
              <a:t>位 </a:t>
            </a:r>
            <a:r>
              <a:rPr lang="en-US" altLang="zh-CN" sz="2000" i="1">
                <a:ea typeface="MingLiU_HKSCS-ExtB" panose="02020500000000000000" charset="-120"/>
              </a:rPr>
              <a:t>A</a:t>
            </a:r>
            <a:r>
              <a:rPr lang="en-US" altLang="zh-CN" sz="2000">
                <a:ea typeface="MingLiU_HKSCS-ExtB" panose="02020500000000000000" charset="-120"/>
              </a:rPr>
              <a:t>/</a:t>
            </a:r>
            <a:r>
              <a:rPr lang="en-US" altLang="zh-CN" sz="2000" i="1">
                <a:ea typeface="MingLiU_HKSCS-ExtB" panose="02020500000000000000" charset="-120"/>
              </a:rPr>
              <a:t>D </a:t>
            </a:r>
            <a:r>
              <a:rPr lang="zh-CN" altLang="en-US" sz="2000">
                <a:ea typeface="MingLiU_HKSCS-ExtB" panose="02020500000000000000" charset="-120"/>
              </a:rPr>
              <a:t>量化，每航测 </a:t>
            </a:r>
            <a:r>
              <a:rPr lang="en-US" altLang="zh-CN" sz="2000">
                <a:ea typeface="MingLiU_HKSCS-ExtB" panose="02020500000000000000" charset="-120"/>
              </a:rPr>
              <a:t>1</a:t>
            </a:r>
            <a:r>
              <a:rPr lang="en-US" altLang="zh-CN" sz="2000" i="1">
                <a:ea typeface="MingLiU_HKSCS-ExtB" panose="02020500000000000000" charset="-120"/>
              </a:rPr>
              <a:t>km </a:t>
            </a:r>
            <a:r>
              <a:rPr lang="zh-CN" altLang="en-US" sz="2000">
                <a:ea typeface="MingLiU_HKSCS-ExtB" panose="02020500000000000000" charset="-120"/>
              </a:rPr>
              <a:t>就需记录 </a:t>
            </a:r>
            <a:r>
              <a:rPr lang="en-US" altLang="zh-CN" sz="2000">
                <a:ea typeface="MingLiU_HKSCS-ExtB" panose="02020500000000000000" charset="-120"/>
              </a:rPr>
              <a:t>1 </a:t>
            </a:r>
            <a:r>
              <a:rPr lang="zh-CN" altLang="en-US" sz="2000">
                <a:ea typeface="MingLiU_HKSCS-ExtB" panose="02020500000000000000" charset="-120"/>
              </a:rPr>
              <a:t>盘 </a:t>
            </a:r>
            <a:r>
              <a:rPr lang="en-US" altLang="zh-CN" sz="2000">
                <a:ea typeface="MingLiU_HKSCS-ExtB" panose="02020500000000000000" charset="-120"/>
              </a:rPr>
              <a:t>0.5 </a:t>
            </a:r>
            <a:r>
              <a:rPr lang="zh-CN" altLang="en-US" sz="2000">
                <a:ea typeface="MingLiU_HKSCS-ExtB" panose="02020500000000000000" charset="-120"/>
              </a:rPr>
              <a:t>英寸的磁带，一条测量船每年就可勘测 </a:t>
            </a:r>
            <a:r>
              <a:rPr lang="en-US" altLang="zh-CN" sz="2000">
                <a:ea typeface="MingLiU_HKSCS-ExtB" panose="02020500000000000000" charset="-120"/>
              </a:rPr>
              <a:t>15000</a:t>
            </a:r>
            <a:r>
              <a:rPr lang="en-US" altLang="zh-CN" sz="2000" i="1">
                <a:ea typeface="MingLiU_HKSCS-ExtB" panose="02020500000000000000" charset="-120"/>
              </a:rPr>
              <a:t>km</a:t>
            </a:r>
            <a:r>
              <a:rPr lang="zh-CN" altLang="en-US" sz="2000">
                <a:ea typeface="MingLiU_HKSCS-ExtB" panose="02020500000000000000" charset="-120"/>
              </a:rPr>
              <a:t>。</a:t>
            </a:r>
          </a:p>
        </p:txBody>
      </p:sp>
      <p:sp>
        <p:nvSpPr>
          <p:cNvPr id="2078" name="矩形 2077"/>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7</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081" name="标题 2080"/>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4.1.1 </a:t>
            </a:r>
            <a:r>
              <a:rPr lang="zh-CN" altLang="en-US">
                <a:ea typeface="MingLiU_HKSCS-ExtB" panose="02020500000000000000" charset="-120"/>
              </a:rPr>
              <a:t>引    言</a:t>
            </a:r>
            <a:r>
              <a:rPr lang="en-US" altLang="zh-CN">
                <a:ea typeface="MingLiU_HKSCS-ExtB" panose="02020500000000000000" charset="-120"/>
                <a:sym typeface="+mn-ea"/>
              </a:rPr>
              <a:t> (Introduction)</a:t>
            </a:r>
            <a:endParaRPr lang="zh-CN" altLang="en-US">
              <a:ea typeface="MingLiU_HKSCS-ExtB" panose="02020500000000000000" charset="-120"/>
            </a:endParaRPr>
          </a:p>
        </p:txBody>
      </p:sp>
      <p:sp>
        <p:nvSpPr>
          <p:cNvPr id="2082" name="文本占位符 2081"/>
          <p:cNvSpPr>
            <a:spLocks noGrp="1"/>
          </p:cNvSpPr>
          <p:nvPr>
            <p:ph type="body" idx="4294967295"/>
          </p:nvPr>
        </p:nvSpPr>
        <p:spPr/>
        <p:txBody>
          <a:bodyPr/>
          <a:lstStyle/>
          <a:p>
            <a:pPr>
              <a:buClr>
                <a:srgbClr val="993366"/>
              </a:buClr>
              <a:buNone/>
            </a:pPr>
            <a:r>
              <a:rPr lang="en-US" altLang="zh-CN">
                <a:ea typeface="MingLiU_HKSCS-ExtB" panose="02020500000000000000" charset="-120"/>
              </a:rPr>
              <a:t>(2) </a:t>
            </a:r>
            <a:r>
              <a:rPr lang="zh-CN" altLang="en-US">
                <a:ea typeface="MingLiU_HKSCS-ExtB" panose="02020500000000000000" charset="-120"/>
              </a:rPr>
              <a:t>实际中允许一定程度的失真</a:t>
            </a:r>
          </a:p>
          <a:p>
            <a:pPr>
              <a:buClr>
                <a:srgbClr val="993366"/>
              </a:buClr>
            </a:pPr>
            <a:r>
              <a:rPr lang="zh-CN" altLang="en-US" sz="2400">
                <a:ea typeface="MingLiU_HKSCS-ExtB" panose="02020500000000000000" charset="-120"/>
              </a:rPr>
              <a:t> </a:t>
            </a:r>
            <a:r>
              <a:rPr lang="zh-CN" altLang="en-US" sz="2400" u="sng">
                <a:ea typeface="MingLiU_HKSCS-ExtB" panose="02020500000000000000" charset="-120"/>
              </a:rPr>
              <a:t>实际生活中的需要</a:t>
            </a:r>
          </a:p>
          <a:p>
            <a:pPr marL="355600" lvl="1">
              <a:buClr>
                <a:srgbClr val="993366"/>
              </a:buClr>
            </a:pPr>
            <a:r>
              <a:rPr lang="zh-CN" altLang="en-US">
                <a:ea typeface="MingLiU_HKSCS-ExtB" panose="02020500000000000000" charset="-120"/>
              </a:rPr>
              <a:t> </a:t>
            </a:r>
            <a:r>
              <a:rPr lang="zh-CN" altLang="en-US" sz="2000">
                <a:ea typeface="MingLiU_HKSCS-ExtB" panose="02020500000000000000" charset="-120"/>
              </a:rPr>
              <a:t>实际生活中，人们一般并不要求获得完全无失真的消息，通常只要求近似地再现原始消息，即允许一定的失真存在。</a:t>
            </a:r>
          </a:p>
          <a:p>
            <a:pPr marL="355600" lvl="1">
              <a:buClr>
                <a:srgbClr val="993366"/>
              </a:buClr>
            </a:pPr>
            <a:r>
              <a:rPr lang="zh-CN" altLang="en-US" sz="2000">
                <a:solidFill>
                  <a:srgbClr val="0000CC"/>
                </a:solidFill>
                <a:ea typeface="MingLiU_HKSCS-ExtB" panose="02020500000000000000" charset="-120"/>
              </a:rPr>
              <a:t> 打电话：</a:t>
            </a:r>
            <a:r>
              <a:rPr lang="zh-CN" altLang="en-US" sz="2000">
                <a:ea typeface="MingLiU_HKSCS-ExtB" panose="02020500000000000000" charset="-120"/>
              </a:rPr>
              <a:t>即使语音信号有一些失真，接电话的人也能听懂。人耳接收信号的带宽和分辨率是有限的。</a:t>
            </a:r>
          </a:p>
          <a:p>
            <a:pPr marL="355600" lvl="1">
              <a:buClr>
                <a:srgbClr val="993366"/>
              </a:buClr>
            </a:pPr>
            <a:r>
              <a:rPr lang="zh-CN" altLang="en-US" sz="2000">
                <a:solidFill>
                  <a:srgbClr val="0000CC"/>
                </a:solidFill>
                <a:ea typeface="MingLiU_HKSCS-ExtB" panose="02020500000000000000" charset="-120"/>
              </a:rPr>
              <a:t> 放电影：</a:t>
            </a:r>
            <a:r>
              <a:rPr lang="zh-CN" altLang="en-US" sz="2000">
                <a:ea typeface="MingLiU_HKSCS-ExtB" panose="02020500000000000000" charset="-120"/>
              </a:rPr>
              <a:t>理论上需要无穷多幅静态画面，由于人眼的“视觉暂留性”，实际上只要每秒放映 </a:t>
            </a:r>
            <a:r>
              <a:rPr lang="en-US" altLang="zh-CN" sz="2000">
                <a:ea typeface="MingLiU_HKSCS-ExtB" panose="02020500000000000000" charset="-120"/>
              </a:rPr>
              <a:t>24 </a:t>
            </a:r>
            <a:r>
              <a:rPr lang="zh-CN" altLang="en-US" sz="2000">
                <a:ea typeface="MingLiU_HKSCS-ExtB" panose="02020500000000000000" charset="-120"/>
              </a:rPr>
              <a:t>幅静态画面。</a:t>
            </a:r>
          </a:p>
          <a:p>
            <a:pPr marL="355600" lvl="1">
              <a:buClr>
                <a:srgbClr val="993366"/>
              </a:buClr>
            </a:pPr>
            <a:r>
              <a:rPr lang="zh-CN" altLang="en-US" sz="2000">
                <a:ea typeface="MingLiU_HKSCS-ExtB" panose="02020500000000000000" charset="-120"/>
              </a:rPr>
              <a:t> 有些失真没有必要完全消除。</a:t>
            </a:r>
          </a:p>
          <a:p>
            <a:pPr marL="355600" lvl="1">
              <a:buClr>
                <a:srgbClr val="993366"/>
              </a:buClr>
            </a:pPr>
            <a:r>
              <a:rPr lang="zh-CN" altLang="en-US" sz="2000">
                <a:ea typeface="MingLiU_HKSCS-ExtB" panose="02020500000000000000" charset="-120"/>
              </a:rPr>
              <a:t> 既然允许一定的失真存在，对信息率的要求便可降低。</a:t>
            </a:r>
          </a:p>
        </p:txBody>
      </p:sp>
      <p:sp>
        <p:nvSpPr>
          <p:cNvPr id="2083" name="矩形 2082"/>
          <p:cNvSpPr/>
          <p:nvPr/>
        </p:nvSpPr>
        <p:spPr>
          <a:xfrm>
            <a:off x="8029575" y="5948363"/>
            <a:ext cx="796925" cy="360362"/>
          </a:xfrm>
          <a:solidFill>
            <a:srgbClr val="BBE0E3"/>
          </a:solidFill>
          <a:ln w="12700">
            <a:noFill/>
          </a:ln>
        </p:spPr>
        <p:txBody>
          <a:bodyPr/>
          <a:lstStyle/>
          <a:p>
            <a:endParaRPr lang="zh-CN" altLang="en-US"/>
          </a:p>
        </p:txBody>
      </p:sp>
      <p:sp>
        <p:nvSpPr>
          <p:cNvPr id="2084" name="矩形 2083"/>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082">
                                            <p:txEl>
                                              <p:pRg st="1" end="1"/>
                                            </p:txEl>
                                          </p:spTgt>
                                        </p:tgtEl>
                                        <p:attrNameLst>
                                          <p:attrName>style.visibility</p:attrName>
                                        </p:attrNameLst>
                                      </p:cBhvr>
                                      <p:to>
                                        <p:strVal val="visible"/>
                                      </p:to>
                                    </p:set>
                                    <p:anim calcmode="lin" valueType="num">
                                      <p:cBhvr additive="base">
                                        <p:cTn id="7" dur="1000" fill="hold"/>
                                        <p:tgtEl>
                                          <p:spTgt spid="2082">
                                            <p:txEl>
                                              <p:pRg st="1" end="1"/>
                                            </p:txEl>
                                          </p:spTgt>
                                        </p:tgtEl>
                                        <p:attrNameLst>
                                          <p:attrName>ppt_x</p:attrName>
                                        </p:attrNameLst>
                                      </p:cBhvr>
                                      <p:tavLst>
                                        <p:tav tm="0">
                                          <p:val>
                                            <p:strVal val="#ppt_x-.2"/>
                                          </p:val>
                                        </p:tav>
                                        <p:tav tm="100000">
                                          <p:val>
                                            <p:strVal val="#ppt_x"/>
                                          </p:val>
                                        </p:tav>
                                      </p:tavLst>
                                    </p:anim>
                                    <p:anim calcmode="lin" valueType="num">
                                      <p:cBhvr additive="base">
                                        <p:cTn id="8" dur="1000" fill="hold"/>
                                        <p:tgtEl>
                                          <p:spTgt spid="2082">
                                            <p:txEl>
                                              <p:pRg st="1" end="1"/>
                                            </p:txEl>
                                          </p:spTgt>
                                        </p:tgtEl>
                                        <p:attrNameLst>
                                          <p:attrName>ppt_y</p:attrName>
                                        </p:attrNameLst>
                                      </p:cBhvr>
                                      <p:tavLst>
                                        <p:tav tm="0">
                                          <p:val>
                                            <p:strVal val="#ppt_y"/>
                                          </p:val>
                                        </p:tav>
                                        <p:tav tm="100000">
                                          <p:val>
                                            <p:strVal val="#ppt_y"/>
                                          </p:val>
                                        </p:tav>
                                      </p:tavLst>
                                    </p:anim>
                                    <p:animEffect transition="in" filter="wipe(right)">
                                      <p:cBhvr additive="base">
                                        <p:cTn id="9" dur="1000"/>
                                        <p:tgtEl>
                                          <p:spTgt spid="2082">
                                            <p:txEl>
                                              <p:pRg st="1" end="1"/>
                                            </p:txEl>
                                          </p:spTgt>
                                        </p:tgtEl>
                                      </p:cBhvr>
                                    </p:animEffect>
                                  </p:childTnLst>
                                </p:cTn>
                              </p:par>
                              <p:par>
                                <p:cTn id="10" presetID="29" presetClass="entr" presetSubtype="0" fill="hold" nodeType="withEffect">
                                  <p:childTnLst>
                                    <p:set>
                                      <p:cBhvr additive="base">
                                        <p:cTn id="11" dur="1" fill="hold">
                                          <p:stCondLst>
                                            <p:cond delay="0"/>
                                          </p:stCondLst>
                                        </p:cTn>
                                        <p:tgtEl>
                                          <p:spTgt spid="2082">
                                            <p:txEl>
                                              <p:pRg st="2" end="2"/>
                                            </p:txEl>
                                          </p:spTgt>
                                        </p:tgtEl>
                                        <p:attrNameLst>
                                          <p:attrName>style.visibility</p:attrName>
                                        </p:attrNameLst>
                                      </p:cBhvr>
                                      <p:to>
                                        <p:strVal val="visible"/>
                                      </p:to>
                                    </p:set>
                                    <p:anim calcmode="lin" valueType="num">
                                      <p:cBhvr additive="base">
                                        <p:cTn id="12" dur="1000" fill="hold"/>
                                        <p:tgtEl>
                                          <p:spTgt spid="2082">
                                            <p:txEl>
                                              <p:pRg st="2" end="2"/>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082">
                                            <p:txEl>
                                              <p:pRg st="2" end="2"/>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082">
                                            <p:txEl>
                                              <p:pRg st="2" end="2"/>
                                            </p:txEl>
                                          </p:spTgt>
                                        </p:tgtEl>
                                      </p:cBhvr>
                                    </p:animEffect>
                                  </p:childTnLst>
                                </p:cTn>
                              </p:par>
                              <p:par>
                                <p:cTn id="15" presetID="29" presetClass="entr" presetSubtype="0" fill="hold" nodeType="withEffect">
                                  <p:childTnLst>
                                    <p:set>
                                      <p:cBhvr additive="base">
                                        <p:cTn id="16" dur="1" fill="hold">
                                          <p:stCondLst>
                                            <p:cond delay="0"/>
                                          </p:stCondLst>
                                        </p:cTn>
                                        <p:tgtEl>
                                          <p:spTgt spid="2082">
                                            <p:txEl>
                                              <p:pRg st="3" end="3"/>
                                            </p:txEl>
                                          </p:spTgt>
                                        </p:tgtEl>
                                        <p:attrNameLst>
                                          <p:attrName>style.visibility</p:attrName>
                                        </p:attrNameLst>
                                      </p:cBhvr>
                                      <p:to>
                                        <p:strVal val="visible"/>
                                      </p:to>
                                    </p:set>
                                    <p:anim calcmode="lin" valueType="num">
                                      <p:cBhvr additive="base">
                                        <p:cTn id="17" dur="1000" fill="hold"/>
                                        <p:tgtEl>
                                          <p:spTgt spid="2082">
                                            <p:txEl>
                                              <p:pRg st="3" end="3"/>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082">
                                            <p:txEl>
                                              <p:pRg st="3" end="3"/>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082">
                                            <p:txEl>
                                              <p:pRg st="3" end="3"/>
                                            </p:txEl>
                                          </p:spTgt>
                                        </p:tgtEl>
                                      </p:cBhvr>
                                    </p:animEffect>
                                  </p:childTnLst>
                                </p:cTn>
                              </p:par>
                              <p:par>
                                <p:cTn id="20" presetID="29" presetClass="entr" presetSubtype="0" fill="hold" nodeType="withEffect">
                                  <p:childTnLst>
                                    <p:set>
                                      <p:cBhvr additive="base">
                                        <p:cTn id="21" dur="1" fill="hold">
                                          <p:stCondLst>
                                            <p:cond delay="0"/>
                                          </p:stCondLst>
                                        </p:cTn>
                                        <p:tgtEl>
                                          <p:spTgt spid="2082">
                                            <p:txEl>
                                              <p:pRg st="4" end="4"/>
                                            </p:txEl>
                                          </p:spTgt>
                                        </p:tgtEl>
                                        <p:attrNameLst>
                                          <p:attrName>style.visibility</p:attrName>
                                        </p:attrNameLst>
                                      </p:cBhvr>
                                      <p:to>
                                        <p:strVal val="visible"/>
                                      </p:to>
                                    </p:set>
                                    <p:anim calcmode="lin" valueType="num">
                                      <p:cBhvr additive="base">
                                        <p:cTn id="22" dur="1000" fill="hold"/>
                                        <p:tgtEl>
                                          <p:spTgt spid="2082">
                                            <p:txEl>
                                              <p:pRg st="4" end="4"/>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082">
                                            <p:txEl>
                                              <p:pRg st="4" end="4"/>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082">
                                            <p:txEl>
                                              <p:pRg st="4" end="4"/>
                                            </p:txEl>
                                          </p:spTgt>
                                        </p:tgtEl>
                                      </p:cBhvr>
                                    </p:animEffect>
                                  </p:childTnLst>
                                </p:cTn>
                              </p:par>
                              <p:par>
                                <p:cTn id="25" presetID="29" presetClass="entr" presetSubtype="0" fill="hold" nodeType="withEffect">
                                  <p:childTnLst>
                                    <p:set>
                                      <p:cBhvr additive="base">
                                        <p:cTn id="26" dur="1" fill="hold">
                                          <p:stCondLst>
                                            <p:cond delay="0"/>
                                          </p:stCondLst>
                                        </p:cTn>
                                        <p:tgtEl>
                                          <p:spTgt spid="2082">
                                            <p:txEl>
                                              <p:pRg st="5" end="5"/>
                                            </p:txEl>
                                          </p:spTgt>
                                        </p:tgtEl>
                                        <p:attrNameLst>
                                          <p:attrName>style.visibility</p:attrName>
                                        </p:attrNameLst>
                                      </p:cBhvr>
                                      <p:to>
                                        <p:strVal val="visible"/>
                                      </p:to>
                                    </p:set>
                                    <p:anim calcmode="lin" valueType="num">
                                      <p:cBhvr additive="base">
                                        <p:cTn id="27" dur="1000" fill="hold"/>
                                        <p:tgtEl>
                                          <p:spTgt spid="2082">
                                            <p:txEl>
                                              <p:pRg st="5" end="5"/>
                                            </p:txEl>
                                          </p:spTgt>
                                        </p:tgtEl>
                                        <p:attrNameLst>
                                          <p:attrName>ppt_x</p:attrName>
                                        </p:attrNameLst>
                                      </p:cBhvr>
                                      <p:tavLst>
                                        <p:tav tm="0">
                                          <p:val>
                                            <p:strVal val="#ppt_x-.2"/>
                                          </p:val>
                                        </p:tav>
                                        <p:tav tm="100000">
                                          <p:val>
                                            <p:strVal val="#ppt_x"/>
                                          </p:val>
                                        </p:tav>
                                      </p:tavLst>
                                    </p:anim>
                                    <p:anim calcmode="lin" valueType="num">
                                      <p:cBhvr additive="base">
                                        <p:cTn id="28" dur="1000" fill="hold"/>
                                        <p:tgtEl>
                                          <p:spTgt spid="2082">
                                            <p:txEl>
                                              <p:pRg st="5" end="5"/>
                                            </p:txEl>
                                          </p:spTgt>
                                        </p:tgtEl>
                                        <p:attrNameLst>
                                          <p:attrName>ppt_y</p:attrName>
                                        </p:attrNameLst>
                                      </p:cBhvr>
                                      <p:tavLst>
                                        <p:tav tm="0">
                                          <p:val>
                                            <p:strVal val="#ppt_y"/>
                                          </p:val>
                                        </p:tav>
                                        <p:tav tm="100000">
                                          <p:val>
                                            <p:strVal val="#ppt_y"/>
                                          </p:val>
                                        </p:tav>
                                      </p:tavLst>
                                    </p:anim>
                                    <p:animEffect transition="in" filter="wipe(right)">
                                      <p:cBhvr additive="base">
                                        <p:cTn id="29" dur="1000"/>
                                        <p:tgtEl>
                                          <p:spTgt spid="2082">
                                            <p:txEl>
                                              <p:pRg st="5" end="5"/>
                                            </p:txEl>
                                          </p:spTgt>
                                        </p:tgtEl>
                                      </p:cBhvr>
                                    </p:animEffect>
                                  </p:childTnLst>
                                </p:cTn>
                              </p:par>
                              <p:par>
                                <p:cTn id="30" presetID="29" presetClass="entr" presetSubtype="0" fill="hold" nodeType="withEffect">
                                  <p:childTnLst>
                                    <p:set>
                                      <p:cBhvr additive="base">
                                        <p:cTn id="31" dur="1" fill="hold">
                                          <p:stCondLst>
                                            <p:cond delay="0"/>
                                          </p:stCondLst>
                                        </p:cTn>
                                        <p:tgtEl>
                                          <p:spTgt spid="2082">
                                            <p:txEl>
                                              <p:pRg st="6" end="6"/>
                                            </p:txEl>
                                          </p:spTgt>
                                        </p:tgtEl>
                                        <p:attrNameLst>
                                          <p:attrName>style.visibility</p:attrName>
                                        </p:attrNameLst>
                                      </p:cBhvr>
                                      <p:to>
                                        <p:strVal val="visible"/>
                                      </p:to>
                                    </p:set>
                                    <p:anim calcmode="lin" valueType="num">
                                      <p:cBhvr additive="base">
                                        <p:cTn id="32" dur="1000" fill="hold"/>
                                        <p:tgtEl>
                                          <p:spTgt spid="2082">
                                            <p:txEl>
                                              <p:pRg st="6" end="6"/>
                                            </p:txEl>
                                          </p:spTgt>
                                        </p:tgtEl>
                                        <p:attrNameLst>
                                          <p:attrName>ppt_x</p:attrName>
                                        </p:attrNameLst>
                                      </p:cBhvr>
                                      <p:tavLst>
                                        <p:tav tm="0">
                                          <p:val>
                                            <p:strVal val="#ppt_x-.2"/>
                                          </p:val>
                                        </p:tav>
                                        <p:tav tm="100000">
                                          <p:val>
                                            <p:strVal val="#ppt_x"/>
                                          </p:val>
                                        </p:tav>
                                      </p:tavLst>
                                    </p:anim>
                                    <p:anim calcmode="lin" valueType="num">
                                      <p:cBhvr additive="base">
                                        <p:cTn id="33" dur="1000" fill="hold"/>
                                        <p:tgtEl>
                                          <p:spTgt spid="2082">
                                            <p:txEl>
                                              <p:pRg st="6" end="6"/>
                                            </p:txEl>
                                          </p:spTgt>
                                        </p:tgtEl>
                                        <p:attrNameLst>
                                          <p:attrName>ppt_y</p:attrName>
                                        </p:attrNameLst>
                                      </p:cBhvr>
                                      <p:tavLst>
                                        <p:tav tm="0">
                                          <p:val>
                                            <p:strVal val="#ppt_y"/>
                                          </p:val>
                                        </p:tav>
                                        <p:tav tm="100000">
                                          <p:val>
                                            <p:strVal val="#ppt_y"/>
                                          </p:val>
                                        </p:tav>
                                      </p:tavLst>
                                    </p:anim>
                                    <p:animEffect transition="in" filter="wipe(right)">
                                      <p:cBhvr additive="base">
                                        <p:cTn id="34" dur="1000"/>
                                        <p:tgtEl>
                                          <p:spTgt spid="2082">
                                            <p:txEl>
                                              <p:pRg st="6" end="6"/>
                                            </p:txEl>
                                          </p:spTgt>
                                        </p:tgtEl>
                                      </p:cBhvr>
                                    </p:animEffect>
                                  </p:childTnLst>
                                </p:cTn>
                              </p:par>
                              <p:par>
                                <p:cTn id="35" presetID="29" presetClass="entr" presetSubtype="0" fill="hold" grpId="0" nodeType="withEffect">
                                  <p:childTnLst>
                                    <p:set>
                                      <p:cBhvr additive="base">
                                        <p:cTn id="36" dur="1" fill="hold">
                                          <p:stCondLst>
                                            <p:cond delay="0"/>
                                          </p:stCondLst>
                                        </p:cTn>
                                        <p:tgtEl>
                                          <p:spTgt spid="2083"/>
                                        </p:tgtEl>
                                        <p:attrNameLst>
                                          <p:attrName>style.visibility</p:attrName>
                                        </p:attrNameLst>
                                      </p:cBhvr>
                                      <p:to>
                                        <p:strVal val="visible"/>
                                      </p:to>
                                    </p:set>
                                    <p:anim calcmode="lin" valueType="num">
                                      <p:cBhvr additive="base">
                                        <p:cTn id="37" dur="1000" fill="hold"/>
                                        <p:tgtEl>
                                          <p:spTgt spid="2083"/>
                                        </p:tgtEl>
                                        <p:attrNameLst>
                                          <p:attrName>ppt_x</p:attrName>
                                        </p:attrNameLst>
                                      </p:cBhvr>
                                      <p:tavLst>
                                        <p:tav tm="0">
                                          <p:val>
                                            <p:strVal val="#ppt_x-.2"/>
                                          </p:val>
                                        </p:tav>
                                        <p:tav tm="100000">
                                          <p:val>
                                            <p:strVal val="#ppt_x"/>
                                          </p:val>
                                        </p:tav>
                                      </p:tavLst>
                                    </p:anim>
                                    <p:anim calcmode="lin" valueType="num">
                                      <p:cBhvr additive="base">
                                        <p:cTn id="38" dur="1000" fill="hold"/>
                                        <p:tgtEl>
                                          <p:spTgt spid="2083"/>
                                        </p:tgtEl>
                                        <p:attrNameLst>
                                          <p:attrName>ppt_y</p:attrName>
                                        </p:attrNameLst>
                                      </p:cBhvr>
                                      <p:tavLst>
                                        <p:tav tm="0">
                                          <p:val>
                                            <p:strVal val="#ppt_y"/>
                                          </p:val>
                                        </p:tav>
                                        <p:tav tm="100000">
                                          <p:val>
                                            <p:strVal val="#ppt_y"/>
                                          </p:val>
                                        </p:tav>
                                      </p:tavLst>
                                    </p:anim>
                                    <p:animEffect transition="in" filter="wipe(right)">
                                      <p:cBhvr additive="base">
                                        <p:cTn id="39" dur="1000"/>
                                        <p:tgtEl>
                                          <p:spTgt spid="2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8</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087" name="标题 2086"/>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4.1.1 </a:t>
            </a:r>
            <a:r>
              <a:rPr lang="zh-CN" altLang="en-US">
                <a:ea typeface="MingLiU_HKSCS-ExtB" panose="02020500000000000000" charset="-120"/>
              </a:rPr>
              <a:t>引    言</a:t>
            </a:r>
            <a:r>
              <a:rPr lang="en-US" altLang="zh-CN">
                <a:ea typeface="MingLiU_HKSCS-ExtB" panose="02020500000000000000" charset="-120"/>
                <a:sym typeface="+mn-ea"/>
              </a:rPr>
              <a:t> (Introduction)</a:t>
            </a:r>
            <a:endParaRPr lang="zh-CN" altLang="en-US">
              <a:ea typeface="MingLiU_HKSCS-ExtB" panose="02020500000000000000" charset="-120"/>
            </a:endParaRPr>
          </a:p>
        </p:txBody>
      </p:sp>
      <p:sp>
        <p:nvSpPr>
          <p:cNvPr id="2088" name="文本占位符 2087"/>
          <p:cNvSpPr>
            <a:spLocks noGrp="1"/>
          </p:cNvSpPr>
          <p:nvPr>
            <p:ph type="body" idx="4294967295"/>
          </p:nvPr>
        </p:nvSpPr>
        <p:spPr/>
        <p:txBody>
          <a:bodyPr/>
          <a:lstStyle/>
          <a:p>
            <a:pPr>
              <a:buClr>
                <a:srgbClr val="993366"/>
              </a:buClr>
              <a:buNone/>
            </a:pPr>
            <a:r>
              <a:rPr lang="en-US" altLang="zh-CN">
                <a:ea typeface="MingLiU_HKSCS-ExtB" panose="02020500000000000000" charset="-120"/>
              </a:rPr>
              <a:t>(3) </a:t>
            </a:r>
            <a:r>
              <a:rPr lang="zh-CN" altLang="en-US">
                <a:ea typeface="MingLiU_HKSCS-ExtB" panose="02020500000000000000" charset="-120"/>
              </a:rPr>
              <a:t>信息率失真理论</a:t>
            </a:r>
          </a:p>
          <a:p>
            <a:pPr>
              <a:buClr>
                <a:srgbClr val="993366"/>
              </a:buClr>
            </a:pPr>
            <a:r>
              <a:rPr lang="zh-CN" altLang="en-US">
                <a:solidFill>
                  <a:srgbClr val="0000CC"/>
                </a:solidFill>
                <a:ea typeface="MingLiU_HKSCS-ExtB" panose="02020500000000000000" charset="-120"/>
              </a:rPr>
              <a:t> </a:t>
            </a:r>
            <a:r>
              <a:rPr lang="zh-CN" altLang="en-US" sz="2400" u="sng">
                <a:solidFill>
                  <a:srgbClr val="0000CC"/>
                </a:solidFill>
                <a:ea typeface="MingLiU_HKSCS-ExtB" panose="02020500000000000000" charset="-120"/>
              </a:rPr>
              <a:t>信息率失真理论研究的内容</a:t>
            </a:r>
            <a:r>
              <a:rPr lang="en-US" altLang="zh-CN" sz="2400" u="sng">
                <a:solidFill>
                  <a:srgbClr val="0000CC"/>
                </a:solidFill>
                <a:ea typeface="MingLiU_HKSCS-ExtB" panose="02020500000000000000" charset="-120"/>
              </a:rPr>
              <a:t>: </a:t>
            </a:r>
            <a:r>
              <a:rPr lang="zh-CN" altLang="en-US" sz="2400" i="1">
                <a:effectLst>
                  <a:outerShdw blurRad="38100" dist="38100" dir="2700000">
                    <a:srgbClr val="C0C0C0"/>
                  </a:outerShdw>
                </a:effectLst>
                <a:ea typeface="MingLiU_HKSCS-ExtB" panose="02020500000000000000" charset="-120"/>
              </a:rPr>
              <a:t>信息率</a:t>
            </a:r>
            <a:r>
              <a:rPr lang="zh-CN" altLang="en-US" sz="2400">
                <a:ea typeface="MingLiU_HKSCS-ExtB" panose="02020500000000000000" charset="-120"/>
              </a:rPr>
              <a:t>与</a:t>
            </a:r>
            <a:r>
              <a:rPr lang="zh-CN" altLang="en-US" sz="2400" i="1">
                <a:effectLst>
                  <a:outerShdw blurRad="38100" dist="38100" dir="2700000">
                    <a:srgbClr val="C0C0C0"/>
                  </a:outerShdw>
                </a:effectLst>
                <a:ea typeface="MingLiU_HKSCS-ExtB" panose="02020500000000000000" charset="-120"/>
              </a:rPr>
              <a:t>允许失真</a:t>
            </a:r>
            <a:r>
              <a:rPr lang="zh-CN" altLang="en-US" sz="2400">
                <a:ea typeface="MingLiU_HKSCS-ExtB" panose="02020500000000000000" charset="-120"/>
              </a:rPr>
              <a:t>之间的关系</a:t>
            </a:r>
            <a:r>
              <a:rPr lang="en-US" altLang="zh-CN" sz="2400">
                <a:ea typeface="MingLiU_HKSCS-ExtB" panose="02020500000000000000" charset="-120"/>
              </a:rPr>
              <a:t>.</a:t>
            </a:r>
          </a:p>
          <a:p>
            <a:pPr>
              <a:buClr>
                <a:srgbClr val="993366"/>
              </a:buClr>
            </a:pPr>
            <a:r>
              <a:rPr lang="en-US" altLang="zh-CN" sz="2400">
                <a:ea typeface="MingLiU_HKSCS-ExtB" panose="02020500000000000000" charset="-120"/>
              </a:rPr>
              <a:t> </a:t>
            </a:r>
            <a:r>
              <a:rPr lang="zh-CN" altLang="en-US" sz="2400">
                <a:ea typeface="MingLiU_HKSCS-ExtB" panose="02020500000000000000" charset="-120"/>
              </a:rPr>
              <a:t>信息率失真函数</a:t>
            </a:r>
          </a:p>
          <a:p>
            <a:pPr marL="355600" lvl="1">
              <a:buClr>
                <a:srgbClr val="993366"/>
              </a:buClr>
            </a:pPr>
            <a:r>
              <a:rPr lang="zh-CN" altLang="en-US">
                <a:ea typeface="MingLiU_HKSCS-ExtB" panose="02020500000000000000" charset="-120"/>
              </a:rPr>
              <a:t> 香农定义了信息率失真函数</a:t>
            </a:r>
            <a:r>
              <a:rPr lang="zh-CN" altLang="en-US">
                <a:solidFill>
                  <a:srgbClr val="FFFF00"/>
                </a:solidFill>
                <a:ea typeface="MingLiU_HKSCS-ExtB" panose="02020500000000000000" charset="-120"/>
              </a:rPr>
              <a:t> </a:t>
            </a:r>
            <a:r>
              <a:rPr lang="en-US" altLang="zh-CN" i="1">
                <a:solidFill>
                  <a:srgbClr val="FF0000"/>
                </a:solidFill>
                <a:ea typeface="MingLiU_HKSCS-ExtB" panose="02020500000000000000" charset="-120"/>
              </a:rPr>
              <a:t>R</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D</a:t>
            </a:r>
            <a:r>
              <a:rPr lang="en-US" altLang="zh-CN">
                <a:solidFill>
                  <a:srgbClr val="FF0000"/>
                </a:solidFill>
                <a:ea typeface="MingLiU_HKSCS-ExtB" panose="02020500000000000000" charset="-120"/>
              </a:rPr>
              <a:t>)</a:t>
            </a:r>
            <a:r>
              <a:rPr lang="zh-CN" altLang="en-US">
                <a:ea typeface="MingLiU_HKSCS-ExtB" panose="02020500000000000000" charset="-120"/>
              </a:rPr>
              <a:t>。</a:t>
            </a:r>
          </a:p>
          <a:p>
            <a:pPr marL="355600" lvl="1">
              <a:buClr>
                <a:srgbClr val="993366"/>
              </a:buClr>
            </a:pPr>
            <a:r>
              <a:rPr lang="zh-CN" altLang="en-US">
                <a:solidFill>
                  <a:srgbClr val="0000CC"/>
                </a:solidFill>
                <a:ea typeface="MingLiU_HKSCS-ExtB" panose="02020500000000000000" charset="-120"/>
              </a:rPr>
              <a:t> “保真度准则下的信源编码定理”指出：</a:t>
            </a:r>
            <a:r>
              <a:rPr lang="zh-CN" altLang="en-US">
                <a:solidFill>
                  <a:srgbClr val="FF0000"/>
                </a:solidFill>
                <a:ea typeface="MingLiU_HKSCS-ExtB" panose="02020500000000000000" charset="-120"/>
              </a:rPr>
              <a:t>在允许一定失真度 </a:t>
            </a:r>
            <a:r>
              <a:rPr lang="en-US" altLang="zh-CN" i="1">
                <a:solidFill>
                  <a:srgbClr val="FF0000"/>
                </a:solidFill>
                <a:ea typeface="MingLiU_HKSCS-ExtB" panose="02020500000000000000" charset="-120"/>
              </a:rPr>
              <a:t>D </a:t>
            </a:r>
            <a:r>
              <a:rPr lang="zh-CN" altLang="en-US">
                <a:solidFill>
                  <a:srgbClr val="FF0000"/>
                </a:solidFill>
                <a:ea typeface="MingLiU_HKSCS-ExtB" panose="02020500000000000000" charset="-120"/>
              </a:rPr>
              <a:t>的情况下，信源输出的信息率可压缩到 </a:t>
            </a:r>
            <a:r>
              <a:rPr lang="en-US" altLang="zh-CN" i="1">
                <a:solidFill>
                  <a:srgbClr val="FF0000"/>
                </a:solidFill>
                <a:ea typeface="MingLiU_HKSCS-ExtB" panose="02020500000000000000" charset="-120"/>
              </a:rPr>
              <a:t>R</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D</a:t>
            </a:r>
            <a:r>
              <a:rPr lang="en-US" altLang="zh-CN">
                <a:solidFill>
                  <a:srgbClr val="FF0000"/>
                </a:solidFill>
                <a:ea typeface="MingLiU_HKSCS-ExtB" panose="02020500000000000000" charset="-120"/>
              </a:rPr>
              <a:t>)</a:t>
            </a:r>
            <a:r>
              <a:rPr lang="zh-CN" altLang="en-US">
                <a:solidFill>
                  <a:srgbClr val="FF0000"/>
                </a:solidFill>
                <a:ea typeface="MingLiU_HKSCS-ExtB" panose="02020500000000000000" charset="-120"/>
              </a:rPr>
              <a:t>。</a:t>
            </a:r>
          </a:p>
          <a:p>
            <a:pPr marL="355600" lvl="1">
              <a:buClr>
                <a:srgbClr val="993366"/>
              </a:buClr>
            </a:pPr>
            <a:r>
              <a:rPr lang="zh-CN" altLang="en-US">
                <a:ea typeface="MingLiU_HKSCS-ExtB" panose="02020500000000000000" charset="-120"/>
              </a:rPr>
              <a:t> 信息率失真理论是</a:t>
            </a:r>
            <a:r>
              <a:rPr lang="zh-CN" altLang="en-US" u="sng">
                <a:solidFill>
                  <a:srgbClr val="FF0000"/>
                </a:solidFill>
                <a:ea typeface="MingLiU_HKSCS-ExtB" panose="02020500000000000000" charset="-120"/>
              </a:rPr>
              <a:t>量化</a:t>
            </a:r>
            <a:r>
              <a:rPr lang="zh-CN" altLang="en-US">
                <a:ea typeface="MingLiU_HKSCS-ExtB" panose="02020500000000000000" charset="-120"/>
              </a:rPr>
              <a:t>（模数转换）、</a:t>
            </a:r>
            <a:r>
              <a:rPr lang="zh-CN" altLang="en-US" u="sng">
                <a:solidFill>
                  <a:srgbClr val="FF0000"/>
                </a:solidFill>
                <a:ea typeface="MingLiU_HKSCS-ExtB" panose="02020500000000000000" charset="-120"/>
              </a:rPr>
              <a:t>数模转换</a:t>
            </a:r>
            <a:r>
              <a:rPr lang="zh-CN" altLang="en-US">
                <a:ea typeface="MingLiU_HKSCS-ExtB" panose="02020500000000000000" charset="-120"/>
              </a:rPr>
              <a:t>、</a:t>
            </a:r>
            <a:r>
              <a:rPr lang="zh-CN" altLang="en-US" u="sng">
                <a:solidFill>
                  <a:srgbClr val="FF0000"/>
                </a:solidFill>
                <a:ea typeface="MingLiU_HKSCS-ExtB" panose="02020500000000000000" charset="-120"/>
              </a:rPr>
              <a:t>频带压缩</a:t>
            </a:r>
            <a:r>
              <a:rPr lang="zh-CN" altLang="en-US">
                <a:ea typeface="MingLiU_HKSCS-ExtB" panose="02020500000000000000" charset="-120"/>
              </a:rPr>
              <a:t>和</a:t>
            </a:r>
            <a:r>
              <a:rPr lang="zh-CN" altLang="en-US" u="sng">
                <a:solidFill>
                  <a:srgbClr val="FF0000"/>
                </a:solidFill>
                <a:ea typeface="MingLiU_HKSCS-ExtB" panose="02020500000000000000" charset="-120"/>
              </a:rPr>
              <a:t>数据压缩</a:t>
            </a:r>
            <a:r>
              <a:rPr lang="zh-CN" altLang="en-US">
                <a:ea typeface="MingLiU_HKSCS-ExtB" panose="02020500000000000000" charset="-120"/>
              </a:rPr>
              <a:t>的理论基础。</a:t>
            </a:r>
          </a:p>
        </p:txBody>
      </p:sp>
      <p:sp>
        <p:nvSpPr>
          <p:cNvPr id="2089" name="矩形 2088"/>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9</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092" name="标题 2091"/>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4.1.1 </a:t>
            </a:r>
            <a:r>
              <a:rPr lang="zh-CN" altLang="en-US">
                <a:ea typeface="MingLiU_HKSCS-ExtB" panose="02020500000000000000" charset="-120"/>
              </a:rPr>
              <a:t>引    言</a:t>
            </a:r>
            <a:r>
              <a:rPr lang="en-US" altLang="zh-CN">
                <a:ea typeface="MingLiU_HKSCS-ExtB" panose="02020500000000000000" charset="-120"/>
                <a:sym typeface="+mn-ea"/>
              </a:rPr>
              <a:t> (Introduction)</a:t>
            </a:r>
            <a:endParaRPr lang="zh-CN" altLang="en-US">
              <a:ea typeface="MingLiU_HKSCS-ExtB" panose="02020500000000000000" charset="-120"/>
            </a:endParaRPr>
          </a:p>
        </p:txBody>
      </p:sp>
      <p:sp>
        <p:nvSpPr>
          <p:cNvPr id="2093" name="文本占位符 2092"/>
          <p:cNvSpPr>
            <a:spLocks noGrp="1"/>
          </p:cNvSpPr>
          <p:nvPr>
            <p:ph type="body" idx="4294967295"/>
          </p:nvPr>
        </p:nvSpPr>
        <p:spPr/>
        <p:txBody>
          <a:bodyPr/>
          <a:lstStyle/>
          <a:p>
            <a:pPr>
              <a:buClr>
                <a:srgbClr val="993366"/>
              </a:buClr>
              <a:buNone/>
            </a:pPr>
            <a:r>
              <a:rPr lang="en-US" altLang="zh-CN">
                <a:ea typeface="MingLiU_HKSCS-ExtB" panose="02020500000000000000" charset="-120"/>
              </a:rPr>
              <a:t>(3) </a:t>
            </a:r>
            <a:r>
              <a:rPr lang="zh-CN" altLang="en-US">
                <a:ea typeface="MingLiU_HKSCS-ExtB" panose="02020500000000000000" charset="-120"/>
              </a:rPr>
              <a:t>信息率失真理论</a:t>
            </a:r>
          </a:p>
          <a:p>
            <a:pPr>
              <a:buClr>
                <a:srgbClr val="993366"/>
              </a:buClr>
            </a:pPr>
            <a:r>
              <a:rPr lang="zh-CN" altLang="en-US">
                <a:ea typeface="MingLiU_HKSCS-ExtB" panose="02020500000000000000" charset="-120"/>
              </a:rPr>
              <a:t> </a:t>
            </a:r>
            <a:r>
              <a:rPr lang="zh-CN" altLang="en-US" sz="2400">
                <a:ea typeface="MingLiU_HKSCS-ExtB" panose="02020500000000000000" charset="-120"/>
              </a:rPr>
              <a:t>信息率失真函数</a:t>
            </a:r>
            <a:r>
              <a:rPr lang="zh-CN" altLang="en-US" sz="2400">
                <a:solidFill>
                  <a:srgbClr val="FF0000"/>
                </a:solidFill>
                <a:ea typeface="MingLiU_HKSCS-ExtB" panose="02020500000000000000" charset="-120"/>
              </a:rPr>
              <a:t>极小值</a:t>
            </a:r>
            <a:r>
              <a:rPr lang="zh-CN" altLang="en-US" sz="2400">
                <a:ea typeface="MingLiU_HKSCS-ExtB" panose="02020500000000000000" charset="-120"/>
              </a:rPr>
              <a:t>问题</a:t>
            </a:r>
          </a:p>
          <a:p>
            <a:pPr marL="355600" lvl="1">
              <a:buClr>
                <a:srgbClr val="993366"/>
              </a:buClr>
            </a:pPr>
            <a:r>
              <a:rPr lang="zh-CN" altLang="en-US" i="1">
                <a:solidFill>
                  <a:srgbClr val="FF0000"/>
                </a:solidFill>
                <a:ea typeface="MingLiU_HKSCS-ExtB" panose="02020500000000000000" charset="-120"/>
              </a:rPr>
              <a:t> </a:t>
            </a:r>
            <a:r>
              <a:rPr lang="en-US" altLang="zh-CN" i="1">
                <a:solidFill>
                  <a:srgbClr val="FF0000"/>
                </a:solidFill>
                <a:ea typeface="MingLiU_HKSCS-ExtB" panose="02020500000000000000" charset="-120"/>
              </a:rPr>
              <a:t>I</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X</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Y</a:t>
            </a:r>
            <a:r>
              <a:rPr lang="en-US" altLang="zh-CN">
                <a:solidFill>
                  <a:srgbClr val="FF0000"/>
                </a:solidFill>
                <a:ea typeface="MingLiU_HKSCS-ExtB" panose="02020500000000000000" charset="-120"/>
              </a:rPr>
              <a:t>)</a:t>
            </a:r>
            <a:r>
              <a:rPr lang="en-US" altLang="zh-CN">
                <a:ea typeface="MingLiU_HKSCS-ExtB" panose="02020500000000000000" charset="-120"/>
              </a:rPr>
              <a:t> </a:t>
            </a:r>
            <a:r>
              <a:rPr lang="zh-CN" altLang="en-US">
                <a:ea typeface="MingLiU_HKSCS-ExtB" panose="02020500000000000000" charset="-120"/>
              </a:rPr>
              <a:t>是 </a:t>
            </a:r>
            <a:r>
              <a:rPr lang="en-US" altLang="zh-CN" i="1">
                <a:solidFill>
                  <a:srgbClr val="FF0000"/>
                </a:solidFill>
                <a:ea typeface="MingLiU_HKSCS-ExtB" panose="02020500000000000000" charset="-120"/>
              </a:rPr>
              <a:t>P</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X</a:t>
            </a:r>
            <a:r>
              <a:rPr lang="en-US" altLang="zh-CN">
                <a:solidFill>
                  <a:srgbClr val="FF0000"/>
                </a:solidFill>
                <a:ea typeface="MingLiU_HKSCS-ExtB" panose="02020500000000000000" charset="-120"/>
              </a:rPr>
              <a:t>)</a:t>
            </a:r>
            <a:r>
              <a:rPr lang="en-US" altLang="zh-CN">
                <a:ea typeface="MingLiU_HKSCS-ExtB" panose="02020500000000000000" charset="-120"/>
              </a:rPr>
              <a:t> </a:t>
            </a:r>
            <a:r>
              <a:rPr lang="zh-CN" altLang="en-US">
                <a:ea typeface="MingLiU_HKSCS-ExtB" panose="02020500000000000000" charset="-120"/>
              </a:rPr>
              <a:t>和 </a:t>
            </a:r>
            <a:r>
              <a:rPr lang="en-US" altLang="zh-CN" i="1">
                <a:solidFill>
                  <a:srgbClr val="FF0000"/>
                </a:solidFill>
                <a:ea typeface="MingLiU_HKSCS-ExtB" panose="02020500000000000000" charset="-120"/>
              </a:rPr>
              <a:t>P</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Y</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X</a:t>
            </a:r>
            <a:r>
              <a:rPr lang="en-US" altLang="zh-CN">
                <a:solidFill>
                  <a:srgbClr val="FF0000"/>
                </a:solidFill>
                <a:ea typeface="MingLiU_HKSCS-ExtB" panose="02020500000000000000" charset="-120"/>
              </a:rPr>
              <a:t>)</a:t>
            </a:r>
            <a:r>
              <a:rPr lang="en-US" altLang="zh-CN">
                <a:ea typeface="MingLiU_HKSCS-ExtB" panose="02020500000000000000" charset="-120"/>
              </a:rPr>
              <a:t> </a:t>
            </a:r>
            <a:r>
              <a:rPr lang="zh-CN" altLang="en-US">
                <a:ea typeface="MingLiU_HKSCS-ExtB" panose="02020500000000000000" charset="-120"/>
              </a:rPr>
              <a:t>的二元函数；</a:t>
            </a:r>
          </a:p>
          <a:p>
            <a:pPr marL="355600" lvl="1">
              <a:buClr>
                <a:srgbClr val="993366"/>
              </a:buClr>
            </a:pPr>
            <a:r>
              <a:rPr lang="zh-CN" altLang="en-US">
                <a:solidFill>
                  <a:srgbClr val="0000CC"/>
                </a:solidFill>
                <a:ea typeface="MingLiU_HKSCS-ExtB" panose="02020500000000000000" charset="-120"/>
              </a:rPr>
              <a:t> </a:t>
            </a:r>
            <a:r>
              <a:rPr lang="zh-CN" altLang="en-US" u="sng">
                <a:solidFill>
                  <a:srgbClr val="0000CC"/>
                </a:solidFill>
                <a:ea typeface="MingLiU_HKSCS-ExtB" panose="02020500000000000000" charset="-120"/>
              </a:rPr>
              <a:t>在讨论信道容量时</a:t>
            </a:r>
            <a:r>
              <a:rPr lang="zh-CN" altLang="en-US">
                <a:solidFill>
                  <a:srgbClr val="0000CC"/>
                </a:solidFill>
                <a:ea typeface="MingLiU_HKSCS-ExtB" panose="02020500000000000000" charset="-120"/>
              </a:rPr>
              <a:t>：</a:t>
            </a:r>
            <a:r>
              <a:rPr lang="zh-CN" altLang="en-US">
                <a:ea typeface="MingLiU_HKSCS-ExtB" panose="02020500000000000000" charset="-120"/>
              </a:rPr>
              <a:t>规定了</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Y</a:t>
            </a:r>
            <a:r>
              <a:rPr lang="en-US" altLang="zh-CN">
                <a:ea typeface="MingLiU_HKSCS-ExtB" panose="02020500000000000000" charset="-120"/>
              </a:rPr>
              <a:t>/</a:t>
            </a:r>
            <a:r>
              <a:rPr lang="en-US" altLang="zh-CN" i="1">
                <a:ea typeface="MingLiU_HKSCS-ExtB" panose="02020500000000000000" charset="-120"/>
              </a:rPr>
              <a:t>X</a:t>
            </a:r>
            <a:r>
              <a:rPr lang="en-US" altLang="zh-CN">
                <a:ea typeface="MingLiU_HKSCS-ExtB" panose="02020500000000000000" charset="-120"/>
              </a:rPr>
              <a:t>) </a:t>
            </a:r>
            <a:r>
              <a:rPr lang="zh-CN" altLang="en-US">
                <a:ea typeface="MingLiU_HKSCS-ExtB" panose="02020500000000000000" charset="-120"/>
              </a:rPr>
              <a:t>， </a:t>
            </a:r>
            <a:r>
              <a:rPr lang="en-US" altLang="zh-CN" i="1">
                <a:ea typeface="MingLiU_HKSCS-ExtB" panose="02020500000000000000" charset="-120"/>
              </a:rPr>
              <a:t>I</a:t>
            </a:r>
            <a:r>
              <a:rPr lang="en-US" altLang="zh-CN">
                <a:ea typeface="MingLiU_HKSCS-ExtB" panose="02020500000000000000" charset="-120"/>
              </a:rPr>
              <a:t>(</a:t>
            </a:r>
            <a:r>
              <a:rPr lang="en-US" altLang="zh-CN" i="1">
                <a:ea typeface="MingLiU_HKSCS-ExtB" panose="02020500000000000000" charset="-120"/>
              </a:rPr>
              <a:t>X</a:t>
            </a:r>
            <a:r>
              <a:rPr lang="en-US" altLang="zh-CN">
                <a:ea typeface="MingLiU_HKSCS-ExtB" panose="02020500000000000000" charset="-120"/>
              </a:rPr>
              <a:t>;</a:t>
            </a:r>
            <a:r>
              <a:rPr lang="en-US" altLang="zh-CN" i="1">
                <a:ea typeface="MingLiU_HKSCS-ExtB" panose="02020500000000000000" charset="-120"/>
              </a:rPr>
              <a:t>Y</a:t>
            </a:r>
            <a:r>
              <a:rPr lang="en-US" altLang="zh-CN">
                <a:ea typeface="MingLiU_HKSCS-ExtB" panose="02020500000000000000" charset="-120"/>
              </a:rPr>
              <a:t>) </a:t>
            </a:r>
            <a:r>
              <a:rPr lang="zh-CN" altLang="en-US">
                <a:ea typeface="MingLiU_HKSCS-ExtB" panose="02020500000000000000" charset="-120"/>
              </a:rPr>
              <a:t>变成了</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X</a:t>
            </a:r>
            <a:r>
              <a:rPr lang="en-US" altLang="zh-CN">
                <a:ea typeface="MingLiU_HKSCS-ExtB" panose="02020500000000000000" charset="-120"/>
              </a:rPr>
              <a:t>) </a:t>
            </a:r>
            <a:r>
              <a:rPr lang="zh-CN" altLang="en-US">
                <a:ea typeface="MingLiU_HKSCS-ExtB" panose="02020500000000000000" charset="-120"/>
              </a:rPr>
              <a:t>的函数。在离散情况下，因为 </a:t>
            </a:r>
            <a:r>
              <a:rPr lang="en-US" altLang="zh-CN" i="1">
                <a:ea typeface="MingLiU_HKSCS-ExtB" panose="02020500000000000000" charset="-120"/>
              </a:rPr>
              <a:t>I</a:t>
            </a:r>
            <a:r>
              <a:rPr lang="en-US" altLang="zh-CN">
                <a:ea typeface="MingLiU_HKSCS-ExtB" panose="02020500000000000000" charset="-120"/>
              </a:rPr>
              <a:t>(</a:t>
            </a:r>
            <a:r>
              <a:rPr lang="en-US" altLang="zh-CN" i="1">
                <a:ea typeface="MingLiU_HKSCS-ExtB" panose="02020500000000000000" charset="-120"/>
              </a:rPr>
              <a:t>X</a:t>
            </a:r>
            <a:r>
              <a:rPr lang="en-US" altLang="zh-CN">
                <a:ea typeface="MingLiU_HKSCS-ExtB" panose="02020500000000000000" charset="-120"/>
              </a:rPr>
              <a:t>;</a:t>
            </a:r>
            <a:r>
              <a:rPr lang="en-US" altLang="zh-CN" i="1">
                <a:ea typeface="MingLiU_HKSCS-ExtB" panose="02020500000000000000" charset="-120"/>
              </a:rPr>
              <a:t>Y</a:t>
            </a:r>
            <a:r>
              <a:rPr lang="en-US" altLang="zh-CN">
                <a:ea typeface="MingLiU_HKSCS-ExtB" panose="02020500000000000000" charset="-120"/>
              </a:rPr>
              <a:t>) </a:t>
            </a:r>
            <a:r>
              <a:rPr lang="zh-CN" altLang="en-US">
                <a:ea typeface="MingLiU_HKSCS-ExtB" panose="02020500000000000000" charset="-120"/>
              </a:rPr>
              <a:t>对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a:t>
            </a:r>
            <a:r>
              <a:rPr lang="en-US" altLang="zh-CN">
                <a:ea typeface="MingLiU_HKSCS-ExtB" panose="02020500000000000000" charset="-120"/>
              </a:rPr>
              <a:t>) </a:t>
            </a:r>
            <a:r>
              <a:rPr lang="zh-CN" altLang="en-US">
                <a:ea typeface="MingLiU_HKSCS-ExtB" panose="02020500000000000000" charset="-120"/>
              </a:rPr>
              <a:t>是上凸函数，所以变更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a:t>
            </a:r>
            <a:r>
              <a:rPr lang="en-US" altLang="zh-CN">
                <a:ea typeface="MingLiU_HKSCS-ExtB" panose="02020500000000000000" charset="-120"/>
              </a:rPr>
              <a:t>) </a:t>
            </a:r>
            <a:r>
              <a:rPr lang="zh-CN" altLang="en-US">
                <a:ea typeface="MingLiU_HKSCS-ExtB" panose="02020500000000000000" charset="-120"/>
              </a:rPr>
              <a:t>所求极值一定是 </a:t>
            </a:r>
            <a:r>
              <a:rPr lang="en-US" altLang="zh-CN" i="1">
                <a:ea typeface="MingLiU_HKSCS-ExtB" panose="02020500000000000000" charset="-120"/>
              </a:rPr>
              <a:t>I</a:t>
            </a:r>
            <a:r>
              <a:rPr lang="en-US" altLang="zh-CN">
                <a:ea typeface="MingLiU_HKSCS-ExtB" panose="02020500000000000000" charset="-120"/>
              </a:rPr>
              <a:t>(</a:t>
            </a:r>
            <a:r>
              <a:rPr lang="en-US" altLang="zh-CN" i="1">
                <a:ea typeface="MingLiU_HKSCS-ExtB" panose="02020500000000000000" charset="-120"/>
              </a:rPr>
              <a:t>X</a:t>
            </a:r>
            <a:r>
              <a:rPr lang="en-US" altLang="zh-CN">
                <a:ea typeface="MingLiU_HKSCS-ExtB" panose="02020500000000000000" charset="-120"/>
              </a:rPr>
              <a:t>;</a:t>
            </a:r>
            <a:r>
              <a:rPr lang="en-US" altLang="zh-CN" i="1">
                <a:ea typeface="MingLiU_HKSCS-ExtB" panose="02020500000000000000" charset="-120"/>
              </a:rPr>
              <a:t>Y</a:t>
            </a:r>
            <a:r>
              <a:rPr lang="en-US" altLang="zh-CN">
                <a:ea typeface="MingLiU_HKSCS-ExtB" panose="02020500000000000000" charset="-120"/>
              </a:rPr>
              <a:t>)</a:t>
            </a:r>
            <a:r>
              <a:rPr lang="zh-CN" altLang="en-US">
                <a:ea typeface="MingLiU_HKSCS-ExtB" panose="02020500000000000000" charset="-120"/>
              </a:rPr>
              <a:t>的极大值；在连续情况下，变更信源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X</a:t>
            </a:r>
            <a:r>
              <a:rPr lang="en-US" altLang="zh-CN">
                <a:ea typeface="MingLiU_HKSCS-ExtB" panose="02020500000000000000" charset="-120"/>
              </a:rPr>
              <a:t>) </a:t>
            </a:r>
            <a:r>
              <a:rPr lang="zh-CN" altLang="en-US">
                <a:ea typeface="MingLiU_HKSCS-ExtB" panose="02020500000000000000" charset="-120"/>
              </a:rPr>
              <a:t>求出的也是极大值，但求极值时还要一些其它的限制条件。</a:t>
            </a:r>
          </a:p>
        </p:txBody>
      </p:sp>
      <p:sp>
        <p:nvSpPr>
          <p:cNvPr id="2094" name="矩形 2093"/>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093">
                                            <p:txEl>
                                              <p:pRg st="1" end="1"/>
                                            </p:txEl>
                                          </p:spTgt>
                                        </p:tgtEl>
                                        <p:attrNameLst>
                                          <p:attrName>style.visibility</p:attrName>
                                        </p:attrNameLst>
                                      </p:cBhvr>
                                      <p:to>
                                        <p:strVal val="visible"/>
                                      </p:to>
                                    </p:set>
                                    <p:anim calcmode="lin" valueType="num">
                                      <p:cBhvr additive="base">
                                        <p:cTn id="7" dur="1000" fill="hold"/>
                                        <p:tgtEl>
                                          <p:spTgt spid="2093">
                                            <p:txEl>
                                              <p:pRg st="1" end="1"/>
                                            </p:txEl>
                                          </p:spTgt>
                                        </p:tgtEl>
                                        <p:attrNameLst>
                                          <p:attrName>ppt_x</p:attrName>
                                        </p:attrNameLst>
                                      </p:cBhvr>
                                      <p:tavLst>
                                        <p:tav tm="0">
                                          <p:val>
                                            <p:strVal val="#ppt_x-.2"/>
                                          </p:val>
                                        </p:tav>
                                        <p:tav tm="100000">
                                          <p:val>
                                            <p:strVal val="#ppt_x"/>
                                          </p:val>
                                        </p:tav>
                                      </p:tavLst>
                                    </p:anim>
                                    <p:anim calcmode="lin" valueType="num">
                                      <p:cBhvr additive="base">
                                        <p:cTn id="8" dur="1000" fill="hold"/>
                                        <p:tgtEl>
                                          <p:spTgt spid="2093">
                                            <p:txEl>
                                              <p:pRg st="1" end="1"/>
                                            </p:txEl>
                                          </p:spTgt>
                                        </p:tgtEl>
                                        <p:attrNameLst>
                                          <p:attrName>ppt_y</p:attrName>
                                        </p:attrNameLst>
                                      </p:cBhvr>
                                      <p:tavLst>
                                        <p:tav tm="0">
                                          <p:val>
                                            <p:strVal val="#ppt_y"/>
                                          </p:val>
                                        </p:tav>
                                        <p:tav tm="100000">
                                          <p:val>
                                            <p:strVal val="#ppt_y"/>
                                          </p:val>
                                        </p:tav>
                                      </p:tavLst>
                                    </p:anim>
                                    <p:animEffect transition="in" filter="wipe(right)">
                                      <p:cBhvr additive="base">
                                        <p:cTn id="9" dur="1000"/>
                                        <p:tgtEl>
                                          <p:spTgt spid="2093">
                                            <p:txEl>
                                              <p:pRg st="1" end="1"/>
                                            </p:txEl>
                                          </p:spTgt>
                                        </p:tgtEl>
                                      </p:cBhvr>
                                    </p:animEffect>
                                  </p:childTnLst>
                                </p:cTn>
                              </p:par>
                              <p:par>
                                <p:cTn id="10" presetID="29" presetClass="entr" presetSubtype="0" fill="hold" nodeType="withEffect">
                                  <p:childTnLst>
                                    <p:set>
                                      <p:cBhvr additive="base">
                                        <p:cTn id="11" dur="1" fill="hold">
                                          <p:stCondLst>
                                            <p:cond delay="0"/>
                                          </p:stCondLst>
                                        </p:cTn>
                                        <p:tgtEl>
                                          <p:spTgt spid="2093">
                                            <p:txEl>
                                              <p:pRg st="2" end="2"/>
                                            </p:txEl>
                                          </p:spTgt>
                                        </p:tgtEl>
                                        <p:attrNameLst>
                                          <p:attrName>style.visibility</p:attrName>
                                        </p:attrNameLst>
                                      </p:cBhvr>
                                      <p:to>
                                        <p:strVal val="visible"/>
                                      </p:to>
                                    </p:set>
                                    <p:anim calcmode="lin" valueType="num">
                                      <p:cBhvr additive="base">
                                        <p:cTn id="12" dur="1000" fill="hold"/>
                                        <p:tgtEl>
                                          <p:spTgt spid="2093">
                                            <p:txEl>
                                              <p:pRg st="2" end="2"/>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093">
                                            <p:txEl>
                                              <p:pRg st="2" end="2"/>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093">
                                            <p:txEl>
                                              <p:pRg st="2" end="2"/>
                                            </p:txEl>
                                          </p:spTgt>
                                        </p:tgtEl>
                                      </p:cBhvr>
                                    </p:animEffect>
                                  </p:childTnLst>
                                </p:cTn>
                              </p:par>
                              <p:par>
                                <p:cTn id="15" presetID="29" presetClass="entr" presetSubtype="0" fill="hold" nodeType="withEffect">
                                  <p:childTnLst>
                                    <p:set>
                                      <p:cBhvr additive="base">
                                        <p:cTn id="16" dur="1" fill="hold">
                                          <p:stCondLst>
                                            <p:cond delay="0"/>
                                          </p:stCondLst>
                                        </p:cTn>
                                        <p:tgtEl>
                                          <p:spTgt spid="2093">
                                            <p:txEl>
                                              <p:pRg st="3" end="3"/>
                                            </p:txEl>
                                          </p:spTgt>
                                        </p:tgtEl>
                                        <p:attrNameLst>
                                          <p:attrName>style.visibility</p:attrName>
                                        </p:attrNameLst>
                                      </p:cBhvr>
                                      <p:to>
                                        <p:strVal val="visible"/>
                                      </p:to>
                                    </p:set>
                                    <p:anim calcmode="lin" valueType="num">
                                      <p:cBhvr additive="base">
                                        <p:cTn id="17" dur="1000" fill="hold"/>
                                        <p:tgtEl>
                                          <p:spTgt spid="2093">
                                            <p:txEl>
                                              <p:pRg st="3" end="3"/>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093">
                                            <p:txEl>
                                              <p:pRg st="3" end="3"/>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09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10</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097" name="标题 2096"/>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4.1.1 </a:t>
            </a:r>
            <a:r>
              <a:rPr lang="zh-CN" altLang="en-US">
                <a:ea typeface="MingLiU_HKSCS-ExtB" panose="02020500000000000000" charset="-120"/>
              </a:rPr>
              <a:t>引    言</a:t>
            </a:r>
            <a:r>
              <a:rPr lang="en-US" altLang="zh-CN">
                <a:ea typeface="MingLiU_HKSCS-ExtB" panose="02020500000000000000" charset="-120"/>
                <a:sym typeface="+mn-ea"/>
              </a:rPr>
              <a:t> (Introduction)</a:t>
            </a:r>
            <a:endParaRPr lang="zh-CN" altLang="en-US">
              <a:ea typeface="MingLiU_HKSCS-ExtB" panose="02020500000000000000" charset="-120"/>
            </a:endParaRPr>
          </a:p>
        </p:txBody>
      </p:sp>
      <p:sp>
        <p:nvSpPr>
          <p:cNvPr id="2098" name="文本占位符 2097"/>
          <p:cNvSpPr>
            <a:spLocks noGrp="1"/>
          </p:cNvSpPr>
          <p:nvPr>
            <p:ph type="body" idx="4294967295"/>
          </p:nvPr>
        </p:nvSpPr>
        <p:spPr/>
        <p:txBody>
          <a:bodyPr/>
          <a:lstStyle/>
          <a:p>
            <a:pPr>
              <a:buClr>
                <a:srgbClr val="993366"/>
              </a:buClr>
              <a:buNone/>
            </a:pPr>
            <a:r>
              <a:rPr lang="en-US" altLang="zh-CN">
                <a:ea typeface="MingLiU_HKSCS-ExtB" panose="02020500000000000000" charset="-120"/>
              </a:rPr>
              <a:t>(3) </a:t>
            </a:r>
            <a:r>
              <a:rPr lang="zh-CN" altLang="en-US">
                <a:ea typeface="MingLiU_HKSCS-ExtB" panose="02020500000000000000" charset="-120"/>
              </a:rPr>
              <a:t>信息率失真理论</a:t>
            </a:r>
          </a:p>
          <a:p>
            <a:pPr>
              <a:buClr>
                <a:srgbClr val="993366"/>
              </a:buClr>
            </a:pPr>
            <a:r>
              <a:rPr lang="zh-CN" altLang="en-US" sz="2400">
                <a:ea typeface="MingLiU_HKSCS-ExtB" panose="02020500000000000000" charset="-120"/>
              </a:rPr>
              <a:t> 信息率失真函数</a:t>
            </a:r>
            <a:r>
              <a:rPr lang="zh-CN" altLang="en-US" sz="2400">
                <a:solidFill>
                  <a:srgbClr val="FF0000"/>
                </a:solidFill>
                <a:ea typeface="MingLiU_HKSCS-ExtB" panose="02020500000000000000" charset="-120"/>
              </a:rPr>
              <a:t>极小值</a:t>
            </a:r>
            <a:r>
              <a:rPr lang="zh-CN" altLang="en-US" sz="2400">
                <a:ea typeface="MingLiU_HKSCS-ExtB" panose="02020500000000000000" charset="-120"/>
              </a:rPr>
              <a:t>问题</a:t>
            </a:r>
          </a:p>
          <a:p>
            <a:pPr marL="355600" lvl="1">
              <a:buClr>
                <a:srgbClr val="993366"/>
              </a:buClr>
            </a:pPr>
            <a:r>
              <a:rPr lang="zh-CN" altLang="en-US">
                <a:solidFill>
                  <a:srgbClr val="0000CC"/>
                </a:solidFill>
                <a:ea typeface="MingLiU_HKSCS-ExtB" panose="02020500000000000000" charset="-120"/>
              </a:rPr>
              <a:t> </a:t>
            </a:r>
            <a:r>
              <a:rPr lang="zh-CN" altLang="en-US" sz="2200" u="sng">
                <a:solidFill>
                  <a:srgbClr val="0000CC"/>
                </a:solidFill>
                <a:ea typeface="MingLiU_HKSCS-ExtB" panose="02020500000000000000" charset="-120"/>
              </a:rPr>
              <a:t>在讨论信息率时</a:t>
            </a:r>
            <a:r>
              <a:rPr lang="zh-CN" altLang="en-US" sz="2200">
                <a:solidFill>
                  <a:srgbClr val="0000CC"/>
                </a:solidFill>
                <a:ea typeface="MingLiU_HKSCS-ExtB" panose="02020500000000000000" charset="-120"/>
              </a:rPr>
              <a:t>：</a:t>
            </a:r>
            <a:r>
              <a:rPr lang="zh-CN" altLang="en-US" sz="2200">
                <a:ea typeface="MingLiU_HKSCS-ExtB" panose="02020500000000000000" charset="-120"/>
              </a:rPr>
              <a:t>可规定 </a:t>
            </a:r>
            <a:r>
              <a:rPr lang="en-US" altLang="zh-CN" sz="2200" i="1">
                <a:ea typeface="MingLiU_HKSCS-ExtB" panose="02020500000000000000" charset="-120"/>
              </a:rPr>
              <a:t>p</a:t>
            </a:r>
            <a:r>
              <a:rPr lang="en-US" altLang="zh-CN" sz="2200">
                <a:ea typeface="MingLiU_HKSCS-ExtB" panose="02020500000000000000" charset="-120"/>
              </a:rPr>
              <a:t>(</a:t>
            </a:r>
            <a:r>
              <a:rPr lang="en-US" altLang="zh-CN" sz="2200" i="1">
                <a:ea typeface="MingLiU_HKSCS-ExtB" panose="02020500000000000000" charset="-120"/>
              </a:rPr>
              <a:t>x</a:t>
            </a:r>
            <a:r>
              <a:rPr lang="en-US" altLang="zh-CN" sz="2200" i="1" baseline="-25000">
                <a:ea typeface="MingLiU_HKSCS-ExtB" panose="02020500000000000000" charset="-120"/>
              </a:rPr>
              <a:t>i</a:t>
            </a:r>
            <a:r>
              <a:rPr lang="en-US" altLang="zh-CN" sz="2200">
                <a:ea typeface="MingLiU_HKSCS-ExtB" panose="02020500000000000000" charset="-120"/>
              </a:rPr>
              <a:t>)</a:t>
            </a:r>
            <a:r>
              <a:rPr lang="zh-CN" altLang="en-US" sz="2200">
                <a:ea typeface="MingLiU_HKSCS-ExtB" panose="02020500000000000000" charset="-120"/>
              </a:rPr>
              <a:t>，变更 </a:t>
            </a:r>
            <a:r>
              <a:rPr lang="en-US" altLang="zh-CN" sz="2200" i="1">
                <a:ea typeface="MingLiU_HKSCS-ExtB" panose="02020500000000000000" charset="-120"/>
              </a:rPr>
              <a:t>p</a:t>
            </a:r>
            <a:r>
              <a:rPr lang="en-US" altLang="zh-CN" sz="2200">
                <a:ea typeface="MingLiU_HKSCS-ExtB" panose="02020500000000000000" charset="-120"/>
              </a:rPr>
              <a:t>(</a:t>
            </a:r>
            <a:r>
              <a:rPr lang="en-US" altLang="zh-CN" sz="2200" i="1">
                <a:ea typeface="MingLiU_HKSCS-ExtB" panose="02020500000000000000" charset="-120"/>
              </a:rPr>
              <a:t>y</a:t>
            </a:r>
            <a:r>
              <a:rPr lang="en-US" altLang="zh-CN" sz="2200" i="1" baseline="-25000">
                <a:ea typeface="MingLiU_HKSCS-ExtB" panose="02020500000000000000" charset="-120"/>
              </a:rPr>
              <a:t>j </a:t>
            </a:r>
            <a:r>
              <a:rPr lang="en-US" altLang="zh-CN" sz="2200">
                <a:ea typeface="MingLiU_HKSCS-ExtB" panose="02020500000000000000" charset="-120"/>
              </a:rPr>
              <a:t>/</a:t>
            </a:r>
            <a:r>
              <a:rPr lang="en-US" altLang="zh-CN" sz="2200" i="1">
                <a:ea typeface="MingLiU_HKSCS-ExtB" panose="02020500000000000000" charset="-120"/>
              </a:rPr>
              <a:t>x</a:t>
            </a:r>
            <a:r>
              <a:rPr lang="en-US" altLang="zh-CN" sz="2200" i="1" baseline="-25000">
                <a:ea typeface="MingLiU_HKSCS-ExtB" panose="02020500000000000000" charset="-120"/>
              </a:rPr>
              <a:t>i</a:t>
            </a:r>
            <a:r>
              <a:rPr lang="en-US" altLang="zh-CN" sz="2200">
                <a:ea typeface="MingLiU_HKSCS-ExtB" panose="02020500000000000000" charset="-120"/>
              </a:rPr>
              <a:t>) </a:t>
            </a:r>
            <a:r>
              <a:rPr lang="zh-CN" altLang="en-US" sz="2200">
                <a:ea typeface="MingLiU_HKSCS-ExtB" panose="02020500000000000000" charset="-120"/>
              </a:rPr>
              <a:t>来求平均互信息的极值，称为</a:t>
            </a:r>
            <a:r>
              <a:rPr lang="zh-CN" altLang="en-US" sz="2200">
                <a:solidFill>
                  <a:srgbClr val="FF0000"/>
                </a:solidFill>
                <a:ea typeface="MingLiU_HKSCS-ExtB" panose="02020500000000000000" charset="-120"/>
              </a:rPr>
              <a:t>信道容量对偶问题</a:t>
            </a:r>
            <a:r>
              <a:rPr lang="zh-CN" altLang="en-US" sz="2200">
                <a:ea typeface="MingLiU_HKSCS-ExtB" panose="02020500000000000000" charset="-120"/>
              </a:rPr>
              <a:t>。</a:t>
            </a:r>
            <a:r>
              <a:rPr lang="zh-CN" altLang="en-US" sz="2200">
                <a:solidFill>
                  <a:srgbClr val="FF0000"/>
                </a:solidFill>
                <a:ea typeface="MingLiU_HKSCS-ExtB" panose="02020500000000000000" charset="-120"/>
              </a:rPr>
              <a:t>由于</a:t>
            </a:r>
            <a:r>
              <a:rPr lang="en-US" altLang="zh-CN" sz="2200" i="1">
                <a:solidFill>
                  <a:srgbClr val="FF0000"/>
                </a:solidFill>
                <a:ea typeface="MingLiU_HKSCS-ExtB" panose="02020500000000000000" charset="-120"/>
              </a:rPr>
              <a:t>I</a:t>
            </a:r>
            <a:r>
              <a:rPr lang="en-US" altLang="zh-CN" sz="2200">
                <a:solidFill>
                  <a:srgbClr val="FF0000"/>
                </a:solidFill>
                <a:ea typeface="MingLiU_HKSCS-ExtB" panose="02020500000000000000" charset="-120"/>
              </a:rPr>
              <a:t>(</a:t>
            </a:r>
            <a:r>
              <a:rPr lang="en-US" altLang="zh-CN" sz="2200" i="1">
                <a:solidFill>
                  <a:srgbClr val="FF0000"/>
                </a:solidFill>
                <a:ea typeface="MingLiU_HKSCS-ExtB" panose="02020500000000000000" charset="-120"/>
              </a:rPr>
              <a:t>X</a:t>
            </a:r>
            <a:r>
              <a:rPr lang="en-US" altLang="zh-CN" sz="2200">
                <a:solidFill>
                  <a:srgbClr val="FF0000"/>
                </a:solidFill>
                <a:ea typeface="MingLiU_HKSCS-ExtB" panose="02020500000000000000" charset="-120"/>
              </a:rPr>
              <a:t>;</a:t>
            </a:r>
            <a:r>
              <a:rPr lang="en-US" altLang="zh-CN" sz="2200" i="1">
                <a:solidFill>
                  <a:srgbClr val="FF0000"/>
                </a:solidFill>
                <a:ea typeface="MingLiU_HKSCS-ExtB" panose="02020500000000000000" charset="-120"/>
              </a:rPr>
              <a:t>Y</a:t>
            </a:r>
            <a:r>
              <a:rPr lang="en-US" altLang="zh-CN" sz="2200">
                <a:solidFill>
                  <a:srgbClr val="FF0000"/>
                </a:solidFill>
                <a:ea typeface="MingLiU_HKSCS-ExtB" panose="02020500000000000000" charset="-120"/>
              </a:rPr>
              <a:t>) </a:t>
            </a:r>
            <a:r>
              <a:rPr lang="zh-CN" altLang="en-US" sz="2200">
                <a:solidFill>
                  <a:srgbClr val="FF0000"/>
                </a:solidFill>
                <a:ea typeface="MingLiU_HKSCS-ExtB" panose="02020500000000000000" charset="-120"/>
              </a:rPr>
              <a:t>是 </a:t>
            </a:r>
            <a:r>
              <a:rPr lang="en-US" altLang="zh-CN" sz="2200" i="1">
                <a:solidFill>
                  <a:srgbClr val="FF0000"/>
                </a:solidFill>
                <a:ea typeface="MingLiU_HKSCS-ExtB" panose="02020500000000000000" charset="-120"/>
              </a:rPr>
              <a:t>p</a:t>
            </a:r>
            <a:r>
              <a:rPr lang="en-US" altLang="zh-CN" sz="2200">
                <a:solidFill>
                  <a:srgbClr val="FF0000"/>
                </a:solidFill>
                <a:ea typeface="MingLiU_HKSCS-ExtB" panose="02020500000000000000" charset="-120"/>
              </a:rPr>
              <a:t>(</a:t>
            </a:r>
            <a:r>
              <a:rPr lang="en-US" altLang="zh-CN" sz="2200" i="1">
                <a:solidFill>
                  <a:srgbClr val="FF0000"/>
                </a:solidFill>
                <a:ea typeface="MingLiU_HKSCS-ExtB" panose="02020500000000000000" charset="-120"/>
              </a:rPr>
              <a:t>y</a:t>
            </a:r>
            <a:r>
              <a:rPr lang="en-US" altLang="zh-CN" sz="2200" i="1" baseline="-25000">
                <a:solidFill>
                  <a:srgbClr val="FF0000"/>
                </a:solidFill>
                <a:ea typeface="MingLiU_HKSCS-ExtB" panose="02020500000000000000" charset="-120"/>
              </a:rPr>
              <a:t>j </a:t>
            </a:r>
            <a:r>
              <a:rPr lang="en-US" altLang="zh-CN" sz="2200">
                <a:solidFill>
                  <a:srgbClr val="FF0000"/>
                </a:solidFill>
                <a:ea typeface="MingLiU_HKSCS-ExtB" panose="02020500000000000000" charset="-120"/>
              </a:rPr>
              <a:t>/</a:t>
            </a:r>
            <a:r>
              <a:rPr lang="en-US" altLang="zh-CN" sz="2200" i="1">
                <a:solidFill>
                  <a:srgbClr val="FF0000"/>
                </a:solidFill>
                <a:ea typeface="MingLiU_HKSCS-ExtB" panose="02020500000000000000" charset="-120"/>
              </a:rPr>
              <a:t>x</a:t>
            </a:r>
            <a:r>
              <a:rPr lang="en-US" altLang="zh-CN" sz="2200" i="1" baseline="-25000">
                <a:solidFill>
                  <a:srgbClr val="FF0000"/>
                </a:solidFill>
                <a:ea typeface="MingLiU_HKSCS-ExtB" panose="02020500000000000000" charset="-120"/>
              </a:rPr>
              <a:t>i</a:t>
            </a:r>
            <a:r>
              <a:rPr lang="en-US" altLang="zh-CN" sz="2200">
                <a:solidFill>
                  <a:srgbClr val="FF0000"/>
                </a:solidFill>
                <a:ea typeface="MingLiU_HKSCS-ExtB" panose="02020500000000000000" charset="-120"/>
              </a:rPr>
              <a:t>) </a:t>
            </a:r>
            <a:r>
              <a:rPr lang="zh-CN" altLang="en-US" sz="2200">
                <a:solidFill>
                  <a:srgbClr val="FF0000"/>
                </a:solidFill>
                <a:ea typeface="MingLiU_HKSCS-ExtB" panose="02020500000000000000" charset="-120"/>
              </a:rPr>
              <a:t>的下凸函数，所求的极值一定是极小值</a:t>
            </a:r>
            <a:r>
              <a:rPr lang="zh-CN" altLang="en-US" sz="2200">
                <a:ea typeface="MingLiU_HKSCS-ExtB" panose="02020500000000000000" charset="-120"/>
              </a:rPr>
              <a:t>。但若 </a:t>
            </a:r>
            <a:r>
              <a:rPr lang="en-US" altLang="zh-CN" sz="2200" i="1">
                <a:ea typeface="MingLiU_HKSCS-ExtB" panose="02020500000000000000" charset="-120"/>
              </a:rPr>
              <a:t>X </a:t>
            </a:r>
            <a:r>
              <a:rPr lang="zh-CN" altLang="en-US" sz="2200">
                <a:ea typeface="MingLiU_HKSCS-ExtB" panose="02020500000000000000" charset="-120"/>
              </a:rPr>
              <a:t>和 </a:t>
            </a:r>
            <a:r>
              <a:rPr lang="en-US" altLang="zh-CN" sz="2200" i="1">
                <a:ea typeface="MingLiU_HKSCS-ExtB" panose="02020500000000000000" charset="-120"/>
              </a:rPr>
              <a:t>Y </a:t>
            </a:r>
            <a:r>
              <a:rPr lang="zh-CN" altLang="en-US" sz="2200">
                <a:ea typeface="MingLiU_HKSCS-ExtB" panose="02020500000000000000" charset="-120"/>
              </a:rPr>
              <a:t>相互统计独立（</a:t>
            </a:r>
            <a:r>
              <a:rPr lang="en-US" altLang="zh-CN" sz="2200" i="1">
                <a:ea typeface="MingLiU_HKSCS-ExtB" panose="02020500000000000000" charset="-120"/>
              </a:rPr>
              <a:t>p</a:t>
            </a:r>
            <a:r>
              <a:rPr lang="en-US" altLang="zh-CN" sz="2200">
                <a:ea typeface="MingLiU_HKSCS-ExtB" panose="02020500000000000000" charset="-120"/>
              </a:rPr>
              <a:t>(</a:t>
            </a:r>
            <a:r>
              <a:rPr lang="en-US" altLang="zh-CN" sz="2200" i="1">
                <a:ea typeface="MingLiU_HKSCS-ExtB" panose="02020500000000000000" charset="-120"/>
              </a:rPr>
              <a:t>y</a:t>
            </a:r>
            <a:r>
              <a:rPr lang="en-US" altLang="zh-CN" sz="2200" i="1" baseline="-25000">
                <a:ea typeface="MingLiU_HKSCS-ExtB" panose="02020500000000000000" charset="-120"/>
              </a:rPr>
              <a:t>j </a:t>
            </a:r>
            <a:r>
              <a:rPr lang="en-US" altLang="zh-CN" sz="2200">
                <a:ea typeface="MingLiU_HKSCS-ExtB" panose="02020500000000000000" charset="-120"/>
              </a:rPr>
              <a:t>/</a:t>
            </a:r>
            <a:r>
              <a:rPr lang="en-US" altLang="zh-CN" sz="2200" i="1">
                <a:ea typeface="MingLiU_HKSCS-ExtB" panose="02020500000000000000" charset="-120"/>
              </a:rPr>
              <a:t>x</a:t>
            </a:r>
            <a:r>
              <a:rPr lang="en-US" altLang="zh-CN" sz="2200" i="1" baseline="-25000">
                <a:ea typeface="MingLiU_HKSCS-ExtB" panose="02020500000000000000" charset="-120"/>
              </a:rPr>
              <a:t>i</a:t>
            </a:r>
            <a:r>
              <a:rPr lang="en-US" altLang="zh-CN" sz="2200">
                <a:ea typeface="MingLiU_HKSCS-ExtB" panose="02020500000000000000" charset="-120"/>
              </a:rPr>
              <a:t>)= </a:t>
            </a:r>
            <a:r>
              <a:rPr lang="en-US" altLang="zh-CN" sz="2200" i="1">
                <a:ea typeface="MingLiU_HKSCS-ExtB" panose="02020500000000000000" charset="-120"/>
              </a:rPr>
              <a:t>p</a:t>
            </a:r>
            <a:r>
              <a:rPr lang="en-US" altLang="zh-CN" sz="2200">
                <a:ea typeface="MingLiU_HKSCS-ExtB" panose="02020500000000000000" charset="-120"/>
              </a:rPr>
              <a:t>(</a:t>
            </a:r>
            <a:r>
              <a:rPr lang="en-US" altLang="zh-CN" sz="2200" i="1">
                <a:ea typeface="MingLiU_HKSCS-ExtB" panose="02020500000000000000" charset="-120"/>
              </a:rPr>
              <a:t>y</a:t>
            </a:r>
            <a:r>
              <a:rPr lang="en-US" altLang="zh-CN" sz="2200" i="1" baseline="-25000">
                <a:ea typeface="MingLiU_HKSCS-ExtB" panose="02020500000000000000" charset="-120"/>
              </a:rPr>
              <a:t>j </a:t>
            </a:r>
            <a:r>
              <a:rPr lang="en-US" altLang="zh-CN" sz="2200">
                <a:ea typeface="MingLiU_HKSCS-ExtB" panose="02020500000000000000" charset="-120"/>
              </a:rPr>
              <a:t>)</a:t>
            </a:r>
            <a:r>
              <a:rPr lang="zh-CN" altLang="en-US" sz="2200">
                <a:ea typeface="MingLiU_HKSCS-ExtB" panose="02020500000000000000" charset="-120"/>
              </a:rPr>
              <a:t>），这个极小值就是 </a:t>
            </a:r>
            <a:r>
              <a:rPr lang="en-US" altLang="zh-CN" sz="2200">
                <a:ea typeface="MingLiU_HKSCS-ExtB" panose="02020500000000000000" charset="-120"/>
              </a:rPr>
              <a:t>0</a:t>
            </a:r>
            <a:r>
              <a:rPr lang="zh-CN" altLang="en-US" sz="2200">
                <a:ea typeface="MingLiU_HKSCS-ExtB" panose="02020500000000000000" charset="-120"/>
              </a:rPr>
              <a:t>，因为 </a:t>
            </a:r>
            <a:r>
              <a:rPr lang="en-US" altLang="zh-CN" sz="2200" i="1">
                <a:ea typeface="MingLiU_HKSCS-ExtB" panose="02020500000000000000" charset="-120"/>
              </a:rPr>
              <a:t>I</a:t>
            </a:r>
            <a:r>
              <a:rPr lang="en-US" altLang="zh-CN" sz="2200">
                <a:ea typeface="MingLiU_HKSCS-ExtB" panose="02020500000000000000" charset="-120"/>
              </a:rPr>
              <a:t>(</a:t>
            </a:r>
            <a:r>
              <a:rPr lang="en-US" altLang="zh-CN" sz="2200" i="1">
                <a:ea typeface="MingLiU_HKSCS-ExtB" panose="02020500000000000000" charset="-120"/>
              </a:rPr>
              <a:t>X</a:t>
            </a:r>
            <a:r>
              <a:rPr lang="en-US" altLang="zh-CN" sz="2200">
                <a:ea typeface="MingLiU_HKSCS-ExtB" panose="02020500000000000000" charset="-120"/>
              </a:rPr>
              <a:t>;</a:t>
            </a:r>
            <a:r>
              <a:rPr lang="en-US" altLang="zh-CN" sz="2200" i="1">
                <a:ea typeface="MingLiU_HKSCS-ExtB" panose="02020500000000000000" charset="-120"/>
              </a:rPr>
              <a:t>Y</a:t>
            </a:r>
            <a:r>
              <a:rPr lang="en-US" altLang="zh-CN" sz="2200">
                <a:ea typeface="MingLiU_HKSCS-ExtB" panose="02020500000000000000" charset="-120"/>
              </a:rPr>
              <a:t>) </a:t>
            </a:r>
            <a:r>
              <a:rPr lang="zh-CN" altLang="en-US" sz="2200">
                <a:ea typeface="MingLiU_HKSCS-ExtB" panose="02020500000000000000" charset="-120"/>
              </a:rPr>
              <a:t>是非负的，</a:t>
            </a:r>
            <a:r>
              <a:rPr lang="en-US" altLang="zh-CN" sz="2200">
                <a:ea typeface="MingLiU_HKSCS-ExtB" panose="02020500000000000000" charset="-120"/>
              </a:rPr>
              <a:t>0 </a:t>
            </a:r>
            <a:r>
              <a:rPr lang="zh-CN" altLang="en-US" sz="2200">
                <a:ea typeface="MingLiU_HKSCS-ExtB" panose="02020500000000000000" charset="-120"/>
              </a:rPr>
              <a:t>必为极小值，这样求极小值就没意义了。</a:t>
            </a:r>
          </a:p>
          <a:p>
            <a:pPr marL="355600" lvl="1">
              <a:buClr>
                <a:srgbClr val="993366"/>
              </a:buClr>
            </a:pPr>
            <a:r>
              <a:rPr lang="zh-CN" altLang="en-US" sz="2200">
                <a:ea typeface="MingLiU_HKSCS-ExtB" panose="02020500000000000000" charset="-120"/>
              </a:rPr>
              <a:t> 引入一个失真函数，计算在失真度一定的情况下信息率的极小值就变的有意义了。</a:t>
            </a:r>
          </a:p>
        </p:txBody>
      </p:sp>
      <p:sp>
        <p:nvSpPr>
          <p:cNvPr id="2099" name="矩形 2098"/>
          <p:cNvSpPr/>
          <p:nvPr/>
        </p:nvSpPr>
        <p:spPr>
          <a:xfrm>
            <a:off x="8029575" y="5948363"/>
            <a:ext cx="796925" cy="360362"/>
          </a:xfrm>
          <a:solidFill>
            <a:srgbClr val="BBE0E3"/>
          </a:solidFill>
          <a:ln w="12700">
            <a:noFill/>
          </a:ln>
        </p:spPr>
        <p:txBody>
          <a:bodyPr/>
          <a:lstStyle/>
          <a:p>
            <a:endParaRPr lang="zh-CN" altLang="en-US"/>
          </a:p>
        </p:txBody>
      </p:sp>
      <p:sp>
        <p:nvSpPr>
          <p:cNvPr id="2100" name="矩形 2099"/>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098">
                                            <p:txEl>
                                              <p:pRg st="2" end="2"/>
                                            </p:txEl>
                                          </p:spTgt>
                                        </p:tgtEl>
                                        <p:attrNameLst>
                                          <p:attrName>style.visibility</p:attrName>
                                        </p:attrNameLst>
                                      </p:cBhvr>
                                      <p:to>
                                        <p:strVal val="visible"/>
                                      </p:to>
                                    </p:set>
                                    <p:anim calcmode="lin" valueType="num">
                                      <p:cBhvr additive="base">
                                        <p:cTn id="7" dur="1000" fill="hold"/>
                                        <p:tgtEl>
                                          <p:spTgt spid="2098">
                                            <p:txEl>
                                              <p:pRg st="2" end="2"/>
                                            </p:txEl>
                                          </p:spTgt>
                                        </p:tgtEl>
                                        <p:attrNameLst>
                                          <p:attrName>ppt_x</p:attrName>
                                        </p:attrNameLst>
                                      </p:cBhvr>
                                      <p:tavLst>
                                        <p:tav tm="0">
                                          <p:val>
                                            <p:strVal val="#ppt_x-.2"/>
                                          </p:val>
                                        </p:tav>
                                        <p:tav tm="100000">
                                          <p:val>
                                            <p:strVal val="#ppt_x"/>
                                          </p:val>
                                        </p:tav>
                                      </p:tavLst>
                                    </p:anim>
                                    <p:anim calcmode="lin" valueType="num">
                                      <p:cBhvr additive="base">
                                        <p:cTn id="8" dur="1000" fill="hold"/>
                                        <p:tgtEl>
                                          <p:spTgt spid="2098">
                                            <p:txEl>
                                              <p:pRg st="2" end="2"/>
                                            </p:txEl>
                                          </p:spTgt>
                                        </p:tgtEl>
                                        <p:attrNameLst>
                                          <p:attrName>ppt_y</p:attrName>
                                        </p:attrNameLst>
                                      </p:cBhvr>
                                      <p:tavLst>
                                        <p:tav tm="0">
                                          <p:val>
                                            <p:strVal val="#ppt_y"/>
                                          </p:val>
                                        </p:tav>
                                        <p:tav tm="100000">
                                          <p:val>
                                            <p:strVal val="#ppt_y"/>
                                          </p:val>
                                        </p:tav>
                                      </p:tavLst>
                                    </p:anim>
                                    <p:animEffect transition="in" filter="wipe(right)">
                                      <p:cBhvr additive="base">
                                        <p:cTn id="9" dur="1000"/>
                                        <p:tgtEl>
                                          <p:spTgt spid="2098">
                                            <p:txEl>
                                              <p:pRg st="2" end="2"/>
                                            </p:txEl>
                                          </p:spTgt>
                                        </p:tgtEl>
                                      </p:cBhvr>
                                    </p:animEffect>
                                  </p:childTnLst>
                                </p:cTn>
                              </p:par>
                              <p:par>
                                <p:cTn id="10" presetID="29" presetClass="entr" presetSubtype="0" fill="hold" nodeType="withEffect">
                                  <p:childTnLst>
                                    <p:set>
                                      <p:cBhvr additive="base">
                                        <p:cTn id="11" dur="1" fill="hold">
                                          <p:stCondLst>
                                            <p:cond delay="0"/>
                                          </p:stCondLst>
                                        </p:cTn>
                                        <p:tgtEl>
                                          <p:spTgt spid="2098">
                                            <p:txEl>
                                              <p:pRg st="3" end="3"/>
                                            </p:txEl>
                                          </p:spTgt>
                                        </p:tgtEl>
                                        <p:attrNameLst>
                                          <p:attrName>style.visibility</p:attrName>
                                        </p:attrNameLst>
                                      </p:cBhvr>
                                      <p:to>
                                        <p:strVal val="visible"/>
                                      </p:to>
                                    </p:set>
                                    <p:anim calcmode="lin" valueType="num">
                                      <p:cBhvr additive="base">
                                        <p:cTn id="12" dur="1000" fill="hold"/>
                                        <p:tgtEl>
                                          <p:spTgt spid="2098">
                                            <p:txEl>
                                              <p:pRg st="3" end="3"/>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098">
                                            <p:txEl>
                                              <p:pRg st="3" end="3"/>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098">
                                            <p:txEl>
                                              <p:pRg st="3" end="3"/>
                                            </p:txEl>
                                          </p:spTgt>
                                        </p:tgtEl>
                                      </p:cBhvr>
                                    </p:animEffect>
                                  </p:childTnLst>
                                </p:cTn>
                              </p:par>
                              <p:par>
                                <p:cTn id="15" presetID="29" presetClass="entr" presetSubtype="0" fill="hold" grpId="0" nodeType="withEffect">
                                  <p:childTnLst>
                                    <p:set>
                                      <p:cBhvr additive="base">
                                        <p:cTn id="16" dur="1" fill="hold">
                                          <p:stCondLst>
                                            <p:cond delay="0"/>
                                          </p:stCondLst>
                                        </p:cTn>
                                        <p:tgtEl>
                                          <p:spTgt spid="2099"/>
                                        </p:tgtEl>
                                        <p:attrNameLst>
                                          <p:attrName>style.visibility</p:attrName>
                                        </p:attrNameLst>
                                      </p:cBhvr>
                                      <p:to>
                                        <p:strVal val="visible"/>
                                      </p:to>
                                    </p:set>
                                    <p:anim calcmode="lin" valueType="num">
                                      <p:cBhvr additive="base">
                                        <p:cTn id="17" dur="1000" fill="hold"/>
                                        <p:tgtEl>
                                          <p:spTgt spid="2099"/>
                                        </p:tgtEl>
                                        <p:attrNameLst>
                                          <p:attrName>ppt_x</p:attrName>
                                        </p:attrNameLst>
                                      </p:cBhvr>
                                      <p:tavLst>
                                        <p:tav tm="0">
                                          <p:val>
                                            <p:strVal val="#ppt_x-.2"/>
                                          </p:val>
                                        </p:tav>
                                        <p:tav tm="100000">
                                          <p:val>
                                            <p:strVal val="#ppt_x"/>
                                          </p:val>
                                        </p:tav>
                                      </p:tavLst>
                                    </p:anim>
                                    <p:anim calcmode="lin" valueType="num">
                                      <p:cBhvr additive="base">
                                        <p:cTn id="18" dur="1000" fill="hold"/>
                                        <p:tgtEl>
                                          <p:spTgt spid="2099"/>
                                        </p:tgtEl>
                                        <p:attrNameLst>
                                          <p:attrName>ppt_y</p:attrName>
                                        </p:attrNameLst>
                                      </p:cBhvr>
                                      <p:tavLst>
                                        <p:tav tm="0">
                                          <p:val>
                                            <p:strVal val="#ppt_y"/>
                                          </p:val>
                                        </p:tav>
                                        <p:tav tm="100000">
                                          <p:val>
                                            <p:strVal val="#ppt_y"/>
                                          </p:val>
                                        </p:tav>
                                      </p:tavLst>
                                    </p:anim>
                                    <p:animEffect transition="in" filter="wipe(right)">
                                      <p:cBhvr additive="base">
                                        <p:cTn id="19" dur="1000"/>
                                        <p:tgtEl>
                                          <p:spTgt spid="2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11</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03" name="标题 2102"/>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04" name="文本占位符 2103"/>
          <p:cNvSpPr>
            <a:spLocks noGrp="1"/>
          </p:cNvSpPr>
          <p:nvPr>
            <p:ph type="body" idx="4294967295"/>
          </p:nvPr>
        </p:nvSpPr>
        <p:spPr>
          <a:xfrm>
            <a:off x="457200" y="981075"/>
            <a:ext cx="845185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hlinkClick r:id="" action="ppaction://hlinkshowjump?jump=nextslide" tooltip="下一页"/>
              </a:rPr>
              <a:t>信息率与失真的关系</a:t>
            </a:r>
          </a:p>
          <a:p>
            <a:pPr marL="355600" indent="-355600">
              <a:buClr>
                <a:srgbClr val="993366"/>
              </a:buClr>
              <a:buNone/>
            </a:pPr>
            <a:r>
              <a:rPr lang="en-US" altLang="zh-CN">
                <a:ea typeface="MingLiU_HKSCS-ExtB" panose="02020500000000000000" charset="-120"/>
                <a:hlinkClick r:id="" action="ppaction://hlinkshowjump?jump=nextslide" tooltip="下一页"/>
              </a:rPr>
              <a:t>(</a:t>
            </a:r>
            <a:r>
              <a:rPr lang="en-US" altLang="zh-CN">
                <a:ea typeface="MingLiU_HKSCS-ExtB" panose="02020500000000000000" charset="-120"/>
              </a:rPr>
              <a:t>relationship between information rate and distortion)</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失真度</a:t>
            </a:r>
            <a:r>
              <a:rPr lang="en-US" altLang="zh-CN">
                <a:ea typeface="MingLiU_HKSCS-ExtB" panose="02020500000000000000" charset="-120"/>
              </a:rPr>
              <a:t>(Distortion)</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(3)  </a:t>
            </a:r>
            <a:r>
              <a:rPr lang="zh-CN" altLang="en-US">
                <a:ea typeface="MingLiU_HKSCS-ExtB" panose="02020500000000000000" charset="-120"/>
              </a:rPr>
              <a:t>常用的失真函数</a:t>
            </a:r>
            <a:r>
              <a:rPr lang="en-US" altLang="zh-CN">
                <a:ea typeface="MingLiU_HKSCS-ExtB" panose="02020500000000000000" charset="-120"/>
              </a:rPr>
              <a:t>(</a:t>
            </a:r>
            <a:r>
              <a:rPr lang="zh-CN" altLang="en-US">
                <a:ea typeface="MingLiU_HKSCS-ExtB" panose="02020500000000000000" charset="-120"/>
                <a:sym typeface="+mn-ea"/>
              </a:rPr>
              <a:t>Common distortion functions</a:t>
            </a:r>
            <a:r>
              <a:rPr lang="en-US" altLang="zh-CN">
                <a:ea typeface="MingLiU_HKSCS-ExtB" panose="02020500000000000000" charset="-120"/>
              </a:rPr>
              <a:t>)</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(4)  </a:t>
            </a:r>
            <a:r>
              <a:rPr lang="zh-CN" altLang="en-US">
                <a:ea typeface="MingLiU_HKSCS-ExtB" panose="02020500000000000000" charset="-120"/>
              </a:rPr>
              <a:t>平均失真度</a:t>
            </a:r>
            <a:r>
              <a:rPr lang="en-US" altLang="zh-CN">
                <a:ea typeface="MingLiU_HKSCS-ExtB" panose="02020500000000000000" charset="-120"/>
              </a:rPr>
              <a:t>(Average Distortion)</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(5)  </a:t>
            </a:r>
            <a:r>
              <a:rPr lang="en-US" altLang="zh-CN" i="1">
                <a:ea typeface="MingLiU_HKSCS-ExtB" panose="02020500000000000000" charset="-120"/>
              </a:rPr>
              <a:t>N </a:t>
            </a:r>
            <a:r>
              <a:rPr lang="zh-CN" altLang="en-US">
                <a:ea typeface="MingLiU_HKSCS-ExtB" panose="02020500000000000000" charset="-120"/>
              </a:rPr>
              <a:t>次扩展信道的平均失真度</a:t>
            </a:r>
          </a:p>
          <a:p>
            <a:pPr marL="355600" indent="-355600">
              <a:buClr>
                <a:srgbClr val="993366"/>
              </a:buClr>
              <a:buNone/>
            </a:pPr>
            <a:r>
              <a:rPr lang="en-US" altLang="zh-CN">
                <a:ea typeface="MingLiU_HKSCS-ExtB" panose="02020500000000000000" charset="-120"/>
              </a:rPr>
              <a:t>(The average distortion of N extended channels)</a:t>
            </a:r>
          </a:p>
        </p:txBody>
      </p:sp>
      <p:sp>
        <p:nvSpPr>
          <p:cNvPr id="2105" name="矩形 2104"/>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12</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08" name="标题 2107"/>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09" name="文本占位符 2108"/>
          <p:cNvSpPr>
            <a:spLocks noGrp="1"/>
          </p:cNvSpPr>
          <p:nvPr>
            <p:ph type="body" idx="4294967295"/>
          </p:nvPr>
        </p:nvSpPr>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信息率与失真的关系</a:t>
            </a:r>
          </a:p>
          <a:p>
            <a:pPr marL="355600" indent="-355600">
              <a:buClr>
                <a:srgbClr val="993366"/>
              </a:buClr>
            </a:pPr>
            <a:r>
              <a:rPr lang="zh-CN" altLang="en-US" sz="2400">
                <a:ea typeface="MingLiU_HKSCS-ExtB" panose="02020500000000000000" charset="-120"/>
              </a:rPr>
              <a:t>信道中固有的</a:t>
            </a:r>
            <a:r>
              <a:rPr lang="zh-CN" altLang="en-US" sz="2400">
                <a:solidFill>
                  <a:srgbClr val="FF0000"/>
                </a:solidFill>
                <a:ea typeface="MingLiU_HKSCS-ExtB" panose="02020500000000000000" charset="-120"/>
              </a:rPr>
              <a:t>噪声</a:t>
            </a:r>
            <a:r>
              <a:rPr lang="zh-CN" altLang="en-US" sz="2400">
                <a:ea typeface="MingLiU_HKSCS-ExtB" panose="02020500000000000000" charset="-120"/>
              </a:rPr>
              <a:t>和不可避免的</a:t>
            </a:r>
            <a:r>
              <a:rPr lang="zh-CN" altLang="en-US" sz="2400">
                <a:solidFill>
                  <a:srgbClr val="FF0000"/>
                </a:solidFill>
                <a:ea typeface="MingLiU_HKSCS-ExtB" panose="02020500000000000000" charset="-120"/>
              </a:rPr>
              <a:t>干扰</a:t>
            </a:r>
            <a:r>
              <a:rPr lang="zh-CN" altLang="en-US" sz="2400">
                <a:ea typeface="MingLiU_HKSCS-ExtB" panose="02020500000000000000" charset="-120"/>
              </a:rPr>
              <a:t>，使信源的消息通过信道传输后造成误差和失真。</a:t>
            </a:r>
          </a:p>
          <a:p>
            <a:pPr marL="355600" indent="-355600">
              <a:buClr>
                <a:srgbClr val="993366"/>
              </a:buClr>
            </a:pPr>
            <a:r>
              <a:rPr lang="zh-CN" altLang="en-US" sz="2400">
                <a:ea typeface="MingLiU_HKSCS-ExtB" panose="02020500000000000000" charset="-120"/>
              </a:rPr>
              <a:t>误差或</a:t>
            </a:r>
            <a:r>
              <a:rPr lang="zh-CN" altLang="en-US" sz="2400" i="1" u="sng">
                <a:effectLst>
                  <a:outerShdw blurRad="38100" dist="38100" dir="2700000">
                    <a:srgbClr val="C0C0C0"/>
                  </a:outerShdw>
                </a:effectLst>
                <a:ea typeface="MingLiU_HKSCS-ExtB" panose="02020500000000000000" charset="-120"/>
              </a:rPr>
              <a:t>失真</a:t>
            </a:r>
            <a:r>
              <a:rPr lang="zh-CN" altLang="en-US" sz="2400">
                <a:ea typeface="MingLiU_HKSCS-ExtB" panose="02020500000000000000" charset="-120"/>
              </a:rPr>
              <a:t>越大，接收者收到消息后对信源存在的不确定性就越大，获得的信息量就越小，信道传输消息的</a:t>
            </a:r>
            <a:r>
              <a:rPr lang="zh-CN" altLang="en-US" sz="2400" i="1" u="sng">
                <a:effectLst>
                  <a:outerShdw blurRad="38100" dist="38100" dir="2700000">
                    <a:srgbClr val="C0C0C0"/>
                  </a:outerShdw>
                </a:effectLst>
                <a:ea typeface="MingLiU_HKSCS-ExtB" panose="02020500000000000000" charset="-120"/>
              </a:rPr>
              <a:t>信息率</a:t>
            </a:r>
            <a:r>
              <a:rPr lang="zh-CN" altLang="en-US" sz="2400">
                <a:ea typeface="MingLiU_HKSCS-ExtB" panose="02020500000000000000" charset="-120"/>
              </a:rPr>
              <a:t>也越小。</a:t>
            </a:r>
          </a:p>
        </p:txBody>
      </p:sp>
      <p:sp>
        <p:nvSpPr>
          <p:cNvPr id="2110" name="矩形 2109"/>
          <p:cNvSpPr/>
          <p:nvPr/>
        </p:nvSpPr>
        <p:spPr>
          <a:xfrm>
            <a:off x="8029575" y="5948363"/>
            <a:ext cx="796925" cy="360362"/>
          </a:xfrm>
          <a:solidFill>
            <a:srgbClr val="BBE0E3"/>
          </a:solidFill>
          <a:ln w="12700">
            <a:noFill/>
          </a:ln>
        </p:spPr>
        <p:txBody>
          <a:bodyPr/>
          <a:lstStyle/>
          <a:p>
            <a:endParaRPr lang="zh-CN" altLang="en-US"/>
          </a:p>
        </p:txBody>
      </p:sp>
      <p:sp>
        <p:nvSpPr>
          <p:cNvPr id="2111" name="矩形 2110"/>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13</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14" name="标题 2113"/>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15" name="文本占位符 2114"/>
          <p:cNvSpPr>
            <a:spLocks noGrp="1"/>
          </p:cNvSpPr>
          <p:nvPr>
            <p:ph type="body" idx="4294967295"/>
          </p:nvPr>
        </p:nvSpPr>
        <p:spPr/>
        <p:txBody>
          <a:bodyPr/>
          <a:lstStyle/>
          <a:p>
            <a:pPr>
              <a:buClr>
                <a:srgbClr val="993366"/>
              </a:buClr>
              <a:buNone/>
            </a:pPr>
            <a:r>
              <a:rPr lang="en-US" altLang="zh-CN">
                <a:ea typeface="MingLiU_HKSCS-ExtB" panose="02020500000000000000" charset="-120"/>
              </a:rPr>
              <a:t>(2) </a:t>
            </a:r>
            <a:r>
              <a:rPr lang="zh-CN" altLang="en-US">
                <a:ea typeface="MingLiU_HKSCS-ExtB" panose="02020500000000000000" charset="-120"/>
              </a:rPr>
              <a:t>失真度</a:t>
            </a:r>
          </a:p>
          <a:p>
            <a:pPr>
              <a:buClr>
                <a:srgbClr val="993366"/>
              </a:buClr>
            </a:pPr>
            <a:r>
              <a:rPr lang="zh-CN" altLang="en-US" sz="2400">
                <a:ea typeface="MingLiU_HKSCS-ExtB" panose="02020500000000000000" charset="-120"/>
              </a:rPr>
              <a:t> 失真度</a:t>
            </a:r>
          </a:p>
          <a:p>
            <a:pPr marL="355600" lvl="1">
              <a:buClr>
                <a:srgbClr val="993366"/>
              </a:buClr>
            </a:pPr>
            <a:r>
              <a:rPr lang="zh-CN" altLang="en-US" sz="2000">
                <a:ea typeface="MingLiU_HKSCS-ExtB" panose="02020500000000000000" charset="-120"/>
              </a:rPr>
              <a:t> 设离散无记忆信源为：</a:t>
            </a:r>
          </a:p>
        </p:txBody>
      </p:sp>
      <p:graphicFrame>
        <p:nvGraphicFramePr>
          <p:cNvPr id="2116" name="对象 2115"/>
          <p:cNvGraphicFramePr/>
          <p:nvPr/>
        </p:nvGraphicFramePr>
        <p:xfrm>
          <a:off x="1763395" y="2867025"/>
          <a:ext cx="4041775" cy="1138238"/>
        </p:xfrm>
        <a:graphic>
          <a:graphicData uri="http://schemas.openxmlformats.org/presentationml/2006/ole">
            <mc:AlternateContent xmlns:mc="http://schemas.openxmlformats.org/markup-compatibility/2006">
              <mc:Choice xmlns:v="urn:schemas-microsoft-com:vml" Requires="v">
                <p:oleObj spid="_x0000_s4100" r:id="rId3" imgW="1581785" imgH="723900" progId="Equation.3">
                  <p:embed/>
                </p:oleObj>
              </mc:Choice>
              <mc:Fallback>
                <p:oleObj r:id="rId3" imgW="1581785" imgH="723900" progId="Equation.3">
                  <p:embed/>
                  <p:pic>
                    <p:nvPicPr>
                      <p:cNvPr id="0" name="图片 3092"/>
                      <p:cNvPicPr/>
                      <p:nvPr/>
                    </p:nvPicPr>
                    <p:blipFill>
                      <a:blip r:embed="rId4"/>
                      <a:stretch>
                        <a:fillRect/>
                      </a:stretch>
                    </p:blipFill>
                    <p:spPr>
                      <a:xfrm>
                        <a:off x="1763395" y="2867025"/>
                        <a:ext cx="4041775" cy="1138238"/>
                      </a:xfrm>
                      <a:prstGeom prst="rect">
                        <a:avLst/>
                      </a:prstGeom>
                      <a:noFill/>
                      <a:ln w="38100">
                        <a:noFill/>
                        <a:miter/>
                      </a:ln>
                    </p:spPr>
                  </p:pic>
                </p:oleObj>
              </mc:Fallback>
            </mc:AlternateContent>
          </a:graphicData>
        </a:graphic>
      </p:graphicFrame>
      <p:graphicFrame>
        <p:nvGraphicFramePr>
          <p:cNvPr id="2117" name="对象 2116"/>
          <p:cNvGraphicFramePr/>
          <p:nvPr/>
        </p:nvGraphicFramePr>
        <p:xfrm>
          <a:off x="3762375" y="1844675"/>
          <a:ext cx="4292600" cy="801688"/>
        </p:xfrm>
        <a:graphic>
          <a:graphicData uri="http://schemas.openxmlformats.org/presentationml/2006/ole">
            <mc:AlternateContent xmlns:mc="http://schemas.openxmlformats.org/markup-compatibility/2006">
              <mc:Choice xmlns:v="urn:schemas-microsoft-com:vml" Requires="v">
                <p:oleObj spid="_x0000_s4101" r:id="rId5" imgW="946150" imgH="482600" progId="Equation.3">
                  <p:embed/>
                </p:oleObj>
              </mc:Choice>
              <mc:Fallback>
                <p:oleObj r:id="rId5" imgW="946150" imgH="482600" progId="Equation.3">
                  <p:embed/>
                  <p:pic>
                    <p:nvPicPr>
                      <p:cNvPr id="0" name="图片 3093"/>
                      <p:cNvPicPr/>
                      <p:nvPr/>
                    </p:nvPicPr>
                    <p:blipFill>
                      <a:blip r:embed="rId6"/>
                      <a:stretch>
                        <a:fillRect/>
                      </a:stretch>
                    </p:blipFill>
                    <p:spPr>
                      <a:xfrm>
                        <a:off x="3762375" y="1844675"/>
                        <a:ext cx="4292600" cy="801688"/>
                      </a:xfrm>
                      <a:prstGeom prst="rect">
                        <a:avLst/>
                      </a:prstGeom>
                      <a:noFill/>
                      <a:ln w="38100">
                        <a:noFill/>
                        <a:miter/>
                      </a:ln>
                    </p:spPr>
                  </p:pic>
                </p:oleObj>
              </mc:Fallback>
            </mc:AlternateContent>
          </a:graphicData>
        </a:graphic>
      </p:graphicFrame>
      <p:graphicFrame>
        <p:nvGraphicFramePr>
          <p:cNvPr id="2118" name="对象 2117"/>
          <p:cNvGraphicFramePr/>
          <p:nvPr/>
        </p:nvGraphicFramePr>
        <p:xfrm>
          <a:off x="1619250" y="4149725"/>
          <a:ext cx="5478463" cy="1955800"/>
        </p:xfrm>
        <a:graphic>
          <a:graphicData uri="http://schemas.openxmlformats.org/presentationml/2006/ole">
            <mc:AlternateContent xmlns:mc="http://schemas.openxmlformats.org/markup-compatibility/2006">
              <mc:Choice xmlns:v="urn:schemas-microsoft-com:vml" Requires="v">
                <p:oleObj spid="_x0000_s4102" r:id="rId7" imgW="2132330" imgH="1167765" progId="Equation.3">
                  <p:embed/>
                </p:oleObj>
              </mc:Choice>
              <mc:Fallback>
                <p:oleObj r:id="rId7" imgW="2132330" imgH="1167765" progId="Equation.3">
                  <p:embed/>
                  <p:pic>
                    <p:nvPicPr>
                      <p:cNvPr id="0" name="图片 3091"/>
                      <p:cNvPicPr/>
                      <p:nvPr/>
                    </p:nvPicPr>
                    <p:blipFill>
                      <a:blip r:embed="rId8"/>
                      <a:stretch>
                        <a:fillRect/>
                      </a:stretch>
                    </p:blipFill>
                    <p:spPr>
                      <a:xfrm>
                        <a:off x="1619250" y="4149725"/>
                        <a:ext cx="5478463" cy="1955800"/>
                      </a:xfrm>
                      <a:prstGeom prst="rect">
                        <a:avLst/>
                      </a:prstGeom>
                      <a:noFill/>
                      <a:ln w="38100">
                        <a:noFill/>
                        <a:miter/>
                      </a:ln>
                    </p:spPr>
                  </p:pic>
                </p:oleObj>
              </mc:Fallback>
            </mc:AlternateContent>
          </a:graphicData>
        </a:graphic>
      </p:graphicFrame>
      <p:sp>
        <p:nvSpPr>
          <p:cNvPr id="2119" name="矩形 2118"/>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14</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22" name="标题 2121"/>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23" name="文本占位符 2122"/>
          <p:cNvSpPr>
            <a:spLocks noGrp="1"/>
          </p:cNvSpPr>
          <p:nvPr>
            <p:ph type="body" idx="4294967295"/>
          </p:nvPr>
        </p:nvSpPr>
        <p:spPr/>
        <p:txBody>
          <a:bodyPr/>
          <a:lstStyle/>
          <a:p>
            <a:pPr>
              <a:buClr>
                <a:srgbClr val="993366"/>
              </a:buClr>
              <a:buNone/>
            </a:pPr>
            <a:r>
              <a:rPr lang="en-US" altLang="zh-CN">
                <a:ea typeface="MingLiU_HKSCS-ExtB" panose="02020500000000000000" charset="-120"/>
              </a:rPr>
              <a:t>(2) </a:t>
            </a:r>
            <a:r>
              <a:rPr lang="zh-CN" altLang="en-US">
                <a:ea typeface="MingLiU_HKSCS-ExtB" panose="02020500000000000000" charset="-120"/>
              </a:rPr>
              <a:t>失真度</a:t>
            </a:r>
          </a:p>
          <a:p>
            <a:pPr>
              <a:buClr>
                <a:srgbClr val="993366"/>
              </a:buClr>
            </a:pPr>
            <a:r>
              <a:rPr lang="zh-CN" altLang="en-US" sz="2400">
                <a:ea typeface="MingLiU_HKSCS-ExtB" panose="02020500000000000000" charset="-120"/>
              </a:rPr>
              <a:t> 失真度</a:t>
            </a:r>
          </a:p>
          <a:p>
            <a:pPr marL="355600" lvl="1">
              <a:buClr>
                <a:srgbClr val="993366"/>
              </a:buClr>
            </a:pPr>
            <a:r>
              <a:rPr lang="zh-CN" altLang="en-US">
                <a:ea typeface="MingLiU_HKSCS-ExtB" panose="02020500000000000000" charset="-120"/>
              </a:rPr>
              <a:t> 对每一对 </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a:t>
            </a:r>
            <a:r>
              <a:rPr lang="en-US" altLang="zh-CN">
                <a:ea typeface="MingLiU_HKSCS-ExtB" panose="02020500000000000000" charset="-120"/>
              </a:rPr>
              <a:t>,</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a:t>
            </a:r>
            <a:r>
              <a:rPr lang="zh-CN" altLang="en-US">
                <a:ea typeface="MingLiU_HKSCS-ExtB" panose="02020500000000000000" charset="-120"/>
              </a:rPr>
              <a:t>，指定一个非负函数</a:t>
            </a:r>
          </a:p>
          <a:p>
            <a:pPr marL="355600" lvl="1">
              <a:buClr>
                <a:srgbClr val="993366"/>
              </a:buClr>
            </a:pPr>
            <a:endParaRPr lang="zh-CN" altLang="en-US" sz="800">
              <a:ea typeface="MingLiU_HKSCS-ExtB" panose="02020500000000000000" charset="-120"/>
            </a:endParaRPr>
          </a:p>
          <a:p>
            <a:pPr marL="355600" lvl="1" algn="ctr">
              <a:buClr>
                <a:srgbClr val="993366"/>
              </a:buClr>
              <a:buNone/>
            </a:pPr>
            <a:r>
              <a:rPr lang="en-US" altLang="zh-CN" i="1">
                <a:ea typeface="MingLiU_HKSCS-ExtB" panose="02020500000000000000" charset="-120"/>
              </a:rPr>
              <a:t>d</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a:t>
            </a:r>
            <a:r>
              <a:rPr lang="en-US" altLang="zh-CN">
                <a:ea typeface="MingLiU_HKSCS-ExtB" panose="02020500000000000000" charset="-120"/>
              </a:rPr>
              <a:t>,</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)≥0    </a:t>
            </a:r>
            <a:r>
              <a:rPr lang="en-US" altLang="zh-CN" i="1">
                <a:ea typeface="MingLiU_HKSCS-ExtB" panose="02020500000000000000" charset="-120"/>
              </a:rPr>
              <a:t>i</a:t>
            </a:r>
            <a:r>
              <a:rPr lang="en-US" altLang="zh-CN">
                <a:ea typeface="MingLiU_HKSCS-ExtB" panose="02020500000000000000" charset="-120"/>
              </a:rPr>
              <a:t>=1,2,…,</a:t>
            </a:r>
            <a:r>
              <a:rPr lang="en-US" altLang="zh-CN" i="1">
                <a:ea typeface="MingLiU_HKSCS-ExtB" panose="02020500000000000000" charset="-120"/>
              </a:rPr>
              <a:t>n</a:t>
            </a:r>
            <a:r>
              <a:rPr lang="en-US" altLang="zh-CN">
                <a:ea typeface="MingLiU_HKSCS-ExtB" panose="02020500000000000000" charset="-120"/>
              </a:rPr>
              <a:t>    </a:t>
            </a:r>
            <a:r>
              <a:rPr lang="en-US" altLang="zh-CN" i="1">
                <a:ea typeface="MingLiU_HKSCS-ExtB" panose="02020500000000000000" charset="-120"/>
              </a:rPr>
              <a:t>j</a:t>
            </a:r>
            <a:r>
              <a:rPr lang="en-US" altLang="zh-CN">
                <a:ea typeface="MingLiU_HKSCS-ExtB" panose="02020500000000000000" charset="-120"/>
              </a:rPr>
              <a:t>=1,2,…,</a:t>
            </a:r>
            <a:r>
              <a:rPr lang="en-US" altLang="zh-CN" i="1">
                <a:ea typeface="MingLiU_HKSCS-ExtB" panose="02020500000000000000" charset="-120"/>
              </a:rPr>
              <a:t>m</a:t>
            </a:r>
          </a:p>
          <a:p>
            <a:pPr marL="355600" lvl="1" algn="ctr">
              <a:buClr>
                <a:srgbClr val="993366"/>
              </a:buClr>
              <a:buNone/>
            </a:pPr>
            <a:endParaRPr lang="en-US" altLang="zh-CN" sz="800" i="1">
              <a:ea typeface="MingLiU_HKSCS-ExtB" panose="02020500000000000000" charset="-120"/>
            </a:endParaRPr>
          </a:p>
          <a:p>
            <a:pPr marL="355600" lvl="1">
              <a:buClr>
                <a:srgbClr val="993366"/>
              </a:buClr>
              <a:buNone/>
            </a:pPr>
            <a:r>
              <a:rPr lang="zh-CN" altLang="en-US">
                <a:ea typeface="MingLiU_HKSCS-ExtB" panose="02020500000000000000" charset="-120"/>
              </a:rPr>
              <a:t>称 </a:t>
            </a:r>
            <a:r>
              <a:rPr lang="en-US" altLang="zh-CN" i="1">
                <a:solidFill>
                  <a:srgbClr val="FF0000"/>
                </a:solidFill>
                <a:ea typeface="MingLiU_HKSCS-ExtB" panose="02020500000000000000" charset="-120"/>
              </a:rPr>
              <a:t>d</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x</a:t>
            </a:r>
            <a:r>
              <a:rPr lang="en-US" altLang="zh-CN" i="1" baseline="-25000">
                <a:solidFill>
                  <a:srgbClr val="FF0000"/>
                </a:solidFill>
                <a:ea typeface="MingLiU_HKSCS-ExtB" panose="02020500000000000000" charset="-120"/>
              </a:rPr>
              <a:t>i</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y</a:t>
            </a:r>
            <a:r>
              <a:rPr lang="en-US" altLang="zh-CN" i="1" baseline="-25000">
                <a:solidFill>
                  <a:srgbClr val="FF0000"/>
                </a:solidFill>
                <a:ea typeface="MingLiU_HKSCS-ExtB" panose="02020500000000000000" charset="-120"/>
              </a:rPr>
              <a:t>j</a:t>
            </a:r>
            <a:r>
              <a:rPr lang="en-US" altLang="zh-CN">
                <a:solidFill>
                  <a:srgbClr val="FF0000"/>
                </a:solidFill>
                <a:ea typeface="MingLiU_HKSCS-ExtB" panose="02020500000000000000" charset="-120"/>
              </a:rPr>
              <a:t>)</a:t>
            </a:r>
            <a:r>
              <a:rPr lang="en-US" altLang="zh-CN">
                <a:solidFill>
                  <a:srgbClr val="FFFF00"/>
                </a:solidFill>
                <a:ea typeface="MingLiU_HKSCS-ExtB" panose="02020500000000000000" charset="-120"/>
              </a:rPr>
              <a:t> </a:t>
            </a:r>
            <a:r>
              <a:rPr lang="zh-CN" altLang="en-US">
                <a:ea typeface="MingLiU_HKSCS-ExtB" panose="02020500000000000000" charset="-120"/>
              </a:rPr>
              <a:t>为</a:t>
            </a:r>
            <a:r>
              <a:rPr lang="zh-CN" altLang="en-US">
                <a:solidFill>
                  <a:srgbClr val="FF0000"/>
                </a:solidFill>
                <a:ea typeface="MingLiU_HKSCS-ExtB" panose="02020500000000000000" charset="-120"/>
              </a:rPr>
              <a:t>单个符号的</a:t>
            </a:r>
            <a:r>
              <a:rPr lang="zh-CN" altLang="en-US" u="sng">
                <a:solidFill>
                  <a:srgbClr val="FF0000"/>
                </a:solidFill>
                <a:effectLst>
                  <a:outerShdw blurRad="38100" dist="38100" dir="2700000">
                    <a:srgbClr val="C0C0C0"/>
                  </a:outerShdw>
                </a:effectLst>
                <a:ea typeface="MingLiU_HKSCS-ExtB" panose="02020500000000000000" charset="-120"/>
              </a:rPr>
              <a:t>失真度</a:t>
            </a:r>
            <a:r>
              <a:rPr lang="zh-CN" altLang="en-US">
                <a:ea typeface="MingLiU_HKSCS-ExtB" panose="02020500000000000000" charset="-120"/>
              </a:rPr>
              <a:t>（失真函数）。表示信源发出一个符号 </a:t>
            </a:r>
            <a:r>
              <a:rPr lang="en-US" altLang="zh-CN" i="1">
                <a:ea typeface="MingLiU_HKSCS-ExtB" panose="02020500000000000000" charset="-120"/>
              </a:rPr>
              <a:t>x</a:t>
            </a:r>
            <a:r>
              <a:rPr lang="en-US" altLang="zh-CN" i="1" baseline="-25000">
                <a:ea typeface="MingLiU_HKSCS-ExtB" panose="02020500000000000000" charset="-120"/>
              </a:rPr>
              <a:t>i</a:t>
            </a:r>
            <a:r>
              <a:rPr lang="zh-CN" altLang="en-US">
                <a:ea typeface="MingLiU_HKSCS-ExtB" panose="02020500000000000000" charset="-120"/>
              </a:rPr>
              <a:t>，在接收端再现 </a:t>
            </a:r>
            <a:r>
              <a:rPr lang="en-US" altLang="zh-CN" i="1">
                <a:ea typeface="MingLiU_HKSCS-ExtB" panose="02020500000000000000" charset="-120"/>
              </a:rPr>
              <a:t>y</a:t>
            </a:r>
            <a:r>
              <a:rPr lang="en-US" altLang="zh-CN" i="1" baseline="-25000">
                <a:ea typeface="MingLiU_HKSCS-ExtB" panose="02020500000000000000" charset="-120"/>
              </a:rPr>
              <a:t>j </a:t>
            </a:r>
            <a:r>
              <a:rPr lang="zh-CN" altLang="en-US">
                <a:ea typeface="MingLiU_HKSCS-ExtB" panose="02020500000000000000" charset="-120"/>
              </a:rPr>
              <a:t>所引起的误差或失真。</a:t>
            </a:r>
          </a:p>
        </p:txBody>
      </p:sp>
      <p:sp>
        <p:nvSpPr>
          <p:cNvPr id="2124" name="矩形 2123"/>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123">
                                            <p:txEl>
                                              <p:pRg st="2" end="2"/>
                                            </p:txEl>
                                          </p:spTgt>
                                        </p:tgtEl>
                                        <p:attrNameLst>
                                          <p:attrName>style.visibility</p:attrName>
                                        </p:attrNameLst>
                                      </p:cBhvr>
                                      <p:to>
                                        <p:strVal val="visible"/>
                                      </p:to>
                                    </p:set>
                                    <p:anim calcmode="lin" valueType="num">
                                      <p:cBhvr additive="base">
                                        <p:cTn id="7" dur="1000" fill="hold"/>
                                        <p:tgtEl>
                                          <p:spTgt spid="2123">
                                            <p:txEl>
                                              <p:pRg st="2" end="2"/>
                                            </p:txEl>
                                          </p:spTgt>
                                        </p:tgtEl>
                                        <p:attrNameLst>
                                          <p:attrName>ppt_x</p:attrName>
                                        </p:attrNameLst>
                                      </p:cBhvr>
                                      <p:tavLst>
                                        <p:tav tm="0">
                                          <p:val>
                                            <p:strVal val="#ppt_x-.2"/>
                                          </p:val>
                                        </p:tav>
                                        <p:tav tm="100000">
                                          <p:val>
                                            <p:strVal val="#ppt_x"/>
                                          </p:val>
                                        </p:tav>
                                      </p:tavLst>
                                    </p:anim>
                                    <p:anim calcmode="lin" valueType="num">
                                      <p:cBhvr additive="base">
                                        <p:cTn id="8" dur="1000" fill="hold"/>
                                        <p:tgtEl>
                                          <p:spTgt spid="2123">
                                            <p:txEl>
                                              <p:pRg st="2" end="2"/>
                                            </p:txEl>
                                          </p:spTgt>
                                        </p:tgtEl>
                                        <p:attrNameLst>
                                          <p:attrName>ppt_y</p:attrName>
                                        </p:attrNameLst>
                                      </p:cBhvr>
                                      <p:tavLst>
                                        <p:tav tm="0">
                                          <p:val>
                                            <p:strVal val="#ppt_y"/>
                                          </p:val>
                                        </p:tav>
                                        <p:tav tm="100000">
                                          <p:val>
                                            <p:strVal val="#ppt_y"/>
                                          </p:val>
                                        </p:tav>
                                      </p:tavLst>
                                    </p:anim>
                                    <p:animEffect transition="in" filter="wipe(right)">
                                      <p:cBhvr additive="base">
                                        <p:cTn id="9" dur="1000"/>
                                        <p:tgtEl>
                                          <p:spTgt spid="2123">
                                            <p:txEl>
                                              <p:pRg st="2" end="2"/>
                                            </p:txEl>
                                          </p:spTgt>
                                        </p:tgtEl>
                                      </p:cBhvr>
                                    </p:animEffect>
                                  </p:childTnLst>
                                </p:cTn>
                              </p:par>
                              <p:par>
                                <p:cTn id="10" presetID="29" presetClass="entr" presetSubtype="0" fill="hold" nodeType="withEffect">
                                  <p:childTnLst>
                                    <p:set>
                                      <p:cBhvr additive="base">
                                        <p:cTn id="11" dur="1" fill="hold">
                                          <p:stCondLst>
                                            <p:cond delay="0"/>
                                          </p:stCondLst>
                                        </p:cTn>
                                        <p:tgtEl>
                                          <p:spTgt spid="2123">
                                            <p:txEl>
                                              <p:pRg st="4" end="4"/>
                                            </p:txEl>
                                          </p:spTgt>
                                        </p:tgtEl>
                                        <p:attrNameLst>
                                          <p:attrName>style.visibility</p:attrName>
                                        </p:attrNameLst>
                                      </p:cBhvr>
                                      <p:to>
                                        <p:strVal val="visible"/>
                                      </p:to>
                                    </p:set>
                                    <p:anim calcmode="lin" valueType="num">
                                      <p:cBhvr additive="base">
                                        <p:cTn id="12" dur="1000" fill="hold"/>
                                        <p:tgtEl>
                                          <p:spTgt spid="2123">
                                            <p:txEl>
                                              <p:pRg st="4" end="4"/>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123">
                                            <p:txEl>
                                              <p:pRg st="4" end="4"/>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123">
                                            <p:txEl>
                                              <p:pRg st="4" end="4"/>
                                            </p:txEl>
                                          </p:spTgt>
                                        </p:tgtEl>
                                      </p:cBhvr>
                                    </p:animEffect>
                                  </p:childTnLst>
                                </p:cTn>
                              </p:par>
                              <p:par>
                                <p:cTn id="15" presetID="29" presetClass="entr" presetSubtype="0" fill="hold" nodeType="withEffect">
                                  <p:childTnLst>
                                    <p:set>
                                      <p:cBhvr additive="base">
                                        <p:cTn id="16" dur="1" fill="hold">
                                          <p:stCondLst>
                                            <p:cond delay="0"/>
                                          </p:stCondLst>
                                        </p:cTn>
                                        <p:tgtEl>
                                          <p:spTgt spid="2123">
                                            <p:txEl>
                                              <p:pRg st="6" end="6"/>
                                            </p:txEl>
                                          </p:spTgt>
                                        </p:tgtEl>
                                        <p:attrNameLst>
                                          <p:attrName>style.visibility</p:attrName>
                                        </p:attrNameLst>
                                      </p:cBhvr>
                                      <p:to>
                                        <p:strVal val="visible"/>
                                      </p:to>
                                    </p:set>
                                    <p:anim calcmode="lin" valueType="num">
                                      <p:cBhvr additive="base">
                                        <p:cTn id="17" dur="1000" fill="hold"/>
                                        <p:tgtEl>
                                          <p:spTgt spid="2123">
                                            <p:txEl>
                                              <p:pRg st="6" end="6"/>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123">
                                            <p:txEl>
                                              <p:pRg st="6" end="6"/>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1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15</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27" name="标题 2126"/>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28" name="文本占位符 2127"/>
          <p:cNvSpPr>
            <a:spLocks noGrp="1"/>
          </p:cNvSpPr>
          <p:nvPr>
            <p:ph type="body" idx="4294967295"/>
          </p:nvPr>
        </p:nvSpPr>
        <p:spPr>
          <a:xfrm>
            <a:off x="849313" y="981075"/>
            <a:ext cx="7910512" cy="5256213"/>
          </a:xfrm>
        </p:spPr>
        <p:txBody>
          <a:bodyPr/>
          <a:lstStyle/>
          <a:p>
            <a:pPr>
              <a:buClr>
                <a:srgbClr val="993366"/>
              </a:buClr>
              <a:buNone/>
            </a:pPr>
            <a:r>
              <a:rPr lang="en-US" altLang="zh-CN">
                <a:ea typeface="MingLiU_HKSCS-ExtB" panose="02020500000000000000" charset="-120"/>
              </a:rPr>
              <a:t>(2) </a:t>
            </a:r>
            <a:r>
              <a:rPr lang="zh-CN" altLang="en-US">
                <a:ea typeface="MingLiU_HKSCS-ExtB" panose="02020500000000000000" charset="-120"/>
              </a:rPr>
              <a:t>失真度</a:t>
            </a:r>
          </a:p>
          <a:p>
            <a:pPr>
              <a:buClr>
                <a:srgbClr val="993366"/>
              </a:buClr>
            </a:pPr>
            <a:r>
              <a:rPr lang="zh-CN" altLang="en-US" sz="2400">
                <a:ea typeface="MingLiU_HKSCS-ExtB" panose="02020500000000000000" charset="-120"/>
              </a:rPr>
              <a:t> 失真矩阵</a:t>
            </a:r>
          </a:p>
          <a:p>
            <a:pPr marL="355600" lvl="1">
              <a:buClr>
                <a:srgbClr val="993366"/>
              </a:buClr>
            </a:pPr>
            <a:r>
              <a:rPr lang="zh-CN" altLang="en-US">
                <a:ea typeface="MingLiU_HKSCS-ExtB" panose="02020500000000000000" charset="-120"/>
              </a:rPr>
              <a:t> </a:t>
            </a:r>
            <a:r>
              <a:rPr lang="zh-CN" altLang="en-US" sz="2000">
                <a:ea typeface="MingLiU_HKSCS-ExtB" panose="02020500000000000000" charset="-120"/>
              </a:rPr>
              <a:t>失真度还可表示成矩阵的形式</a:t>
            </a:r>
          </a:p>
          <a:p>
            <a:pPr marL="355600" lvl="1">
              <a:buClr>
                <a:srgbClr val="993366"/>
              </a:buClr>
            </a:pPr>
            <a:endParaRPr lang="zh-CN" altLang="en-US" sz="2000">
              <a:ea typeface="MingLiU_HKSCS-ExtB" panose="02020500000000000000" charset="-120"/>
            </a:endParaRPr>
          </a:p>
          <a:p>
            <a:pPr marL="355600" lvl="1">
              <a:buClr>
                <a:srgbClr val="993366"/>
              </a:buClr>
            </a:pPr>
            <a:endParaRPr lang="zh-CN" altLang="en-US" sz="2000">
              <a:ea typeface="MingLiU_HKSCS-ExtB" panose="02020500000000000000" charset="-120"/>
            </a:endParaRPr>
          </a:p>
          <a:p>
            <a:pPr marL="355600" lvl="1">
              <a:buClr>
                <a:srgbClr val="993366"/>
              </a:buClr>
            </a:pPr>
            <a:endParaRPr lang="zh-CN" altLang="en-US" sz="2000">
              <a:ea typeface="MingLiU_HKSCS-ExtB" panose="02020500000000000000" charset="-120"/>
            </a:endParaRPr>
          </a:p>
          <a:p>
            <a:pPr marL="355600" lvl="1">
              <a:buClr>
                <a:srgbClr val="993366"/>
              </a:buClr>
            </a:pPr>
            <a:endParaRPr lang="zh-CN" altLang="en-US" sz="2000">
              <a:ea typeface="MingLiU_HKSCS-ExtB" panose="02020500000000000000" charset="-120"/>
            </a:endParaRPr>
          </a:p>
          <a:p>
            <a:pPr marL="355600" lvl="1">
              <a:buClr>
                <a:srgbClr val="993366"/>
              </a:buClr>
            </a:pPr>
            <a:r>
              <a:rPr lang="zh-CN" altLang="en-US" sz="2000">
                <a:ea typeface="MingLiU_HKSCS-ExtB" panose="02020500000000000000" charset="-120"/>
              </a:rPr>
              <a:t> 称 </a:t>
            </a:r>
            <a:r>
              <a:rPr lang="en-US" altLang="zh-CN" sz="2000">
                <a:solidFill>
                  <a:srgbClr val="FF0000"/>
                </a:solidFill>
                <a:ea typeface="MingLiU_HKSCS-ExtB" panose="02020500000000000000" charset="-120"/>
              </a:rPr>
              <a:t>[</a:t>
            </a:r>
            <a:r>
              <a:rPr lang="en-US" altLang="zh-CN" sz="2000" i="1">
                <a:solidFill>
                  <a:srgbClr val="FF0000"/>
                </a:solidFill>
                <a:latin typeface="Arial Black" panose="020B0A04020102020204" pitchFamily="34" charset="0"/>
                <a:ea typeface="MingLiU_HKSCS-ExtB" panose="02020500000000000000" charset="-120"/>
              </a:rPr>
              <a:t>D</a:t>
            </a:r>
            <a:r>
              <a:rPr lang="en-US" altLang="zh-CN" sz="2000">
                <a:solidFill>
                  <a:srgbClr val="FF0000"/>
                </a:solidFill>
                <a:ea typeface="MingLiU_HKSCS-ExtB" panose="02020500000000000000" charset="-120"/>
              </a:rPr>
              <a:t>]</a:t>
            </a:r>
            <a:r>
              <a:rPr lang="en-US" altLang="zh-CN" sz="2000">
                <a:ea typeface="MingLiU_HKSCS-ExtB" panose="02020500000000000000" charset="-120"/>
              </a:rPr>
              <a:t> </a:t>
            </a:r>
            <a:r>
              <a:rPr lang="zh-CN" altLang="en-US" sz="2000">
                <a:ea typeface="MingLiU_HKSCS-ExtB" panose="02020500000000000000" charset="-120"/>
              </a:rPr>
              <a:t>为失真矩阵。它是</a:t>
            </a:r>
            <a:r>
              <a:rPr lang="zh-CN" altLang="en-US" sz="2000">
                <a:solidFill>
                  <a:srgbClr val="FF0000"/>
                </a:solidFill>
                <a:ea typeface="MingLiU_HKSCS-ExtB" panose="02020500000000000000" charset="-120"/>
              </a:rPr>
              <a:t> </a:t>
            </a:r>
            <a:r>
              <a:rPr lang="en-US" altLang="zh-CN" sz="2000" i="1">
                <a:solidFill>
                  <a:srgbClr val="FF0000"/>
                </a:solidFill>
                <a:ea typeface="MingLiU_HKSCS-ExtB" panose="02020500000000000000" charset="-120"/>
              </a:rPr>
              <a:t>n</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m</a:t>
            </a:r>
            <a:r>
              <a:rPr lang="en-US" altLang="zh-CN" sz="2000" i="1">
                <a:solidFill>
                  <a:srgbClr val="FFFF00"/>
                </a:solidFill>
                <a:ea typeface="MingLiU_HKSCS-ExtB" panose="02020500000000000000" charset="-120"/>
              </a:rPr>
              <a:t> </a:t>
            </a:r>
            <a:r>
              <a:rPr lang="zh-CN" altLang="en-US" sz="2000">
                <a:ea typeface="MingLiU_HKSCS-ExtB" panose="02020500000000000000" charset="-120"/>
              </a:rPr>
              <a:t>阶矩阵。</a:t>
            </a:r>
          </a:p>
          <a:p>
            <a:pPr>
              <a:buClr>
                <a:srgbClr val="993366"/>
              </a:buClr>
            </a:pPr>
            <a:r>
              <a:rPr lang="zh-CN" altLang="en-US" sz="2000">
                <a:ea typeface="MingLiU_HKSCS-ExtB" panose="02020500000000000000" charset="-120"/>
              </a:rPr>
              <a:t> 连续信源和连续信道的失真函数</a:t>
            </a:r>
          </a:p>
          <a:p>
            <a:pPr>
              <a:buClr>
                <a:srgbClr val="993366"/>
              </a:buClr>
              <a:buNone/>
            </a:pPr>
            <a:r>
              <a:rPr lang="zh-CN" altLang="en-US" sz="2000">
                <a:ea typeface="MingLiU_HKSCS-ExtB" panose="02020500000000000000" charset="-120"/>
              </a:rPr>
              <a:t>      在连续信源和连续信道情况下，失真度定义为：</a:t>
            </a:r>
            <a:r>
              <a:rPr lang="en-US" altLang="zh-CN" sz="2000" i="1">
                <a:solidFill>
                  <a:srgbClr val="FF0000"/>
                </a:solidFill>
                <a:ea typeface="MingLiU_HKSCS-ExtB" panose="02020500000000000000" charset="-120"/>
              </a:rPr>
              <a:t>d</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x</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y</a:t>
            </a:r>
            <a:r>
              <a:rPr lang="en-US" altLang="zh-CN" sz="2000">
                <a:solidFill>
                  <a:srgbClr val="FF0000"/>
                </a:solidFill>
                <a:ea typeface="MingLiU_HKSCS-ExtB" panose="02020500000000000000" charset="-120"/>
              </a:rPr>
              <a:t>)≥0</a:t>
            </a:r>
          </a:p>
        </p:txBody>
      </p:sp>
      <p:graphicFrame>
        <p:nvGraphicFramePr>
          <p:cNvPr id="2129" name="对象 2128"/>
          <p:cNvGraphicFramePr/>
          <p:nvPr/>
        </p:nvGraphicFramePr>
        <p:xfrm>
          <a:off x="2555875" y="2924175"/>
          <a:ext cx="4940300" cy="1649413"/>
        </p:xfrm>
        <a:graphic>
          <a:graphicData uri="http://schemas.openxmlformats.org/presentationml/2006/ole">
            <mc:AlternateContent xmlns:mc="http://schemas.openxmlformats.org/markup-compatibility/2006">
              <mc:Choice xmlns:v="urn:schemas-microsoft-com:vml" Requires="v">
                <p:oleObj spid="_x0000_s5122" r:id="rId3" imgW="1718310" imgH="939800" progId="Equation.3">
                  <p:embed/>
                </p:oleObj>
              </mc:Choice>
              <mc:Fallback>
                <p:oleObj r:id="rId3" imgW="1718310" imgH="939800" progId="Equation.3">
                  <p:embed/>
                  <p:pic>
                    <p:nvPicPr>
                      <p:cNvPr id="0" name="图片 3083"/>
                      <p:cNvPicPr/>
                      <p:nvPr/>
                    </p:nvPicPr>
                    <p:blipFill>
                      <a:blip r:embed="rId4"/>
                      <a:stretch>
                        <a:fillRect/>
                      </a:stretch>
                    </p:blipFill>
                    <p:spPr>
                      <a:xfrm>
                        <a:off x="2555875" y="2924175"/>
                        <a:ext cx="4940300" cy="1649413"/>
                      </a:xfrm>
                      <a:prstGeom prst="rect">
                        <a:avLst/>
                      </a:prstGeom>
                      <a:noFill/>
                      <a:ln w="38100">
                        <a:noFill/>
                        <a:miter/>
                      </a:ln>
                    </p:spPr>
                  </p:pic>
                </p:oleObj>
              </mc:Fallback>
            </mc:AlternateContent>
          </a:graphicData>
        </a:graphic>
      </p:graphicFrame>
      <p:sp>
        <p:nvSpPr>
          <p:cNvPr id="2130" name="矩形 2129"/>
          <p:cNvSpPr/>
          <p:nvPr/>
        </p:nvSpPr>
        <p:spPr>
          <a:xfrm>
            <a:off x="8029575" y="5948363"/>
            <a:ext cx="796925" cy="360362"/>
          </a:xfrm>
          <a:solidFill>
            <a:srgbClr val="BBE0E3"/>
          </a:solidFill>
          <a:ln w="12700">
            <a:noFill/>
          </a:ln>
        </p:spPr>
        <p:txBody>
          <a:bodyPr/>
          <a:lstStyle/>
          <a:p>
            <a:endParaRPr lang="zh-CN" altLang="en-US"/>
          </a:p>
        </p:txBody>
      </p:sp>
      <p:sp>
        <p:nvSpPr>
          <p:cNvPr id="2131" name="矩形 2130"/>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129"/>
                                        </p:tgtEl>
                                        <p:attrNameLst>
                                          <p:attrName>style.visibility</p:attrName>
                                        </p:attrNameLst>
                                      </p:cBhvr>
                                      <p:to>
                                        <p:strVal val="visible"/>
                                      </p:to>
                                    </p:set>
                                    <p:anim calcmode="lin" valueType="num">
                                      <p:cBhvr additive="base">
                                        <p:cTn id="7" dur="1000" fill="hold"/>
                                        <p:tgtEl>
                                          <p:spTgt spid="2129"/>
                                        </p:tgtEl>
                                        <p:attrNameLst>
                                          <p:attrName>ppt_x</p:attrName>
                                        </p:attrNameLst>
                                      </p:cBhvr>
                                      <p:tavLst>
                                        <p:tav tm="0">
                                          <p:val>
                                            <p:strVal val="#ppt_x-.2"/>
                                          </p:val>
                                        </p:tav>
                                        <p:tav tm="100000">
                                          <p:val>
                                            <p:strVal val="#ppt_x"/>
                                          </p:val>
                                        </p:tav>
                                      </p:tavLst>
                                    </p:anim>
                                    <p:anim calcmode="lin" valueType="num">
                                      <p:cBhvr additive="base">
                                        <p:cTn id="8" dur="1000" fill="hold"/>
                                        <p:tgtEl>
                                          <p:spTgt spid="2129"/>
                                        </p:tgtEl>
                                        <p:attrNameLst>
                                          <p:attrName>ppt_y</p:attrName>
                                        </p:attrNameLst>
                                      </p:cBhvr>
                                      <p:tavLst>
                                        <p:tav tm="0">
                                          <p:val>
                                            <p:strVal val="#ppt_y"/>
                                          </p:val>
                                        </p:tav>
                                        <p:tav tm="100000">
                                          <p:val>
                                            <p:strVal val="#ppt_y"/>
                                          </p:val>
                                        </p:tav>
                                      </p:tavLst>
                                    </p:anim>
                                    <p:animEffect transition="in" filter="wipe(right)">
                                      <p:cBhvr additive="base">
                                        <p:cTn id="9" dur="1000"/>
                                        <p:tgtEl>
                                          <p:spTgt spid="2129"/>
                                        </p:tgtEl>
                                      </p:cBhvr>
                                    </p:animEffect>
                                  </p:childTnLst>
                                </p:cTn>
                              </p:par>
                              <p:par>
                                <p:cTn id="10" presetID="29" presetClass="entr" presetSubtype="0" fill="hold" grpId="0" nodeType="withEffect">
                                  <p:childTnLst>
                                    <p:set>
                                      <p:cBhvr additive="base">
                                        <p:cTn id="11" dur="1" fill="hold">
                                          <p:stCondLst>
                                            <p:cond delay="0"/>
                                          </p:stCondLst>
                                        </p:cTn>
                                        <p:tgtEl>
                                          <p:spTgt spid="2130"/>
                                        </p:tgtEl>
                                        <p:attrNameLst>
                                          <p:attrName>style.visibility</p:attrName>
                                        </p:attrNameLst>
                                      </p:cBhvr>
                                      <p:to>
                                        <p:strVal val="visible"/>
                                      </p:to>
                                    </p:set>
                                    <p:anim calcmode="lin" valueType="num">
                                      <p:cBhvr additive="base">
                                        <p:cTn id="12" dur="1000" fill="hold"/>
                                        <p:tgtEl>
                                          <p:spTgt spid="2130"/>
                                        </p:tgtEl>
                                        <p:attrNameLst>
                                          <p:attrName>ppt_x</p:attrName>
                                        </p:attrNameLst>
                                      </p:cBhvr>
                                      <p:tavLst>
                                        <p:tav tm="0">
                                          <p:val>
                                            <p:strVal val="#ppt_x-.2"/>
                                          </p:val>
                                        </p:tav>
                                        <p:tav tm="100000">
                                          <p:val>
                                            <p:strVal val="#ppt_x"/>
                                          </p:val>
                                        </p:tav>
                                      </p:tavLst>
                                    </p:anim>
                                    <p:anim calcmode="lin" valueType="num">
                                      <p:cBhvr additive="base">
                                        <p:cTn id="13" dur="1000" fill="hold"/>
                                        <p:tgtEl>
                                          <p:spTgt spid="2130"/>
                                        </p:tgtEl>
                                        <p:attrNameLst>
                                          <p:attrName>ppt_y</p:attrName>
                                        </p:attrNameLst>
                                      </p:cBhvr>
                                      <p:tavLst>
                                        <p:tav tm="0">
                                          <p:val>
                                            <p:strVal val="#ppt_y"/>
                                          </p:val>
                                        </p:tav>
                                        <p:tav tm="100000">
                                          <p:val>
                                            <p:strVal val="#ppt_y"/>
                                          </p:val>
                                        </p:tav>
                                      </p:tavLst>
                                    </p:anim>
                                    <p:animEffect transition="in" filter="wipe(right)">
                                      <p:cBhvr additive="base">
                                        <p:cTn id="14" dur="1000"/>
                                        <p:tgtEl>
                                          <p:spTgt spid="2130"/>
                                        </p:tgtEl>
                                      </p:cBhvr>
                                    </p:animEffect>
                                  </p:childTnLst>
                                </p:cTn>
                              </p:par>
                              <p:par>
                                <p:cTn id="15" presetID="29" presetClass="entr" presetSubtype="0" fill="hold" nodeType="withEffect">
                                  <p:childTnLst>
                                    <p:set>
                                      <p:cBhvr additive="base">
                                        <p:cTn id="16" dur="1" fill="hold">
                                          <p:stCondLst>
                                            <p:cond delay="0"/>
                                          </p:stCondLst>
                                        </p:cTn>
                                        <p:tgtEl>
                                          <p:spTgt spid="2128">
                                            <p:txEl>
                                              <p:pRg st="1" end="1"/>
                                            </p:txEl>
                                          </p:spTgt>
                                        </p:tgtEl>
                                        <p:attrNameLst>
                                          <p:attrName>style.visibility</p:attrName>
                                        </p:attrNameLst>
                                      </p:cBhvr>
                                      <p:to>
                                        <p:strVal val="visible"/>
                                      </p:to>
                                    </p:set>
                                    <p:anim calcmode="lin" valueType="num">
                                      <p:cBhvr additive="base">
                                        <p:cTn id="17" dur="1000" fill="hold"/>
                                        <p:tgtEl>
                                          <p:spTgt spid="2128">
                                            <p:txEl>
                                              <p:pRg st="1" end="1"/>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128">
                                            <p:txEl>
                                              <p:pRg st="1" end="1"/>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128">
                                            <p:txEl>
                                              <p:pRg st="1" end="1"/>
                                            </p:txEl>
                                          </p:spTgt>
                                        </p:tgtEl>
                                      </p:cBhvr>
                                    </p:animEffect>
                                  </p:childTnLst>
                                </p:cTn>
                              </p:par>
                              <p:par>
                                <p:cTn id="20" presetID="29" presetClass="entr" presetSubtype="0" fill="hold" nodeType="withEffect">
                                  <p:childTnLst>
                                    <p:set>
                                      <p:cBhvr additive="base">
                                        <p:cTn id="21" dur="1" fill="hold">
                                          <p:stCondLst>
                                            <p:cond delay="0"/>
                                          </p:stCondLst>
                                        </p:cTn>
                                        <p:tgtEl>
                                          <p:spTgt spid="2128">
                                            <p:txEl>
                                              <p:pRg st="2" end="2"/>
                                            </p:txEl>
                                          </p:spTgt>
                                        </p:tgtEl>
                                        <p:attrNameLst>
                                          <p:attrName>style.visibility</p:attrName>
                                        </p:attrNameLst>
                                      </p:cBhvr>
                                      <p:to>
                                        <p:strVal val="visible"/>
                                      </p:to>
                                    </p:set>
                                    <p:anim calcmode="lin" valueType="num">
                                      <p:cBhvr additive="base">
                                        <p:cTn id="22" dur="1000" fill="hold"/>
                                        <p:tgtEl>
                                          <p:spTgt spid="2128">
                                            <p:txEl>
                                              <p:pRg st="2" end="2"/>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128">
                                            <p:txEl>
                                              <p:pRg st="2" end="2"/>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128">
                                            <p:txEl>
                                              <p:pRg st="2" end="2"/>
                                            </p:txEl>
                                          </p:spTgt>
                                        </p:tgtEl>
                                      </p:cBhvr>
                                    </p:animEffect>
                                  </p:childTnLst>
                                </p:cTn>
                              </p:par>
                              <p:par>
                                <p:cTn id="25" presetID="29" presetClass="entr" presetSubtype="0" fill="hold" nodeType="withEffect">
                                  <p:childTnLst>
                                    <p:set>
                                      <p:cBhvr additive="base">
                                        <p:cTn id="26" dur="1" fill="hold">
                                          <p:stCondLst>
                                            <p:cond delay="0"/>
                                          </p:stCondLst>
                                        </p:cTn>
                                        <p:tgtEl>
                                          <p:spTgt spid="2128">
                                            <p:txEl>
                                              <p:pRg st="7" end="7"/>
                                            </p:txEl>
                                          </p:spTgt>
                                        </p:tgtEl>
                                        <p:attrNameLst>
                                          <p:attrName>style.visibility</p:attrName>
                                        </p:attrNameLst>
                                      </p:cBhvr>
                                      <p:to>
                                        <p:strVal val="visible"/>
                                      </p:to>
                                    </p:set>
                                    <p:anim calcmode="lin" valueType="num">
                                      <p:cBhvr additive="base">
                                        <p:cTn id="27" dur="1000" fill="hold"/>
                                        <p:tgtEl>
                                          <p:spTgt spid="2128">
                                            <p:txEl>
                                              <p:pRg st="7" end="7"/>
                                            </p:txEl>
                                          </p:spTgt>
                                        </p:tgtEl>
                                        <p:attrNameLst>
                                          <p:attrName>ppt_x</p:attrName>
                                        </p:attrNameLst>
                                      </p:cBhvr>
                                      <p:tavLst>
                                        <p:tav tm="0">
                                          <p:val>
                                            <p:strVal val="#ppt_x-.2"/>
                                          </p:val>
                                        </p:tav>
                                        <p:tav tm="100000">
                                          <p:val>
                                            <p:strVal val="#ppt_x"/>
                                          </p:val>
                                        </p:tav>
                                      </p:tavLst>
                                    </p:anim>
                                    <p:anim calcmode="lin" valueType="num">
                                      <p:cBhvr additive="base">
                                        <p:cTn id="28" dur="1000" fill="hold"/>
                                        <p:tgtEl>
                                          <p:spTgt spid="2128">
                                            <p:txEl>
                                              <p:pRg st="7" end="7"/>
                                            </p:txEl>
                                          </p:spTgt>
                                        </p:tgtEl>
                                        <p:attrNameLst>
                                          <p:attrName>ppt_y</p:attrName>
                                        </p:attrNameLst>
                                      </p:cBhvr>
                                      <p:tavLst>
                                        <p:tav tm="0">
                                          <p:val>
                                            <p:strVal val="#ppt_y"/>
                                          </p:val>
                                        </p:tav>
                                        <p:tav tm="100000">
                                          <p:val>
                                            <p:strVal val="#ppt_y"/>
                                          </p:val>
                                        </p:tav>
                                      </p:tavLst>
                                    </p:anim>
                                    <p:animEffect transition="in" filter="wipe(right)">
                                      <p:cBhvr additive="base">
                                        <p:cTn id="29" dur="1000"/>
                                        <p:tgtEl>
                                          <p:spTgt spid="2128">
                                            <p:txEl>
                                              <p:pRg st="7" end="7"/>
                                            </p:txEl>
                                          </p:spTgt>
                                        </p:tgtEl>
                                      </p:cBhvr>
                                    </p:animEffect>
                                  </p:childTnLst>
                                </p:cTn>
                              </p:par>
                              <p:par>
                                <p:cTn id="30" presetID="29" presetClass="entr" presetSubtype="0" fill="hold" nodeType="withEffect">
                                  <p:childTnLst>
                                    <p:set>
                                      <p:cBhvr additive="base">
                                        <p:cTn id="31" dur="1" fill="hold">
                                          <p:stCondLst>
                                            <p:cond delay="0"/>
                                          </p:stCondLst>
                                        </p:cTn>
                                        <p:tgtEl>
                                          <p:spTgt spid="2128">
                                            <p:txEl>
                                              <p:pRg st="8" end="8"/>
                                            </p:txEl>
                                          </p:spTgt>
                                        </p:tgtEl>
                                        <p:attrNameLst>
                                          <p:attrName>style.visibility</p:attrName>
                                        </p:attrNameLst>
                                      </p:cBhvr>
                                      <p:to>
                                        <p:strVal val="visible"/>
                                      </p:to>
                                    </p:set>
                                    <p:anim calcmode="lin" valueType="num">
                                      <p:cBhvr additive="base">
                                        <p:cTn id="32" dur="1000" fill="hold"/>
                                        <p:tgtEl>
                                          <p:spTgt spid="2128">
                                            <p:txEl>
                                              <p:pRg st="8" end="8"/>
                                            </p:txEl>
                                          </p:spTgt>
                                        </p:tgtEl>
                                        <p:attrNameLst>
                                          <p:attrName>ppt_x</p:attrName>
                                        </p:attrNameLst>
                                      </p:cBhvr>
                                      <p:tavLst>
                                        <p:tav tm="0">
                                          <p:val>
                                            <p:strVal val="#ppt_x-.2"/>
                                          </p:val>
                                        </p:tav>
                                        <p:tav tm="100000">
                                          <p:val>
                                            <p:strVal val="#ppt_x"/>
                                          </p:val>
                                        </p:tav>
                                      </p:tavLst>
                                    </p:anim>
                                    <p:anim calcmode="lin" valueType="num">
                                      <p:cBhvr additive="base">
                                        <p:cTn id="33" dur="1000" fill="hold"/>
                                        <p:tgtEl>
                                          <p:spTgt spid="2128">
                                            <p:txEl>
                                              <p:pRg st="8" end="8"/>
                                            </p:txEl>
                                          </p:spTgt>
                                        </p:tgtEl>
                                        <p:attrNameLst>
                                          <p:attrName>ppt_y</p:attrName>
                                        </p:attrNameLst>
                                      </p:cBhvr>
                                      <p:tavLst>
                                        <p:tav tm="0">
                                          <p:val>
                                            <p:strVal val="#ppt_y"/>
                                          </p:val>
                                        </p:tav>
                                        <p:tav tm="100000">
                                          <p:val>
                                            <p:strVal val="#ppt_y"/>
                                          </p:val>
                                        </p:tav>
                                      </p:tavLst>
                                    </p:anim>
                                    <p:animEffect transition="in" filter="wipe(right)">
                                      <p:cBhvr additive="base">
                                        <p:cTn id="34" dur="1000"/>
                                        <p:tgtEl>
                                          <p:spTgt spid="2128">
                                            <p:txEl>
                                              <p:pRg st="8" end="8"/>
                                            </p:txEl>
                                          </p:spTgt>
                                        </p:tgtEl>
                                      </p:cBhvr>
                                    </p:animEffect>
                                  </p:childTnLst>
                                </p:cTn>
                              </p:par>
                              <p:par>
                                <p:cTn id="35" presetID="29" presetClass="entr" presetSubtype="0" fill="hold" nodeType="withEffect">
                                  <p:childTnLst>
                                    <p:set>
                                      <p:cBhvr additive="base">
                                        <p:cTn id="36" dur="1" fill="hold">
                                          <p:stCondLst>
                                            <p:cond delay="0"/>
                                          </p:stCondLst>
                                        </p:cTn>
                                        <p:tgtEl>
                                          <p:spTgt spid="2128">
                                            <p:txEl>
                                              <p:pRg st="9" end="9"/>
                                            </p:txEl>
                                          </p:spTgt>
                                        </p:tgtEl>
                                        <p:attrNameLst>
                                          <p:attrName>style.visibility</p:attrName>
                                        </p:attrNameLst>
                                      </p:cBhvr>
                                      <p:to>
                                        <p:strVal val="visible"/>
                                      </p:to>
                                    </p:set>
                                    <p:anim calcmode="lin" valueType="num">
                                      <p:cBhvr additive="base">
                                        <p:cTn id="37" dur="1000" fill="hold"/>
                                        <p:tgtEl>
                                          <p:spTgt spid="2128">
                                            <p:txEl>
                                              <p:pRg st="9" end="9"/>
                                            </p:txEl>
                                          </p:spTgt>
                                        </p:tgtEl>
                                        <p:attrNameLst>
                                          <p:attrName>ppt_x</p:attrName>
                                        </p:attrNameLst>
                                      </p:cBhvr>
                                      <p:tavLst>
                                        <p:tav tm="0">
                                          <p:val>
                                            <p:strVal val="#ppt_x-.2"/>
                                          </p:val>
                                        </p:tav>
                                        <p:tav tm="100000">
                                          <p:val>
                                            <p:strVal val="#ppt_x"/>
                                          </p:val>
                                        </p:tav>
                                      </p:tavLst>
                                    </p:anim>
                                    <p:anim calcmode="lin" valueType="num">
                                      <p:cBhvr additive="base">
                                        <p:cTn id="38" dur="1000" fill="hold"/>
                                        <p:tgtEl>
                                          <p:spTgt spid="2128">
                                            <p:txEl>
                                              <p:pRg st="9" end="9"/>
                                            </p:txEl>
                                          </p:spTgt>
                                        </p:tgtEl>
                                        <p:attrNameLst>
                                          <p:attrName>ppt_y</p:attrName>
                                        </p:attrNameLst>
                                      </p:cBhvr>
                                      <p:tavLst>
                                        <p:tav tm="0">
                                          <p:val>
                                            <p:strVal val="#ppt_y"/>
                                          </p:val>
                                        </p:tav>
                                        <p:tav tm="100000">
                                          <p:val>
                                            <p:strVal val="#ppt_y"/>
                                          </p:val>
                                        </p:tav>
                                      </p:tavLst>
                                    </p:anim>
                                    <p:animEffect transition="in" filter="wipe(right)">
                                      <p:cBhvr additive="base">
                                        <p:cTn id="39" dur="1000"/>
                                        <p:tgtEl>
                                          <p:spTgt spid="212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16</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34" name="标题 2133"/>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35" name="文本占位符 2134"/>
          <p:cNvSpPr>
            <a:spLocks noGrp="1"/>
          </p:cNvSpPr>
          <p:nvPr>
            <p:ph type="body" idx="4294967295"/>
          </p:nvPr>
        </p:nvSpPr>
        <p:spPr>
          <a:xfrm>
            <a:off x="849313" y="981075"/>
            <a:ext cx="7910512" cy="5256213"/>
          </a:xfrm>
        </p:spPr>
        <p:txBody>
          <a:bodyPr/>
          <a:lstStyle/>
          <a:p>
            <a:pPr>
              <a:buClr>
                <a:srgbClr val="993366"/>
              </a:buClr>
              <a:buNone/>
            </a:pPr>
            <a:r>
              <a:rPr lang="en-US" altLang="zh-CN">
                <a:ea typeface="MingLiU_HKSCS-ExtB" panose="02020500000000000000" charset="-120"/>
              </a:rPr>
              <a:t>(3) </a:t>
            </a:r>
            <a:r>
              <a:rPr lang="zh-CN" altLang="en-US">
                <a:ea typeface="MingLiU_HKSCS-ExtB" panose="02020500000000000000" charset="-120"/>
              </a:rPr>
              <a:t>常用的失真函数</a:t>
            </a:r>
          </a:p>
          <a:p>
            <a:pPr>
              <a:buClr>
                <a:srgbClr val="993366"/>
              </a:buClr>
            </a:pPr>
            <a:r>
              <a:rPr lang="zh-CN" altLang="en-US" sz="2400">
                <a:solidFill>
                  <a:srgbClr val="0000CC"/>
                </a:solidFill>
                <a:ea typeface="MingLiU_HKSCS-ExtB" panose="02020500000000000000" charset="-120"/>
              </a:rPr>
              <a:t> 第一种：</a:t>
            </a:r>
          </a:p>
          <a:p>
            <a:pPr>
              <a:buClr>
                <a:srgbClr val="993366"/>
              </a:buClr>
            </a:pPr>
            <a:endParaRPr lang="zh-CN" altLang="en-US" sz="2000">
              <a:ea typeface="MingLiU_HKSCS-ExtB" panose="02020500000000000000" charset="-120"/>
            </a:endParaRPr>
          </a:p>
          <a:p>
            <a:pPr>
              <a:buClr>
                <a:srgbClr val="993366"/>
              </a:buClr>
            </a:pPr>
            <a:endParaRPr lang="zh-CN" altLang="en-US" sz="2000">
              <a:ea typeface="MingLiU_HKSCS-ExtB" panose="02020500000000000000" charset="-120"/>
            </a:endParaRPr>
          </a:p>
          <a:p>
            <a:pPr>
              <a:buClr>
                <a:srgbClr val="993366"/>
              </a:buClr>
            </a:pPr>
            <a:endParaRPr lang="zh-CN" altLang="en-US" sz="2000">
              <a:ea typeface="MingLiU_HKSCS-ExtB" panose="02020500000000000000" charset="-120"/>
            </a:endParaRPr>
          </a:p>
          <a:p>
            <a:pPr marL="355600" lvl="1">
              <a:buClr>
                <a:srgbClr val="993366"/>
              </a:buClr>
            </a:pPr>
            <a:r>
              <a:rPr lang="zh-CN" altLang="en-US" sz="2000">
                <a:ea typeface="MingLiU_HKSCS-ExtB" panose="02020500000000000000" charset="-120"/>
              </a:rPr>
              <a:t> 当 </a:t>
            </a:r>
            <a:r>
              <a:rPr lang="en-US" altLang="zh-CN" sz="2000" i="1">
                <a:ea typeface="MingLiU_HKSCS-ExtB" panose="02020500000000000000" charset="-120"/>
              </a:rPr>
              <a:t>i</a:t>
            </a:r>
            <a:r>
              <a:rPr lang="en-US" altLang="zh-CN" sz="2000">
                <a:ea typeface="MingLiU_HKSCS-ExtB" panose="02020500000000000000" charset="-120"/>
              </a:rPr>
              <a:t>=</a:t>
            </a:r>
            <a:r>
              <a:rPr lang="en-US" altLang="zh-CN" sz="2000" i="1">
                <a:ea typeface="MingLiU_HKSCS-ExtB" panose="02020500000000000000" charset="-120"/>
              </a:rPr>
              <a:t>j </a:t>
            </a:r>
            <a:r>
              <a:rPr lang="zh-CN" altLang="en-US" sz="2000">
                <a:ea typeface="MingLiU_HKSCS-ExtB" panose="02020500000000000000" charset="-120"/>
              </a:rPr>
              <a:t>时，</a:t>
            </a:r>
            <a:r>
              <a:rPr lang="en-US" altLang="zh-CN" sz="2000" i="1">
                <a:ea typeface="MingLiU_HKSCS-ExtB" panose="02020500000000000000" charset="-120"/>
              </a:rPr>
              <a:t>X </a:t>
            </a:r>
            <a:r>
              <a:rPr lang="zh-CN" altLang="en-US" sz="2000">
                <a:ea typeface="MingLiU_HKSCS-ExtB" panose="02020500000000000000" charset="-120"/>
              </a:rPr>
              <a:t>与 </a:t>
            </a:r>
            <a:r>
              <a:rPr lang="en-US" altLang="zh-CN" sz="2000" i="1">
                <a:ea typeface="MingLiU_HKSCS-ExtB" panose="02020500000000000000" charset="-120"/>
              </a:rPr>
              <a:t>Y </a:t>
            </a:r>
            <a:r>
              <a:rPr lang="zh-CN" altLang="en-US" sz="2000">
                <a:ea typeface="MingLiU_HKSCS-ExtB" panose="02020500000000000000" charset="-120"/>
              </a:rPr>
              <a:t>的取值一样，用 </a:t>
            </a:r>
            <a:r>
              <a:rPr lang="en-US" altLang="zh-CN" sz="2000" i="1">
                <a:ea typeface="MingLiU_HKSCS-ExtB" panose="02020500000000000000" charset="-120"/>
              </a:rPr>
              <a:t>Y </a:t>
            </a:r>
            <a:r>
              <a:rPr lang="zh-CN" altLang="en-US" sz="2000">
                <a:ea typeface="MingLiU_HKSCS-ExtB" panose="02020500000000000000" charset="-120"/>
              </a:rPr>
              <a:t>来代表 </a:t>
            </a:r>
            <a:r>
              <a:rPr lang="en-US" altLang="zh-CN" sz="2000" i="1">
                <a:ea typeface="MingLiU_HKSCS-ExtB" panose="02020500000000000000" charset="-120"/>
              </a:rPr>
              <a:t>X </a:t>
            </a:r>
            <a:r>
              <a:rPr lang="zh-CN" altLang="en-US" sz="2000">
                <a:ea typeface="MingLiU_HKSCS-ExtB" panose="02020500000000000000" charset="-120"/>
              </a:rPr>
              <a:t>就没有误差，所以定义失真度为 </a:t>
            </a:r>
            <a:r>
              <a:rPr lang="en-US" altLang="zh-CN" sz="2000">
                <a:ea typeface="MingLiU_HKSCS-ExtB" panose="02020500000000000000" charset="-120"/>
              </a:rPr>
              <a:t>0</a:t>
            </a:r>
            <a:r>
              <a:rPr lang="zh-CN" altLang="en-US" sz="2000">
                <a:ea typeface="MingLiU_HKSCS-ExtB" panose="02020500000000000000" charset="-120"/>
              </a:rPr>
              <a:t>；</a:t>
            </a:r>
          </a:p>
          <a:p>
            <a:pPr marL="355600" lvl="1">
              <a:buClr>
                <a:srgbClr val="993366"/>
              </a:buClr>
            </a:pPr>
            <a:r>
              <a:rPr lang="zh-CN" altLang="en-US" sz="2000">
                <a:ea typeface="MingLiU_HKSCS-ExtB" panose="02020500000000000000" charset="-120"/>
              </a:rPr>
              <a:t> 当 </a:t>
            </a:r>
            <a:r>
              <a:rPr lang="en-US" altLang="zh-CN" sz="2000" i="1">
                <a:ea typeface="MingLiU_HKSCS-ExtB" panose="02020500000000000000" charset="-120"/>
              </a:rPr>
              <a:t>i</a:t>
            </a:r>
            <a:r>
              <a:rPr lang="en-US" altLang="zh-CN" sz="2000">
                <a:ea typeface="MingLiU_HKSCS-ExtB" panose="02020500000000000000" charset="-120"/>
              </a:rPr>
              <a:t>≠</a:t>
            </a:r>
            <a:r>
              <a:rPr lang="en-US" altLang="zh-CN" sz="2000" i="1">
                <a:ea typeface="MingLiU_HKSCS-ExtB" panose="02020500000000000000" charset="-120"/>
              </a:rPr>
              <a:t>j </a:t>
            </a:r>
            <a:r>
              <a:rPr lang="zh-CN" altLang="en-US" sz="2000">
                <a:ea typeface="MingLiU_HKSCS-ExtB" panose="02020500000000000000" charset="-120"/>
              </a:rPr>
              <a:t>时，用 </a:t>
            </a:r>
            <a:r>
              <a:rPr lang="en-US" altLang="zh-CN" sz="2000" i="1">
                <a:ea typeface="MingLiU_HKSCS-ExtB" panose="02020500000000000000" charset="-120"/>
              </a:rPr>
              <a:t>Y </a:t>
            </a:r>
            <a:r>
              <a:rPr lang="zh-CN" altLang="en-US" sz="2000">
                <a:ea typeface="MingLiU_HKSCS-ExtB" panose="02020500000000000000" charset="-120"/>
              </a:rPr>
              <a:t>代表 </a:t>
            </a:r>
            <a:r>
              <a:rPr lang="en-US" altLang="zh-CN" sz="2000" i="1">
                <a:ea typeface="MingLiU_HKSCS-ExtB" panose="02020500000000000000" charset="-120"/>
              </a:rPr>
              <a:t>X </a:t>
            </a:r>
            <a:r>
              <a:rPr lang="zh-CN" altLang="en-US" sz="2000">
                <a:ea typeface="MingLiU_HKSCS-ExtB" panose="02020500000000000000" charset="-120"/>
              </a:rPr>
              <a:t>就有误差。</a:t>
            </a:r>
          </a:p>
          <a:p>
            <a:pPr marL="355600" lvl="1">
              <a:buClr>
                <a:srgbClr val="993366"/>
              </a:buClr>
            </a:pPr>
            <a:r>
              <a:rPr lang="zh-CN" altLang="en-US" sz="2000">
                <a:ea typeface="MingLiU_HKSCS-ExtB" panose="02020500000000000000" charset="-120"/>
              </a:rPr>
              <a:t> 这种定义认为对所有不同的 </a:t>
            </a:r>
            <a:r>
              <a:rPr lang="en-US" altLang="zh-CN" sz="2000" i="1">
                <a:ea typeface="MingLiU_HKSCS-ExtB" panose="02020500000000000000" charset="-120"/>
              </a:rPr>
              <a:t>i </a:t>
            </a:r>
            <a:r>
              <a:rPr lang="zh-CN" altLang="en-US" sz="2000">
                <a:ea typeface="MingLiU_HKSCS-ExtB" panose="02020500000000000000" charset="-120"/>
              </a:rPr>
              <a:t>和 </a:t>
            </a:r>
            <a:r>
              <a:rPr lang="en-US" altLang="zh-CN" sz="2000" i="1">
                <a:ea typeface="MingLiU_HKSCS-ExtB" panose="02020500000000000000" charset="-120"/>
              </a:rPr>
              <a:t>j </a:t>
            </a:r>
            <a:r>
              <a:rPr lang="zh-CN" altLang="en-US" sz="2000">
                <a:ea typeface="MingLiU_HKSCS-ExtB" panose="02020500000000000000" charset="-120"/>
              </a:rPr>
              <a:t>引起的误差都一样，所以定义</a:t>
            </a:r>
            <a:r>
              <a:rPr lang="zh-CN" altLang="en-US" sz="2000" u="sng">
                <a:solidFill>
                  <a:srgbClr val="FF0000"/>
                </a:solidFill>
                <a:effectLst>
                  <a:outerShdw blurRad="38100" dist="38100" dir="2700000">
                    <a:srgbClr val="C0C0C0"/>
                  </a:outerShdw>
                </a:effectLst>
                <a:ea typeface="MingLiU_HKSCS-ExtB" panose="02020500000000000000" charset="-120"/>
              </a:rPr>
              <a:t>失真度常数 </a:t>
            </a:r>
            <a:r>
              <a:rPr lang="en-US" altLang="zh-CN" sz="2000" i="1" u="sng">
                <a:solidFill>
                  <a:srgbClr val="FF0000"/>
                </a:solidFill>
                <a:effectLst>
                  <a:outerShdw blurRad="38100" dist="38100" dir="2700000">
                    <a:srgbClr val="C0C0C0"/>
                  </a:outerShdw>
                </a:effectLst>
                <a:ea typeface="MingLiU_HKSCS-ExtB" panose="02020500000000000000" charset="-120"/>
              </a:rPr>
              <a:t>a</a:t>
            </a:r>
            <a:r>
              <a:rPr lang="zh-CN" altLang="en-US" sz="2000">
                <a:ea typeface="MingLiU_HKSCS-ExtB" panose="02020500000000000000" charset="-120"/>
              </a:rPr>
              <a:t>。</a:t>
            </a:r>
            <a:endParaRPr lang="zh-CN" altLang="en-US" sz="2000">
              <a:solidFill>
                <a:srgbClr val="FF0000"/>
              </a:solidFill>
              <a:ea typeface="MingLiU_HKSCS-ExtB" panose="02020500000000000000" charset="-120"/>
            </a:endParaRPr>
          </a:p>
        </p:txBody>
      </p:sp>
      <p:graphicFrame>
        <p:nvGraphicFramePr>
          <p:cNvPr id="2136" name="对象 2135"/>
          <p:cNvGraphicFramePr/>
          <p:nvPr/>
        </p:nvGraphicFramePr>
        <p:xfrm>
          <a:off x="1781175" y="1773238"/>
          <a:ext cx="5770563" cy="1984375"/>
        </p:xfrm>
        <a:graphic>
          <a:graphicData uri="http://schemas.openxmlformats.org/presentationml/2006/ole">
            <mc:AlternateContent xmlns:mc="http://schemas.openxmlformats.org/markup-compatibility/2006">
              <mc:Choice xmlns:v="urn:schemas-microsoft-com:vml" Requires="v">
                <p:oleObj spid="_x0000_s6146" r:id="rId3" imgW="2124075" imgH="1155065" progId="Equation.3">
                  <p:embed/>
                </p:oleObj>
              </mc:Choice>
              <mc:Fallback>
                <p:oleObj r:id="rId3" imgW="2124075" imgH="1155065" progId="Equation.3">
                  <p:embed/>
                  <p:pic>
                    <p:nvPicPr>
                      <p:cNvPr id="0" name="图片 3085"/>
                      <p:cNvPicPr/>
                      <p:nvPr/>
                    </p:nvPicPr>
                    <p:blipFill>
                      <a:blip r:embed="rId4"/>
                      <a:stretch>
                        <a:fillRect/>
                      </a:stretch>
                    </p:blipFill>
                    <p:spPr>
                      <a:xfrm>
                        <a:off x="1781175" y="1773238"/>
                        <a:ext cx="5770563" cy="1984375"/>
                      </a:xfrm>
                      <a:prstGeom prst="rect">
                        <a:avLst/>
                      </a:prstGeom>
                      <a:noFill/>
                      <a:ln w="38100">
                        <a:noFill/>
                        <a:miter/>
                      </a:ln>
                    </p:spPr>
                  </p:pic>
                </p:oleObj>
              </mc:Fallback>
            </mc:AlternateContent>
          </a:graphicData>
        </a:graphic>
      </p:graphicFrame>
      <p:sp>
        <p:nvSpPr>
          <p:cNvPr id="2137" name="矩形 2136"/>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17</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40" name="标题 2139"/>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41" name="文本占位符 2140"/>
          <p:cNvSpPr>
            <a:spLocks noGrp="1"/>
          </p:cNvSpPr>
          <p:nvPr>
            <p:ph type="body" idx="4294967295"/>
          </p:nvPr>
        </p:nvSpPr>
        <p:spPr>
          <a:xfrm>
            <a:off x="849313" y="981075"/>
            <a:ext cx="7910512" cy="5256213"/>
          </a:xfrm>
        </p:spPr>
        <p:txBody>
          <a:bodyPr/>
          <a:lstStyle/>
          <a:p>
            <a:pPr>
              <a:buClr>
                <a:srgbClr val="993366"/>
              </a:buClr>
              <a:buNone/>
            </a:pPr>
            <a:r>
              <a:rPr lang="en-US" altLang="zh-CN">
                <a:ea typeface="MingLiU_HKSCS-ExtB" panose="02020500000000000000" charset="-120"/>
              </a:rPr>
              <a:t>(3) </a:t>
            </a:r>
            <a:r>
              <a:rPr lang="zh-CN" altLang="en-US">
                <a:ea typeface="MingLiU_HKSCS-ExtB" panose="02020500000000000000" charset="-120"/>
              </a:rPr>
              <a:t>常用的失真函数</a:t>
            </a:r>
          </a:p>
          <a:p>
            <a:pPr>
              <a:buClr>
                <a:srgbClr val="993366"/>
              </a:buClr>
            </a:pPr>
            <a:r>
              <a:rPr lang="zh-CN" altLang="en-US" sz="2400">
                <a:solidFill>
                  <a:srgbClr val="0000CC"/>
                </a:solidFill>
                <a:ea typeface="MingLiU_HKSCS-ExtB" panose="02020500000000000000" charset="-120"/>
              </a:rPr>
              <a:t> 第一种：</a:t>
            </a:r>
          </a:p>
          <a:p>
            <a:pPr>
              <a:buClr>
                <a:srgbClr val="993366"/>
              </a:buClr>
            </a:pPr>
            <a:endParaRPr lang="zh-CN" altLang="en-US" sz="2000">
              <a:ea typeface="MingLiU_HKSCS-ExtB" panose="02020500000000000000" charset="-120"/>
            </a:endParaRPr>
          </a:p>
          <a:p>
            <a:pPr>
              <a:buClr>
                <a:srgbClr val="993366"/>
              </a:buClr>
            </a:pPr>
            <a:endParaRPr lang="zh-CN" altLang="en-US" sz="2000">
              <a:ea typeface="MingLiU_HKSCS-ExtB" panose="02020500000000000000" charset="-120"/>
            </a:endParaRPr>
          </a:p>
          <a:p>
            <a:pPr>
              <a:buClr>
                <a:srgbClr val="993366"/>
              </a:buClr>
            </a:pPr>
            <a:endParaRPr lang="zh-CN" altLang="en-US" sz="2000">
              <a:ea typeface="MingLiU_HKSCS-ExtB" panose="02020500000000000000" charset="-120"/>
            </a:endParaRPr>
          </a:p>
          <a:p>
            <a:pPr marL="355600" lvl="1">
              <a:buClr>
                <a:srgbClr val="993366"/>
              </a:buClr>
            </a:pPr>
            <a:r>
              <a:rPr lang="zh-CN" altLang="en-US" sz="2000">
                <a:ea typeface="MingLiU_HKSCS-ExtB" panose="02020500000000000000" charset="-120"/>
              </a:rPr>
              <a:t> </a:t>
            </a:r>
            <a:r>
              <a:rPr lang="zh-CN" altLang="en-US" sz="2000">
                <a:solidFill>
                  <a:srgbClr val="0000CC"/>
                </a:solidFill>
                <a:ea typeface="MingLiU_HKSCS-ExtB" panose="02020500000000000000" charset="-120"/>
              </a:rPr>
              <a:t>特点：</a:t>
            </a:r>
            <a:r>
              <a:rPr lang="zh-CN" altLang="en-US" sz="2000">
                <a:solidFill>
                  <a:srgbClr val="FF0000"/>
                </a:solidFill>
                <a:ea typeface="MingLiU_HKSCS-ExtB" panose="02020500000000000000" charset="-120"/>
              </a:rPr>
              <a:t>对角线上的元素均为 </a:t>
            </a:r>
            <a:r>
              <a:rPr lang="en-US" altLang="zh-CN" sz="2000">
                <a:solidFill>
                  <a:srgbClr val="FF0000"/>
                </a:solidFill>
                <a:ea typeface="MingLiU_HKSCS-ExtB" panose="02020500000000000000" charset="-120"/>
              </a:rPr>
              <a:t>0</a:t>
            </a:r>
            <a:r>
              <a:rPr lang="zh-CN" altLang="en-US" sz="2000">
                <a:solidFill>
                  <a:srgbClr val="FF0000"/>
                </a:solidFill>
                <a:ea typeface="MingLiU_HKSCS-ExtB" panose="02020500000000000000" charset="-120"/>
              </a:rPr>
              <a:t>，对角线以外的其它元素都为常数 </a:t>
            </a:r>
            <a:r>
              <a:rPr lang="en-US" altLang="zh-CN" sz="2000" i="1">
                <a:solidFill>
                  <a:srgbClr val="FF0000"/>
                </a:solidFill>
                <a:ea typeface="MingLiU_HKSCS-ExtB" panose="02020500000000000000" charset="-120"/>
              </a:rPr>
              <a:t>a</a:t>
            </a:r>
            <a:r>
              <a:rPr lang="zh-CN" altLang="en-US" sz="2000">
                <a:solidFill>
                  <a:srgbClr val="FF0000"/>
                </a:solidFill>
                <a:ea typeface="MingLiU_HKSCS-ExtB" panose="02020500000000000000" charset="-120"/>
              </a:rPr>
              <a:t>。</a:t>
            </a:r>
          </a:p>
          <a:p>
            <a:pPr marL="355600" lvl="1">
              <a:buClr>
                <a:srgbClr val="993366"/>
              </a:buClr>
            </a:pPr>
            <a:r>
              <a:rPr lang="zh-CN" altLang="en-US" sz="2000">
                <a:solidFill>
                  <a:srgbClr val="0000CC"/>
                </a:solidFill>
                <a:ea typeface="MingLiU_HKSCS-ExtB" panose="02020500000000000000" charset="-120"/>
              </a:rPr>
              <a:t> </a:t>
            </a:r>
            <a:r>
              <a:rPr lang="zh-CN" altLang="en-US" sz="2000" u="sng">
                <a:solidFill>
                  <a:srgbClr val="0000CC"/>
                </a:solidFill>
                <a:ea typeface="MingLiU_HKSCS-ExtB" panose="02020500000000000000" charset="-120"/>
              </a:rPr>
              <a:t>汉明失真函数</a:t>
            </a:r>
            <a:r>
              <a:rPr lang="zh-CN" altLang="en-US" sz="2000">
                <a:solidFill>
                  <a:srgbClr val="0000CC"/>
                </a:solidFill>
                <a:ea typeface="MingLiU_HKSCS-ExtB" panose="02020500000000000000" charset="-120"/>
              </a:rPr>
              <a:t>：</a:t>
            </a:r>
            <a:r>
              <a:rPr lang="zh-CN" altLang="en-US" sz="2000">
                <a:solidFill>
                  <a:srgbClr val="FF0000"/>
                </a:solidFill>
                <a:ea typeface="MingLiU_HKSCS-ExtB" panose="02020500000000000000" charset="-120"/>
              </a:rPr>
              <a:t> </a:t>
            </a:r>
            <a:r>
              <a:rPr lang="en-US" altLang="zh-CN" sz="2000" i="1">
                <a:solidFill>
                  <a:srgbClr val="FF0000"/>
                </a:solidFill>
                <a:ea typeface="MingLiU_HKSCS-ExtB" panose="02020500000000000000" charset="-120"/>
              </a:rPr>
              <a:t>a</a:t>
            </a:r>
            <a:r>
              <a:rPr lang="en-US" altLang="zh-CN" sz="2000">
                <a:solidFill>
                  <a:srgbClr val="FF0000"/>
                </a:solidFill>
                <a:ea typeface="MingLiU_HKSCS-ExtB" panose="02020500000000000000" charset="-120"/>
              </a:rPr>
              <a:t>=1 </a:t>
            </a:r>
            <a:r>
              <a:rPr lang="zh-CN" altLang="en-US" sz="2000">
                <a:solidFill>
                  <a:srgbClr val="FF0000"/>
                </a:solidFill>
                <a:ea typeface="MingLiU_HKSCS-ExtB" panose="02020500000000000000" charset="-120"/>
              </a:rPr>
              <a:t>。</a:t>
            </a:r>
          </a:p>
        </p:txBody>
      </p:sp>
      <p:graphicFrame>
        <p:nvGraphicFramePr>
          <p:cNvPr id="2142" name="对象 2141"/>
          <p:cNvGraphicFramePr/>
          <p:nvPr/>
        </p:nvGraphicFramePr>
        <p:xfrm>
          <a:off x="1781175" y="1773238"/>
          <a:ext cx="5770563" cy="1984375"/>
        </p:xfrm>
        <a:graphic>
          <a:graphicData uri="http://schemas.openxmlformats.org/presentationml/2006/ole">
            <mc:AlternateContent xmlns:mc="http://schemas.openxmlformats.org/markup-compatibility/2006">
              <mc:Choice xmlns:v="urn:schemas-microsoft-com:vml" Requires="v">
                <p:oleObj spid="_x0000_s7170" r:id="rId3" imgW="2124075" imgH="1155065" progId="Equation.3">
                  <p:embed/>
                </p:oleObj>
              </mc:Choice>
              <mc:Fallback>
                <p:oleObj r:id="rId3" imgW="2124075" imgH="1155065" progId="Equation.3">
                  <p:embed/>
                  <p:pic>
                    <p:nvPicPr>
                      <p:cNvPr id="0" name="图片 3084"/>
                      <p:cNvPicPr/>
                      <p:nvPr/>
                    </p:nvPicPr>
                    <p:blipFill>
                      <a:blip r:embed="rId4"/>
                      <a:stretch>
                        <a:fillRect/>
                      </a:stretch>
                    </p:blipFill>
                    <p:spPr>
                      <a:xfrm>
                        <a:off x="1781175" y="1773238"/>
                        <a:ext cx="5770563" cy="1984375"/>
                      </a:xfrm>
                      <a:prstGeom prst="rect">
                        <a:avLst/>
                      </a:prstGeom>
                      <a:noFill/>
                      <a:ln w="38100">
                        <a:noFill/>
                        <a:miter/>
                      </a:ln>
                    </p:spPr>
                  </p:pic>
                </p:oleObj>
              </mc:Fallback>
            </mc:AlternateContent>
          </a:graphicData>
        </a:graphic>
      </p:graphicFrame>
      <p:sp>
        <p:nvSpPr>
          <p:cNvPr id="2143" name="矩形 2142"/>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141">
                                            <p:txEl>
                                              <p:pRg st="5" end="5"/>
                                            </p:txEl>
                                          </p:spTgt>
                                        </p:tgtEl>
                                        <p:attrNameLst>
                                          <p:attrName>style.visibility</p:attrName>
                                        </p:attrNameLst>
                                      </p:cBhvr>
                                      <p:to>
                                        <p:strVal val="visible"/>
                                      </p:to>
                                    </p:set>
                                    <p:anim calcmode="lin" valueType="num">
                                      <p:cBhvr additive="base">
                                        <p:cTn id="7" dur="1000" fill="hold"/>
                                        <p:tgtEl>
                                          <p:spTgt spid="2141">
                                            <p:txEl>
                                              <p:pRg st="5" end="5"/>
                                            </p:txEl>
                                          </p:spTgt>
                                        </p:tgtEl>
                                        <p:attrNameLst>
                                          <p:attrName>ppt_x</p:attrName>
                                        </p:attrNameLst>
                                      </p:cBhvr>
                                      <p:tavLst>
                                        <p:tav tm="0">
                                          <p:val>
                                            <p:strVal val="#ppt_x-.2"/>
                                          </p:val>
                                        </p:tav>
                                        <p:tav tm="100000">
                                          <p:val>
                                            <p:strVal val="#ppt_x"/>
                                          </p:val>
                                        </p:tav>
                                      </p:tavLst>
                                    </p:anim>
                                    <p:anim calcmode="lin" valueType="num">
                                      <p:cBhvr additive="base">
                                        <p:cTn id="8" dur="1000" fill="hold"/>
                                        <p:tgtEl>
                                          <p:spTgt spid="2141">
                                            <p:txEl>
                                              <p:pRg st="5" end="5"/>
                                            </p:txEl>
                                          </p:spTgt>
                                        </p:tgtEl>
                                        <p:attrNameLst>
                                          <p:attrName>ppt_y</p:attrName>
                                        </p:attrNameLst>
                                      </p:cBhvr>
                                      <p:tavLst>
                                        <p:tav tm="0">
                                          <p:val>
                                            <p:strVal val="#ppt_y"/>
                                          </p:val>
                                        </p:tav>
                                        <p:tav tm="100000">
                                          <p:val>
                                            <p:strVal val="#ppt_y"/>
                                          </p:val>
                                        </p:tav>
                                      </p:tavLst>
                                    </p:anim>
                                    <p:animEffect transition="in" filter="wipe(right)">
                                      <p:cBhvr additive="base">
                                        <p:cTn id="9" dur="1000"/>
                                        <p:tgtEl>
                                          <p:spTgt spid="2141">
                                            <p:txEl>
                                              <p:pRg st="5" end="5"/>
                                            </p:txEl>
                                          </p:spTgt>
                                        </p:tgtEl>
                                      </p:cBhvr>
                                    </p:animEffect>
                                  </p:childTnLst>
                                </p:cTn>
                              </p:par>
                              <p:par>
                                <p:cTn id="10" presetID="29" presetClass="entr" presetSubtype="0" fill="hold" nodeType="withEffect">
                                  <p:childTnLst>
                                    <p:set>
                                      <p:cBhvr additive="base">
                                        <p:cTn id="11" dur="1" fill="hold">
                                          <p:stCondLst>
                                            <p:cond delay="0"/>
                                          </p:stCondLst>
                                        </p:cTn>
                                        <p:tgtEl>
                                          <p:spTgt spid="2141">
                                            <p:txEl>
                                              <p:pRg st="6" end="6"/>
                                            </p:txEl>
                                          </p:spTgt>
                                        </p:tgtEl>
                                        <p:attrNameLst>
                                          <p:attrName>style.visibility</p:attrName>
                                        </p:attrNameLst>
                                      </p:cBhvr>
                                      <p:to>
                                        <p:strVal val="visible"/>
                                      </p:to>
                                    </p:set>
                                    <p:anim calcmode="lin" valueType="num">
                                      <p:cBhvr additive="base">
                                        <p:cTn id="12" dur="1000" fill="hold"/>
                                        <p:tgtEl>
                                          <p:spTgt spid="2141">
                                            <p:txEl>
                                              <p:pRg st="6" end="6"/>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141">
                                            <p:txEl>
                                              <p:pRg st="6" end="6"/>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14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18</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46" name="标题 2145"/>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47" name="文本占位符 2146"/>
          <p:cNvSpPr>
            <a:spLocks noGrp="1"/>
          </p:cNvSpPr>
          <p:nvPr>
            <p:ph type="body" idx="4294967295"/>
          </p:nvPr>
        </p:nvSpPr>
        <p:spPr/>
        <p:txBody>
          <a:bodyPr/>
          <a:lstStyle/>
          <a:p>
            <a:pPr>
              <a:buClr>
                <a:srgbClr val="993366"/>
              </a:buClr>
              <a:buNone/>
            </a:pPr>
            <a:r>
              <a:rPr lang="en-US" altLang="zh-CN">
                <a:ea typeface="MingLiU_HKSCS-ExtB" panose="02020500000000000000" charset="-120"/>
              </a:rPr>
              <a:t>(3) </a:t>
            </a:r>
            <a:r>
              <a:rPr lang="zh-CN" altLang="en-US">
                <a:ea typeface="MingLiU_HKSCS-ExtB" panose="02020500000000000000" charset="-120"/>
              </a:rPr>
              <a:t>常用的失真函数</a:t>
            </a:r>
          </a:p>
          <a:p>
            <a:pPr>
              <a:buClr>
                <a:srgbClr val="993366"/>
              </a:buClr>
            </a:pPr>
            <a:r>
              <a:rPr lang="zh-CN" altLang="en-US" sz="2400">
                <a:solidFill>
                  <a:srgbClr val="0000CC"/>
                </a:solidFill>
                <a:ea typeface="MingLiU_HKSCS-ExtB" panose="02020500000000000000" charset="-120"/>
              </a:rPr>
              <a:t> 第二种（平方误差失真函数）：</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i="1" baseline="-25000">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y</a:t>
            </a:r>
            <a:r>
              <a:rPr lang="en-US" altLang="zh-CN" sz="2400" i="1" baseline="-25000">
                <a:solidFill>
                  <a:srgbClr val="FF0000"/>
                </a:solidFill>
                <a:ea typeface="MingLiU_HKSCS-ExtB" panose="02020500000000000000" charset="-120"/>
              </a:rPr>
              <a:t>j</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y</a:t>
            </a:r>
            <a:r>
              <a:rPr lang="en-US" altLang="zh-CN" sz="2400" i="1" baseline="-25000">
                <a:solidFill>
                  <a:srgbClr val="FF0000"/>
                </a:solidFill>
                <a:ea typeface="MingLiU_HKSCS-ExtB" panose="02020500000000000000" charset="-120"/>
              </a:rPr>
              <a:t>j</a:t>
            </a:r>
            <a:r>
              <a:rPr lang="zh-CN" altLang="en-US" sz="2400" i="1">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i="1" baseline="-25000">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en-US" altLang="zh-CN" sz="2400" baseline="30000">
                <a:solidFill>
                  <a:srgbClr val="FF0000"/>
                </a:solidFill>
                <a:ea typeface="MingLiU_HKSCS-ExtB" panose="02020500000000000000" charset="-120"/>
              </a:rPr>
              <a:t>2</a:t>
            </a:r>
          </a:p>
          <a:p>
            <a:pPr marL="355600" lvl="1">
              <a:buClr>
                <a:srgbClr val="993366"/>
              </a:buClr>
            </a:pPr>
            <a:r>
              <a:rPr lang="en-US" altLang="zh-CN">
                <a:ea typeface="MingLiU_HKSCS-ExtB" panose="02020500000000000000" charset="-120"/>
              </a:rPr>
              <a:t> </a:t>
            </a:r>
            <a:r>
              <a:rPr lang="zh-CN" altLang="en-US">
                <a:ea typeface="MingLiU_HKSCS-ExtB" panose="02020500000000000000" charset="-120"/>
              </a:rPr>
              <a:t>失真矩阵：</a:t>
            </a:r>
            <a:r>
              <a:rPr lang="zh-CN" altLang="en-US">
                <a:solidFill>
                  <a:srgbClr val="FF0000"/>
                </a:solidFill>
                <a:ea typeface="MingLiU_HKSCS-ExtB" panose="02020500000000000000" charset="-120"/>
              </a:rPr>
              <a:t>平方误差失真矩阵</a:t>
            </a:r>
            <a:r>
              <a:rPr lang="zh-CN" altLang="en-US">
                <a:ea typeface="MingLiU_HKSCS-ExtB" panose="02020500000000000000" charset="-120"/>
              </a:rPr>
              <a:t>。</a:t>
            </a:r>
          </a:p>
          <a:p>
            <a:pPr marL="355600" lvl="1">
              <a:buClr>
                <a:srgbClr val="993366"/>
              </a:buClr>
            </a:pPr>
            <a:r>
              <a:rPr lang="zh-CN" altLang="en-US">
                <a:ea typeface="MingLiU_HKSCS-ExtB" panose="02020500000000000000" charset="-120"/>
              </a:rPr>
              <a:t> 若信源符号代表输出信号的幅度值，则较大的幅度失真比较小的幅度失真引起的错误更为严重</a:t>
            </a:r>
            <a:r>
              <a:rPr lang="en-US" altLang="zh-CN">
                <a:ea typeface="MingLiU_HKSCS-ExtB" panose="02020500000000000000" charset="-120"/>
              </a:rPr>
              <a:t>, </a:t>
            </a:r>
            <a:r>
              <a:rPr lang="zh-CN" altLang="en-US">
                <a:ea typeface="MingLiU_HKSCS-ExtB" panose="02020500000000000000" charset="-120"/>
              </a:rPr>
              <a:t>严重程度用平方表示</a:t>
            </a:r>
            <a:r>
              <a:rPr lang="en-US" altLang="zh-CN">
                <a:ea typeface="MingLiU_HKSCS-ExtB" panose="02020500000000000000" charset="-120"/>
              </a:rPr>
              <a:t>.</a:t>
            </a:r>
          </a:p>
          <a:p>
            <a:pPr marL="355600" lvl="1">
              <a:buClr>
                <a:srgbClr val="993366"/>
              </a:buClr>
            </a:pPr>
            <a:r>
              <a:rPr lang="en-US" altLang="zh-CN">
                <a:ea typeface="MingLiU_HKSCS-ExtB" panose="02020500000000000000" charset="-120"/>
              </a:rPr>
              <a:t> </a:t>
            </a:r>
            <a:r>
              <a:rPr lang="zh-CN" altLang="en-US">
                <a:ea typeface="MingLiU_HKSCS-ExtB" panose="02020500000000000000" charset="-120"/>
              </a:rPr>
              <a:t>失真函数是根据人们的</a:t>
            </a:r>
            <a:r>
              <a:rPr lang="zh-CN" altLang="en-US" i="1" u="sng">
                <a:effectLst>
                  <a:outerShdw blurRad="38100" dist="38100" dir="2700000">
                    <a:srgbClr val="C0C0C0"/>
                  </a:outerShdw>
                </a:effectLst>
                <a:ea typeface="MingLiU_HKSCS-ExtB" panose="02020500000000000000" charset="-120"/>
              </a:rPr>
              <a:t>实际需要</a:t>
            </a:r>
            <a:r>
              <a:rPr lang="zh-CN" altLang="en-US">
                <a:ea typeface="MingLiU_HKSCS-ExtB" panose="02020500000000000000" charset="-120"/>
              </a:rPr>
              <a:t>和</a:t>
            </a:r>
            <a:r>
              <a:rPr lang="zh-CN" altLang="en-US" i="1" u="sng">
                <a:effectLst>
                  <a:outerShdw blurRad="38100" dist="38100" dir="2700000">
                    <a:srgbClr val="C0C0C0"/>
                  </a:outerShdw>
                </a:effectLst>
                <a:ea typeface="MingLiU_HKSCS-ExtB" panose="02020500000000000000" charset="-120"/>
              </a:rPr>
              <a:t>失真引起的损失</a:t>
            </a:r>
            <a:r>
              <a:rPr lang="zh-CN" altLang="en-US">
                <a:ea typeface="MingLiU_HKSCS-ExtB" panose="02020500000000000000" charset="-120"/>
              </a:rPr>
              <a:t>、</a:t>
            </a:r>
            <a:r>
              <a:rPr lang="zh-CN" altLang="en-US" i="1" u="sng">
                <a:effectLst>
                  <a:outerShdw blurRad="38100" dist="38100" dir="2700000">
                    <a:srgbClr val="C0C0C0"/>
                  </a:outerShdw>
                </a:effectLst>
                <a:ea typeface="MingLiU_HKSCS-ExtB" panose="02020500000000000000" charset="-120"/>
              </a:rPr>
              <a:t>风险</a:t>
            </a:r>
            <a:r>
              <a:rPr lang="zh-CN" altLang="en-US">
                <a:ea typeface="MingLiU_HKSCS-ExtB" panose="02020500000000000000" charset="-120"/>
              </a:rPr>
              <a:t>、</a:t>
            </a:r>
            <a:r>
              <a:rPr lang="zh-CN" altLang="en-US" i="1" u="sng">
                <a:effectLst>
                  <a:outerShdw blurRad="38100" dist="38100" dir="2700000">
                    <a:srgbClr val="C0C0C0"/>
                  </a:outerShdw>
                </a:effectLst>
                <a:ea typeface="MingLiU_HKSCS-ExtB" panose="02020500000000000000" charset="-120"/>
              </a:rPr>
              <a:t>主观感觉上的差别大小</a:t>
            </a:r>
            <a:r>
              <a:rPr lang="zh-CN" altLang="en-US">
                <a:ea typeface="MingLiU_HKSCS-ExtB" panose="02020500000000000000" charset="-120"/>
              </a:rPr>
              <a:t>等因素</a:t>
            </a:r>
            <a:r>
              <a:rPr lang="zh-CN" altLang="en-US" u="sng">
                <a:solidFill>
                  <a:srgbClr val="FF0000"/>
                </a:solidFill>
                <a:effectLst>
                  <a:outerShdw blurRad="38100" dist="38100" dir="2700000">
                    <a:srgbClr val="C0C0C0"/>
                  </a:outerShdw>
                </a:effectLst>
                <a:ea typeface="MingLiU_HKSCS-ExtB" panose="02020500000000000000" charset="-120"/>
              </a:rPr>
              <a:t>人为规定的</a:t>
            </a:r>
            <a:r>
              <a:rPr lang="zh-CN" altLang="en-US">
                <a:solidFill>
                  <a:srgbClr val="FF0000"/>
                </a:solidFill>
                <a:ea typeface="MingLiU_HKSCS-ExtB" panose="02020500000000000000" charset="-120"/>
              </a:rPr>
              <a:t>。</a:t>
            </a:r>
          </a:p>
          <a:p>
            <a:pPr>
              <a:buClr>
                <a:srgbClr val="993366"/>
              </a:buClr>
            </a:pPr>
            <a:endParaRPr lang="zh-CN" altLang="en-US" sz="2400" b="0">
              <a:ea typeface="MingLiU_HKSCS-ExtB" panose="02020500000000000000" charset="-120"/>
            </a:endParaRPr>
          </a:p>
        </p:txBody>
      </p:sp>
      <p:sp>
        <p:nvSpPr>
          <p:cNvPr id="2148" name="矩形 2147"/>
          <p:cNvSpPr/>
          <p:nvPr/>
        </p:nvSpPr>
        <p:spPr>
          <a:xfrm>
            <a:off x="8029575" y="5948363"/>
            <a:ext cx="796925" cy="360362"/>
          </a:xfrm>
          <a:solidFill>
            <a:srgbClr val="BBE0E3"/>
          </a:solidFill>
          <a:ln w="12700">
            <a:noFill/>
          </a:ln>
        </p:spPr>
        <p:txBody>
          <a:bodyPr/>
          <a:lstStyle/>
          <a:p>
            <a:endParaRPr lang="zh-CN" altLang="en-US"/>
          </a:p>
        </p:txBody>
      </p:sp>
      <p:sp>
        <p:nvSpPr>
          <p:cNvPr id="2149" name="矩形 2148"/>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childTnLst>
                                    <p:set>
                                      <p:cBhvr additive="base">
                                        <p:cTn id="6" dur="1" fill="hold">
                                          <p:stCondLst>
                                            <p:cond delay="0"/>
                                          </p:stCondLst>
                                        </p:cTn>
                                        <p:tgtEl>
                                          <p:spTgt spid="2148"/>
                                        </p:tgtEl>
                                        <p:attrNameLst>
                                          <p:attrName>style.visibility</p:attrName>
                                        </p:attrNameLst>
                                      </p:cBhvr>
                                      <p:to>
                                        <p:strVal val="visible"/>
                                      </p:to>
                                    </p:set>
                                    <p:anim calcmode="lin" valueType="num">
                                      <p:cBhvr additive="base">
                                        <p:cTn id="7" dur="1000" fill="hold"/>
                                        <p:tgtEl>
                                          <p:spTgt spid="2148"/>
                                        </p:tgtEl>
                                        <p:attrNameLst>
                                          <p:attrName>ppt_x</p:attrName>
                                        </p:attrNameLst>
                                      </p:cBhvr>
                                      <p:tavLst>
                                        <p:tav tm="0">
                                          <p:val>
                                            <p:strVal val="#ppt_x-.2"/>
                                          </p:val>
                                        </p:tav>
                                        <p:tav tm="100000">
                                          <p:val>
                                            <p:strVal val="#ppt_x"/>
                                          </p:val>
                                        </p:tav>
                                      </p:tavLst>
                                    </p:anim>
                                    <p:anim calcmode="lin" valueType="num">
                                      <p:cBhvr additive="base">
                                        <p:cTn id="8" dur="1000" fill="hold"/>
                                        <p:tgtEl>
                                          <p:spTgt spid="2148"/>
                                        </p:tgtEl>
                                        <p:attrNameLst>
                                          <p:attrName>ppt_y</p:attrName>
                                        </p:attrNameLst>
                                      </p:cBhvr>
                                      <p:tavLst>
                                        <p:tav tm="0">
                                          <p:val>
                                            <p:strVal val="#ppt_y"/>
                                          </p:val>
                                        </p:tav>
                                        <p:tav tm="100000">
                                          <p:val>
                                            <p:strVal val="#ppt_y"/>
                                          </p:val>
                                        </p:tav>
                                      </p:tavLst>
                                    </p:anim>
                                    <p:animEffect transition="in" filter="wipe(right)">
                                      <p:cBhvr additive="base">
                                        <p:cTn id="9" dur="1000"/>
                                        <p:tgtEl>
                                          <p:spTgt spid="2148"/>
                                        </p:tgtEl>
                                      </p:cBhvr>
                                    </p:animEffect>
                                  </p:childTnLst>
                                </p:cTn>
                              </p:par>
                              <p:par>
                                <p:cTn id="10" presetID="29" presetClass="entr" presetSubtype="0" fill="hold" nodeType="withEffect">
                                  <p:childTnLst>
                                    <p:set>
                                      <p:cBhvr additive="base">
                                        <p:cTn id="11" dur="1" fill="hold">
                                          <p:stCondLst>
                                            <p:cond delay="0"/>
                                          </p:stCondLst>
                                        </p:cTn>
                                        <p:tgtEl>
                                          <p:spTgt spid="2147">
                                            <p:txEl>
                                              <p:pRg st="1" end="1"/>
                                            </p:txEl>
                                          </p:spTgt>
                                        </p:tgtEl>
                                        <p:attrNameLst>
                                          <p:attrName>style.visibility</p:attrName>
                                        </p:attrNameLst>
                                      </p:cBhvr>
                                      <p:to>
                                        <p:strVal val="visible"/>
                                      </p:to>
                                    </p:set>
                                    <p:anim calcmode="lin" valueType="num">
                                      <p:cBhvr additive="base">
                                        <p:cTn id="12" dur="1000" fill="hold"/>
                                        <p:tgtEl>
                                          <p:spTgt spid="2147">
                                            <p:txEl>
                                              <p:pRg st="1" end="1"/>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147">
                                            <p:txEl>
                                              <p:pRg st="1" end="1"/>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147">
                                            <p:txEl>
                                              <p:pRg st="1" end="1"/>
                                            </p:txEl>
                                          </p:spTgt>
                                        </p:tgtEl>
                                      </p:cBhvr>
                                    </p:animEffect>
                                  </p:childTnLst>
                                </p:cTn>
                              </p:par>
                              <p:par>
                                <p:cTn id="15" presetID="29" presetClass="entr" presetSubtype="0" fill="hold" nodeType="withEffect">
                                  <p:childTnLst>
                                    <p:set>
                                      <p:cBhvr additive="base">
                                        <p:cTn id="16" dur="1" fill="hold">
                                          <p:stCondLst>
                                            <p:cond delay="0"/>
                                          </p:stCondLst>
                                        </p:cTn>
                                        <p:tgtEl>
                                          <p:spTgt spid="2147">
                                            <p:txEl>
                                              <p:pRg st="2" end="2"/>
                                            </p:txEl>
                                          </p:spTgt>
                                        </p:tgtEl>
                                        <p:attrNameLst>
                                          <p:attrName>style.visibility</p:attrName>
                                        </p:attrNameLst>
                                      </p:cBhvr>
                                      <p:to>
                                        <p:strVal val="visible"/>
                                      </p:to>
                                    </p:set>
                                    <p:anim calcmode="lin" valueType="num">
                                      <p:cBhvr additive="base">
                                        <p:cTn id="17" dur="1000" fill="hold"/>
                                        <p:tgtEl>
                                          <p:spTgt spid="2147">
                                            <p:txEl>
                                              <p:pRg st="2" end="2"/>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147">
                                            <p:txEl>
                                              <p:pRg st="2" end="2"/>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147">
                                            <p:txEl>
                                              <p:pRg st="2" end="2"/>
                                            </p:txEl>
                                          </p:spTgt>
                                        </p:tgtEl>
                                      </p:cBhvr>
                                    </p:animEffect>
                                  </p:childTnLst>
                                </p:cTn>
                              </p:par>
                              <p:par>
                                <p:cTn id="20" presetID="29" presetClass="entr" presetSubtype="0" fill="hold" nodeType="withEffect">
                                  <p:childTnLst>
                                    <p:set>
                                      <p:cBhvr additive="base">
                                        <p:cTn id="21" dur="1" fill="hold">
                                          <p:stCondLst>
                                            <p:cond delay="0"/>
                                          </p:stCondLst>
                                        </p:cTn>
                                        <p:tgtEl>
                                          <p:spTgt spid="2147">
                                            <p:txEl>
                                              <p:pRg st="3" end="3"/>
                                            </p:txEl>
                                          </p:spTgt>
                                        </p:tgtEl>
                                        <p:attrNameLst>
                                          <p:attrName>style.visibility</p:attrName>
                                        </p:attrNameLst>
                                      </p:cBhvr>
                                      <p:to>
                                        <p:strVal val="visible"/>
                                      </p:to>
                                    </p:set>
                                    <p:anim calcmode="lin" valueType="num">
                                      <p:cBhvr additive="base">
                                        <p:cTn id="22" dur="1000" fill="hold"/>
                                        <p:tgtEl>
                                          <p:spTgt spid="2147">
                                            <p:txEl>
                                              <p:pRg st="3" end="3"/>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147">
                                            <p:txEl>
                                              <p:pRg st="3" end="3"/>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147">
                                            <p:txEl>
                                              <p:pRg st="3" end="3"/>
                                            </p:txEl>
                                          </p:spTgt>
                                        </p:tgtEl>
                                      </p:cBhvr>
                                    </p:animEffect>
                                  </p:childTnLst>
                                </p:cTn>
                              </p:par>
                              <p:par>
                                <p:cTn id="25" presetID="29" presetClass="entr" presetSubtype="0" fill="hold" nodeType="withEffect">
                                  <p:childTnLst>
                                    <p:set>
                                      <p:cBhvr additive="base">
                                        <p:cTn id="26" dur="1" fill="hold">
                                          <p:stCondLst>
                                            <p:cond delay="0"/>
                                          </p:stCondLst>
                                        </p:cTn>
                                        <p:tgtEl>
                                          <p:spTgt spid="2147">
                                            <p:txEl>
                                              <p:pRg st="4" end="4"/>
                                            </p:txEl>
                                          </p:spTgt>
                                        </p:tgtEl>
                                        <p:attrNameLst>
                                          <p:attrName>style.visibility</p:attrName>
                                        </p:attrNameLst>
                                      </p:cBhvr>
                                      <p:to>
                                        <p:strVal val="visible"/>
                                      </p:to>
                                    </p:set>
                                    <p:anim calcmode="lin" valueType="num">
                                      <p:cBhvr additive="base">
                                        <p:cTn id="27" dur="1000" fill="hold"/>
                                        <p:tgtEl>
                                          <p:spTgt spid="2147">
                                            <p:txEl>
                                              <p:pRg st="4" end="4"/>
                                            </p:txEl>
                                          </p:spTgt>
                                        </p:tgtEl>
                                        <p:attrNameLst>
                                          <p:attrName>ppt_x</p:attrName>
                                        </p:attrNameLst>
                                      </p:cBhvr>
                                      <p:tavLst>
                                        <p:tav tm="0">
                                          <p:val>
                                            <p:strVal val="#ppt_x-.2"/>
                                          </p:val>
                                        </p:tav>
                                        <p:tav tm="100000">
                                          <p:val>
                                            <p:strVal val="#ppt_x"/>
                                          </p:val>
                                        </p:tav>
                                      </p:tavLst>
                                    </p:anim>
                                    <p:anim calcmode="lin" valueType="num">
                                      <p:cBhvr additive="base">
                                        <p:cTn id="28" dur="1000" fill="hold"/>
                                        <p:tgtEl>
                                          <p:spTgt spid="2147">
                                            <p:txEl>
                                              <p:pRg st="4" end="4"/>
                                            </p:txEl>
                                          </p:spTgt>
                                        </p:tgtEl>
                                        <p:attrNameLst>
                                          <p:attrName>ppt_y</p:attrName>
                                        </p:attrNameLst>
                                      </p:cBhvr>
                                      <p:tavLst>
                                        <p:tav tm="0">
                                          <p:val>
                                            <p:strVal val="#ppt_y"/>
                                          </p:val>
                                        </p:tav>
                                        <p:tav tm="100000">
                                          <p:val>
                                            <p:strVal val="#ppt_y"/>
                                          </p:val>
                                        </p:tav>
                                      </p:tavLst>
                                    </p:anim>
                                    <p:animEffect transition="in" filter="wipe(right)">
                                      <p:cBhvr additive="base">
                                        <p:cTn id="29" dur="1000"/>
                                        <p:tgtEl>
                                          <p:spTgt spid="21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19</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52" name="标题 2151"/>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53" name="文本占位符 2152"/>
          <p:cNvSpPr>
            <a:spLocks noGrp="1"/>
          </p:cNvSpPr>
          <p:nvPr>
            <p:ph type="body" idx="4294967295"/>
          </p:nvPr>
        </p:nvSpPr>
        <p:spPr/>
        <p:txBody>
          <a:bodyPr/>
          <a:lstStyle/>
          <a:p>
            <a:pPr>
              <a:buClr>
                <a:srgbClr val="993366"/>
              </a:buClr>
              <a:buNone/>
            </a:pPr>
            <a:r>
              <a:rPr lang="en-US" altLang="zh-CN">
                <a:ea typeface="MingLiU_HKSCS-ExtB" panose="02020500000000000000" charset="-120"/>
              </a:rPr>
              <a:t>(4) </a:t>
            </a:r>
            <a:r>
              <a:rPr lang="zh-CN" altLang="en-US">
                <a:ea typeface="MingLiU_HKSCS-ExtB" panose="02020500000000000000" charset="-120"/>
              </a:rPr>
              <a:t>平均失真度</a:t>
            </a:r>
          </a:p>
          <a:p>
            <a:pPr>
              <a:buClr>
                <a:srgbClr val="993366"/>
              </a:buClr>
            </a:pPr>
            <a:r>
              <a:rPr lang="zh-CN" altLang="en-US" sz="2400">
                <a:solidFill>
                  <a:srgbClr val="0000CC"/>
                </a:solidFill>
                <a:ea typeface="MingLiU_HKSCS-ExtB" panose="02020500000000000000" charset="-120"/>
              </a:rPr>
              <a:t> 平均失真度</a:t>
            </a:r>
          </a:p>
          <a:p>
            <a:pPr marL="355600" lvl="1">
              <a:buClr>
                <a:srgbClr val="993366"/>
              </a:buClr>
            </a:pPr>
            <a:r>
              <a:rPr lang="zh-CN" altLang="en-US" sz="2000" i="1">
                <a:ea typeface="MingLiU_HKSCS-ExtB" panose="02020500000000000000" charset="-120"/>
              </a:rPr>
              <a:t> </a:t>
            </a:r>
            <a:r>
              <a:rPr lang="en-US" altLang="zh-CN" sz="2000" i="1">
                <a:ea typeface="MingLiU_HKSCS-ExtB" panose="02020500000000000000" charset="-120"/>
              </a:rPr>
              <a:t>d</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i="1" baseline="-25000">
                <a:ea typeface="MingLiU_HKSCS-ExtB" panose="02020500000000000000" charset="-120"/>
              </a:rPr>
              <a:t>i</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i="1" baseline="-25000">
                <a:ea typeface="MingLiU_HKSCS-ExtB" panose="02020500000000000000" charset="-120"/>
              </a:rPr>
              <a:t>j</a:t>
            </a:r>
            <a:r>
              <a:rPr lang="en-US" altLang="zh-CN" sz="2000">
                <a:ea typeface="MingLiU_HKSCS-ExtB" panose="02020500000000000000" charset="-120"/>
              </a:rPr>
              <a:t>) </a:t>
            </a:r>
            <a:r>
              <a:rPr lang="zh-CN" altLang="en-US" sz="2000">
                <a:ea typeface="MingLiU_HKSCS-ExtB" panose="02020500000000000000" charset="-120"/>
              </a:rPr>
              <a:t>只能表示两个特定的具体符号 </a:t>
            </a:r>
            <a:r>
              <a:rPr lang="en-US" altLang="zh-CN" sz="2000" i="1">
                <a:ea typeface="MingLiU_HKSCS-ExtB" panose="02020500000000000000" charset="-120"/>
              </a:rPr>
              <a:t>x</a:t>
            </a:r>
            <a:r>
              <a:rPr lang="en-US" altLang="zh-CN" sz="2000" i="1" baseline="-25000">
                <a:ea typeface="MingLiU_HKSCS-ExtB" panose="02020500000000000000" charset="-120"/>
              </a:rPr>
              <a:t>i </a:t>
            </a:r>
            <a:r>
              <a:rPr lang="zh-CN" altLang="en-US" sz="2000">
                <a:ea typeface="MingLiU_HKSCS-ExtB" panose="02020500000000000000" charset="-120"/>
              </a:rPr>
              <a:t>和 </a:t>
            </a:r>
            <a:r>
              <a:rPr lang="en-US" altLang="zh-CN" sz="2000" i="1">
                <a:ea typeface="MingLiU_HKSCS-ExtB" panose="02020500000000000000" charset="-120"/>
              </a:rPr>
              <a:t>y</a:t>
            </a:r>
            <a:r>
              <a:rPr lang="en-US" altLang="zh-CN" sz="2000" i="1" baseline="-25000">
                <a:ea typeface="MingLiU_HKSCS-ExtB" panose="02020500000000000000" charset="-120"/>
              </a:rPr>
              <a:t>j </a:t>
            </a:r>
            <a:r>
              <a:rPr lang="zh-CN" altLang="en-US" sz="2000">
                <a:ea typeface="MingLiU_HKSCS-ExtB" panose="02020500000000000000" charset="-120"/>
              </a:rPr>
              <a:t>之间的失真。</a:t>
            </a:r>
          </a:p>
          <a:p>
            <a:pPr marL="355600" lvl="1">
              <a:buClr>
                <a:srgbClr val="993366"/>
              </a:buClr>
            </a:pPr>
            <a:r>
              <a:rPr lang="zh-CN" altLang="en-US" sz="2000">
                <a:solidFill>
                  <a:srgbClr val="0000CC"/>
                </a:solidFill>
                <a:ea typeface="MingLiU_HKSCS-ExtB" panose="02020500000000000000" charset="-120"/>
              </a:rPr>
              <a:t> </a:t>
            </a:r>
            <a:r>
              <a:rPr lang="zh-CN" altLang="en-US" sz="2000" u="sng">
                <a:solidFill>
                  <a:srgbClr val="0000CC"/>
                </a:solidFill>
                <a:effectLst>
                  <a:outerShdw blurRad="38100" dist="38100" dir="2700000">
                    <a:srgbClr val="C0C0C0"/>
                  </a:outerShdw>
                </a:effectLst>
                <a:ea typeface="MingLiU_HKSCS-ExtB" panose="02020500000000000000" charset="-120"/>
              </a:rPr>
              <a:t>平均失真度</a:t>
            </a:r>
            <a:r>
              <a:rPr lang="zh-CN" altLang="en-US" sz="2000">
                <a:solidFill>
                  <a:srgbClr val="0000CC"/>
                </a:solidFill>
                <a:ea typeface="MingLiU_HKSCS-ExtB" panose="02020500000000000000" charset="-120"/>
              </a:rPr>
              <a:t>：</a:t>
            </a:r>
            <a:r>
              <a:rPr lang="zh-CN" altLang="en-US" sz="2000">
                <a:ea typeface="MingLiU_HKSCS-ExtB" panose="02020500000000000000" charset="-120"/>
              </a:rPr>
              <a:t>失真度的数学期望，即：</a:t>
            </a:r>
          </a:p>
        </p:txBody>
      </p:sp>
      <p:graphicFrame>
        <p:nvGraphicFramePr>
          <p:cNvPr id="2154" name="对象 2153"/>
          <p:cNvGraphicFramePr/>
          <p:nvPr/>
        </p:nvGraphicFramePr>
        <p:xfrm>
          <a:off x="2844800" y="4754563"/>
          <a:ext cx="3668713" cy="762000"/>
        </p:xfrm>
        <a:graphic>
          <a:graphicData uri="http://schemas.openxmlformats.org/presentationml/2006/ole">
            <mc:AlternateContent xmlns:mc="http://schemas.openxmlformats.org/markup-compatibility/2006">
              <mc:Choice xmlns:v="urn:schemas-microsoft-com:vml" Requires="v">
                <p:oleObj spid="_x0000_s8195" r:id="rId3" imgW="887730" imgH="444500" progId="Equation.3">
                  <p:embed/>
                </p:oleObj>
              </mc:Choice>
              <mc:Fallback>
                <p:oleObj r:id="rId3" imgW="887730" imgH="444500" progId="Equation.3">
                  <p:embed/>
                  <p:pic>
                    <p:nvPicPr>
                      <p:cNvPr id="0" name="图片 3088"/>
                      <p:cNvPicPr/>
                      <p:nvPr/>
                    </p:nvPicPr>
                    <p:blipFill>
                      <a:blip r:embed="rId4"/>
                      <a:stretch>
                        <a:fillRect/>
                      </a:stretch>
                    </p:blipFill>
                    <p:spPr>
                      <a:xfrm>
                        <a:off x="2844800" y="4754563"/>
                        <a:ext cx="3668713" cy="762000"/>
                      </a:xfrm>
                      <a:prstGeom prst="rect">
                        <a:avLst/>
                      </a:prstGeom>
                      <a:noFill/>
                      <a:ln w="38100">
                        <a:noFill/>
                        <a:miter/>
                      </a:ln>
                    </p:spPr>
                  </p:pic>
                </p:oleObj>
              </mc:Fallback>
            </mc:AlternateContent>
          </a:graphicData>
        </a:graphic>
      </p:graphicFrame>
      <p:graphicFrame>
        <p:nvGraphicFramePr>
          <p:cNvPr id="2155" name="对象 2154"/>
          <p:cNvGraphicFramePr/>
          <p:nvPr/>
        </p:nvGraphicFramePr>
        <p:xfrm>
          <a:off x="1331913" y="3344863"/>
          <a:ext cx="6442075" cy="1236662"/>
        </p:xfrm>
        <a:graphic>
          <a:graphicData uri="http://schemas.openxmlformats.org/presentationml/2006/ole">
            <mc:AlternateContent xmlns:mc="http://schemas.openxmlformats.org/markup-compatibility/2006">
              <mc:Choice xmlns:v="urn:schemas-microsoft-com:vml" Requires="v">
                <p:oleObj spid="_x0000_s8196" r:id="rId5" imgW="2255520" imgH="736600" progId="Equation.3">
                  <p:embed/>
                </p:oleObj>
              </mc:Choice>
              <mc:Fallback>
                <p:oleObj r:id="rId5" imgW="2255520" imgH="736600" progId="Equation.3">
                  <p:embed/>
                  <p:pic>
                    <p:nvPicPr>
                      <p:cNvPr id="0" name="图片 3086"/>
                      <p:cNvPicPr/>
                      <p:nvPr/>
                    </p:nvPicPr>
                    <p:blipFill>
                      <a:blip r:embed="rId6"/>
                      <a:stretch>
                        <a:fillRect/>
                      </a:stretch>
                    </p:blipFill>
                    <p:spPr>
                      <a:xfrm>
                        <a:off x="1331913" y="3344863"/>
                        <a:ext cx="6442075" cy="1236662"/>
                      </a:xfrm>
                      <a:prstGeom prst="rect">
                        <a:avLst/>
                      </a:prstGeom>
                      <a:noFill/>
                      <a:ln w="38100">
                        <a:noFill/>
                        <a:miter/>
                      </a:ln>
                    </p:spPr>
                  </p:pic>
                </p:oleObj>
              </mc:Fallback>
            </mc:AlternateContent>
          </a:graphicData>
        </a:graphic>
      </p:graphicFrame>
      <p:sp>
        <p:nvSpPr>
          <p:cNvPr id="2156" name="矩形 2155"/>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20</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59" name="标题 2158"/>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60" name="文本占位符 2159"/>
          <p:cNvSpPr>
            <a:spLocks noGrp="1"/>
          </p:cNvSpPr>
          <p:nvPr>
            <p:ph type="body" idx="4294967295"/>
          </p:nvPr>
        </p:nvSpPr>
        <p:spPr/>
        <p:txBody>
          <a:bodyPr/>
          <a:lstStyle/>
          <a:p>
            <a:pPr>
              <a:buClr>
                <a:srgbClr val="993366"/>
              </a:buClr>
              <a:buNone/>
            </a:pPr>
            <a:r>
              <a:rPr lang="en-US" altLang="zh-CN">
                <a:ea typeface="MingLiU_HKSCS-ExtB" panose="02020500000000000000" charset="-120"/>
              </a:rPr>
              <a:t>(4) </a:t>
            </a:r>
            <a:r>
              <a:rPr lang="zh-CN" altLang="en-US">
                <a:ea typeface="MingLiU_HKSCS-ExtB" panose="02020500000000000000" charset="-120"/>
              </a:rPr>
              <a:t>平均失真度</a:t>
            </a:r>
          </a:p>
          <a:p>
            <a:pPr>
              <a:buClr>
                <a:srgbClr val="993366"/>
              </a:buClr>
            </a:pPr>
            <a:r>
              <a:rPr lang="zh-CN" altLang="en-US" sz="2400">
                <a:solidFill>
                  <a:srgbClr val="0000CC"/>
                </a:solidFill>
                <a:ea typeface="MingLiU_HKSCS-ExtB" panose="02020500000000000000" charset="-120"/>
              </a:rPr>
              <a:t>平均失真度的意义</a:t>
            </a:r>
          </a:p>
          <a:p>
            <a:pPr marL="355600" lvl="1">
              <a:buClr>
                <a:srgbClr val="993366"/>
              </a:buClr>
            </a:pPr>
            <a:r>
              <a:rPr lang="zh-CN" altLang="en-US">
                <a:ea typeface="MingLiU_HKSCS-ExtB" panose="02020500000000000000" charset="-120"/>
              </a:rPr>
              <a:t>       是在平均意义上，从总体上对整个系统失真情况的描述。它是</a:t>
            </a:r>
            <a:r>
              <a:rPr lang="zh-CN" altLang="en-US" u="sng">
                <a:solidFill>
                  <a:srgbClr val="FF0000"/>
                </a:solidFill>
                <a:effectLst>
                  <a:outerShdw blurRad="38100" dist="38100" dir="2700000">
                    <a:srgbClr val="C0C0C0"/>
                  </a:outerShdw>
                </a:effectLst>
                <a:ea typeface="MingLiU_HKSCS-ExtB" panose="02020500000000000000" charset="-120"/>
              </a:rPr>
              <a:t>信源统计特性 </a:t>
            </a:r>
            <a:r>
              <a:rPr lang="en-US" altLang="zh-CN" i="1" u="sng">
                <a:solidFill>
                  <a:srgbClr val="FF0000"/>
                </a:solidFill>
                <a:effectLst>
                  <a:outerShdw blurRad="38100" dist="38100" dir="2700000">
                    <a:srgbClr val="C0C0C0"/>
                  </a:outerShdw>
                </a:effectLst>
                <a:ea typeface="MingLiU_HKSCS-ExtB" panose="02020500000000000000" charset="-120"/>
              </a:rPr>
              <a:t>p</a:t>
            </a:r>
            <a:r>
              <a:rPr lang="en-US" altLang="zh-CN" u="sng">
                <a:solidFill>
                  <a:srgbClr val="FF0000"/>
                </a:solidFill>
                <a:effectLst>
                  <a:outerShdw blurRad="38100" dist="38100" dir="2700000">
                    <a:srgbClr val="C0C0C0"/>
                  </a:outerShdw>
                </a:effectLst>
                <a:ea typeface="MingLiU_HKSCS-ExtB" panose="02020500000000000000" charset="-120"/>
              </a:rPr>
              <a:t>(</a:t>
            </a:r>
            <a:r>
              <a:rPr lang="en-US" altLang="zh-CN" i="1" u="sng">
                <a:solidFill>
                  <a:srgbClr val="FF0000"/>
                </a:solidFill>
                <a:effectLst>
                  <a:outerShdw blurRad="38100" dist="38100" dir="2700000">
                    <a:srgbClr val="C0C0C0"/>
                  </a:outerShdw>
                </a:effectLst>
                <a:ea typeface="MingLiU_HKSCS-ExtB" panose="02020500000000000000" charset="-120"/>
              </a:rPr>
              <a:t>x</a:t>
            </a:r>
            <a:r>
              <a:rPr lang="en-US" altLang="zh-CN" i="1" u="sng" baseline="-25000">
                <a:solidFill>
                  <a:srgbClr val="FF0000"/>
                </a:solidFill>
                <a:effectLst>
                  <a:outerShdw blurRad="38100" dist="38100" dir="2700000">
                    <a:srgbClr val="C0C0C0"/>
                  </a:outerShdw>
                </a:effectLst>
                <a:ea typeface="MingLiU_HKSCS-ExtB" panose="02020500000000000000" charset="-120"/>
              </a:rPr>
              <a:t>i</a:t>
            </a:r>
            <a:r>
              <a:rPr lang="en-US" altLang="zh-CN" u="sng">
                <a:solidFill>
                  <a:srgbClr val="FF0000"/>
                </a:solidFill>
                <a:effectLst>
                  <a:outerShdw blurRad="38100" dist="38100" dir="2700000">
                    <a:srgbClr val="C0C0C0"/>
                  </a:outerShdw>
                </a:effectLst>
                <a:ea typeface="MingLiU_HKSCS-ExtB" panose="02020500000000000000" charset="-120"/>
              </a:rPr>
              <a:t>)</a:t>
            </a:r>
            <a:r>
              <a:rPr lang="en-US" altLang="zh-CN">
                <a:solidFill>
                  <a:srgbClr val="FF0000"/>
                </a:solidFill>
                <a:ea typeface="MingLiU_HKSCS-ExtB" panose="02020500000000000000" charset="-120"/>
              </a:rPr>
              <a:t> </a:t>
            </a:r>
            <a:r>
              <a:rPr lang="zh-CN" altLang="en-US">
                <a:solidFill>
                  <a:srgbClr val="FF0000"/>
                </a:solidFill>
                <a:ea typeface="MingLiU_HKSCS-ExtB" panose="02020500000000000000" charset="-120"/>
              </a:rPr>
              <a:t>、</a:t>
            </a:r>
            <a:r>
              <a:rPr lang="zh-CN" altLang="en-US" u="sng">
                <a:solidFill>
                  <a:srgbClr val="FF0000"/>
                </a:solidFill>
                <a:effectLst>
                  <a:outerShdw blurRad="38100" dist="38100" dir="2700000">
                    <a:srgbClr val="C0C0C0"/>
                  </a:outerShdw>
                </a:effectLst>
                <a:ea typeface="MingLiU_HKSCS-ExtB" panose="02020500000000000000" charset="-120"/>
              </a:rPr>
              <a:t>信道统计特性 </a:t>
            </a:r>
            <a:r>
              <a:rPr lang="en-US" altLang="zh-CN" i="1" u="sng">
                <a:solidFill>
                  <a:srgbClr val="FF0000"/>
                </a:solidFill>
                <a:effectLst>
                  <a:outerShdw blurRad="38100" dist="38100" dir="2700000">
                    <a:srgbClr val="C0C0C0"/>
                  </a:outerShdw>
                </a:effectLst>
                <a:ea typeface="MingLiU_HKSCS-ExtB" panose="02020500000000000000" charset="-120"/>
              </a:rPr>
              <a:t>p</a:t>
            </a:r>
            <a:r>
              <a:rPr lang="en-US" altLang="zh-CN" u="sng">
                <a:solidFill>
                  <a:srgbClr val="FF0000"/>
                </a:solidFill>
                <a:effectLst>
                  <a:outerShdw blurRad="38100" dist="38100" dir="2700000">
                    <a:srgbClr val="C0C0C0"/>
                  </a:outerShdw>
                </a:effectLst>
                <a:ea typeface="MingLiU_HKSCS-ExtB" panose="02020500000000000000" charset="-120"/>
              </a:rPr>
              <a:t>(</a:t>
            </a:r>
            <a:r>
              <a:rPr lang="en-US" altLang="zh-CN" i="1" u="sng">
                <a:solidFill>
                  <a:srgbClr val="FF0000"/>
                </a:solidFill>
                <a:effectLst>
                  <a:outerShdw blurRad="38100" dist="38100" dir="2700000">
                    <a:srgbClr val="C0C0C0"/>
                  </a:outerShdw>
                </a:effectLst>
                <a:ea typeface="MingLiU_HKSCS-ExtB" panose="02020500000000000000" charset="-120"/>
              </a:rPr>
              <a:t>y</a:t>
            </a:r>
            <a:r>
              <a:rPr lang="en-US" altLang="zh-CN" i="1" u="sng" baseline="-25000">
                <a:solidFill>
                  <a:srgbClr val="FF0000"/>
                </a:solidFill>
                <a:effectLst>
                  <a:outerShdw blurRad="38100" dist="38100" dir="2700000">
                    <a:srgbClr val="C0C0C0"/>
                  </a:outerShdw>
                </a:effectLst>
                <a:ea typeface="MingLiU_HKSCS-ExtB" panose="02020500000000000000" charset="-120"/>
              </a:rPr>
              <a:t>j</a:t>
            </a:r>
            <a:r>
              <a:rPr lang="en-US" altLang="zh-CN" u="sng">
                <a:solidFill>
                  <a:srgbClr val="FF0000"/>
                </a:solidFill>
                <a:effectLst>
                  <a:outerShdw blurRad="38100" dist="38100" dir="2700000">
                    <a:srgbClr val="C0C0C0"/>
                  </a:outerShdw>
                </a:effectLst>
                <a:ea typeface="MingLiU_HKSCS-ExtB" panose="02020500000000000000" charset="-120"/>
              </a:rPr>
              <a:t>/</a:t>
            </a:r>
            <a:r>
              <a:rPr lang="en-US" altLang="zh-CN" i="1" u="sng">
                <a:solidFill>
                  <a:srgbClr val="FF0000"/>
                </a:solidFill>
                <a:effectLst>
                  <a:outerShdw blurRad="38100" dist="38100" dir="2700000">
                    <a:srgbClr val="C0C0C0"/>
                  </a:outerShdw>
                </a:effectLst>
                <a:ea typeface="MingLiU_HKSCS-ExtB" panose="02020500000000000000" charset="-120"/>
              </a:rPr>
              <a:t>x</a:t>
            </a:r>
            <a:r>
              <a:rPr lang="en-US" altLang="zh-CN" i="1" u="sng" baseline="-25000">
                <a:solidFill>
                  <a:srgbClr val="FF0000"/>
                </a:solidFill>
                <a:effectLst>
                  <a:outerShdw blurRad="38100" dist="38100" dir="2700000">
                    <a:srgbClr val="C0C0C0"/>
                  </a:outerShdw>
                </a:effectLst>
                <a:ea typeface="MingLiU_HKSCS-ExtB" panose="02020500000000000000" charset="-120"/>
              </a:rPr>
              <a:t>i</a:t>
            </a:r>
            <a:r>
              <a:rPr lang="en-US" altLang="zh-CN" u="sng">
                <a:solidFill>
                  <a:srgbClr val="FF0000"/>
                </a:solidFill>
                <a:effectLst>
                  <a:outerShdw blurRad="38100" dist="38100" dir="2700000">
                    <a:srgbClr val="C0C0C0"/>
                  </a:outerShdw>
                </a:effectLst>
                <a:ea typeface="MingLiU_HKSCS-ExtB" panose="02020500000000000000" charset="-120"/>
              </a:rPr>
              <a:t> )</a:t>
            </a:r>
            <a:r>
              <a:rPr lang="en-US" altLang="zh-CN">
                <a:solidFill>
                  <a:srgbClr val="FF0000"/>
                </a:solidFill>
                <a:ea typeface="MingLiU_HKSCS-ExtB" panose="02020500000000000000" charset="-120"/>
              </a:rPr>
              <a:t> </a:t>
            </a:r>
            <a:r>
              <a:rPr lang="zh-CN" altLang="en-US">
                <a:ea typeface="MingLiU_HKSCS-ExtB" panose="02020500000000000000" charset="-120"/>
              </a:rPr>
              <a:t>和</a:t>
            </a:r>
            <a:r>
              <a:rPr lang="zh-CN" altLang="en-US" u="sng">
                <a:solidFill>
                  <a:srgbClr val="FF0000"/>
                </a:solidFill>
                <a:effectLst>
                  <a:outerShdw blurRad="38100" dist="38100" dir="2700000">
                    <a:srgbClr val="C0C0C0"/>
                  </a:outerShdw>
                </a:effectLst>
                <a:ea typeface="MingLiU_HKSCS-ExtB" panose="02020500000000000000" charset="-120"/>
              </a:rPr>
              <a:t>失真度 </a:t>
            </a:r>
            <a:r>
              <a:rPr lang="en-US" altLang="zh-CN" i="1" u="sng">
                <a:solidFill>
                  <a:srgbClr val="FF0000"/>
                </a:solidFill>
                <a:effectLst>
                  <a:outerShdw blurRad="38100" dist="38100" dir="2700000">
                    <a:srgbClr val="C0C0C0"/>
                  </a:outerShdw>
                </a:effectLst>
                <a:ea typeface="MingLiU_HKSCS-ExtB" panose="02020500000000000000" charset="-120"/>
              </a:rPr>
              <a:t>d</a:t>
            </a:r>
            <a:r>
              <a:rPr lang="en-US" altLang="zh-CN" u="sng">
                <a:solidFill>
                  <a:srgbClr val="FF0000"/>
                </a:solidFill>
                <a:effectLst>
                  <a:outerShdw blurRad="38100" dist="38100" dir="2700000">
                    <a:srgbClr val="C0C0C0"/>
                  </a:outerShdw>
                </a:effectLst>
                <a:ea typeface="MingLiU_HKSCS-ExtB" panose="02020500000000000000" charset="-120"/>
              </a:rPr>
              <a:t>(</a:t>
            </a:r>
            <a:r>
              <a:rPr lang="en-US" altLang="zh-CN" i="1" u="sng">
                <a:solidFill>
                  <a:srgbClr val="FF0000"/>
                </a:solidFill>
                <a:effectLst>
                  <a:outerShdw blurRad="38100" dist="38100" dir="2700000">
                    <a:srgbClr val="C0C0C0"/>
                  </a:outerShdw>
                </a:effectLst>
                <a:ea typeface="MingLiU_HKSCS-ExtB" panose="02020500000000000000" charset="-120"/>
              </a:rPr>
              <a:t>x</a:t>
            </a:r>
            <a:r>
              <a:rPr lang="en-US" altLang="zh-CN" i="1" u="sng" baseline="-25000">
                <a:solidFill>
                  <a:srgbClr val="FF0000"/>
                </a:solidFill>
                <a:effectLst>
                  <a:outerShdw blurRad="38100" dist="38100" dir="2700000">
                    <a:srgbClr val="C0C0C0"/>
                  </a:outerShdw>
                </a:effectLst>
                <a:ea typeface="MingLiU_HKSCS-ExtB" panose="02020500000000000000" charset="-120"/>
              </a:rPr>
              <a:t>i</a:t>
            </a:r>
            <a:r>
              <a:rPr lang="en-US" altLang="zh-CN" u="sng">
                <a:solidFill>
                  <a:srgbClr val="FF0000"/>
                </a:solidFill>
                <a:effectLst>
                  <a:outerShdw blurRad="38100" dist="38100" dir="2700000">
                    <a:srgbClr val="C0C0C0"/>
                  </a:outerShdw>
                </a:effectLst>
                <a:ea typeface="MingLiU_HKSCS-ExtB" panose="02020500000000000000" charset="-120"/>
              </a:rPr>
              <a:t>,</a:t>
            </a:r>
            <a:r>
              <a:rPr lang="en-US" altLang="zh-CN" i="1" u="sng">
                <a:solidFill>
                  <a:srgbClr val="FF0000"/>
                </a:solidFill>
                <a:effectLst>
                  <a:outerShdw blurRad="38100" dist="38100" dir="2700000">
                    <a:srgbClr val="C0C0C0"/>
                  </a:outerShdw>
                </a:effectLst>
                <a:ea typeface="MingLiU_HKSCS-ExtB" panose="02020500000000000000" charset="-120"/>
              </a:rPr>
              <a:t>y</a:t>
            </a:r>
            <a:r>
              <a:rPr lang="en-US" altLang="zh-CN" i="1" u="sng" baseline="-25000">
                <a:solidFill>
                  <a:srgbClr val="FF0000"/>
                </a:solidFill>
                <a:effectLst>
                  <a:outerShdw blurRad="38100" dist="38100" dir="2700000">
                    <a:srgbClr val="C0C0C0"/>
                  </a:outerShdw>
                </a:effectLst>
                <a:ea typeface="MingLiU_HKSCS-ExtB" panose="02020500000000000000" charset="-120"/>
              </a:rPr>
              <a:t>j</a:t>
            </a:r>
            <a:r>
              <a:rPr lang="en-US" altLang="zh-CN" u="sng">
                <a:solidFill>
                  <a:srgbClr val="FF0000"/>
                </a:solidFill>
                <a:effectLst>
                  <a:outerShdw blurRad="38100" dist="38100" dir="2700000">
                    <a:srgbClr val="C0C0C0"/>
                  </a:outerShdw>
                </a:effectLst>
                <a:ea typeface="MingLiU_HKSCS-ExtB" panose="02020500000000000000" charset="-120"/>
              </a:rPr>
              <a:t>)</a:t>
            </a:r>
            <a:r>
              <a:rPr lang="en-US" altLang="zh-CN">
                <a:ea typeface="MingLiU_HKSCS-ExtB" panose="02020500000000000000" charset="-120"/>
              </a:rPr>
              <a:t> </a:t>
            </a:r>
            <a:r>
              <a:rPr lang="zh-CN" altLang="en-US">
                <a:ea typeface="MingLiU_HKSCS-ExtB" panose="02020500000000000000" charset="-120"/>
              </a:rPr>
              <a:t>的函数 。</a:t>
            </a:r>
          </a:p>
          <a:p>
            <a:pPr marL="355600" lvl="1">
              <a:buClr>
                <a:srgbClr val="993366"/>
              </a:buClr>
            </a:pPr>
            <a:r>
              <a:rPr lang="zh-CN" altLang="en-US">
                <a:ea typeface="MingLiU_HKSCS-ExtB" panose="02020500000000000000" charset="-120"/>
              </a:rPr>
              <a:t> 当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a:t>
            </a:r>
            <a:r>
              <a:rPr lang="en-US" altLang="zh-CN">
                <a:ea typeface="MingLiU_HKSCS-ExtB" panose="02020500000000000000" charset="-120"/>
              </a:rPr>
              <a:t>)</a:t>
            </a:r>
            <a:r>
              <a:rPr lang="zh-CN" altLang="en-US">
                <a:ea typeface="MingLiU_HKSCS-ExtB" panose="02020500000000000000" charset="-120"/>
              </a:rPr>
              <a:t>，</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a:t>
            </a:r>
            <a:r>
              <a:rPr lang="en-US" altLang="zh-CN">
                <a:ea typeface="MingLiU_HKSCS-ExtB" panose="02020500000000000000" charset="-120"/>
              </a:rPr>
              <a:t> ) </a:t>
            </a:r>
            <a:r>
              <a:rPr lang="zh-CN" altLang="en-US">
                <a:ea typeface="MingLiU_HKSCS-ExtB" panose="02020500000000000000" charset="-120"/>
              </a:rPr>
              <a:t>和 </a:t>
            </a:r>
            <a:r>
              <a:rPr lang="en-US" altLang="zh-CN" i="1">
                <a:ea typeface="MingLiU_HKSCS-ExtB" panose="02020500000000000000" charset="-120"/>
              </a:rPr>
              <a:t>d</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a:t>
            </a:r>
            <a:r>
              <a:rPr lang="en-US" altLang="zh-CN">
                <a:ea typeface="MingLiU_HKSCS-ExtB" panose="02020500000000000000" charset="-120"/>
              </a:rPr>
              <a:t>,</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 </a:t>
            </a:r>
            <a:r>
              <a:rPr lang="zh-CN" altLang="en-US">
                <a:ea typeface="MingLiU_HKSCS-ExtB" panose="02020500000000000000" charset="-120"/>
              </a:rPr>
              <a:t>给定后，平均失真度就不是一个随机变量了，而是一个确定的量。</a:t>
            </a:r>
          </a:p>
          <a:p>
            <a:pPr marL="355600" lvl="1">
              <a:buClr>
                <a:srgbClr val="993366"/>
              </a:buClr>
            </a:pPr>
            <a:r>
              <a:rPr lang="zh-CN" altLang="en-US">
                <a:ea typeface="MingLiU_HKSCS-ExtB" panose="02020500000000000000" charset="-120"/>
              </a:rPr>
              <a:t> 如果</a:t>
            </a:r>
            <a:r>
              <a:rPr lang="zh-CN" altLang="en-US" u="sng">
                <a:ea typeface="MingLiU_HKSCS-ExtB" panose="02020500000000000000" charset="-120"/>
              </a:rPr>
              <a:t>信源</a:t>
            </a:r>
            <a:r>
              <a:rPr lang="zh-CN" altLang="en-US">
                <a:ea typeface="MingLiU_HKSCS-ExtB" panose="02020500000000000000" charset="-120"/>
              </a:rPr>
              <a:t>和</a:t>
            </a:r>
            <a:r>
              <a:rPr lang="zh-CN" altLang="en-US" u="sng">
                <a:ea typeface="MingLiU_HKSCS-ExtB" panose="02020500000000000000" charset="-120"/>
              </a:rPr>
              <a:t>失真度</a:t>
            </a:r>
            <a:r>
              <a:rPr lang="zh-CN" altLang="en-US">
                <a:ea typeface="MingLiU_HKSCS-ExtB" panose="02020500000000000000" charset="-120"/>
              </a:rPr>
              <a:t>一定，       就只是</a:t>
            </a:r>
            <a:r>
              <a:rPr lang="zh-CN" altLang="en-US" u="sng">
                <a:ea typeface="MingLiU_HKSCS-ExtB" panose="02020500000000000000" charset="-120"/>
              </a:rPr>
              <a:t>信道统计特性</a:t>
            </a:r>
            <a:r>
              <a:rPr lang="zh-CN" altLang="en-US">
                <a:ea typeface="MingLiU_HKSCS-ExtB" panose="02020500000000000000" charset="-120"/>
              </a:rPr>
              <a:t>的函数。信道传递概率不同，平均失真度随之改变。</a:t>
            </a:r>
          </a:p>
        </p:txBody>
      </p:sp>
      <p:graphicFrame>
        <p:nvGraphicFramePr>
          <p:cNvPr id="2161" name="对象 2160"/>
          <p:cNvGraphicFramePr/>
          <p:nvPr/>
        </p:nvGraphicFramePr>
        <p:xfrm>
          <a:off x="1258888" y="2351088"/>
          <a:ext cx="349250" cy="430212"/>
        </p:xfrm>
        <a:graphic>
          <a:graphicData uri="http://schemas.openxmlformats.org/presentationml/2006/ole">
            <mc:AlternateContent xmlns:mc="http://schemas.openxmlformats.org/markup-compatibility/2006">
              <mc:Choice xmlns:v="urn:schemas-microsoft-com:vml" Requires="v">
                <p:oleObj spid="_x0000_s9219" r:id="rId3" imgW="165100" imgH="114935" progId="Equation.3">
                  <p:embed/>
                </p:oleObj>
              </mc:Choice>
              <mc:Fallback>
                <p:oleObj r:id="rId3" imgW="165100" imgH="114935" progId="Equation.3">
                  <p:embed/>
                  <p:pic>
                    <p:nvPicPr>
                      <p:cNvPr id="0" name="图片 3089"/>
                      <p:cNvPicPr/>
                      <p:nvPr/>
                    </p:nvPicPr>
                    <p:blipFill>
                      <a:blip r:embed="rId4"/>
                      <a:stretch>
                        <a:fillRect/>
                      </a:stretch>
                    </p:blipFill>
                    <p:spPr>
                      <a:xfrm>
                        <a:off x="1258888" y="2351088"/>
                        <a:ext cx="349250" cy="430212"/>
                      </a:xfrm>
                      <a:prstGeom prst="rect">
                        <a:avLst/>
                      </a:prstGeom>
                      <a:noFill/>
                      <a:ln w="38100">
                        <a:noFill/>
                        <a:miter/>
                      </a:ln>
                    </p:spPr>
                  </p:pic>
                </p:oleObj>
              </mc:Fallback>
            </mc:AlternateContent>
          </a:graphicData>
        </a:graphic>
      </p:graphicFrame>
      <p:graphicFrame>
        <p:nvGraphicFramePr>
          <p:cNvPr id="2162" name="对象 2161"/>
          <p:cNvGraphicFramePr/>
          <p:nvPr/>
        </p:nvGraphicFramePr>
        <p:xfrm>
          <a:off x="4716463" y="5084763"/>
          <a:ext cx="292100" cy="358775"/>
        </p:xfrm>
        <a:graphic>
          <a:graphicData uri="http://schemas.openxmlformats.org/presentationml/2006/ole">
            <mc:AlternateContent xmlns:mc="http://schemas.openxmlformats.org/markup-compatibility/2006">
              <mc:Choice xmlns:v="urn:schemas-microsoft-com:vml" Requires="v">
                <p:oleObj spid="_x0000_s9220" r:id="rId5" imgW="165100" imgH="114935" progId="Equation.3">
                  <p:embed/>
                </p:oleObj>
              </mc:Choice>
              <mc:Fallback>
                <p:oleObj r:id="rId5" imgW="165100" imgH="114935" progId="Equation.3">
                  <p:embed/>
                  <p:pic>
                    <p:nvPicPr>
                      <p:cNvPr id="0" name="图片 3087"/>
                      <p:cNvPicPr/>
                      <p:nvPr/>
                    </p:nvPicPr>
                    <p:blipFill>
                      <a:blip r:embed="rId6"/>
                      <a:stretch>
                        <a:fillRect/>
                      </a:stretch>
                    </p:blipFill>
                    <p:spPr>
                      <a:xfrm>
                        <a:off x="4716463" y="5084763"/>
                        <a:ext cx="292100" cy="358775"/>
                      </a:xfrm>
                      <a:prstGeom prst="rect">
                        <a:avLst/>
                      </a:prstGeom>
                      <a:noFill/>
                      <a:ln w="38100">
                        <a:noFill/>
                        <a:miter/>
                      </a:ln>
                    </p:spPr>
                  </p:pic>
                </p:oleObj>
              </mc:Fallback>
            </mc:AlternateContent>
          </a:graphicData>
        </a:graphic>
      </p:graphicFrame>
      <p:sp>
        <p:nvSpPr>
          <p:cNvPr id="2163" name="矩形 2162"/>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161"/>
                                        </p:tgtEl>
                                        <p:attrNameLst>
                                          <p:attrName>style.visibility</p:attrName>
                                        </p:attrNameLst>
                                      </p:cBhvr>
                                      <p:to>
                                        <p:strVal val="visible"/>
                                      </p:to>
                                    </p:set>
                                    <p:anim calcmode="lin" valueType="num">
                                      <p:cBhvr additive="base">
                                        <p:cTn id="7" dur="1000" fill="hold"/>
                                        <p:tgtEl>
                                          <p:spTgt spid="2161"/>
                                        </p:tgtEl>
                                        <p:attrNameLst>
                                          <p:attrName>ppt_x</p:attrName>
                                        </p:attrNameLst>
                                      </p:cBhvr>
                                      <p:tavLst>
                                        <p:tav tm="0">
                                          <p:val>
                                            <p:strVal val="#ppt_x-.2"/>
                                          </p:val>
                                        </p:tav>
                                        <p:tav tm="100000">
                                          <p:val>
                                            <p:strVal val="#ppt_x"/>
                                          </p:val>
                                        </p:tav>
                                      </p:tavLst>
                                    </p:anim>
                                    <p:anim calcmode="lin" valueType="num">
                                      <p:cBhvr additive="base">
                                        <p:cTn id="8" dur="1000" fill="hold"/>
                                        <p:tgtEl>
                                          <p:spTgt spid="2161"/>
                                        </p:tgtEl>
                                        <p:attrNameLst>
                                          <p:attrName>ppt_y</p:attrName>
                                        </p:attrNameLst>
                                      </p:cBhvr>
                                      <p:tavLst>
                                        <p:tav tm="0">
                                          <p:val>
                                            <p:strVal val="#ppt_y"/>
                                          </p:val>
                                        </p:tav>
                                        <p:tav tm="100000">
                                          <p:val>
                                            <p:strVal val="#ppt_y"/>
                                          </p:val>
                                        </p:tav>
                                      </p:tavLst>
                                    </p:anim>
                                    <p:animEffect transition="in" filter="wipe(right)">
                                      <p:cBhvr additive="base">
                                        <p:cTn id="9" dur="1000"/>
                                        <p:tgtEl>
                                          <p:spTgt spid="2161"/>
                                        </p:tgtEl>
                                      </p:cBhvr>
                                    </p:animEffect>
                                  </p:childTnLst>
                                </p:cTn>
                              </p:par>
                              <p:par>
                                <p:cTn id="10" presetID="29" presetClass="entr" presetSubtype="0" fill="hold" nodeType="withEffect">
                                  <p:childTnLst>
                                    <p:set>
                                      <p:cBhvr additive="base">
                                        <p:cTn id="11" dur="1" fill="hold">
                                          <p:stCondLst>
                                            <p:cond delay="0"/>
                                          </p:stCondLst>
                                        </p:cTn>
                                        <p:tgtEl>
                                          <p:spTgt spid="2162"/>
                                        </p:tgtEl>
                                        <p:attrNameLst>
                                          <p:attrName>style.visibility</p:attrName>
                                        </p:attrNameLst>
                                      </p:cBhvr>
                                      <p:to>
                                        <p:strVal val="visible"/>
                                      </p:to>
                                    </p:set>
                                    <p:anim calcmode="lin" valueType="num">
                                      <p:cBhvr additive="base">
                                        <p:cTn id="12" dur="1000" fill="hold"/>
                                        <p:tgtEl>
                                          <p:spTgt spid="2162"/>
                                        </p:tgtEl>
                                        <p:attrNameLst>
                                          <p:attrName>ppt_x</p:attrName>
                                        </p:attrNameLst>
                                      </p:cBhvr>
                                      <p:tavLst>
                                        <p:tav tm="0">
                                          <p:val>
                                            <p:strVal val="#ppt_x-.2"/>
                                          </p:val>
                                        </p:tav>
                                        <p:tav tm="100000">
                                          <p:val>
                                            <p:strVal val="#ppt_x"/>
                                          </p:val>
                                        </p:tav>
                                      </p:tavLst>
                                    </p:anim>
                                    <p:anim calcmode="lin" valueType="num">
                                      <p:cBhvr additive="base">
                                        <p:cTn id="13" dur="1000" fill="hold"/>
                                        <p:tgtEl>
                                          <p:spTgt spid="2162"/>
                                        </p:tgtEl>
                                        <p:attrNameLst>
                                          <p:attrName>ppt_y</p:attrName>
                                        </p:attrNameLst>
                                      </p:cBhvr>
                                      <p:tavLst>
                                        <p:tav tm="0">
                                          <p:val>
                                            <p:strVal val="#ppt_y"/>
                                          </p:val>
                                        </p:tav>
                                        <p:tav tm="100000">
                                          <p:val>
                                            <p:strVal val="#ppt_y"/>
                                          </p:val>
                                        </p:tav>
                                      </p:tavLst>
                                    </p:anim>
                                    <p:animEffect transition="in" filter="wipe(right)">
                                      <p:cBhvr additive="base">
                                        <p:cTn id="14" dur="1000"/>
                                        <p:tgtEl>
                                          <p:spTgt spid="2162"/>
                                        </p:tgtEl>
                                      </p:cBhvr>
                                    </p:animEffect>
                                  </p:childTnLst>
                                </p:cTn>
                              </p:par>
                              <p:par>
                                <p:cTn id="15" presetID="29" presetClass="entr" presetSubtype="0" fill="hold" nodeType="withEffect">
                                  <p:childTnLst>
                                    <p:set>
                                      <p:cBhvr additive="base">
                                        <p:cTn id="16" dur="1" fill="hold">
                                          <p:stCondLst>
                                            <p:cond delay="0"/>
                                          </p:stCondLst>
                                        </p:cTn>
                                        <p:tgtEl>
                                          <p:spTgt spid="2160">
                                            <p:txEl>
                                              <p:pRg st="1" end="1"/>
                                            </p:txEl>
                                          </p:spTgt>
                                        </p:tgtEl>
                                        <p:attrNameLst>
                                          <p:attrName>style.visibility</p:attrName>
                                        </p:attrNameLst>
                                      </p:cBhvr>
                                      <p:to>
                                        <p:strVal val="visible"/>
                                      </p:to>
                                    </p:set>
                                    <p:anim calcmode="lin" valueType="num">
                                      <p:cBhvr additive="base">
                                        <p:cTn id="17" dur="1000" fill="hold"/>
                                        <p:tgtEl>
                                          <p:spTgt spid="2160">
                                            <p:txEl>
                                              <p:pRg st="1" end="1"/>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160">
                                            <p:txEl>
                                              <p:pRg st="1" end="1"/>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160">
                                            <p:txEl>
                                              <p:pRg st="1" end="1"/>
                                            </p:txEl>
                                          </p:spTgt>
                                        </p:tgtEl>
                                      </p:cBhvr>
                                    </p:animEffect>
                                  </p:childTnLst>
                                </p:cTn>
                              </p:par>
                              <p:par>
                                <p:cTn id="20" presetID="29" presetClass="entr" presetSubtype="0" fill="hold" nodeType="withEffect">
                                  <p:childTnLst>
                                    <p:set>
                                      <p:cBhvr additive="base">
                                        <p:cTn id="21" dur="1" fill="hold">
                                          <p:stCondLst>
                                            <p:cond delay="0"/>
                                          </p:stCondLst>
                                        </p:cTn>
                                        <p:tgtEl>
                                          <p:spTgt spid="2160">
                                            <p:txEl>
                                              <p:pRg st="2" end="2"/>
                                            </p:txEl>
                                          </p:spTgt>
                                        </p:tgtEl>
                                        <p:attrNameLst>
                                          <p:attrName>style.visibility</p:attrName>
                                        </p:attrNameLst>
                                      </p:cBhvr>
                                      <p:to>
                                        <p:strVal val="visible"/>
                                      </p:to>
                                    </p:set>
                                    <p:anim calcmode="lin" valueType="num">
                                      <p:cBhvr additive="base">
                                        <p:cTn id="22" dur="1000" fill="hold"/>
                                        <p:tgtEl>
                                          <p:spTgt spid="2160">
                                            <p:txEl>
                                              <p:pRg st="2" end="2"/>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160">
                                            <p:txEl>
                                              <p:pRg st="2" end="2"/>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160">
                                            <p:txEl>
                                              <p:pRg st="2" end="2"/>
                                            </p:txEl>
                                          </p:spTgt>
                                        </p:tgtEl>
                                      </p:cBhvr>
                                    </p:animEffect>
                                  </p:childTnLst>
                                </p:cTn>
                              </p:par>
                              <p:par>
                                <p:cTn id="25" presetID="29" presetClass="entr" presetSubtype="0" fill="hold" nodeType="withEffect">
                                  <p:childTnLst>
                                    <p:set>
                                      <p:cBhvr additive="base">
                                        <p:cTn id="26" dur="1" fill="hold">
                                          <p:stCondLst>
                                            <p:cond delay="0"/>
                                          </p:stCondLst>
                                        </p:cTn>
                                        <p:tgtEl>
                                          <p:spTgt spid="2160">
                                            <p:txEl>
                                              <p:pRg st="3" end="3"/>
                                            </p:txEl>
                                          </p:spTgt>
                                        </p:tgtEl>
                                        <p:attrNameLst>
                                          <p:attrName>style.visibility</p:attrName>
                                        </p:attrNameLst>
                                      </p:cBhvr>
                                      <p:to>
                                        <p:strVal val="visible"/>
                                      </p:to>
                                    </p:set>
                                    <p:anim calcmode="lin" valueType="num">
                                      <p:cBhvr additive="base">
                                        <p:cTn id="27" dur="1000" fill="hold"/>
                                        <p:tgtEl>
                                          <p:spTgt spid="2160">
                                            <p:txEl>
                                              <p:pRg st="3" end="3"/>
                                            </p:txEl>
                                          </p:spTgt>
                                        </p:tgtEl>
                                        <p:attrNameLst>
                                          <p:attrName>ppt_x</p:attrName>
                                        </p:attrNameLst>
                                      </p:cBhvr>
                                      <p:tavLst>
                                        <p:tav tm="0">
                                          <p:val>
                                            <p:strVal val="#ppt_x-.2"/>
                                          </p:val>
                                        </p:tav>
                                        <p:tav tm="100000">
                                          <p:val>
                                            <p:strVal val="#ppt_x"/>
                                          </p:val>
                                        </p:tav>
                                      </p:tavLst>
                                    </p:anim>
                                    <p:anim calcmode="lin" valueType="num">
                                      <p:cBhvr additive="base">
                                        <p:cTn id="28" dur="1000" fill="hold"/>
                                        <p:tgtEl>
                                          <p:spTgt spid="2160">
                                            <p:txEl>
                                              <p:pRg st="3" end="3"/>
                                            </p:txEl>
                                          </p:spTgt>
                                        </p:tgtEl>
                                        <p:attrNameLst>
                                          <p:attrName>ppt_y</p:attrName>
                                        </p:attrNameLst>
                                      </p:cBhvr>
                                      <p:tavLst>
                                        <p:tav tm="0">
                                          <p:val>
                                            <p:strVal val="#ppt_y"/>
                                          </p:val>
                                        </p:tav>
                                        <p:tav tm="100000">
                                          <p:val>
                                            <p:strVal val="#ppt_y"/>
                                          </p:val>
                                        </p:tav>
                                      </p:tavLst>
                                    </p:anim>
                                    <p:animEffect transition="in" filter="wipe(right)">
                                      <p:cBhvr additive="base">
                                        <p:cTn id="29" dur="1000"/>
                                        <p:tgtEl>
                                          <p:spTgt spid="2160">
                                            <p:txEl>
                                              <p:pRg st="3" end="3"/>
                                            </p:txEl>
                                          </p:spTgt>
                                        </p:tgtEl>
                                      </p:cBhvr>
                                    </p:animEffect>
                                  </p:childTnLst>
                                </p:cTn>
                              </p:par>
                              <p:par>
                                <p:cTn id="30" presetID="29" presetClass="entr" presetSubtype="0" fill="hold" nodeType="withEffect">
                                  <p:childTnLst>
                                    <p:set>
                                      <p:cBhvr additive="base">
                                        <p:cTn id="31" dur="1" fill="hold">
                                          <p:stCondLst>
                                            <p:cond delay="0"/>
                                          </p:stCondLst>
                                        </p:cTn>
                                        <p:tgtEl>
                                          <p:spTgt spid="2160">
                                            <p:txEl>
                                              <p:pRg st="4" end="4"/>
                                            </p:txEl>
                                          </p:spTgt>
                                        </p:tgtEl>
                                        <p:attrNameLst>
                                          <p:attrName>style.visibility</p:attrName>
                                        </p:attrNameLst>
                                      </p:cBhvr>
                                      <p:to>
                                        <p:strVal val="visible"/>
                                      </p:to>
                                    </p:set>
                                    <p:anim calcmode="lin" valueType="num">
                                      <p:cBhvr additive="base">
                                        <p:cTn id="32" dur="1000" fill="hold"/>
                                        <p:tgtEl>
                                          <p:spTgt spid="2160">
                                            <p:txEl>
                                              <p:pRg st="4" end="4"/>
                                            </p:txEl>
                                          </p:spTgt>
                                        </p:tgtEl>
                                        <p:attrNameLst>
                                          <p:attrName>ppt_x</p:attrName>
                                        </p:attrNameLst>
                                      </p:cBhvr>
                                      <p:tavLst>
                                        <p:tav tm="0">
                                          <p:val>
                                            <p:strVal val="#ppt_x-.2"/>
                                          </p:val>
                                        </p:tav>
                                        <p:tav tm="100000">
                                          <p:val>
                                            <p:strVal val="#ppt_x"/>
                                          </p:val>
                                        </p:tav>
                                      </p:tavLst>
                                    </p:anim>
                                    <p:anim calcmode="lin" valueType="num">
                                      <p:cBhvr additive="base">
                                        <p:cTn id="33" dur="1000" fill="hold"/>
                                        <p:tgtEl>
                                          <p:spTgt spid="2160">
                                            <p:txEl>
                                              <p:pRg st="4" end="4"/>
                                            </p:txEl>
                                          </p:spTgt>
                                        </p:tgtEl>
                                        <p:attrNameLst>
                                          <p:attrName>ppt_y</p:attrName>
                                        </p:attrNameLst>
                                      </p:cBhvr>
                                      <p:tavLst>
                                        <p:tav tm="0">
                                          <p:val>
                                            <p:strVal val="#ppt_y"/>
                                          </p:val>
                                        </p:tav>
                                        <p:tav tm="100000">
                                          <p:val>
                                            <p:strVal val="#ppt_y"/>
                                          </p:val>
                                        </p:tav>
                                      </p:tavLst>
                                    </p:anim>
                                    <p:animEffect transition="in" filter="wipe(right)">
                                      <p:cBhvr additive="base">
                                        <p:cTn id="34" dur="1000"/>
                                        <p:tgtEl>
                                          <p:spTgt spid="216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21</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66" name="标题 2165"/>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67" name="文本占位符 2166"/>
          <p:cNvSpPr>
            <a:spLocks noGrp="1"/>
          </p:cNvSpPr>
          <p:nvPr>
            <p:ph type="body" idx="4294967295"/>
          </p:nvPr>
        </p:nvSpPr>
        <p:spPr/>
        <p:txBody>
          <a:bodyPr/>
          <a:lstStyle/>
          <a:p>
            <a:pPr>
              <a:buClr>
                <a:srgbClr val="993366"/>
              </a:buClr>
              <a:buNone/>
            </a:pPr>
            <a:r>
              <a:rPr lang="en-US" altLang="zh-CN">
                <a:ea typeface="MingLiU_HKSCS-ExtB" panose="02020500000000000000" charset="-120"/>
              </a:rPr>
              <a:t>(4) </a:t>
            </a:r>
            <a:r>
              <a:rPr lang="zh-CN" altLang="en-US">
                <a:ea typeface="MingLiU_HKSCS-ExtB" panose="02020500000000000000" charset="-120"/>
              </a:rPr>
              <a:t>平均失真度</a:t>
            </a:r>
          </a:p>
          <a:p>
            <a:pPr>
              <a:buClr>
                <a:srgbClr val="993366"/>
              </a:buClr>
            </a:pPr>
            <a:r>
              <a:rPr lang="zh-CN" altLang="en-US" sz="2400">
                <a:solidFill>
                  <a:srgbClr val="0000CC"/>
                </a:solidFill>
                <a:ea typeface="MingLiU_HKSCS-ExtB" panose="02020500000000000000" charset="-120"/>
              </a:rPr>
              <a:t> 保真度准则</a:t>
            </a:r>
          </a:p>
          <a:p>
            <a:pPr marL="355600" lvl="1">
              <a:buClr>
                <a:srgbClr val="993366"/>
              </a:buClr>
            </a:pPr>
            <a:r>
              <a:rPr lang="zh-CN" altLang="en-US">
                <a:ea typeface="MingLiU_HKSCS-ExtB" panose="02020500000000000000" charset="-120"/>
              </a:rPr>
              <a:t> 人们所允许的失真指的都是平均意义上的失真。</a:t>
            </a:r>
          </a:p>
          <a:p>
            <a:pPr marL="355600" lvl="1">
              <a:buClr>
                <a:srgbClr val="993366"/>
              </a:buClr>
            </a:pPr>
            <a:r>
              <a:rPr lang="zh-CN" altLang="en-US">
                <a:solidFill>
                  <a:srgbClr val="0000CC"/>
                </a:solidFill>
                <a:ea typeface="MingLiU_HKSCS-ExtB" panose="02020500000000000000" charset="-120"/>
              </a:rPr>
              <a:t> </a:t>
            </a:r>
            <a:r>
              <a:rPr lang="zh-CN" altLang="en-US" u="sng">
                <a:solidFill>
                  <a:srgbClr val="0000CC"/>
                </a:solidFill>
                <a:ea typeface="MingLiU_HKSCS-ExtB" panose="02020500000000000000" charset="-120"/>
              </a:rPr>
              <a:t>保真度准则</a:t>
            </a:r>
            <a:r>
              <a:rPr lang="zh-CN" altLang="en-US">
                <a:solidFill>
                  <a:srgbClr val="0000CC"/>
                </a:solidFill>
                <a:ea typeface="MingLiU_HKSCS-ExtB" panose="02020500000000000000" charset="-120"/>
              </a:rPr>
              <a:t>：</a:t>
            </a:r>
            <a:r>
              <a:rPr lang="zh-CN" altLang="en-US">
                <a:ea typeface="MingLiU_HKSCS-ExtB" panose="02020500000000000000" charset="-120"/>
              </a:rPr>
              <a:t>规定平均失真度        不能超过某一限定的值 </a:t>
            </a:r>
            <a:r>
              <a:rPr lang="en-US" altLang="zh-CN" i="1">
                <a:ea typeface="MingLiU_HKSCS-ExtB" panose="02020500000000000000" charset="-120"/>
              </a:rPr>
              <a:t>D</a:t>
            </a:r>
            <a:r>
              <a:rPr lang="zh-CN" altLang="en-US">
                <a:ea typeface="MingLiU_HKSCS-ExtB" panose="02020500000000000000" charset="-120"/>
              </a:rPr>
              <a:t>，即              ，则 </a:t>
            </a:r>
            <a:r>
              <a:rPr lang="en-US" altLang="zh-CN" i="1">
                <a:effectLst>
                  <a:outerShdw blurRad="38100" dist="38100" dir="2700000">
                    <a:srgbClr val="C0C0C0"/>
                  </a:outerShdw>
                </a:effectLst>
                <a:ea typeface="MingLiU_HKSCS-ExtB" panose="02020500000000000000" charset="-120"/>
              </a:rPr>
              <a:t>D </a:t>
            </a:r>
            <a:r>
              <a:rPr lang="zh-CN" altLang="en-US" i="1">
                <a:effectLst>
                  <a:outerShdw blurRad="38100" dist="38100" dir="2700000">
                    <a:srgbClr val="C0C0C0"/>
                  </a:outerShdw>
                </a:effectLst>
                <a:ea typeface="MingLiU_HKSCS-ExtB" panose="02020500000000000000" charset="-120"/>
              </a:rPr>
              <a:t>就是允许失真的上界</a:t>
            </a:r>
            <a:r>
              <a:rPr lang="zh-CN" altLang="en-US">
                <a:ea typeface="MingLiU_HKSCS-ExtB" panose="02020500000000000000" charset="-120"/>
              </a:rPr>
              <a:t>。该式称为保真度准则。</a:t>
            </a:r>
          </a:p>
        </p:txBody>
      </p:sp>
      <p:graphicFrame>
        <p:nvGraphicFramePr>
          <p:cNvPr id="2168" name="对象 2167"/>
          <p:cNvGraphicFramePr/>
          <p:nvPr/>
        </p:nvGraphicFramePr>
        <p:xfrm>
          <a:off x="5368925" y="2924175"/>
          <a:ext cx="276225" cy="400050"/>
        </p:xfrm>
        <a:graphic>
          <a:graphicData uri="http://schemas.openxmlformats.org/presentationml/2006/ole">
            <mc:AlternateContent xmlns:mc="http://schemas.openxmlformats.org/markup-compatibility/2006">
              <mc:Choice xmlns:v="urn:schemas-microsoft-com:vml" Requires="v">
                <p:oleObj spid="_x0000_s10243" r:id="rId3" imgW="165100" imgH="114935" progId="Equation.3">
                  <p:embed/>
                </p:oleObj>
              </mc:Choice>
              <mc:Fallback>
                <p:oleObj r:id="rId3" imgW="165100" imgH="114935" progId="Equation.3">
                  <p:embed/>
                  <p:pic>
                    <p:nvPicPr>
                      <p:cNvPr id="0" name="图片 3090"/>
                      <p:cNvPicPr/>
                      <p:nvPr/>
                    </p:nvPicPr>
                    <p:blipFill>
                      <a:blip r:embed="rId4"/>
                      <a:stretch>
                        <a:fillRect/>
                      </a:stretch>
                    </p:blipFill>
                    <p:spPr>
                      <a:xfrm>
                        <a:off x="5368925" y="2924175"/>
                        <a:ext cx="276225" cy="400050"/>
                      </a:xfrm>
                      <a:prstGeom prst="rect">
                        <a:avLst/>
                      </a:prstGeom>
                      <a:noFill/>
                      <a:ln w="38100">
                        <a:noFill/>
                        <a:miter/>
                      </a:ln>
                    </p:spPr>
                  </p:pic>
                </p:oleObj>
              </mc:Fallback>
            </mc:AlternateContent>
          </a:graphicData>
        </a:graphic>
      </p:graphicFrame>
      <p:graphicFrame>
        <p:nvGraphicFramePr>
          <p:cNvPr id="2169" name="对象 2168"/>
          <p:cNvGraphicFramePr/>
          <p:nvPr/>
        </p:nvGraphicFramePr>
        <p:xfrm>
          <a:off x="2168525" y="3475038"/>
          <a:ext cx="739775" cy="385762"/>
        </p:xfrm>
        <a:graphic>
          <a:graphicData uri="http://schemas.openxmlformats.org/presentationml/2006/ole">
            <mc:AlternateContent xmlns:mc="http://schemas.openxmlformats.org/markup-compatibility/2006">
              <mc:Choice xmlns:v="urn:schemas-microsoft-com:vml" Requires="v">
                <p:oleObj spid="_x0000_s10244" r:id="rId5" imgW="370840" imgH="203200" progId="Equation.3">
                  <p:embed/>
                </p:oleObj>
              </mc:Choice>
              <mc:Fallback>
                <p:oleObj r:id="rId5" imgW="370840" imgH="203200" progId="Equation.3">
                  <p:embed/>
                  <p:pic>
                    <p:nvPicPr>
                      <p:cNvPr id="0" name="图片 3077"/>
                      <p:cNvPicPr/>
                      <p:nvPr/>
                    </p:nvPicPr>
                    <p:blipFill>
                      <a:blip r:embed="rId6"/>
                      <a:stretch>
                        <a:fillRect/>
                      </a:stretch>
                    </p:blipFill>
                    <p:spPr>
                      <a:xfrm>
                        <a:off x="2168525" y="3475038"/>
                        <a:ext cx="739775" cy="385762"/>
                      </a:xfrm>
                      <a:prstGeom prst="rect">
                        <a:avLst/>
                      </a:prstGeom>
                      <a:noFill/>
                      <a:ln w="38100">
                        <a:noFill/>
                        <a:miter/>
                      </a:ln>
                    </p:spPr>
                  </p:pic>
                </p:oleObj>
              </mc:Fallback>
            </mc:AlternateContent>
          </a:graphicData>
        </a:graphic>
      </p:graphicFrame>
      <p:sp>
        <p:nvSpPr>
          <p:cNvPr id="2170" name="矩形 2169"/>
          <p:cNvSpPr/>
          <p:nvPr/>
        </p:nvSpPr>
        <p:spPr>
          <a:xfrm>
            <a:off x="8029575" y="5948363"/>
            <a:ext cx="796925" cy="360362"/>
          </a:xfrm>
          <a:solidFill>
            <a:srgbClr val="BBE0E3"/>
          </a:solidFill>
          <a:ln w="12700">
            <a:noFill/>
          </a:ln>
        </p:spPr>
        <p:txBody>
          <a:bodyPr/>
          <a:lstStyle/>
          <a:p>
            <a:endParaRPr lang="zh-CN" altLang="en-US"/>
          </a:p>
        </p:txBody>
      </p:sp>
      <p:sp>
        <p:nvSpPr>
          <p:cNvPr id="2171" name="矩形 2170"/>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169"/>
                                        </p:tgtEl>
                                        <p:attrNameLst>
                                          <p:attrName>style.visibility</p:attrName>
                                        </p:attrNameLst>
                                      </p:cBhvr>
                                      <p:to>
                                        <p:strVal val="visible"/>
                                      </p:to>
                                    </p:set>
                                    <p:anim calcmode="lin" valueType="num">
                                      <p:cBhvr additive="base">
                                        <p:cTn id="7" dur="1000" fill="hold"/>
                                        <p:tgtEl>
                                          <p:spTgt spid="2169"/>
                                        </p:tgtEl>
                                        <p:attrNameLst>
                                          <p:attrName>ppt_x</p:attrName>
                                        </p:attrNameLst>
                                      </p:cBhvr>
                                      <p:tavLst>
                                        <p:tav tm="0">
                                          <p:val>
                                            <p:strVal val="#ppt_x-.2"/>
                                          </p:val>
                                        </p:tav>
                                        <p:tav tm="100000">
                                          <p:val>
                                            <p:strVal val="#ppt_x"/>
                                          </p:val>
                                        </p:tav>
                                      </p:tavLst>
                                    </p:anim>
                                    <p:anim calcmode="lin" valueType="num">
                                      <p:cBhvr additive="base">
                                        <p:cTn id="8" dur="1000" fill="hold"/>
                                        <p:tgtEl>
                                          <p:spTgt spid="2169"/>
                                        </p:tgtEl>
                                        <p:attrNameLst>
                                          <p:attrName>ppt_y</p:attrName>
                                        </p:attrNameLst>
                                      </p:cBhvr>
                                      <p:tavLst>
                                        <p:tav tm="0">
                                          <p:val>
                                            <p:strVal val="#ppt_y"/>
                                          </p:val>
                                        </p:tav>
                                        <p:tav tm="100000">
                                          <p:val>
                                            <p:strVal val="#ppt_y"/>
                                          </p:val>
                                        </p:tav>
                                      </p:tavLst>
                                    </p:anim>
                                    <p:animEffect transition="in" filter="wipe(right)">
                                      <p:cBhvr additive="base">
                                        <p:cTn id="9" dur="1000"/>
                                        <p:tgtEl>
                                          <p:spTgt spid="2169"/>
                                        </p:tgtEl>
                                      </p:cBhvr>
                                    </p:animEffect>
                                  </p:childTnLst>
                                </p:cTn>
                              </p:par>
                              <p:par>
                                <p:cTn id="10" presetID="29" presetClass="entr" presetSubtype="0" fill="hold" nodeType="withEffect">
                                  <p:childTnLst>
                                    <p:set>
                                      <p:cBhvr additive="base">
                                        <p:cTn id="11" dur="1" fill="hold">
                                          <p:stCondLst>
                                            <p:cond delay="0"/>
                                          </p:stCondLst>
                                        </p:cTn>
                                        <p:tgtEl>
                                          <p:spTgt spid="2168"/>
                                        </p:tgtEl>
                                        <p:attrNameLst>
                                          <p:attrName>style.visibility</p:attrName>
                                        </p:attrNameLst>
                                      </p:cBhvr>
                                      <p:to>
                                        <p:strVal val="visible"/>
                                      </p:to>
                                    </p:set>
                                    <p:anim calcmode="lin" valueType="num">
                                      <p:cBhvr additive="base">
                                        <p:cTn id="12" dur="1000" fill="hold"/>
                                        <p:tgtEl>
                                          <p:spTgt spid="2168"/>
                                        </p:tgtEl>
                                        <p:attrNameLst>
                                          <p:attrName>ppt_x</p:attrName>
                                        </p:attrNameLst>
                                      </p:cBhvr>
                                      <p:tavLst>
                                        <p:tav tm="0">
                                          <p:val>
                                            <p:strVal val="#ppt_x-.2"/>
                                          </p:val>
                                        </p:tav>
                                        <p:tav tm="100000">
                                          <p:val>
                                            <p:strVal val="#ppt_x"/>
                                          </p:val>
                                        </p:tav>
                                      </p:tavLst>
                                    </p:anim>
                                    <p:anim calcmode="lin" valueType="num">
                                      <p:cBhvr additive="base">
                                        <p:cTn id="13" dur="1000" fill="hold"/>
                                        <p:tgtEl>
                                          <p:spTgt spid="2168"/>
                                        </p:tgtEl>
                                        <p:attrNameLst>
                                          <p:attrName>ppt_y</p:attrName>
                                        </p:attrNameLst>
                                      </p:cBhvr>
                                      <p:tavLst>
                                        <p:tav tm="0">
                                          <p:val>
                                            <p:strVal val="#ppt_y"/>
                                          </p:val>
                                        </p:tav>
                                        <p:tav tm="100000">
                                          <p:val>
                                            <p:strVal val="#ppt_y"/>
                                          </p:val>
                                        </p:tav>
                                      </p:tavLst>
                                    </p:anim>
                                    <p:animEffect transition="in" filter="wipe(right)">
                                      <p:cBhvr additive="base">
                                        <p:cTn id="14" dur="1000"/>
                                        <p:tgtEl>
                                          <p:spTgt spid="2168"/>
                                        </p:tgtEl>
                                      </p:cBhvr>
                                    </p:animEffect>
                                  </p:childTnLst>
                                </p:cTn>
                              </p:par>
                              <p:par>
                                <p:cTn id="15" presetID="29" presetClass="entr" presetSubtype="0" fill="hold" grpId="0" nodeType="withEffect">
                                  <p:childTnLst>
                                    <p:set>
                                      <p:cBhvr additive="base">
                                        <p:cTn id="16" dur="1" fill="hold">
                                          <p:stCondLst>
                                            <p:cond delay="0"/>
                                          </p:stCondLst>
                                        </p:cTn>
                                        <p:tgtEl>
                                          <p:spTgt spid="2170"/>
                                        </p:tgtEl>
                                        <p:attrNameLst>
                                          <p:attrName>style.visibility</p:attrName>
                                        </p:attrNameLst>
                                      </p:cBhvr>
                                      <p:to>
                                        <p:strVal val="visible"/>
                                      </p:to>
                                    </p:set>
                                    <p:anim calcmode="lin" valueType="num">
                                      <p:cBhvr additive="base">
                                        <p:cTn id="17" dur="1000" fill="hold"/>
                                        <p:tgtEl>
                                          <p:spTgt spid="2170"/>
                                        </p:tgtEl>
                                        <p:attrNameLst>
                                          <p:attrName>ppt_x</p:attrName>
                                        </p:attrNameLst>
                                      </p:cBhvr>
                                      <p:tavLst>
                                        <p:tav tm="0">
                                          <p:val>
                                            <p:strVal val="#ppt_x-.2"/>
                                          </p:val>
                                        </p:tav>
                                        <p:tav tm="100000">
                                          <p:val>
                                            <p:strVal val="#ppt_x"/>
                                          </p:val>
                                        </p:tav>
                                      </p:tavLst>
                                    </p:anim>
                                    <p:anim calcmode="lin" valueType="num">
                                      <p:cBhvr additive="base">
                                        <p:cTn id="18" dur="1000" fill="hold"/>
                                        <p:tgtEl>
                                          <p:spTgt spid="2170"/>
                                        </p:tgtEl>
                                        <p:attrNameLst>
                                          <p:attrName>ppt_y</p:attrName>
                                        </p:attrNameLst>
                                      </p:cBhvr>
                                      <p:tavLst>
                                        <p:tav tm="0">
                                          <p:val>
                                            <p:strVal val="#ppt_y"/>
                                          </p:val>
                                        </p:tav>
                                        <p:tav tm="100000">
                                          <p:val>
                                            <p:strVal val="#ppt_y"/>
                                          </p:val>
                                        </p:tav>
                                      </p:tavLst>
                                    </p:anim>
                                    <p:animEffect transition="in" filter="wipe(right)">
                                      <p:cBhvr additive="base">
                                        <p:cTn id="19" dur="1000"/>
                                        <p:tgtEl>
                                          <p:spTgt spid="2170"/>
                                        </p:tgtEl>
                                      </p:cBhvr>
                                    </p:animEffect>
                                  </p:childTnLst>
                                </p:cTn>
                              </p:par>
                              <p:par>
                                <p:cTn id="20" presetID="29" presetClass="entr" presetSubtype="0" fill="hold" nodeType="withEffect">
                                  <p:childTnLst>
                                    <p:set>
                                      <p:cBhvr additive="base">
                                        <p:cTn id="21" dur="1" fill="hold">
                                          <p:stCondLst>
                                            <p:cond delay="0"/>
                                          </p:stCondLst>
                                        </p:cTn>
                                        <p:tgtEl>
                                          <p:spTgt spid="2167">
                                            <p:txEl>
                                              <p:pRg st="1" end="1"/>
                                            </p:txEl>
                                          </p:spTgt>
                                        </p:tgtEl>
                                        <p:attrNameLst>
                                          <p:attrName>style.visibility</p:attrName>
                                        </p:attrNameLst>
                                      </p:cBhvr>
                                      <p:to>
                                        <p:strVal val="visible"/>
                                      </p:to>
                                    </p:set>
                                    <p:anim calcmode="lin" valueType="num">
                                      <p:cBhvr additive="base">
                                        <p:cTn id="22" dur="1000" fill="hold"/>
                                        <p:tgtEl>
                                          <p:spTgt spid="2167">
                                            <p:txEl>
                                              <p:pRg st="1" end="1"/>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167">
                                            <p:txEl>
                                              <p:pRg st="1" end="1"/>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167">
                                            <p:txEl>
                                              <p:pRg st="1" end="1"/>
                                            </p:txEl>
                                          </p:spTgt>
                                        </p:tgtEl>
                                      </p:cBhvr>
                                    </p:animEffect>
                                  </p:childTnLst>
                                </p:cTn>
                              </p:par>
                              <p:par>
                                <p:cTn id="25" presetID="29" presetClass="entr" presetSubtype="0" fill="hold" nodeType="withEffect">
                                  <p:childTnLst>
                                    <p:set>
                                      <p:cBhvr additive="base">
                                        <p:cTn id="26" dur="1" fill="hold">
                                          <p:stCondLst>
                                            <p:cond delay="0"/>
                                          </p:stCondLst>
                                        </p:cTn>
                                        <p:tgtEl>
                                          <p:spTgt spid="2167">
                                            <p:txEl>
                                              <p:pRg st="2" end="2"/>
                                            </p:txEl>
                                          </p:spTgt>
                                        </p:tgtEl>
                                        <p:attrNameLst>
                                          <p:attrName>style.visibility</p:attrName>
                                        </p:attrNameLst>
                                      </p:cBhvr>
                                      <p:to>
                                        <p:strVal val="visible"/>
                                      </p:to>
                                    </p:set>
                                    <p:anim calcmode="lin" valueType="num">
                                      <p:cBhvr additive="base">
                                        <p:cTn id="27" dur="1000" fill="hold"/>
                                        <p:tgtEl>
                                          <p:spTgt spid="2167">
                                            <p:txEl>
                                              <p:pRg st="2" end="2"/>
                                            </p:txEl>
                                          </p:spTgt>
                                        </p:tgtEl>
                                        <p:attrNameLst>
                                          <p:attrName>ppt_x</p:attrName>
                                        </p:attrNameLst>
                                      </p:cBhvr>
                                      <p:tavLst>
                                        <p:tav tm="0">
                                          <p:val>
                                            <p:strVal val="#ppt_x-.2"/>
                                          </p:val>
                                        </p:tav>
                                        <p:tav tm="100000">
                                          <p:val>
                                            <p:strVal val="#ppt_x"/>
                                          </p:val>
                                        </p:tav>
                                      </p:tavLst>
                                    </p:anim>
                                    <p:anim calcmode="lin" valueType="num">
                                      <p:cBhvr additive="base">
                                        <p:cTn id="28" dur="1000" fill="hold"/>
                                        <p:tgtEl>
                                          <p:spTgt spid="2167">
                                            <p:txEl>
                                              <p:pRg st="2" end="2"/>
                                            </p:txEl>
                                          </p:spTgt>
                                        </p:tgtEl>
                                        <p:attrNameLst>
                                          <p:attrName>ppt_y</p:attrName>
                                        </p:attrNameLst>
                                      </p:cBhvr>
                                      <p:tavLst>
                                        <p:tav tm="0">
                                          <p:val>
                                            <p:strVal val="#ppt_y"/>
                                          </p:val>
                                        </p:tav>
                                        <p:tav tm="100000">
                                          <p:val>
                                            <p:strVal val="#ppt_y"/>
                                          </p:val>
                                        </p:tav>
                                      </p:tavLst>
                                    </p:anim>
                                    <p:animEffect transition="in" filter="wipe(right)">
                                      <p:cBhvr additive="base">
                                        <p:cTn id="29" dur="1000"/>
                                        <p:tgtEl>
                                          <p:spTgt spid="2167">
                                            <p:txEl>
                                              <p:pRg st="2" end="2"/>
                                            </p:txEl>
                                          </p:spTgt>
                                        </p:tgtEl>
                                      </p:cBhvr>
                                    </p:animEffect>
                                  </p:childTnLst>
                                </p:cTn>
                              </p:par>
                              <p:par>
                                <p:cTn id="30" presetID="29" presetClass="entr" presetSubtype="0" fill="hold" nodeType="withEffect">
                                  <p:childTnLst>
                                    <p:set>
                                      <p:cBhvr additive="base">
                                        <p:cTn id="31" dur="1" fill="hold">
                                          <p:stCondLst>
                                            <p:cond delay="0"/>
                                          </p:stCondLst>
                                        </p:cTn>
                                        <p:tgtEl>
                                          <p:spTgt spid="2167">
                                            <p:txEl>
                                              <p:pRg st="3" end="3"/>
                                            </p:txEl>
                                          </p:spTgt>
                                        </p:tgtEl>
                                        <p:attrNameLst>
                                          <p:attrName>style.visibility</p:attrName>
                                        </p:attrNameLst>
                                      </p:cBhvr>
                                      <p:to>
                                        <p:strVal val="visible"/>
                                      </p:to>
                                    </p:set>
                                    <p:anim calcmode="lin" valueType="num">
                                      <p:cBhvr additive="base">
                                        <p:cTn id="32" dur="1000" fill="hold"/>
                                        <p:tgtEl>
                                          <p:spTgt spid="2167">
                                            <p:txEl>
                                              <p:pRg st="3" end="3"/>
                                            </p:txEl>
                                          </p:spTgt>
                                        </p:tgtEl>
                                        <p:attrNameLst>
                                          <p:attrName>ppt_x</p:attrName>
                                        </p:attrNameLst>
                                      </p:cBhvr>
                                      <p:tavLst>
                                        <p:tav tm="0">
                                          <p:val>
                                            <p:strVal val="#ppt_x-.2"/>
                                          </p:val>
                                        </p:tav>
                                        <p:tav tm="100000">
                                          <p:val>
                                            <p:strVal val="#ppt_x"/>
                                          </p:val>
                                        </p:tav>
                                      </p:tavLst>
                                    </p:anim>
                                    <p:anim calcmode="lin" valueType="num">
                                      <p:cBhvr additive="base">
                                        <p:cTn id="33" dur="1000" fill="hold"/>
                                        <p:tgtEl>
                                          <p:spTgt spid="2167">
                                            <p:txEl>
                                              <p:pRg st="3" end="3"/>
                                            </p:txEl>
                                          </p:spTgt>
                                        </p:tgtEl>
                                        <p:attrNameLst>
                                          <p:attrName>ppt_y</p:attrName>
                                        </p:attrNameLst>
                                      </p:cBhvr>
                                      <p:tavLst>
                                        <p:tav tm="0">
                                          <p:val>
                                            <p:strVal val="#ppt_y"/>
                                          </p:val>
                                        </p:tav>
                                        <p:tav tm="100000">
                                          <p:val>
                                            <p:strVal val="#ppt_y"/>
                                          </p:val>
                                        </p:tav>
                                      </p:tavLst>
                                    </p:anim>
                                    <p:animEffect transition="in" filter="wipe(right)">
                                      <p:cBhvr additive="base">
                                        <p:cTn id="34" dur="1000"/>
                                        <p:tgtEl>
                                          <p:spTgt spid="21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22</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74" name="标题 2173"/>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75" name="文本占位符 2174"/>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(5)  </a:t>
            </a:r>
            <a:r>
              <a:rPr lang="en-US" altLang="zh-CN" i="1">
                <a:ea typeface="MingLiU_HKSCS-ExtB" panose="02020500000000000000" charset="-120"/>
              </a:rPr>
              <a:t>N </a:t>
            </a:r>
            <a:r>
              <a:rPr lang="zh-CN" altLang="en-US">
                <a:ea typeface="MingLiU_HKSCS-ExtB" panose="02020500000000000000" charset="-120"/>
              </a:rPr>
              <a:t>次扩展信道的平均失真度</a:t>
            </a:r>
          </a:p>
          <a:p>
            <a:pPr>
              <a:buClr>
                <a:srgbClr val="993366"/>
              </a:buClr>
            </a:pPr>
            <a:r>
              <a:rPr lang="zh-CN" altLang="en-US" sz="2400" i="1">
                <a:ea typeface="MingLiU_HKSCS-ExtB" panose="02020500000000000000" charset="-120"/>
              </a:rPr>
              <a:t> </a:t>
            </a:r>
            <a:r>
              <a:rPr lang="en-US" altLang="zh-CN" sz="2400" i="1">
                <a:ea typeface="MingLiU_HKSCS-ExtB" panose="02020500000000000000" charset="-120"/>
              </a:rPr>
              <a:t>N </a:t>
            </a:r>
            <a:r>
              <a:rPr lang="zh-CN" altLang="en-US" sz="2400">
                <a:ea typeface="MingLiU_HKSCS-ExtB" panose="02020500000000000000" charset="-120"/>
              </a:rPr>
              <a:t>次扩展</a:t>
            </a:r>
          </a:p>
          <a:p>
            <a:pPr marL="355600" lvl="1">
              <a:buClr>
                <a:srgbClr val="993366"/>
              </a:buClr>
            </a:pPr>
            <a:r>
              <a:rPr lang="zh-CN" altLang="en-US">
                <a:ea typeface="MingLiU_HKSCS-ExtB" panose="02020500000000000000" charset="-120"/>
              </a:rPr>
              <a:t> 单符号离散无记忆信源 </a:t>
            </a:r>
            <a:r>
              <a:rPr lang="en-US" altLang="zh-CN" i="1">
                <a:ea typeface="MingLiU_HKSCS-ExtB" panose="02020500000000000000" charset="-120"/>
              </a:rPr>
              <a:t>X </a:t>
            </a:r>
            <a:r>
              <a:rPr lang="en-US" altLang="zh-CN">
                <a:ea typeface="MingLiU_HKSCS-ExtB" panose="02020500000000000000" charset="-120"/>
              </a:rPr>
              <a:t>{</a:t>
            </a:r>
            <a:r>
              <a:rPr lang="en-US" altLang="zh-CN" i="1">
                <a:ea typeface="MingLiU_HKSCS-ExtB" panose="02020500000000000000" charset="-120"/>
              </a:rPr>
              <a:t>x</a:t>
            </a:r>
            <a:r>
              <a:rPr lang="en-US" altLang="zh-CN" baseline="-25000">
                <a:ea typeface="MingLiU_HKSCS-ExtB" panose="02020500000000000000" charset="-120"/>
              </a:rPr>
              <a:t>1</a:t>
            </a:r>
            <a:r>
              <a:rPr lang="en-US" altLang="zh-CN">
                <a:ea typeface="MingLiU_HKSCS-ExtB" panose="02020500000000000000" charset="-120"/>
              </a:rPr>
              <a:t>,</a:t>
            </a:r>
            <a:r>
              <a:rPr lang="en-US" altLang="zh-CN" i="1">
                <a:ea typeface="MingLiU_HKSCS-ExtB" panose="02020500000000000000" charset="-120"/>
              </a:rPr>
              <a:t>x</a:t>
            </a:r>
            <a:r>
              <a:rPr lang="en-US" altLang="zh-CN" baseline="-25000">
                <a:ea typeface="MingLiU_HKSCS-ExtB" panose="02020500000000000000" charset="-120"/>
              </a:rPr>
              <a:t>2</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n</a:t>
            </a:r>
            <a:r>
              <a:rPr lang="en-US" altLang="zh-CN">
                <a:ea typeface="MingLiU_HKSCS-ExtB" panose="02020500000000000000" charset="-120"/>
              </a:rPr>
              <a:t>} </a:t>
            </a:r>
            <a:r>
              <a:rPr lang="zh-CN" altLang="en-US">
                <a:ea typeface="MingLiU_HKSCS-ExtB" panose="02020500000000000000" charset="-120"/>
              </a:rPr>
              <a:t>的 </a:t>
            </a:r>
            <a:r>
              <a:rPr lang="en-US" altLang="zh-CN" i="1">
                <a:ea typeface="MingLiU_HKSCS-ExtB" panose="02020500000000000000" charset="-120"/>
              </a:rPr>
              <a:t>N </a:t>
            </a:r>
            <a:r>
              <a:rPr lang="zh-CN" altLang="en-US">
                <a:ea typeface="MingLiU_HKSCS-ExtB" panose="02020500000000000000" charset="-120"/>
              </a:rPr>
              <a:t>次扩展信源 </a:t>
            </a:r>
            <a:r>
              <a:rPr lang="en-US" altLang="zh-CN" i="1">
                <a:ea typeface="MingLiU_HKSCS-ExtB" panose="02020500000000000000" charset="-120"/>
              </a:rPr>
              <a:t>X</a:t>
            </a:r>
            <a:r>
              <a:rPr lang="en-US" altLang="zh-CN" i="1" baseline="30000">
                <a:ea typeface="MingLiU_HKSCS-ExtB" panose="02020500000000000000" charset="-120"/>
              </a:rPr>
              <a:t>N</a:t>
            </a:r>
            <a:r>
              <a:rPr lang="en-US" altLang="zh-CN" baseline="30000">
                <a:ea typeface="MingLiU_HKSCS-ExtB" panose="02020500000000000000" charset="-120"/>
              </a:rPr>
              <a:t> </a:t>
            </a:r>
            <a:r>
              <a:rPr lang="en-US" altLang="zh-CN">
                <a:ea typeface="MingLiU_HKSCS-ExtB" panose="02020500000000000000" charset="-120"/>
              </a:rPr>
              <a:t>=</a:t>
            </a:r>
            <a:r>
              <a:rPr lang="en-US" altLang="zh-CN" i="1">
                <a:ea typeface="MingLiU_HKSCS-ExtB" panose="02020500000000000000" charset="-120"/>
              </a:rPr>
              <a:t>X</a:t>
            </a:r>
            <a:r>
              <a:rPr lang="en-US" altLang="zh-CN" baseline="-25000">
                <a:ea typeface="MingLiU_HKSCS-ExtB" panose="02020500000000000000" charset="-120"/>
              </a:rPr>
              <a:t>1</a:t>
            </a:r>
            <a:r>
              <a:rPr lang="en-US" altLang="zh-CN" i="1">
                <a:ea typeface="MingLiU_HKSCS-ExtB" panose="02020500000000000000" charset="-120"/>
              </a:rPr>
              <a:t>X</a:t>
            </a:r>
            <a:r>
              <a:rPr lang="en-US" altLang="zh-CN" baseline="-25000">
                <a:ea typeface="MingLiU_HKSCS-ExtB" panose="02020500000000000000" charset="-120"/>
              </a:rPr>
              <a:t>2</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N</a:t>
            </a:r>
            <a:r>
              <a:rPr lang="en-US" altLang="zh-CN">
                <a:ea typeface="MingLiU_HKSCS-ExtB" panose="02020500000000000000" charset="-120"/>
              </a:rPr>
              <a:t> </a:t>
            </a:r>
            <a:r>
              <a:rPr lang="zh-CN" altLang="en-US">
                <a:ea typeface="MingLiU_HKSCS-ExtB" panose="02020500000000000000" charset="-120"/>
              </a:rPr>
              <a:t>，在信道中的传递作用相当于单符号离散无记忆信道的 </a:t>
            </a:r>
            <a:r>
              <a:rPr lang="en-US" altLang="zh-CN" i="1">
                <a:ea typeface="MingLiU_HKSCS-ExtB" panose="02020500000000000000" charset="-120"/>
              </a:rPr>
              <a:t>N </a:t>
            </a:r>
            <a:r>
              <a:rPr lang="zh-CN" altLang="en-US">
                <a:ea typeface="MingLiU_HKSCS-ExtB" panose="02020500000000000000" charset="-120"/>
              </a:rPr>
              <a:t>次扩展信道，输出也是一个随机变量序列 </a:t>
            </a:r>
            <a:r>
              <a:rPr lang="en-US" altLang="zh-CN" i="1">
                <a:ea typeface="MingLiU_HKSCS-ExtB" panose="02020500000000000000" charset="-120"/>
              </a:rPr>
              <a:t>Y</a:t>
            </a:r>
            <a:r>
              <a:rPr lang="en-US" altLang="zh-CN" i="1" baseline="30000">
                <a:ea typeface="MingLiU_HKSCS-ExtB" panose="02020500000000000000" charset="-120"/>
              </a:rPr>
              <a:t>N</a:t>
            </a:r>
            <a:r>
              <a:rPr lang="en-US" altLang="zh-CN">
                <a:ea typeface="MingLiU_HKSCS-ExtB" panose="02020500000000000000" charset="-120"/>
              </a:rPr>
              <a:t> =</a:t>
            </a:r>
            <a:r>
              <a:rPr lang="en-US" altLang="zh-CN" i="1">
                <a:ea typeface="MingLiU_HKSCS-ExtB" panose="02020500000000000000" charset="-120"/>
              </a:rPr>
              <a:t>Y</a:t>
            </a:r>
            <a:r>
              <a:rPr lang="en-US" altLang="zh-CN" baseline="-25000">
                <a:ea typeface="MingLiU_HKSCS-ExtB" panose="02020500000000000000" charset="-120"/>
              </a:rPr>
              <a:t>1</a:t>
            </a:r>
            <a:r>
              <a:rPr lang="en-US" altLang="zh-CN" i="1">
                <a:ea typeface="MingLiU_HKSCS-ExtB" panose="02020500000000000000" charset="-120"/>
              </a:rPr>
              <a:t>Y</a:t>
            </a:r>
            <a:r>
              <a:rPr lang="en-US" altLang="zh-CN" baseline="-25000">
                <a:ea typeface="MingLiU_HKSCS-ExtB" panose="02020500000000000000" charset="-120"/>
              </a:rPr>
              <a:t>2</a:t>
            </a:r>
            <a:r>
              <a:rPr lang="en-US" altLang="zh-CN">
                <a:ea typeface="MingLiU_HKSCS-ExtB" panose="02020500000000000000" charset="-120"/>
              </a:rPr>
              <a:t>…</a:t>
            </a:r>
            <a:r>
              <a:rPr lang="en-US" altLang="zh-CN" i="1">
                <a:ea typeface="MingLiU_HKSCS-ExtB" panose="02020500000000000000" charset="-120"/>
              </a:rPr>
              <a:t>Y</a:t>
            </a:r>
            <a:r>
              <a:rPr lang="en-US" altLang="zh-CN" i="1" baseline="-25000">
                <a:ea typeface="MingLiU_HKSCS-ExtB" panose="02020500000000000000" charset="-120"/>
              </a:rPr>
              <a:t>N</a:t>
            </a:r>
            <a:r>
              <a:rPr lang="en-US" altLang="zh-CN">
                <a:ea typeface="MingLiU_HKSCS-ExtB" panose="02020500000000000000" charset="-120"/>
              </a:rPr>
              <a:t> </a:t>
            </a:r>
            <a:r>
              <a:rPr lang="zh-CN" altLang="en-US">
                <a:ea typeface="MingLiU_HKSCS-ExtB" panose="02020500000000000000" charset="-120"/>
              </a:rPr>
              <a:t>。</a:t>
            </a:r>
          </a:p>
          <a:p>
            <a:pPr marL="355600" lvl="1">
              <a:buClr>
                <a:srgbClr val="993366"/>
              </a:buClr>
            </a:pPr>
            <a:r>
              <a:rPr lang="zh-CN" altLang="en-US">
                <a:ea typeface="MingLiU_HKSCS-ExtB" panose="02020500000000000000" charset="-120"/>
              </a:rPr>
              <a:t> 此时输入共有 </a:t>
            </a:r>
            <a:r>
              <a:rPr lang="en-US" altLang="zh-CN" i="1">
                <a:ea typeface="MingLiU_HKSCS-ExtB" panose="02020500000000000000" charset="-120"/>
              </a:rPr>
              <a:t>n</a:t>
            </a:r>
            <a:r>
              <a:rPr lang="en-US" altLang="zh-CN" i="1" baseline="30000">
                <a:ea typeface="MingLiU_HKSCS-ExtB" panose="02020500000000000000" charset="-120"/>
              </a:rPr>
              <a:t>N </a:t>
            </a:r>
            <a:r>
              <a:rPr lang="zh-CN" altLang="en-US">
                <a:ea typeface="MingLiU_HKSCS-ExtB" panose="02020500000000000000" charset="-120"/>
              </a:rPr>
              <a:t>个不同的符号：</a:t>
            </a:r>
          </a:p>
        </p:txBody>
      </p:sp>
      <p:graphicFrame>
        <p:nvGraphicFramePr>
          <p:cNvPr id="2176" name="对象 2175"/>
          <p:cNvGraphicFramePr/>
          <p:nvPr/>
        </p:nvGraphicFramePr>
        <p:xfrm>
          <a:off x="1979613" y="5084763"/>
          <a:ext cx="5951537" cy="960437"/>
        </p:xfrm>
        <a:graphic>
          <a:graphicData uri="http://schemas.openxmlformats.org/presentationml/2006/ole">
            <mc:AlternateContent xmlns:mc="http://schemas.openxmlformats.org/markup-compatibility/2006">
              <mc:Choice xmlns:v="urn:schemas-microsoft-com:vml" Requires="v">
                <p:oleObj spid="_x0000_s11266" r:id="rId3" imgW="814705" imgH="495300" progId="Equation.3">
                  <p:embed/>
                </p:oleObj>
              </mc:Choice>
              <mc:Fallback>
                <p:oleObj r:id="rId3" imgW="814705" imgH="495300" progId="Equation.3">
                  <p:embed/>
                  <p:pic>
                    <p:nvPicPr>
                      <p:cNvPr id="0" name="图片 3076"/>
                      <p:cNvPicPr/>
                      <p:nvPr/>
                    </p:nvPicPr>
                    <p:blipFill>
                      <a:blip r:embed="rId4"/>
                      <a:stretch>
                        <a:fillRect/>
                      </a:stretch>
                    </p:blipFill>
                    <p:spPr>
                      <a:xfrm>
                        <a:off x="1979613" y="5084763"/>
                        <a:ext cx="5951537" cy="960437"/>
                      </a:xfrm>
                      <a:prstGeom prst="rect">
                        <a:avLst/>
                      </a:prstGeom>
                      <a:noFill/>
                      <a:ln w="38100">
                        <a:noFill/>
                        <a:miter/>
                      </a:ln>
                    </p:spPr>
                  </p:pic>
                </p:oleObj>
              </mc:Fallback>
            </mc:AlternateContent>
          </a:graphicData>
        </a:graphic>
      </p:graphicFrame>
      <p:sp>
        <p:nvSpPr>
          <p:cNvPr id="2177" name="矩形 2176"/>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23</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80" name="标题 2179"/>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81" name="文本占位符 2180"/>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(5)  </a:t>
            </a:r>
            <a:r>
              <a:rPr lang="en-US" altLang="zh-CN" i="1">
                <a:ea typeface="MingLiU_HKSCS-ExtB" panose="02020500000000000000" charset="-120"/>
              </a:rPr>
              <a:t>N </a:t>
            </a:r>
            <a:r>
              <a:rPr lang="zh-CN" altLang="en-US">
                <a:ea typeface="MingLiU_HKSCS-ExtB" panose="02020500000000000000" charset="-120"/>
              </a:rPr>
              <a:t>次扩展信道的平均失真度</a:t>
            </a:r>
          </a:p>
          <a:p>
            <a:pPr>
              <a:buClr>
                <a:srgbClr val="993366"/>
              </a:buClr>
            </a:pPr>
            <a:r>
              <a:rPr lang="zh-CN" altLang="en-US" sz="2400" i="1">
                <a:ea typeface="MingLiU_HKSCS-ExtB" panose="02020500000000000000" charset="-120"/>
              </a:rPr>
              <a:t> </a:t>
            </a:r>
            <a:r>
              <a:rPr lang="en-US" altLang="zh-CN" sz="2400" i="1">
                <a:ea typeface="MingLiU_HKSCS-ExtB" panose="02020500000000000000" charset="-120"/>
              </a:rPr>
              <a:t>N </a:t>
            </a:r>
            <a:r>
              <a:rPr lang="zh-CN" altLang="en-US" sz="2400">
                <a:ea typeface="MingLiU_HKSCS-ExtB" panose="02020500000000000000" charset="-120"/>
              </a:rPr>
              <a:t>次扩展</a:t>
            </a:r>
          </a:p>
          <a:p>
            <a:pPr marL="355600" lvl="1">
              <a:buClr>
                <a:srgbClr val="993366"/>
              </a:buClr>
            </a:pPr>
            <a:r>
              <a:rPr lang="zh-CN" altLang="en-US">
                <a:ea typeface="MingLiU_HKSCS-ExtB" panose="02020500000000000000" charset="-120"/>
              </a:rPr>
              <a:t> 信道的输出共有 </a:t>
            </a:r>
            <a:r>
              <a:rPr lang="en-US" altLang="zh-CN" i="1">
                <a:ea typeface="MingLiU_HKSCS-ExtB" panose="02020500000000000000" charset="-120"/>
              </a:rPr>
              <a:t>m</a:t>
            </a:r>
            <a:r>
              <a:rPr lang="en-US" altLang="zh-CN" i="1" baseline="30000">
                <a:ea typeface="MingLiU_HKSCS-ExtB" panose="02020500000000000000" charset="-120"/>
              </a:rPr>
              <a:t>N </a:t>
            </a:r>
            <a:r>
              <a:rPr lang="zh-CN" altLang="en-US">
                <a:ea typeface="MingLiU_HKSCS-ExtB" panose="02020500000000000000" charset="-120"/>
              </a:rPr>
              <a:t>个不同的符号：</a:t>
            </a:r>
          </a:p>
        </p:txBody>
      </p:sp>
      <p:graphicFrame>
        <p:nvGraphicFramePr>
          <p:cNvPr id="2182" name="对象 2181"/>
          <p:cNvGraphicFramePr/>
          <p:nvPr/>
        </p:nvGraphicFramePr>
        <p:xfrm>
          <a:off x="1947863" y="3057525"/>
          <a:ext cx="5878512" cy="949325"/>
        </p:xfrm>
        <a:graphic>
          <a:graphicData uri="http://schemas.openxmlformats.org/presentationml/2006/ole">
            <mc:AlternateContent xmlns:mc="http://schemas.openxmlformats.org/markup-compatibility/2006">
              <mc:Choice xmlns:v="urn:schemas-microsoft-com:vml" Requires="v">
                <p:oleObj spid="_x0000_s12290" r:id="rId3" imgW="838835" imgH="495300" progId="Equation.3">
                  <p:embed/>
                </p:oleObj>
              </mc:Choice>
              <mc:Fallback>
                <p:oleObj r:id="rId3" imgW="838835" imgH="495300" progId="Equation.3">
                  <p:embed/>
                  <p:pic>
                    <p:nvPicPr>
                      <p:cNvPr id="0" name="图片 3075"/>
                      <p:cNvPicPr/>
                      <p:nvPr/>
                    </p:nvPicPr>
                    <p:blipFill>
                      <a:blip r:embed="rId4"/>
                      <a:stretch>
                        <a:fillRect/>
                      </a:stretch>
                    </p:blipFill>
                    <p:spPr>
                      <a:xfrm>
                        <a:off x="1947863" y="3057525"/>
                        <a:ext cx="5878512" cy="949325"/>
                      </a:xfrm>
                      <a:prstGeom prst="rect">
                        <a:avLst/>
                      </a:prstGeom>
                      <a:noFill/>
                      <a:ln w="38100">
                        <a:noFill/>
                        <a:miter/>
                      </a:ln>
                    </p:spPr>
                  </p:pic>
                </p:oleObj>
              </mc:Fallback>
            </mc:AlternateContent>
          </a:graphicData>
        </a:graphic>
      </p:graphicFrame>
      <p:sp>
        <p:nvSpPr>
          <p:cNvPr id="2183" name="矩形 2182"/>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182"/>
                                        </p:tgtEl>
                                        <p:attrNameLst>
                                          <p:attrName>style.visibility</p:attrName>
                                        </p:attrNameLst>
                                      </p:cBhvr>
                                      <p:to>
                                        <p:strVal val="visible"/>
                                      </p:to>
                                    </p:set>
                                    <p:anim calcmode="lin" valueType="num">
                                      <p:cBhvr additive="base">
                                        <p:cTn id="7" dur="1000" fill="hold"/>
                                        <p:tgtEl>
                                          <p:spTgt spid="2182"/>
                                        </p:tgtEl>
                                        <p:attrNameLst>
                                          <p:attrName>ppt_x</p:attrName>
                                        </p:attrNameLst>
                                      </p:cBhvr>
                                      <p:tavLst>
                                        <p:tav tm="0">
                                          <p:val>
                                            <p:strVal val="#ppt_x-.2"/>
                                          </p:val>
                                        </p:tav>
                                        <p:tav tm="100000">
                                          <p:val>
                                            <p:strVal val="#ppt_x"/>
                                          </p:val>
                                        </p:tav>
                                      </p:tavLst>
                                    </p:anim>
                                    <p:anim calcmode="lin" valueType="num">
                                      <p:cBhvr additive="base">
                                        <p:cTn id="8" dur="1000" fill="hold"/>
                                        <p:tgtEl>
                                          <p:spTgt spid="2182"/>
                                        </p:tgtEl>
                                        <p:attrNameLst>
                                          <p:attrName>ppt_y</p:attrName>
                                        </p:attrNameLst>
                                      </p:cBhvr>
                                      <p:tavLst>
                                        <p:tav tm="0">
                                          <p:val>
                                            <p:strVal val="#ppt_y"/>
                                          </p:val>
                                        </p:tav>
                                        <p:tav tm="100000">
                                          <p:val>
                                            <p:strVal val="#ppt_y"/>
                                          </p:val>
                                        </p:tav>
                                      </p:tavLst>
                                    </p:anim>
                                    <p:animEffect transition="in" filter="wipe(right)">
                                      <p:cBhvr additive="base">
                                        <p:cTn id="9" dur="1000"/>
                                        <p:tgtEl>
                                          <p:spTgt spid="2182"/>
                                        </p:tgtEl>
                                      </p:cBhvr>
                                    </p:animEffect>
                                  </p:childTnLst>
                                </p:cTn>
                              </p:par>
                              <p:par>
                                <p:cTn id="10" presetID="29" presetClass="entr" presetSubtype="0" fill="hold" nodeType="withEffect">
                                  <p:childTnLst>
                                    <p:set>
                                      <p:cBhvr additive="base">
                                        <p:cTn id="11" dur="1" fill="hold">
                                          <p:stCondLst>
                                            <p:cond delay="0"/>
                                          </p:stCondLst>
                                        </p:cTn>
                                        <p:tgtEl>
                                          <p:spTgt spid="2181">
                                            <p:txEl>
                                              <p:pRg st="2" end="2"/>
                                            </p:txEl>
                                          </p:spTgt>
                                        </p:tgtEl>
                                        <p:attrNameLst>
                                          <p:attrName>style.visibility</p:attrName>
                                        </p:attrNameLst>
                                      </p:cBhvr>
                                      <p:to>
                                        <p:strVal val="visible"/>
                                      </p:to>
                                    </p:set>
                                    <p:anim calcmode="lin" valueType="num">
                                      <p:cBhvr additive="base">
                                        <p:cTn id="12" dur="1000" fill="hold"/>
                                        <p:tgtEl>
                                          <p:spTgt spid="2181">
                                            <p:txEl>
                                              <p:pRg st="2" end="2"/>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181">
                                            <p:txEl>
                                              <p:pRg st="2" end="2"/>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18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24</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86" name="矩形 2185"/>
          <p:cNvSpPr/>
          <p:nvPr/>
        </p:nvSpPr>
        <p:spPr>
          <a:xfrm>
            <a:off x="2978150" y="4508500"/>
            <a:ext cx="1927225" cy="792163"/>
          </a:xfrm>
          <a:prstGeom prst="rect">
            <a:avLst/>
          </a:prstGeom>
          <a:solidFill>
            <a:srgbClr val="FFD9FF">
              <a:alpha val="50195"/>
            </a:srgbClr>
          </a:solidFill>
          <a:ln w="12700">
            <a:noFill/>
          </a:ln>
        </p:spPr>
        <p:txBody>
          <a:bodyPr/>
          <a:lstStyle/>
          <a:p>
            <a:endParaRPr lang="zh-CN" altLang="en-US"/>
          </a:p>
        </p:txBody>
      </p:sp>
      <p:sp>
        <p:nvSpPr>
          <p:cNvPr id="2187" name="标题 2186"/>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88" name="文本占位符 2187"/>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(5)  </a:t>
            </a:r>
            <a:r>
              <a:rPr lang="en-US" altLang="zh-CN" i="1">
                <a:ea typeface="MingLiU_HKSCS-ExtB" panose="02020500000000000000" charset="-120"/>
              </a:rPr>
              <a:t>N </a:t>
            </a:r>
            <a:r>
              <a:rPr lang="zh-CN" altLang="en-US">
                <a:ea typeface="MingLiU_HKSCS-ExtB" panose="02020500000000000000" charset="-120"/>
              </a:rPr>
              <a:t>次扩展信道的平均失真度</a:t>
            </a:r>
          </a:p>
          <a:p>
            <a:pPr>
              <a:buClr>
                <a:srgbClr val="993366"/>
              </a:buClr>
            </a:pPr>
            <a:r>
              <a:rPr lang="zh-CN" altLang="en-US" sz="2400" i="1">
                <a:ea typeface="MingLiU_HKSCS-ExtB" panose="02020500000000000000" charset="-120"/>
              </a:rPr>
              <a:t> </a:t>
            </a:r>
            <a:r>
              <a:rPr lang="en-US" altLang="zh-CN" sz="2400" i="1">
                <a:ea typeface="MingLiU_HKSCS-ExtB" panose="02020500000000000000" charset="-120"/>
              </a:rPr>
              <a:t>N </a:t>
            </a:r>
            <a:r>
              <a:rPr lang="zh-CN" altLang="en-US" sz="2400">
                <a:ea typeface="MingLiU_HKSCS-ExtB" panose="02020500000000000000" charset="-120"/>
              </a:rPr>
              <a:t>次扩展</a:t>
            </a:r>
          </a:p>
          <a:p>
            <a:pPr marL="355600" lvl="1">
              <a:buClr>
                <a:srgbClr val="993366"/>
              </a:buClr>
            </a:pPr>
            <a:r>
              <a:rPr lang="zh-CN" altLang="en-US">
                <a:solidFill>
                  <a:srgbClr val="0000CC"/>
                </a:solidFill>
                <a:ea typeface="MingLiU_HKSCS-ExtB" panose="02020500000000000000" charset="-120"/>
              </a:rPr>
              <a:t> </a:t>
            </a:r>
            <a:r>
              <a:rPr lang="zh-CN" altLang="en-US">
                <a:solidFill>
                  <a:srgbClr val="0000CC"/>
                </a:solidFill>
                <a:effectLst>
                  <a:outerShdw blurRad="38100" dist="38100" dir="2700000">
                    <a:srgbClr val="C0C0C0"/>
                  </a:outerShdw>
                </a:effectLst>
                <a:ea typeface="MingLiU_HKSCS-ExtB" panose="02020500000000000000" charset="-120"/>
              </a:rPr>
              <a:t>定义</a:t>
            </a:r>
            <a:r>
              <a:rPr lang="zh-CN" altLang="en-US">
                <a:solidFill>
                  <a:srgbClr val="0000CC"/>
                </a:solidFill>
                <a:ea typeface="MingLiU_HKSCS-ExtB" panose="02020500000000000000" charset="-120"/>
              </a:rPr>
              <a:t>离散无记忆信道 </a:t>
            </a:r>
            <a:r>
              <a:rPr lang="en-US" altLang="zh-CN">
                <a:solidFill>
                  <a:srgbClr val="0000CC"/>
                </a:solidFill>
                <a:ea typeface="MingLiU_HKSCS-ExtB" panose="02020500000000000000" charset="-120"/>
              </a:rPr>
              <a:t>{</a:t>
            </a:r>
            <a:r>
              <a:rPr lang="en-US" altLang="zh-CN" i="1">
                <a:solidFill>
                  <a:srgbClr val="0000CC"/>
                </a:solidFill>
                <a:ea typeface="MingLiU_HKSCS-ExtB" panose="02020500000000000000" charset="-120"/>
              </a:rPr>
              <a:t>X</a:t>
            </a:r>
            <a:r>
              <a:rPr lang="en-US" altLang="zh-CN">
                <a:solidFill>
                  <a:srgbClr val="0000CC"/>
                </a:solidFill>
                <a:ea typeface="MingLiU_HKSCS-ExtB" panose="02020500000000000000" charset="-120"/>
              </a:rPr>
              <a:t>  </a:t>
            </a:r>
            <a:r>
              <a:rPr lang="en-US" altLang="zh-CN" i="1">
                <a:solidFill>
                  <a:srgbClr val="0000CC"/>
                </a:solidFill>
                <a:ea typeface="MingLiU_HKSCS-ExtB" panose="02020500000000000000" charset="-120"/>
              </a:rPr>
              <a:t>P</a:t>
            </a:r>
            <a:r>
              <a:rPr lang="en-US" altLang="zh-CN">
                <a:solidFill>
                  <a:srgbClr val="0000CC"/>
                </a:solidFill>
                <a:ea typeface="MingLiU_HKSCS-ExtB" panose="02020500000000000000" charset="-120"/>
              </a:rPr>
              <a:t>(</a:t>
            </a:r>
            <a:r>
              <a:rPr lang="en-US" altLang="zh-CN" i="1">
                <a:solidFill>
                  <a:srgbClr val="0000CC"/>
                </a:solidFill>
                <a:ea typeface="MingLiU_HKSCS-ExtB" panose="02020500000000000000" charset="-120"/>
              </a:rPr>
              <a:t>Y</a:t>
            </a:r>
            <a:r>
              <a:rPr lang="en-US" altLang="zh-CN">
                <a:solidFill>
                  <a:srgbClr val="0000CC"/>
                </a:solidFill>
                <a:ea typeface="MingLiU_HKSCS-ExtB" panose="02020500000000000000" charset="-120"/>
              </a:rPr>
              <a:t>/</a:t>
            </a:r>
            <a:r>
              <a:rPr lang="en-US" altLang="zh-CN" i="1">
                <a:solidFill>
                  <a:srgbClr val="0000CC"/>
                </a:solidFill>
                <a:ea typeface="MingLiU_HKSCS-ExtB" panose="02020500000000000000" charset="-120"/>
              </a:rPr>
              <a:t>X</a:t>
            </a:r>
            <a:r>
              <a:rPr lang="en-US" altLang="zh-CN">
                <a:solidFill>
                  <a:srgbClr val="0000CC"/>
                </a:solidFill>
                <a:ea typeface="MingLiU_HKSCS-ExtB" panose="02020500000000000000" charset="-120"/>
              </a:rPr>
              <a:t>)  </a:t>
            </a:r>
            <a:r>
              <a:rPr lang="en-US" altLang="zh-CN" i="1">
                <a:solidFill>
                  <a:srgbClr val="0000CC"/>
                </a:solidFill>
                <a:ea typeface="MingLiU_HKSCS-ExtB" panose="02020500000000000000" charset="-120"/>
              </a:rPr>
              <a:t>Y</a:t>
            </a:r>
            <a:r>
              <a:rPr lang="en-US" altLang="zh-CN">
                <a:solidFill>
                  <a:srgbClr val="0000CC"/>
                </a:solidFill>
                <a:ea typeface="MingLiU_HKSCS-ExtB" panose="02020500000000000000" charset="-120"/>
              </a:rPr>
              <a:t>} </a:t>
            </a:r>
            <a:r>
              <a:rPr lang="zh-CN" altLang="en-US">
                <a:solidFill>
                  <a:srgbClr val="0000CC"/>
                </a:solidFill>
                <a:ea typeface="MingLiU_HKSCS-ExtB" panose="02020500000000000000" charset="-120"/>
              </a:rPr>
              <a:t>的 </a:t>
            </a:r>
            <a:r>
              <a:rPr lang="en-US" altLang="zh-CN" i="1">
                <a:solidFill>
                  <a:srgbClr val="0000CC"/>
                </a:solidFill>
                <a:ea typeface="MingLiU_HKSCS-ExtB" panose="02020500000000000000" charset="-120"/>
              </a:rPr>
              <a:t>N </a:t>
            </a:r>
            <a:r>
              <a:rPr lang="zh-CN" altLang="en-US">
                <a:solidFill>
                  <a:srgbClr val="0000CC"/>
                </a:solidFill>
                <a:ea typeface="MingLiU_HKSCS-ExtB" panose="02020500000000000000" charset="-120"/>
              </a:rPr>
              <a:t>次扩展信道的输入序列 </a:t>
            </a:r>
            <a:r>
              <a:rPr lang="en-US" altLang="zh-CN" i="1">
                <a:solidFill>
                  <a:srgbClr val="0000CC"/>
                </a:solidFill>
                <a:latin typeface="Arial Black" panose="020B0A04020102020204" pitchFamily="34" charset="0"/>
                <a:ea typeface="MingLiU_HKSCS-ExtB" panose="02020500000000000000" charset="-120"/>
              </a:rPr>
              <a:t>a</a:t>
            </a:r>
            <a:r>
              <a:rPr lang="en-US" altLang="zh-CN" i="1" baseline="-25000">
                <a:solidFill>
                  <a:srgbClr val="0000CC"/>
                </a:solidFill>
                <a:ea typeface="MingLiU_HKSCS-ExtB" panose="02020500000000000000" charset="-120"/>
              </a:rPr>
              <a:t>i  </a:t>
            </a:r>
            <a:r>
              <a:rPr lang="zh-CN" altLang="en-US">
                <a:solidFill>
                  <a:srgbClr val="0000CC"/>
                </a:solidFill>
                <a:ea typeface="MingLiU_HKSCS-ExtB" panose="02020500000000000000" charset="-120"/>
              </a:rPr>
              <a:t>和输出序列 </a:t>
            </a:r>
            <a:r>
              <a:rPr lang="en-US" altLang="zh-CN" i="1">
                <a:solidFill>
                  <a:srgbClr val="0000CC"/>
                </a:solidFill>
                <a:latin typeface="Arial Black" panose="020B0A04020102020204" pitchFamily="34" charset="0"/>
                <a:ea typeface="MingLiU_HKSCS-ExtB" panose="02020500000000000000" charset="-120"/>
              </a:rPr>
              <a:t>b</a:t>
            </a:r>
            <a:r>
              <a:rPr lang="en-US" altLang="zh-CN" i="1" baseline="-25000">
                <a:solidFill>
                  <a:srgbClr val="0000CC"/>
                </a:solidFill>
                <a:ea typeface="MingLiU_HKSCS-ExtB" panose="02020500000000000000" charset="-120"/>
              </a:rPr>
              <a:t>j  </a:t>
            </a:r>
            <a:r>
              <a:rPr lang="zh-CN" altLang="en-US">
                <a:solidFill>
                  <a:srgbClr val="0000CC"/>
                </a:solidFill>
                <a:ea typeface="MingLiU_HKSCS-ExtB" panose="02020500000000000000" charset="-120"/>
              </a:rPr>
              <a:t>之间的失真函数：</a:t>
            </a:r>
            <a:endParaRPr lang="zh-CN" altLang="en-US">
              <a:ea typeface="MingLiU_HKSCS-ExtB" panose="02020500000000000000" charset="-120"/>
            </a:endParaRPr>
          </a:p>
        </p:txBody>
      </p:sp>
      <p:graphicFrame>
        <p:nvGraphicFramePr>
          <p:cNvPr id="2189" name="对象 2188"/>
          <p:cNvGraphicFramePr/>
          <p:nvPr/>
        </p:nvGraphicFramePr>
        <p:xfrm>
          <a:off x="1692275" y="3644900"/>
          <a:ext cx="6124575" cy="1801813"/>
        </p:xfrm>
        <a:graphic>
          <a:graphicData uri="http://schemas.openxmlformats.org/presentationml/2006/ole">
            <mc:AlternateContent xmlns:mc="http://schemas.openxmlformats.org/markup-compatibility/2006">
              <mc:Choice xmlns:v="urn:schemas-microsoft-com:vml" Requires="v">
                <p:oleObj spid="_x0000_s13314" r:id="rId3" imgW="1697355" imgH="952500" progId="Equation.3">
                  <p:embed/>
                </p:oleObj>
              </mc:Choice>
              <mc:Fallback>
                <p:oleObj r:id="rId3" imgW="1697355" imgH="952500" progId="Equation.3">
                  <p:embed/>
                  <p:pic>
                    <p:nvPicPr>
                      <p:cNvPr id="0" name="图片 3078"/>
                      <p:cNvPicPr/>
                      <p:nvPr/>
                    </p:nvPicPr>
                    <p:blipFill>
                      <a:blip r:embed="rId4"/>
                      <a:stretch>
                        <a:fillRect/>
                      </a:stretch>
                    </p:blipFill>
                    <p:spPr>
                      <a:xfrm>
                        <a:off x="1692275" y="3644900"/>
                        <a:ext cx="6124575" cy="1801813"/>
                      </a:xfrm>
                      <a:prstGeom prst="rect">
                        <a:avLst/>
                      </a:prstGeom>
                      <a:noFill/>
                      <a:ln w="38100">
                        <a:noFill/>
                        <a:miter/>
                      </a:ln>
                    </p:spPr>
                  </p:pic>
                </p:oleObj>
              </mc:Fallback>
            </mc:AlternateContent>
          </a:graphicData>
        </a:graphic>
      </p:graphicFrame>
      <p:sp>
        <p:nvSpPr>
          <p:cNvPr id="2190" name="矩形 2189"/>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188">
                                            <p:txEl>
                                              <p:pRg st="2" end="2"/>
                                            </p:txEl>
                                          </p:spTgt>
                                        </p:tgtEl>
                                        <p:attrNameLst>
                                          <p:attrName>style.visibility</p:attrName>
                                        </p:attrNameLst>
                                      </p:cBhvr>
                                      <p:to>
                                        <p:strVal val="visible"/>
                                      </p:to>
                                    </p:set>
                                    <p:anim calcmode="lin" valueType="num">
                                      <p:cBhvr additive="base">
                                        <p:cTn id="7" dur="1000" fill="hold"/>
                                        <p:tgtEl>
                                          <p:spTgt spid="2188">
                                            <p:txEl>
                                              <p:pRg st="2" end="2"/>
                                            </p:txEl>
                                          </p:spTgt>
                                        </p:tgtEl>
                                        <p:attrNameLst>
                                          <p:attrName>ppt_x</p:attrName>
                                        </p:attrNameLst>
                                      </p:cBhvr>
                                      <p:tavLst>
                                        <p:tav tm="0">
                                          <p:val>
                                            <p:strVal val="#ppt_x-.2"/>
                                          </p:val>
                                        </p:tav>
                                        <p:tav tm="100000">
                                          <p:val>
                                            <p:strVal val="#ppt_x"/>
                                          </p:val>
                                        </p:tav>
                                      </p:tavLst>
                                    </p:anim>
                                    <p:anim calcmode="lin" valueType="num">
                                      <p:cBhvr additive="base">
                                        <p:cTn id="8" dur="1000" fill="hold"/>
                                        <p:tgtEl>
                                          <p:spTgt spid="2188">
                                            <p:txEl>
                                              <p:pRg st="2" end="2"/>
                                            </p:txEl>
                                          </p:spTgt>
                                        </p:tgtEl>
                                        <p:attrNameLst>
                                          <p:attrName>ppt_y</p:attrName>
                                        </p:attrNameLst>
                                      </p:cBhvr>
                                      <p:tavLst>
                                        <p:tav tm="0">
                                          <p:val>
                                            <p:strVal val="#ppt_y"/>
                                          </p:val>
                                        </p:tav>
                                        <p:tav tm="100000">
                                          <p:val>
                                            <p:strVal val="#ppt_y"/>
                                          </p:val>
                                        </p:tav>
                                      </p:tavLst>
                                    </p:anim>
                                    <p:animEffect transition="in" filter="wipe(right)">
                                      <p:cBhvr additive="base">
                                        <p:cTn id="9" dur="1000"/>
                                        <p:tgtEl>
                                          <p:spTgt spid="2188">
                                            <p:txEl>
                                              <p:pRg st="2" end="2"/>
                                            </p:txEl>
                                          </p:spTgt>
                                        </p:tgtEl>
                                      </p:cBhvr>
                                    </p:animEffect>
                                  </p:childTnLst>
                                </p:cTn>
                              </p:par>
                              <p:par>
                                <p:cTn id="10" presetID="29" presetClass="entr" presetSubtype="0" fill="hold" nodeType="withEffect">
                                  <p:childTnLst>
                                    <p:set>
                                      <p:cBhvr additive="base">
                                        <p:cTn id="11" dur="1" fill="hold">
                                          <p:stCondLst>
                                            <p:cond delay="0"/>
                                          </p:stCondLst>
                                        </p:cTn>
                                        <p:tgtEl>
                                          <p:spTgt spid="2189"/>
                                        </p:tgtEl>
                                        <p:attrNameLst>
                                          <p:attrName>style.visibility</p:attrName>
                                        </p:attrNameLst>
                                      </p:cBhvr>
                                      <p:to>
                                        <p:strVal val="visible"/>
                                      </p:to>
                                    </p:set>
                                    <p:anim calcmode="lin" valueType="num">
                                      <p:cBhvr additive="base">
                                        <p:cTn id="12" dur="1000" fill="hold"/>
                                        <p:tgtEl>
                                          <p:spTgt spid="2189"/>
                                        </p:tgtEl>
                                        <p:attrNameLst>
                                          <p:attrName>ppt_x</p:attrName>
                                        </p:attrNameLst>
                                      </p:cBhvr>
                                      <p:tavLst>
                                        <p:tav tm="0">
                                          <p:val>
                                            <p:strVal val="#ppt_x-.2"/>
                                          </p:val>
                                        </p:tav>
                                        <p:tav tm="100000">
                                          <p:val>
                                            <p:strVal val="#ppt_x"/>
                                          </p:val>
                                        </p:tav>
                                      </p:tavLst>
                                    </p:anim>
                                    <p:anim calcmode="lin" valueType="num">
                                      <p:cBhvr additive="base">
                                        <p:cTn id="13" dur="1000" fill="hold"/>
                                        <p:tgtEl>
                                          <p:spTgt spid="2189"/>
                                        </p:tgtEl>
                                        <p:attrNameLst>
                                          <p:attrName>ppt_y</p:attrName>
                                        </p:attrNameLst>
                                      </p:cBhvr>
                                      <p:tavLst>
                                        <p:tav tm="0">
                                          <p:val>
                                            <p:strVal val="#ppt_y"/>
                                          </p:val>
                                        </p:tav>
                                        <p:tav tm="100000">
                                          <p:val>
                                            <p:strVal val="#ppt_y"/>
                                          </p:val>
                                        </p:tav>
                                      </p:tavLst>
                                    </p:anim>
                                    <p:animEffect transition="in" filter="wipe(right)">
                                      <p:cBhvr additive="base">
                                        <p:cTn id="14" dur="1000"/>
                                        <p:tgtEl>
                                          <p:spTgt spid="2189"/>
                                        </p:tgtEl>
                                      </p:cBhvr>
                                    </p:animEffect>
                                  </p:childTnLst>
                                </p:cTn>
                              </p:par>
                              <p:par>
                                <p:cTn id="15" presetID="29" presetClass="entr" presetSubtype="0" fill="hold" nodeType="withEffect">
                                  <p:childTnLst>
                                    <p:set>
                                      <p:cBhvr additive="base">
                                        <p:cTn id="16" dur="1" fill="hold">
                                          <p:stCondLst>
                                            <p:cond delay="0"/>
                                          </p:stCondLst>
                                        </p:cTn>
                                        <p:tgtEl>
                                          <p:spTgt spid="2186"/>
                                        </p:tgtEl>
                                        <p:attrNameLst>
                                          <p:attrName>style.visibility</p:attrName>
                                        </p:attrNameLst>
                                      </p:cBhvr>
                                      <p:to>
                                        <p:strVal val="visible"/>
                                      </p:to>
                                    </p:set>
                                    <p:anim calcmode="lin" valueType="num">
                                      <p:cBhvr additive="base">
                                        <p:cTn id="17" dur="1000" fill="hold"/>
                                        <p:tgtEl>
                                          <p:spTgt spid="2186"/>
                                        </p:tgtEl>
                                        <p:attrNameLst>
                                          <p:attrName>ppt_x</p:attrName>
                                        </p:attrNameLst>
                                      </p:cBhvr>
                                      <p:tavLst>
                                        <p:tav tm="0">
                                          <p:val>
                                            <p:strVal val="#ppt_x-.2"/>
                                          </p:val>
                                        </p:tav>
                                        <p:tav tm="100000">
                                          <p:val>
                                            <p:strVal val="#ppt_x"/>
                                          </p:val>
                                        </p:tav>
                                      </p:tavLst>
                                    </p:anim>
                                    <p:anim calcmode="lin" valueType="num">
                                      <p:cBhvr additive="base">
                                        <p:cTn id="18" dur="1000" fill="hold"/>
                                        <p:tgtEl>
                                          <p:spTgt spid="2186"/>
                                        </p:tgtEl>
                                        <p:attrNameLst>
                                          <p:attrName>ppt_y</p:attrName>
                                        </p:attrNameLst>
                                      </p:cBhvr>
                                      <p:tavLst>
                                        <p:tav tm="0">
                                          <p:val>
                                            <p:strVal val="#ppt_y"/>
                                          </p:val>
                                        </p:tav>
                                        <p:tav tm="100000">
                                          <p:val>
                                            <p:strVal val="#ppt_y"/>
                                          </p:val>
                                        </p:tav>
                                      </p:tavLst>
                                    </p:anim>
                                    <p:animEffect transition="in" filter="wipe(right)">
                                      <p:cBhvr additive="base">
                                        <p:cTn id="19" dur="1000"/>
                                        <p:tgtEl>
                                          <p:spTgt spid="2186"/>
                                        </p:tgtEl>
                                      </p:cBhvr>
                                    </p:animEffect>
                                  </p:childTnLst>
                                </p:cTn>
                              </p:par>
                              <p:par>
                                <p:cTn id="20" presetID="29" presetClass="entr" presetSubtype="0" fill="hold" nodeType="withEffect">
                                  <p:childTnLst>
                                    <p:set>
                                      <p:cBhvr additive="base">
                                        <p:cTn id="21" dur="1" fill="hold">
                                          <p:stCondLst>
                                            <p:cond delay="0"/>
                                          </p:stCondLst>
                                        </p:cTn>
                                        <p:tgtEl>
                                          <p:spTgt spid="2186"/>
                                        </p:tgtEl>
                                        <p:attrNameLst>
                                          <p:attrName>style.visibility</p:attrName>
                                        </p:attrNameLst>
                                      </p:cBhvr>
                                      <p:to>
                                        <p:strVal val="visible"/>
                                      </p:to>
                                    </p:set>
                                    <p:anim calcmode="lin" valueType="num">
                                      <p:cBhvr additive="base">
                                        <p:cTn id="22" dur="1000" fill="hold"/>
                                        <p:tgtEl>
                                          <p:spTgt spid="2186"/>
                                        </p:tgtEl>
                                        <p:attrNameLst>
                                          <p:attrName>ppt_x</p:attrName>
                                        </p:attrNameLst>
                                      </p:cBhvr>
                                      <p:tavLst>
                                        <p:tav tm="0">
                                          <p:val>
                                            <p:strVal val="#ppt_x-.2"/>
                                          </p:val>
                                        </p:tav>
                                        <p:tav tm="100000">
                                          <p:val>
                                            <p:strVal val="#ppt_x"/>
                                          </p:val>
                                        </p:tav>
                                      </p:tavLst>
                                    </p:anim>
                                    <p:anim calcmode="lin" valueType="num">
                                      <p:cBhvr additive="base">
                                        <p:cTn id="23" dur="1000" fill="hold"/>
                                        <p:tgtEl>
                                          <p:spTgt spid="2186"/>
                                        </p:tgtEl>
                                        <p:attrNameLst>
                                          <p:attrName>ppt_y</p:attrName>
                                        </p:attrNameLst>
                                      </p:cBhvr>
                                      <p:tavLst>
                                        <p:tav tm="0">
                                          <p:val>
                                            <p:strVal val="#ppt_y"/>
                                          </p:val>
                                        </p:tav>
                                        <p:tav tm="100000">
                                          <p:val>
                                            <p:strVal val="#ppt_y"/>
                                          </p:val>
                                        </p:tav>
                                      </p:tavLst>
                                    </p:anim>
                                    <p:animEffect transition="in" filter="wipe(right)">
                                      <p:cBhvr additive="base">
                                        <p:cTn id="24" dur="1000"/>
                                        <p:tgtEl>
                                          <p:spTgt spid="2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25</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193" name="标题 2192"/>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194" name="文本占位符 2193"/>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(5)  </a:t>
            </a:r>
            <a:r>
              <a:rPr lang="en-US" altLang="zh-CN" i="1">
                <a:ea typeface="MingLiU_HKSCS-ExtB" panose="02020500000000000000" charset="-120"/>
              </a:rPr>
              <a:t>N </a:t>
            </a:r>
            <a:r>
              <a:rPr lang="zh-CN" altLang="en-US">
                <a:ea typeface="MingLiU_HKSCS-ExtB" panose="02020500000000000000" charset="-120"/>
              </a:rPr>
              <a:t>次扩展信道的平均失真度</a:t>
            </a:r>
          </a:p>
          <a:p>
            <a:pPr>
              <a:buClr>
                <a:srgbClr val="993366"/>
              </a:buClr>
            </a:pPr>
            <a:r>
              <a:rPr lang="zh-CN" altLang="en-US" sz="2400" i="1">
                <a:ea typeface="MingLiU_HKSCS-ExtB" panose="02020500000000000000" charset="-120"/>
              </a:rPr>
              <a:t> </a:t>
            </a:r>
            <a:r>
              <a:rPr lang="en-US" altLang="zh-CN" sz="2400" i="1">
                <a:ea typeface="MingLiU_HKSCS-ExtB" panose="02020500000000000000" charset="-120"/>
              </a:rPr>
              <a:t>N </a:t>
            </a:r>
            <a:r>
              <a:rPr lang="zh-CN" altLang="en-US" sz="2400">
                <a:ea typeface="MingLiU_HKSCS-ExtB" panose="02020500000000000000" charset="-120"/>
              </a:rPr>
              <a:t>次扩展</a:t>
            </a:r>
          </a:p>
          <a:p>
            <a:pPr marL="355600" lvl="1">
              <a:buClr>
                <a:srgbClr val="993366"/>
              </a:buClr>
            </a:pPr>
            <a:r>
              <a:rPr lang="zh-CN" altLang="en-US" sz="2000">
                <a:solidFill>
                  <a:srgbClr val="0000CC"/>
                </a:solidFill>
                <a:ea typeface="MingLiU_HKSCS-ExtB" panose="02020500000000000000" charset="-120"/>
              </a:rPr>
              <a:t> 定义的说明：</a:t>
            </a:r>
            <a:r>
              <a:rPr lang="zh-CN" altLang="en-US" sz="2000">
                <a:ea typeface="MingLiU_HKSCS-ExtB" panose="02020500000000000000" charset="-120"/>
              </a:rPr>
              <a:t>离散无记忆信道的 </a:t>
            </a:r>
            <a:r>
              <a:rPr lang="en-US" altLang="zh-CN" sz="2000" i="1">
                <a:ea typeface="MingLiU_HKSCS-ExtB" panose="02020500000000000000" charset="-120"/>
              </a:rPr>
              <a:t>N </a:t>
            </a:r>
            <a:r>
              <a:rPr lang="zh-CN" altLang="en-US" sz="2000">
                <a:ea typeface="MingLiU_HKSCS-ExtB" panose="02020500000000000000" charset="-120"/>
              </a:rPr>
              <a:t>次扩展信道输入输出之间的失真，等于输入序列 </a:t>
            </a:r>
            <a:r>
              <a:rPr lang="en-US" altLang="zh-CN" sz="2000" i="1">
                <a:latin typeface="Arial Black" panose="020B0A04020102020204" pitchFamily="34" charset="0"/>
                <a:ea typeface="MingLiU_HKSCS-ExtB" panose="02020500000000000000" charset="-120"/>
              </a:rPr>
              <a:t>a</a:t>
            </a:r>
            <a:r>
              <a:rPr lang="en-US" altLang="zh-CN" sz="2000" i="1" baseline="-25000">
                <a:ea typeface="MingLiU_HKSCS-ExtB" panose="02020500000000000000" charset="-120"/>
              </a:rPr>
              <a:t>i </a:t>
            </a:r>
            <a:r>
              <a:rPr lang="zh-CN" altLang="en-US" sz="2000">
                <a:ea typeface="MingLiU_HKSCS-ExtB" panose="02020500000000000000" charset="-120"/>
              </a:rPr>
              <a:t>中 </a:t>
            </a:r>
            <a:r>
              <a:rPr lang="en-US" altLang="zh-CN" sz="2000" i="1">
                <a:ea typeface="MingLiU_HKSCS-ExtB" panose="02020500000000000000" charset="-120"/>
              </a:rPr>
              <a:t>N </a:t>
            </a:r>
            <a:r>
              <a:rPr lang="zh-CN" altLang="en-US" sz="2000">
                <a:ea typeface="MingLiU_HKSCS-ExtB" panose="02020500000000000000" charset="-120"/>
              </a:rPr>
              <a:t>个信源符号 </a:t>
            </a:r>
            <a:r>
              <a:rPr lang="en-US" altLang="zh-CN" sz="2000" i="1">
                <a:ea typeface="MingLiU_HKSCS-ExtB" panose="02020500000000000000" charset="-120"/>
              </a:rPr>
              <a:t>x</a:t>
            </a:r>
            <a:r>
              <a:rPr lang="en-US" altLang="zh-CN" sz="2000" i="1" baseline="-25000">
                <a:ea typeface="MingLiU_HKSCS-ExtB" panose="02020500000000000000" charset="-120"/>
              </a:rPr>
              <a:t>i</a:t>
            </a:r>
            <a:r>
              <a:rPr lang="en-US" altLang="zh-CN" sz="2000" baseline="-25000">
                <a:ea typeface="MingLiU_HKSCS-ExtB" panose="02020500000000000000" charset="-120"/>
              </a:rPr>
              <a:t>1</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i="1" baseline="-25000">
                <a:ea typeface="MingLiU_HKSCS-ExtB" panose="02020500000000000000" charset="-120"/>
              </a:rPr>
              <a:t>i</a:t>
            </a:r>
            <a:r>
              <a:rPr lang="en-US" altLang="zh-CN" sz="2000" baseline="-25000">
                <a:ea typeface="MingLiU_HKSCS-ExtB" panose="02020500000000000000" charset="-120"/>
              </a:rPr>
              <a:t>2</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i="1" baseline="-25000">
                <a:ea typeface="MingLiU_HKSCS-ExtB" panose="02020500000000000000" charset="-120"/>
              </a:rPr>
              <a:t>iN </a:t>
            </a:r>
            <a:r>
              <a:rPr lang="zh-CN" altLang="en-US" sz="2000">
                <a:ea typeface="MingLiU_HKSCS-ExtB" panose="02020500000000000000" charset="-120"/>
              </a:rPr>
              <a:t>各自通过信道 </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a:ea typeface="MingLiU_HKSCS-ExtB" panose="02020500000000000000" charset="-120"/>
              </a:rPr>
              <a:t>  </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a:ea typeface="MingLiU_HKSCS-ExtB" panose="02020500000000000000" charset="-120"/>
              </a:rPr>
              <a:t>)  </a:t>
            </a:r>
            <a:r>
              <a:rPr lang="en-US" altLang="zh-CN" sz="2000" i="1">
                <a:ea typeface="MingLiU_HKSCS-ExtB" panose="02020500000000000000" charset="-120"/>
              </a:rPr>
              <a:t>Y</a:t>
            </a:r>
            <a:r>
              <a:rPr lang="en-US" altLang="zh-CN" sz="2000">
                <a:ea typeface="MingLiU_HKSCS-ExtB" panose="02020500000000000000" charset="-120"/>
              </a:rPr>
              <a:t>} </a:t>
            </a:r>
            <a:r>
              <a:rPr lang="zh-CN" altLang="en-US" sz="2000">
                <a:ea typeface="MingLiU_HKSCS-ExtB" panose="02020500000000000000" charset="-120"/>
              </a:rPr>
              <a:t>，分别输出对应的 </a:t>
            </a:r>
            <a:r>
              <a:rPr lang="en-US" altLang="zh-CN" sz="2000" i="1">
                <a:ea typeface="MingLiU_HKSCS-ExtB" panose="02020500000000000000" charset="-120"/>
              </a:rPr>
              <a:t>N </a:t>
            </a:r>
            <a:r>
              <a:rPr lang="zh-CN" altLang="en-US" sz="2000">
                <a:ea typeface="MingLiU_HKSCS-ExtB" panose="02020500000000000000" charset="-120"/>
              </a:rPr>
              <a:t>个信宿符号 </a:t>
            </a:r>
            <a:r>
              <a:rPr lang="en-US" altLang="zh-CN" sz="2000" i="1">
                <a:ea typeface="MingLiU_HKSCS-ExtB" panose="02020500000000000000" charset="-120"/>
              </a:rPr>
              <a:t>y</a:t>
            </a:r>
            <a:r>
              <a:rPr lang="en-US" altLang="zh-CN" sz="2000" i="1" baseline="-25000">
                <a:ea typeface="MingLiU_HKSCS-ExtB" panose="02020500000000000000" charset="-120"/>
              </a:rPr>
              <a:t>j</a:t>
            </a:r>
            <a:r>
              <a:rPr lang="en-US" altLang="zh-CN" sz="2000" baseline="-25000">
                <a:ea typeface="MingLiU_HKSCS-ExtB" panose="02020500000000000000" charset="-120"/>
              </a:rPr>
              <a:t>1</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i="1" baseline="-25000">
                <a:ea typeface="MingLiU_HKSCS-ExtB" panose="02020500000000000000" charset="-120"/>
              </a:rPr>
              <a:t>j</a:t>
            </a:r>
            <a:r>
              <a:rPr lang="en-US" altLang="zh-CN" sz="2000" baseline="-25000">
                <a:ea typeface="MingLiU_HKSCS-ExtB" panose="02020500000000000000" charset="-120"/>
              </a:rPr>
              <a:t>2</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i="1" baseline="-25000">
                <a:ea typeface="MingLiU_HKSCS-ExtB" panose="02020500000000000000" charset="-120"/>
              </a:rPr>
              <a:t>jN  </a:t>
            </a:r>
            <a:r>
              <a:rPr lang="zh-CN" altLang="en-US" sz="2000">
                <a:ea typeface="MingLiU_HKSCS-ExtB" panose="02020500000000000000" charset="-120"/>
              </a:rPr>
              <a:t>后所引起的 </a:t>
            </a:r>
            <a:r>
              <a:rPr lang="en-US" altLang="zh-CN" sz="2000" i="1">
                <a:ea typeface="MingLiU_HKSCS-ExtB" panose="02020500000000000000" charset="-120"/>
              </a:rPr>
              <a:t>N </a:t>
            </a:r>
            <a:r>
              <a:rPr lang="zh-CN" altLang="en-US" sz="2000">
                <a:ea typeface="MingLiU_HKSCS-ExtB" panose="02020500000000000000" charset="-120"/>
              </a:rPr>
              <a:t>个单符号失真 </a:t>
            </a:r>
            <a:r>
              <a:rPr lang="en-US" altLang="zh-CN" sz="2000" i="1">
                <a:ea typeface="MingLiU_HKSCS-ExtB" panose="02020500000000000000" charset="-120"/>
              </a:rPr>
              <a:t>d</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i="1" baseline="-25000">
                <a:ea typeface="MingLiU_HKSCS-ExtB" panose="02020500000000000000" charset="-120"/>
              </a:rPr>
              <a:t>ik </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i="1" baseline="-25000">
                <a:ea typeface="MingLiU_HKSCS-ExtB" panose="02020500000000000000" charset="-120"/>
              </a:rPr>
              <a:t>jk</a:t>
            </a:r>
            <a:r>
              <a:rPr lang="en-US" altLang="zh-CN" sz="2000">
                <a:ea typeface="MingLiU_HKSCS-ExtB" panose="02020500000000000000" charset="-120"/>
              </a:rPr>
              <a:t>)(</a:t>
            </a:r>
            <a:r>
              <a:rPr lang="en-US" altLang="zh-CN" sz="2000" i="1">
                <a:ea typeface="MingLiU_HKSCS-ExtB" panose="02020500000000000000" charset="-120"/>
              </a:rPr>
              <a:t>k</a:t>
            </a:r>
            <a:r>
              <a:rPr lang="en-US" altLang="zh-CN" sz="2000">
                <a:ea typeface="MingLiU_HKSCS-ExtB" panose="02020500000000000000" charset="-120"/>
              </a:rPr>
              <a:t>=1,2, …,</a:t>
            </a:r>
            <a:r>
              <a:rPr lang="en-US" altLang="zh-CN" sz="2000" i="1">
                <a:ea typeface="MingLiU_HKSCS-ExtB" panose="02020500000000000000" charset="-120"/>
              </a:rPr>
              <a:t>N</a:t>
            </a:r>
            <a:r>
              <a:rPr lang="en-US" altLang="zh-CN" sz="2000">
                <a:ea typeface="MingLiU_HKSCS-ExtB" panose="02020500000000000000" charset="-120"/>
              </a:rPr>
              <a:t>) </a:t>
            </a:r>
            <a:r>
              <a:rPr lang="zh-CN" altLang="en-US" sz="2000">
                <a:ea typeface="MingLiU_HKSCS-ExtB" panose="02020500000000000000" charset="-120"/>
              </a:rPr>
              <a:t>之和。</a:t>
            </a:r>
          </a:p>
          <a:p>
            <a:pPr marL="355600" lvl="1">
              <a:buClr>
                <a:srgbClr val="993366"/>
              </a:buClr>
            </a:pPr>
            <a:r>
              <a:rPr lang="zh-CN" altLang="en-US" sz="2000" i="1">
                <a:ea typeface="MingLiU_HKSCS-ExtB" panose="02020500000000000000" charset="-120"/>
              </a:rPr>
              <a:t> </a:t>
            </a:r>
            <a:r>
              <a:rPr lang="en-US" altLang="zh-CN" sz="2000" i="1">
                <a:ea typeface="MingLiU_HKSCS-ExtB" panose="02020500000000000000" charset="-120"/>
              </a:rPr>
              <a:t>N </a:t>
            </a:r>
            <a:r>
              <a:rPr lang="zh-CN" altLang="en-US" sz="2000">
                <a:ea typeface="MingLiU_HKSCS-ExtB" panose="02020500000000000000" charset="-120"/>
              </a:rPr>
              <a:t>次离散无记忆扩展信源和信道的平均失真度为              ，则：</a:t>
            </a:r>
          </a:p>
        </p:txBody>
      </p:sp>
      <p:graphicFrame>
        <p:nvGraphicFramePr>
          <p:cNvPr id="2195" name="对象 2194"/>
          <p:cNvGraphicFramePr/>
          <p:nvPr/>
        </p:nvGraphicFramePr>
        <p:xfrm>
          <a:off x="6683375" y="4132263"/>
          <a:ext cx="625475" cy="376237"/>
        </p:xfrm>
        <a:graphic>
          <a:graphicData uri="http://schemas.openxmlformats.org/presentationml/2006/ole">
            <mc:AlternateContent xmlns:mc="http://schemas.openxmlformats.org/markup-compatibility/2006">
              <mc:Choice xmlns:v="urn:schemas-microsoft-com:vml" Requires="v">
                <p:oleObj spid="_x0000_s14339" r:id="rId3" imgW="419100" imgH="200660" progId="Equation.3">
                  <p:embed/>
                </p:oleObj>
              </mc:Choice>
              <mc:Fallback>
                <p:oleObj r:id="rId3" imgW="419100" imgH="200660" progId="Equation.3">
                  <p:embed/>
                  <p:pic>
                    <p:nvPicPr>
                      <p:cNvPr id="0" name="图片 3079"/>
                      <p:cNvPicPr/>
                      <p:nvPr/>
                    </p:nvPicPr>
                    <p:blipFill>
                      <a:blip r:embed="rId4"/>
                      <a:stretch>
                        <a:fillRect/>
                      </a:stretch>
                    </p:blipFill>
                    <p:spPr>
                      <a:xfrm>
                        <a:off x="6683375" y="4132263"/>
                        <a:ext cx="625475" cy="376237"/>
                      </a:xfrm>
                      <a:prstGeom prst="rect">
                        <a:avLst/>
                      </a:prstGeom>
                      <a:noFill/>
                      <a:ln w="38100">
                        <a:noFill/>
                        <a:miter/>
                      </a:ln>
                    </p:spPr>
                  </p:pic>
                </p:oleObj>
              </mc:Fallback>
            </mc:AlternateContent>
          </a:graphicData>
        </a:graphic>
      </p:graphicFrame>
      <p:graphicFrame>
        <p:nvGraphicFramePr>
          <p:cNvPr id="2196" name="对象 2195"/>
          <p:cNvGraphicFramePr/>
          <p:nvPr/>
        </p:nvGraphicFramePr>
        <p:xfrm>
          <a:off x="2179638" y="4652963"/>
          <a:ext cx="5462587" cy="1052512"/>
        </p:xfrm>
        <a:graphic>
          <a:graphicData uri="http://schemas.openxmlformats.org/presentationml/2006/ole">
            <mc:AlternateContent xmlns:mc="http://schemas.openxmlformats.org/markup-compatibility/2006">
              <mc:Choice xmlns:v="urn:schemas-microsoft-com:vml" Requires="v">
                <p:oleObj spid="_x0000_s14340" r:id="rId5" imgW="963930" imgH="469900" progId="Equation.3">
                  <p:embed/>
                </p:oleObj>
              </mc:Choice>
              <mc:Fallback>
                <p:oleObj r:id="rId5" imgW="963930" imgH="469900" progId="Equation.3">
                  <p:embed/>
                  <p:pic>
                    <p:nvPicPr>
                      <p:cNvPr id="0" name="图片 3080"/>
                      <p:cNvPicPr/>
                      <p:nvPr/>
                    </p:nvPicPr>
                    <p:blipFill>
                      <a:blip r:embed="rId6"/>
                      <a:stretch>
                        <a:fillRect/>
                      </a:stretch>
                    </p:blipFill>
                    <p:spPr>
                      <a:xfrm>
                        <a:off x="2179638" y="4652963"/>
                        <a:ext cx="5462587" cy="1052512"/>
                      </a:xfrm>
                      <a:prstGeom prst="rect">
                        <a:avLst/>
                      </a:prstGeom>
                      <a:noFill/>
                      <a:ln w="38100">
                        <a:noFill/>
                        <a:miter/>
                      </a:ln>
                    </p:spPr>
                  </p:pic>
                </p:oleObj>
              </mc:Fallback>
            </mc:AlternateContent>
          </a:graphicData>
        </a:graphic>
      </p:graphicFrame>
      <p:sp>
        <p:nvSpPr>
          <p:cNvPr id="2197" name="矩形 2196"/>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196"/>
                                        </p:tgtEl>
                                        <p:attrNameLst>
                                          <p:attrName>style.visibility</p:attrName>
                                        </p:attrNameLst>
                                      </p:cBhvr>
                                      <p:to>
                                        <p:strVal val="visible"/>
                                      </p:to>
                                    </p:set>
                                    <p:anim calcmode="lin" valueType="num">
                                      <p:cBhvr additive="base">
                                        <p:cTn id="7" dur="1000" fill="hold"/>
                                        <p:tgtEl>
                                          <p:spTgt spid="2196"/>
                                        </p:tgtEl>
                                        <p:attrNameLst>
                                          <p:attrName>ppt_x</p:attrName>
                                        </p:attrNameLst>
                                      </p:cBhvr>
                                      <p:tavLst>
                                        <p:tav tm="0">
                                          <p:val>
                                            <p:strVal val="#ppt_x-.2"/>
                                          </p:val>
                                        </p:tav>
                                        <p:tav tm="100000">
                                          <p:val>
                                            <p:strVal val="#ppt_x"/>
                                          </p:val>
                                        </p:tav>
                                      </p:tavLst>
                                    </p:anim>
                                    <p:anim calcmode="lin" valueType="num">
                                      <p:cBhvr additive="base">
                                        <p:cTn id="8" dur="1000" fill="hold"/>
                                        <p:tgtEl>
                                          <p:spTgt spid="2196"/>
                                        </p:tgtEl>
                                        <p:attrNameLst>
                                          <p:attrName>ppt_y</p:attrName>
                                        </p:attrNameLst>
                                      </p:cBhvr>
                                      <p:tavLst>
                                        <p:tav tm="0">
                                          <p:val>
                                            <p:strVal val="#ppt_y"/>
                                          </p:val>
                                        </p:tav>
                                        <p:tav tm="100000">
                                          <p:val>
                                            <p:strVal val="#ppt_y"/>
                                          </p:val>
                                        </p:tav>
                                      </p:tavLst>
                                    </p:anim>
                                    <p:animEffect transition="in" filter="wipe(right)">
                                      <p:cBhvr additive="base">
                                        <p:cTn id="9" dur="1000"/>
                                        <p:tgtEl>
                                          <p:spTgt spid="2196"/>
                                        </p:tgtEl>
                                      </p:cBhvr>
                                    </p:animEffect>
                                  </p:childTnLst>
                                </p:cTn>
                              </p:par>
                              <p:par>
                                <p:cTn id="10" presetID="29" presetClass="entr" presetSubtype="0" fill="hold" nodeType="withEffect">
                                  <p:childTnLst>
                                    <p:set>
                                      <p:cBhvr additive="base">
                                        <p:cTn id="11" dur="1" fill="hold">
                                          <p:stCondLst>
                                            <p:cond delay="0"/>
                                          </p:stCondLst>
                                        </p:cTn>
                                        <p:tgtEl>
                                          <p:spTgt spid="2194">
                                            <p:txEl>
                                              <p:pRg st="2" end="2"/>
                                            </p:txEl>
                                          </p:spTgt>
                                        </p:tgtEl>
                                        <p:attrNameLst>
                                          <p:attrName>style.visibility</p:attrName>
                                        </p:attrNameLst>
                                      </p:cBhvr>
                                      <p:to>
                                        <p:strVal val="visible"/>
                                      </p:to>
                                    </p:set>
                                    <p:anim calcmode="lin" valueType="num">
                                      <p:cBhvr additive="base">
                                        <p:cTn id="12" dur="1000" fill="hold"/>
                                        <p:tgtEl>
                                          <p:spTgt spid="2194">
                                            <p:txEl>
                                              <p:pRg st="2" end="2"/>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194">
                                            <p:txEl>
                                              <p:pRg st="2" end="2"/>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194">
                                            <p:txEl>
                                              <p:pRg st="2" end="2"/>
                                            </p:txEl>
                                          </p:spTgt>
                                        </p:tgtEl>
                                      </p:cBhvr>
                                    </p:animEffect>
                                  </p:childTnLst>
                                </p:cTn>
                              </p:par>
                              <p:par>
                                <p:cTn id="15" presetID="29" presetClass="entr" presetSubtype="0" fill="hold" nodeType="withEffect">
                                  <p:childTnLst>
                                    <p:set>
                                      <p:cBhvr additive="base">
                                        <p:cTn id="16" dur="1" fill="hold">
                                          <p:stCondLst>
                                            <p:cond delay="0"/>
                                          </p:stCondLst>
                                        </p:cTn>
                                        <p:tgtEl>
                                          <p:spTgt spid="2194">
                                            <p:txEl>
                                              <p:pRg st="3" end="3"/>
                                            </p:txEl>
                                          </p:spTgt>
                                        </p:tgtEl>
                                        <p:attrNameLst>
                                          <p:attrName>style.visibility</p:attrName>
                                        </p:attrNameLst>
                                      </p:cBhvr>
                                      <p:to>
                                        <p:strVal val="visible"/>
                                      </p:to>
                                    </p:set>
                                    <p:anim calcmode="lin" valueType="num">
                                      <p:cBhvr additive="base">
                                        <p:cTn id="17" dur="1000" fill="hold"/>
                                        <p:tgtEl>
                                          <p:spTgt spid="2194">
                                            <p:txEl>
                                              <p:pRg st="3" end="3"/>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194">
                                            <p:txEl>
                                              <p:pRg st="3" end="3"/>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194">
                                            <p:txEl>
                                              <p:pRg st="3" end="3"/>
                                            </p:txEl>
                                          </p:spTgt>
                                        </p:tgtEl>
                                      </p:cBhvr>
                                    </p:animEffect>
                                  </p:childTnLst>
                                </p:cTn>
                              </p:par>
                              <p:par>
                                <p:cTn id="20" presetID="29" presetClass="entr" presetSubtype="0" fill="hold" nodeType="withEffect">
                                  <p:childTnLst>
                                    <p:set>
                                      <p:cBhvr additive="base">
                                        <p:cTn id="21" dur="1" fill="hold">
                                          <p:stCondLst>
                                            <p:cond delay="0"/>
                                          </p:stCondLst>
                                        </p:cTn>
                                        <p:tgtEl>
                                          <p:spTgt spid="2195"/>
                                        </p:tgtEl>
                                        <p:attrNameLst>
                                          <p:attrName>style.visibility</p:attrName>
                                        </p:attrNameLst>
                                      </p:cBhvr>
                                      <p:to>
                                        <p:strVal val="visible"/>
                                      </p:to>
                                    </p:set>
                                    <p:anim calcmode="lin" valueType="num">
                                      <p:cBhvr additive="base">
                                        <p:cTn id="22" dur="1000" fill="hold"/>
                                        <p:tgtEl>
                                          <p:spTgt spid="2195"/>
                                        </p:tgtEl>
                                        <p:attrNameLst>
                                          <p:attrName>ppt_x</p:attrName>
                                        </p:attrNameLst>
                                      </p:cBhvr>
                                      <p:tavLst>
                                        <p:tav tm="0">
                                          <p:val>
                                            <p:strVal val="#ppt_x-.2"/>
                                          </p:val>
                                        </p:tav>
                                        <p:tav tm="100000">
                                          <p:val>
                                            <p:strVal val="#ppt_x"/>
                                          </p:val>
                                        </p:tav>
                                      </p:tavLst>
                                    </p:anim>
                                    <p:anim calcmode="lin" valueType="num">
                                      <p:cBhvr additive="base">
                                        <p:cTn id="23" dur="1000" fill="hold"/>
                                        <p:tgtEl>
                                          <p:spTgt spid="2195"/>
                                        </p:tgtEl>
                                        <p:attrNameLst>
                                          <p:attrName>ppt_y</p:attrName>
                                        </p:attrNameLst>
                                      </p:cBhvr>
                                      <p:tavLst>
                                        <p:tav tm="0">
                                          <p:val>
                                            <p:strVal val="#ppt_y"/>
                                          </p:val>
                                        </p:tav>
                                        <p:tav tm="100000">
                                          <p:val>
                                            <p:strVal val="#ppt_y"/>
                                          </p:val>
                                        </p:tav>
                                      </p:tavLst>
                                    </p:anim>
                                    <p:animEffect transition="in" filter="wipe(right)">
                                      <p:cBhvr additive="base">
                                        <p:cTn id="24" dur="1000"/>
                                        <p:tgtEl>
                                          <p:spTgt spid="2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26</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00" name="矩形 2199"/>
          <p:cNvSpPr/>
          <p:nvPr/>
        </p:nvSpPr>
        <p:spPr>
          <a:xfrm>
            <a:off x="1042988" y="3500438"/>
            <a:ext cx="531812" cy="574675"/>
          </a:xfrm>
          <a:prstGeom prst="rect">
            <a:avLst/>
          </a:prstGeom>
          <a:solidFill>
            <a:srgbClr val="FFD9FF">
              <a:alpha val="50195"/>
            </a:srgbClr>
          </a:solidFill>
          <a:ln w="12700">
            <a:noFill/>
          </a:ln>
        </p:spPr>
        <p:txBody>
          <a:bodyPr/>
          <a:lstStyle/>
          <a:p>
            <a:endParaRPr lang="zh-CN" altLang="en-US"/>
          </a:p>
        </p:txBody>
      </p:sp>
      <p:sp>
        <p:nvSpPr>
          <p:cNvPr id="2201" name="矩形 2200"/>
          <p:cNvSpPr/>
          <p:nvPr/>
        </p:nvSpPr>
        <p:spPr>
          <a:xfrm>
            <a:off x="3059113" y="5157788"/>
            <a:ext cx="531812" cy="574675"/>
          </a:xfrm>
          <a:prstGeom prst="rect">
            <a:avLst/>
          </a:prstGeom>
          <a:solidFill>
            <a:srgbClr val="FFD9FF">
              <a:alpha val="50195"/>
            </a:srgbClr>
          </a:solidFill>
          <a:ln w="12700">
            <a:noFill/>
          </a:ln>
        </p:spPr>
        <p:txBody>
          <a:bodyPr/>
          <a:lstStyle/>
          <a:p>
            <a:endParaRPr lang="zh-CN" altLang="en-US"/>
          </a:p>
        </p:txBody>
      </p:sp>
      <p:graphicFrame>
        <p:nvGraphicFramePr>
          <p:cNvPr id="2202" name="对象 2201"/>
          <p:cNvGraphicFramePr/>
          <p:nvPr/>
        </p:nvGraphicFramePr>
        <p:xfrm>
          <a:off x="827405" y="3413443"/>
          <a:ext cx="7986713" cy="2173287"/>
        </p:xfrm>
        <a:graphic>
          <a:graphicData uri="http://schemas.openxmlformats.org/presentationml/2006/ole">
            <mc:AlternateContent xmlns:mc="http://schemas.openxmlformats.org/markup-compatibility/2006">
              <mc:Choice xmlns:v="urn:schemas-microsoft-com:vml" Requires="v">
                <p:oleObj spid="_x0000_s15364" r:id="rId3" imgW="3382010" imgH="1865630" progId="Equation.3">
                  <p:embed/>
                </p:oleObj>
              </mc:Choice>
              <mc:Fallback>
                <p:oleObj r:id="rId3" imgW="3382010" imgH="1865630" progId="Equation.3">
                  <p:embed/>
                  <p:pic>
                    <p:nvPicPr>
                      <p:cNvPr id="0" name="图片 3082"/>
                      <p:cNvPicPr/>
                      <p:nvPr/>
                    </p:nvPicPr>
                    <p:blipFill>
                      <a:blip r:embed="rId4"/>
                      <a:stretch>
                        <a:fillRect/>
                      </a:stretch>
                    </p:blipFill>
                    <p:spPr>
                      <a:xfrm>
                        <a:off x="827405" y="3413443"/>
                        <a:ext cx="7986713" cy="2173287"/>
                      </a:xfrm>
                      <a:prstGeom prst="rect">
                        <a:avLst/>
                      </a:prstGeom>
                      <a:noFill/>
                      <a:ln w="38100">
                        <a:noFill/>
                        <a:miter/>
                      </a:ln>
                    </p:spPr>
                  </p:pic>
                </p:oleObj>
              </mc:Fallback>
            </mc:AlternateContent>
          </a:graphicData>
        </a:graphic>
      </p:graphicFrame>
      <p:sp>
        <p:nvSpPr>
          <p:cNvPr id="2203" name="标题 2202"/>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204" name="文本占位符 2203"/>
          <p:cNvSpPr>
            <a:spLocks noGrp="1"/>
          </p:cNvSpPr>
          <p:nvPr>
            <p:ph type="body" idx="4294967295"/>
          </p:nvPr>
        </p:nvSpPr>
        <p:spPr/>
        <p:txBody>
          <a:bodyPr/>
          <a:lstStyle/>
          <a:p>
            <a:pPr>
              <a:buClr>
                <a:srgbClr val="993366"/>
              </a:buClr>
              <a:buNone/>
            </a:pPr>
            <a:r>
              <a:rPr lang="en-US" altLang="zh-CN">
                <a:ea typeface="MingLiU_HKSCS-ExtB" panose="02020500000000000000" charset="-120"/>
              </a:rPr>
              <a:t>(5)  </a:t>
            </a:r>
            <a:r>
              <a:rPr lang="en-US" altLang="zh-CN" i="1">
                <a:ea typeface="MingLiU_HKSCS-ExtB" panose="02020500000000000000" charset="-120"/>
              </a:rPr>
              <a:t>N </a:t>
            </a:r>
            <a:r>
              <a:rPr lang="zh-CN" altLang="en-US">
                <a:ea typeface="MingLiU_HKSCS-ExtB" panose="02020500000000000000" charset="-120"/>
              </a:rPr>
              <a:t>次扩展信道的平均失真度</a:t>
            </a:r>
          </a:p>
          <a:p>
            <a:pPr>
              <a:buClr>
                <a:srgbClr val="993366"/>
              </a:buClr>
            </a:pPr>
            <a:r>
              <a:rPr lang="zh-CN" altLang="en-US" sz="2000">
                <a:ea typeface="MingLiU_HKSCS-ExtB" panose="02020500000000000000" charset="-120"/>
              </a:rPr>
              <a:t>  “</a:t>
            </a:r>
            <a:r>
              <a:rPr lang="en-US" altLang="zh-CN" sz="2000" i="1">
                <a:ea typeface="MingLiU_HKSCS-ExtB" panose="02020500000000000000" charset="-120"/>
              </a:rPr>
              <a:t>N </a:t>
            </a:r>
            <a:r>
              <a:rPr lang="zh-CN" altLang="en-US" sz="2000">
                <a:ea typeface="MingLiU_HKSCS-ExtB" panose="02020500000000000000" charset="-120"/>
              </a:rPr>
              <a:t>次扩展”与“单符号”平均失真度的关系</a:t>
            </a:r>
          </a:p>
          <a:p>
            <a:pPr marL="355600" lvl="1">
              <a:buClr>
                <a:srgbClr val="993366"/>
              </a:buClr>
            </a:pPr>
            <a:r>
              <a:rPr lang="zh-CN" altLang="en-US" sz="2000">
                <a:ea typeface="MingLiU_HKSCS-ExtB" panose="02020500000000000000" charset="-120"/>
              </a:rPr>
              <a:t> 由扩展信源和扩展信道的无记忆性有：</a:t>
            </a:r>
          </a:p>
        </p:txBody>
      </p:sp>
      <p:graphicFrame>
        <p:nvGraphicFramePr>
          <p:cNvPr id="2205" name="对象 2204"/>
          <p:cNvGraphicFramePr/>
          <p:nvPr/>
        </p:nvGraphicFramePr>
        <p:xfrm>
          <a:off x="827405" y="5661343"/>
          <a:ext cx="7850188" cy="649287"/>
        </p:xfrm>
        <a:graphic>
          <a:graphicData uri="http://schemas.openxmlformats.org/presentationml/2006/ole">
            <mc:AlternateContent xmlns:mc="http://schemas.openxmlformats.org/markup-compatibility/2006">
              <mc:Choice xmlns:v="urn:schemas-microsoft-com:vml" Requires="v">
                <p:oleObj spid="_x0000_s15365" r:id="rId5" imgW="991870" imgH="457200" progId="Equation.3">
                  <p:embed/>
                </p:oleObj>
              </mc:Choice>
              <mc:Fallback>
                <p:oleObj r:id="rId5" imgW="991870" imgH="457200" progId="Equation.3">
                  <p:embed/>
                  <p:pic>
                    <p:nvPicPr>
                      <p:cNvPr id="0" name="图片 3081"/>
                      <p:cNvPicPr/>
                      <p:nvPr/>
                    </p:nvPicPr>
                    <p:blipFill>
                      <a:blip r:embed="rId6"/>
                      <a:stretch>
                        <a:fillRect/>
                      </a:stretch>
                    </p:blipFill>
                    <p:spPr>
                      <a:xfrm>
                        <a:off x="827405" y="5661343"/>
                        <a:ext cx="7850188" cy="649287"/>
                      </a:xfrm>
                      <a:prstGeom prst="rect">
                        <a:avLst/>
                      </a:prstGeom>
                      <a:noFill/>
                      <a:ln w="38100">
                        <a:noFill/>
                        <a:miter/>
                      </a:ln>
                    </p:spPr>
                  </p:pic>
                </p:oleObj>
              </mc:Fallback>
            </mc:AlternateContent>
          </a:graphicData>
        </a:graphic>
      </p:graphicFrame>
      <p:graphicFrame>
        <p:nvGraphicFramePr>
          <p:cNvPr id="2206" name="对象 2205"/>
          <p:cNvGraphicFramePr/>
          <p:nvPr/>
        </p:nvGraphicFramePr>
        <p:xfrm>
          <a:off x="1128713" y="2692400"/>
          <a:ext cx="6899275" cy="665163"/>
        </p:xfrm>
        <a:graphic>
          <a:graphicData uri="http://schemas.openxmlformats.org/presentationml/2006/ole">
            <mc:AlternateContent xmlns:mc="http://schemas.openxmlformats.org/markup-compatibility/2006">
              <mc:Choice xmlns:v="urn:schemas-microsoft-com:vml" Requires="v">
                <p:oleObj spid="_x0000_s15366" r:id="rId7" imgW="917575" imgH="431800" progId="Equation.3">
                  <p:embed/>
                </p:oleObj>
              </mc:Choice>
              <mc:Fallback>
                <p:oleObj r:id="rId7" imgW="917575" imgH="431800" progId="Equation.3">
                  <p:embed/>
                  <p:pic>
                    <p:nvPicPr>
                      <p:cNvPr id="0" name="图片 3128"/>
                      <p:cNvPicPr/>
                      <p:nvPr/>
                    </p:nvPicPr>
                    <p:blipFill>
                      <a:blip r:embed="rId8"/>
                      <a:stretch>
                        <a:fillRect/>
                      </a:stretch>
                    </p:blipFill>
                    <p:spPr>
                      <a:xfrm>
                        <a:off x="1128713" y="2692400"/>
                        <a:ext cx="6899275" cy="665163"/>
                      </a:xfrm>
                      <a:prstGeom prst="rect">
                        <a:avLst/>
                      </a:prstGeom>
                      <a:noFill/>
                      <a:ln w="38100">
                        <a:noFill/>
                        <a:miter/>
                      </a:ln>
                    </p:spPr>
                  </p:pic>
                </p:oleObj>
              </mc:Fallback>
            </mc:AlternateContent>
          </a:graphicData>
        </a:graphic>
      </p:graphicFrame>
      <p:sp>
        <p:nvSpPr>
          <p:cNvPr id="2207" name="矩形 2206"/>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201"/>
                                        </p:tgtEl>
                                        <p:attrNameLst>
                                          <p:attrName>style.visibility</p:attrName>
                                        </p:attrNameLst>
                                      </p:cBhvr>
                                      <p:to>
                                        <p:strVal val="visible"/>
                                      </p:to>
                                    </p:set>
                                    <p:anim calcmode="lin" valueType="num">
                                      <p:cBhvr additive="base">
                                        <p:cTn id="7" dur="1000" fill="hold"/>
                                        <p:tgtEl>
                                          <p:spTgt spid="2201"/>
                                        </p:tgtEl>
                                        <p:attrNameLst>
                                          <p:attrName>ppt_x</p:attrName>
                                        </p:attrNameLst>
                                      </p:cBhvr>
                                      <p:tavLst>
                                        <p:tav tm="0">
                                          <p:val>
                                            <p:strVal val="#ppt_x-.2"/>
                                          </p:val>
                                        </p:tav>
                                        <p:tav tm="100000">
                                          <p:val>
                                            <p:strVal val="#ppt_x"/>
                                          </p:val>
                                        </p:tav>
                                      </p:tavLst>
                                    </p:anim>
                                    <p:anim calcmode="lin" valueType="num">
                                      <p:cBhvr additive="base">
                                        <p:cTn id="8" dur="1000" fill="hold"/>
                                        <p:tgtEl>
                                          <p:spTgt spid="2201"/>
                                        </p:tgtEl>
                                        <p:attrNameLst>
                                          <p:attrName>ppt_y</p:attrName>
                                        </p:attrNameLst>
                                      </p:cBhvr>
                                      <p:tavLst>
                                        <p:tav tm="0">
                                          <p:val>
                                            <p:strVal val="#ppt_y"/>
                                          </p:val>
                                        </p:tav>
                                        <p:tav tm="100000">
                                          <p:val>
                                            <p:strVal val="#ppt_y"/>
                                          </p:val>
                                        </p:tav>
                                      </p:tavLst>
                                    </p:anim>
                                    <p:animEffect transition="in" filter="wipe(right)">
                                      <p:cBhvr additive="base">
                                        <p:cTn id="9" dur="1000"/>
                                        <p:tgtEl>
                                          <p:spTgt spid="2201"/>
                                        </p:tgtEl>
                                      </p:cBhvr>
                                    </p:animEffect>
                                  </p:childTnLst>
                                </p:cTn>
                              </p:par>
                              <p:par>
                                <p:cTn id="10" presetID="29" presetClass="entr" presetSubtype="0" fill="hold" nodeType="withEffect">
                                  <p:childTnLst>
                                    <p:set>
                                      <p:cBhvr additive="base">
                                        <p:cTn id="11" dur="1" fill="hold">
                                          <p:stCondLst>
                                            <p:cond delay="0"/>
                                          </p:stCondLst>
                                        </p:cTn>
                                        <p:tgtEl>
                                          <p:spTgt spid="2200"/>
                                        </p:tgtEl>
                                        <p:attrNameLst>
                                          <p:attrName>style.visibility</p:attrName>
                                        </p:attrNameLst>
                                      </p:cBhvr>
                                      <p:to>
                                        <p:strVal val="visible"/>
                                      </p:to>
                                    </p:set>
                                    <p:anim calcmode="lin" valueType="num">
                                      <p:cBhvr additive="base">
                                        <p:cTn id="12" dur="1000" fill="hold"/>
                                        <p:tgtEl>
                                          <p:spTgt spid="2200"/>
                                        </p:tgtEl>
                                        <p:attrNameLst>
                                          <p:attrName>ppt_x</p:attrName>
                                        </p:attrNameLst>
                                      </p:cBhvr>
                                      <p:tavLst>
                                        <p:tav tm="0">
                                          <p:val>
                                            <p:strVal val="#ppt_x-.2"/>
                                          </p:val>
                                        </p:tav>
                                        <p:tav tm="100000">
                                          <p:val>
                                            <p:strVal val="#ppt_x"/>
                                          </p:val>
                                        </p:tav>
                                      </p:tavLst>
                                    </p:anim>
                                    <p:anim calcmode="lin" valueType="num">
                                      <p:cBhvr additive="base">
                                        <p:cTn id="13" dur="1000" fill="hold"/>
                                        <p:tgtEl>
                                          <p:spTgt spid="2200"/>
                                        </p:tgtEl>
                                        <p:attrNameLst>
                                          <p:attrName>ppt_y</p:attrName>
                                        </p:attrNameLst>
                                      </p:cBhvr>
                                      <p:tavLst>
                                        <p:tav tm="0">
                                          <p:val>
                                            <p:strVal val="#ppt_y"/>
                                          </p:val>
                                        </p:tav>
                                        <p:tav tm="100000">
                                          <p:val>
                                            <p:strVal val="#ppt_y"/>
                                          </p:val>
                                        </p:tav>
                                      </p:tavLst>
                                    </p:anim>
                                    <p:animEffect transition="in" filter="wipe(right)">
                                      <p:cBhvr additive="base">
                                        <p:cTn id="14" dur="1000"/>
                                        <p:tgtEl>
                                          <p:spTgt spid="2200"/>
                                        </p:tgtEl>
                                      </p:cBhvr>
                                    </p:animEffect>
                                  </p:childTnLst>
                                </p:cTn>
                              </p:par>
                              <p:par>
                                <p:cTn id="15" presetID="29" presetClass="entr" presetSubtype="0" fill="hold" nodeType="withEffect">
                                  <p:childTnLst>
                                    <p:set>
                                      <p:cBhvr additive="base">
                                        <p:cTn id="16" dur="1" fill="hold">
                                          <p:stCondLst>
                                            <p:cond delay="0"/>
                                          </p:stCondLst>
                                        </p:cTn>
                                        <p:tgtEl>
                                          <p:spTgt spid="2204">
                                            <p:txEl>
                                              <p:pRg st="1" end="1"/>
                                            </p:txEl>
                                          </p:spTgt>
                                        </p:tgtEl>
                                        <p:attrNameLst>
                                          <p:attrName>style.visibility</p:attrName>
                                        </p:attrNameLst>
                                      </p:cBhvr>
                                      <p:to>
                                        <p:strVal val="visible"/>
                                      </p:to>
                                    </p:set>
                                    <p:anim calcmode="lin" valueType="num">
                                      <p:cBhvr additive="base">
                                        <p:cTn id="17" dur="1000" fill="hold"/>
                                        <p:tgtEl>
                                          <p:spTgt spid="2204">
                                            <p:txEl>
                                              <p:pRg st="1" end="1"/>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204">
                                            <p:txEl>
                                              <p:pRg st="1" end="1"/>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204">
                                            <p:txEl>
                                              <p:pRg st="1" end="1"/>
                                            </p:txEl>
                                          </p:spTgt>
                                        </p:tgtEl>
                                      </p:cBhvr>
                                    </p:animEffect>
                                  </p:childTnLst>
                                </p:cTn>
                              </p:par>
                              <p:par>
                                <p:cTn id="20" presetID="29" presetClass="entr" presetSubtype="0" fill="hold" nodeType="withEffect">
                                  <p:childTnLst>
                                    <p:set>
                                      <p:cBhvr additive="base">
                                        <p:cTn id="21" dur="1" fill="hold">
                                          <p:stCondLst>
                                            <p:cond delay="0"/>
                                          </p:stCondLst>
                                        </p:cTn>
                                        <p:tgtEl>
                                          <p:spTgt spid="2204">
                                            <p:txEl>
                                              <p:pRg st="2" end="2"/>
                                            </p:txEl>
                                          </p:spTgt>
                                        </p:tgtEl>
                                        <p:attrNameLst>
                                          <p:attrName>style.visibility</p:attrName>
                                        </p:attrNameLst>
                                      </p:cBhvr>
                                      <p:to>
                                        <p:strVal val="visible"/>
                                      </p:to>
                                    </p:set>
                                    <p:anim calcmode="lin" valueType="num">
                                      <p:cBhvr additive="base">
                                        <p:cTn id="22" dur="1000" fill="hold"/>
                                        <p:tgtEl>
                                          <p:spTgt spid="2204">
                                            <p:txEl>
                                              <p:pRg st="2" end="2"/>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204">
                                            <p:txEl>
                                              <p:pRg st="2" end="2"/>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204">
                                            <p:txEl>
                                              <p:pRg st="2" end="2"/>
                                            </p:txEl>
                                          </p:spTgt>
                                        </p:tgtEl>
                                      </p:cBhvr>
                                    </p:animEffect>
                                  </p:childTnLst>
                                </p:cTn>
                              </p:par>
                              <p:par>
                                <p:cTn id="25" presetID="29" presetClass="entr" presetSubtype="0" fill="hold" nodeType="withEffect">
                                  <p:childTnLst>
                                    <p:set>
                                      <p:cBhvr additive="base">
                                        <p:cTn id="26" dur="1" fill="hold">
                                          <p:stCondLst>
                                            <p:cond delay="0"/>
                                          </p:stCondLst>
                                        </p:cTn>
                                        <p:tgtEl>
                                          <p:spTgt spid="2205"/>
                                        </p:tgtEl>
                                        <p:attrNameLst>
                                          <p:attrName>style.visibility</p:attrName>
                                        </p:attrNameLst>
                                      </p:cBhvr>
                                      <p:to>
                                        <p:strVal val="visible"/>
                                      </p:to>
                                    </p:set>
                                    <p:anim calcmode="lin" valueType="num">
                                      <p:cBhvr additive="base">
                                        <p:cTn id="27" dur="1000" fill="hold"/>
                                        <p:tgtEl>
                                          <p:spTgt spid="2205"/>
                                        </p:tgtEl>
                                        <p:attrNameLst>
                                          <p:attrName>ppt_x</p:attrName>
                                        </p:attrNameLst>
                                      </p:cBhvr>
                                      <p:tavLst>
                                        <p:tav tm="0">
                                          <p:val>
                                            <p:strVal val="#ppt_x-.2"/>
                                          </p:val>
                                        </p:tav>
                                        <p:tav tm="100000">
                                          <p:val>
                                            <p:strVal val="#ppt_x"/>
                                          </p:val>
                                        </p:tav>
                                      </p:tavLst>
                                    </p:anim>
                                    <p:anim calcmode="lin" valueType="num">
                                      <p:cBhvr additive="base">
                                        <p:cTn id="28" dur="1000" fill="hold"/>
                                        <p:tgtEl>
                                          <p:spTgt spid="2205"/>
                                        </p:tgtEl>
                                        <p:attrNameLst>
                                          <p:attrName>ppt_y</p:attrName>
                                        </p:attrNameLst>
                                      </p:cBhvr>
                                      <p:tavLst>
                                        <p:tav tm="0">
                                          <p:val>
                                            <p:strVal val="#ppt_y"/>
                                          </p:val>
                                        </p:tav>
                                        <p:tav tm="100000">
                                          <p:val>
                                            <p:strVal val="#ppt_y"/>
                                          </p:val>
                                        </p:tav>
                                      </p:tavLst>
                                    </p:anim>
                                    <p:animEffect transition="in" filter="wipe(right)">
                                      <p:cBhvr additive="base">
                                        <p:cTn id="29" dur="1000"/>
                                        <p:tgtEl>
                                          <p:spTgt spid="2205"/>
                                        </p:tgtEl>
                                      </p:cBhvr>
                                    </p:animEffect>
                                  </p:childTnLst>
                                </p:cTn>
                              </p:par>
                              <p:par>
                                <p:cTn id="30" presetID="29" presetClass="entr" presetSubtype="0" fill="hold" nodeType="withEffect">
                                  <p:childTnLst>
                                    <p:set>
                                      <p:cBhvr additive="base">
                                        <p:cTn id="31" dur="1" fill="hold">
                                          <p:stCondLst>
                                            <p:cond delay="0"/>
                                          </p:stCondLst>
                                        </p:cTn>
                                        <p:tgtEl>
                                          <p:spTgt spid="2206"/>
                                        </p:tgtEl>
                                        <p:attrNameLst>
                                          <p:attrName>style.visibility</p:attrName>
                                        </p:attrNameLst>
                                      </p:cBhvr>
                                      <p:to>
                                        <p:strVal val="visible"/>
                                      </p:to>
                                    </p:set>
                                    <p:anim calcmode="lin" valueType="num">
                                      <p:cBhvr additive="base">
                                        <p:cTn id="32" dur="1000" fill="hold"/>
                                        <p:tgtEl>
                                          <p:spTgt spid="2206"/>
                                        </p:tgtEl>
                                        <p:attrNameLst>
                                          <p:attrName>ppt_x</p:attrName>
                                        </p:attrNameLst>
                                      </p:cBhvr>
                                      <p:tavLst>
                                        <p:tav tm="0">
                                          <p:val>
                                            <p:strVal val="#ppt_x-.2"/>
                                          </p:val>
                                        </p:tav>
                                        <p:tav tm="100000">
                                          <p:val>
                                            <p:strVal val="#ppt_x"/>
                                          </p:val>
                                        </p:tav>
                                      </p:tavLst>
                                    </p:anim>
                                    <p:anim calcmode="lin" valueType="num">
                                      <p:cBhvr additive="base">
                                        <p:cTn id="33" dur="1000" fill="hold"/>
                                        <p:tgtEl>
                                          <p:spTgt spid="2206"/>
                                        </p:tgtEl>
                                        <p:attrNameLst>
                                          <p:attrName>ppt_y</p:attrName>
                                        </p:attrNameLst>
                                      </p:cBhvr>
                                      <p:tavLst>
                                        <p:tav tm="0">
                                          <p:val>
                                            <p:strVal val="#ppt_y"/>
                                          </p:val>
                                        </p:tav>
                                        <p:tav tm="100000">
                                          <p:val>
                                            <p:strVal val="#ppt_y"/>
                                          </p:val>
                                        </p:tav>
                                      </p:tavLst>
                                    </p:anim>
                                    <p:animEffect transition="in" filter="wipe(right)">
                                      <p:cBhvr additive="base">
                                        <p:cTn id="34" dur="1000"/>
                                        <p:tgtEl>
                                          <p:spTgt spid="2206"/>
                                        </p:tgtEl>
                                      </p:cBhvr>
                                    </p:animEffect>
                                  </p:childTnLst>
                                </p:cTn>
                              </p:par>
                              <p:par>
                                <p:cTn id="35" presetID="29" presetClass="entr" presetSubtype="0" fill="hold" nodeType="withEffect">
                                  <p:childTnLst>
                                    <p:set>
                                      <p:cBhvr additive="base">
                                        <p:cTn id="36" dur="1" fill="hold">
                                          <p:stCondLst>
                                            <p:cond delay="0"/>
                                          </p:stCondLst>
                                        </p:cTn>
                                        <p:tgtEl>
                                          <p:spTgt spid="2202"/>
                                        </p:tgtEl>
                                        <p:attrNameLst>
                                          <p:attrName>style.visibility</p:attrName>
                                        </p:attrNameLst>
                                      </p:cBhvr>
                                      <p:to>
                                        <p:strVal val="visible"/>
                                      </p:to>
                                    </p:set>
                                    <p:anim calcmode="lin" valueType="num">
                                      <p:cBhvr additive="base">
                                        <p:cTn id="37" dur="1000" fill="hold"/>
                                        <p:tgtEl>
                                          <p:spTgt spid="2202"/>
                                        </p:tgtEl>
                                        <p:attrNameLst>
                                          <p:attrName>ppt_x</p:attrName>
                                        </p:attrNameLst>
                                      </p:cBhvr>
                                      <p:tavLst>
                                        <p:tav tm="0">
                                          <p:val>
                                            <p:strVal val="#ppt_x-.2"/>
                                          </p:val>
                                        </p:tav>
                                        <p:tav tm="100000">
                                          <p:val>
                                            <p:strVal val="#ppt_x"/>
                                          </p:val>
                                        </p:tav>
                                      </p:tavLst>
                                    </p:anim>
                                    <p:anim calcmode="lin" valueType="num">
                                      <p:cBhvr additive="base">
                                        <p:cTn id="38" dur="1000" fill="hold"/>
                                        <p:tgtEl>
                                          <p:spTgt spid="2202"/>
                                        </p:tgtEl>
                                        <p:attrNameLst>
                                          <p:attrName>ppt_y</p:attrName>
                                        </p:attrNameLst>
                                      </p:cBhvr>
                                      <p:tavLst>
                                        <p:tav tm="0">
                                          <p:val>
                                            <p:strVal val="#ppt_y"/>
                                          </p:val>
                                        </p:tav>
                                        <p:tav tm="100000">
                                          <p:val>
                                            <p:strVal val="#ppt_y"/>
                                          </p:val>
                                        </p:tav>
                                      </p:tavLst>
                                    </p:anim>
                                    <p:animEffect transition="in" filter="wipe(right)">
                                      <p:cBhvr additive="base">
                                        <p:cTn id="39" dur="1000"/>
                                        <p:tgtEl>
                                          <p:spTgt spid="2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27</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10" name="标题 2209"/>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211" name="文本占位符 2210"/>
          <p:cNvSpPr>
            <a:spLocks noGrp="1"/>
          </p:cNvSpPr>
          <p:nvPr>
            <p:ph type="body" idx="4294967295"/>
          </p:nvPr>
        </p:nvSpPr>
        <p:spPr>
          <a:xfrm>
            <a:off x="457200" y="981075"/>
            <a:ext cx="8435975" cy="5327650"/>
          </a:xfrm>
        </p:spPr>
        <p:txBody>
          <a:bodyPr/>
          <a:lstStyle/>
          <a:p>
            <a:pPr>
              <a:buClr>
                <a:srgbClr val="993366"/>
              </a:buClr>
              <a:buNone/>
            </a:pPr>
            <a:r>
              <a:rPr lang="en-US" altLang="zh-CN">
                <a:ea typeface="MingLiU_HKSCS-ExtB" panose="02020500000000000000" charset="-120"/>
              </a:rPr>
              <a:t>(5)  </a:t>
            </a:r>
            <a:r>
              <a:rPr lang="en-US" altLang="zh-CN" i="1">
                <a:ea typeface="MingLiU_HKSCS-ExtB" panose="02020500000000000000" charset="-120"/>
              </a:rPr>
              <a:t>N </a:t>
            </a:r>
            <a:r>
              <a:rPr lang="zh-CN" altLang="en-US">
                <a:ea typeface="MingLiU_HKSCS-ExtB" panose="02020500000000000000" charset="-120"/>
              </a:rPr>
              <a:t>次扩展信道的平均失真度</a:t>
            </a:r>
          </a:p>
          <a:p>
            <a:pPr>
              <a:buClr>
                <a:srgbClr val="993366"/>
              </a:buClr>
            </a:pPr>
            <a:r>
              <a:rPr lang="zh-CN" altLang="en-US" sz="2000">
                <a:ea typeface="MingLiU_HKSCS-ExtB" panose="02020500000000000000" charset="-120"/>
              </a:rPr>
              <a:t> “</a:t>
            </a:r>
            <a:r>
              <a:rPr lang="en-US" altLang="zh-CN" sz="2000" i="1">
                <a:ea typeface="MingLiU_HKSCS-ExtB" panose="02020500000000000000" charset="-120"/>
              </a:rPr>
              <a:t>N </a:t>
            </a:r>
            <a:r>
              <a:rPr lang="zh-CN" altLang="en-US" sz="2000">
                <a:ea typeface="MingLiU_HKSCS-ExtB" panose="02020500000000000000" charset="-120"/>
              </a:rPr>
              <a:t>次扩展”与“单符号”平均失真度的关系</a:t>
            </a:r>
          </a:p>
          <a:p>
            <a:pPr marL="355600" lvl="1">
              <a:buClr>
                <a:srgbClr val="993366"/>
              </a:buClr>
            </a:pPr>
            <a:r>
              <a:rPr lang="zh-CN" altLang="en-US" sz="2000">
                <a:ea typeface="MingLiU_HKSCS-ExtB" panose="02020500000000000000" charset="-120"/>
              </a:rPr>
              <a:t>        （</a:t>
            </a:r>
            <a:r>
              <a:rPr lang="en-US" altLang="zh-CN" sz="2000" i="1">
                <a:ea typeface="MingLiU_HKSCS-ExtB" panose="02020500000000000000" charset="-120"/>
              </a:rPr>
              <a:t>k</a:t>
            </a:r>
            <a:r>
              <a:rPr lang="en-US" altLang="zh-CN" sz="2000">
                <a:ea typeface="MingLiU_HKSCS-ExtB" panose="02020500000000000000" charset="-120"/>
              </a:rPr>
              <a:t>=1,2, …,</a:t>
            </a:r>
            <a:r>
              <a:rPr lang="en-US" altLang="zh-CN" sz="2000" i="1">
                <a:ea typeface="MingLiU_HKSCS-ExtB" panose="02020500000000000000" charset="-120"/>
              </a:rPr>
              <a:t>N</a:t>
            </a:r>
            <a:r>
              <a:rPr lang="zh-CN" altLang="en-US" sz="2000">
                <a:ea typeface="MingLiU_HKSCS-ExtB" panose="02020500000000000000" charset="-120"/>
              </a:rPr>
              <a:t>）是同一信源 </a:t>
            </a:r>
            <a:r>
              <a:rPr lang="en-US" altLang="zh-CN" sz="2000" i="1">
                <a:ea typeface="MingLiU_HKSCS-ExtB" panose="02020500000000000000" charset="-120"/>
              </a:rPr>
              <a:t>X </a:t>
            </a:r>
            <a:r>
              <a:rPr lang="zh-CN" altLang="en-US" sz="2000">
                <a:ea typeface="MingLiU_HKSCS-ExtB" panose="02020500000000000000" charset="-120"/>
              </a:rPr>
              <a:t>在 </a:t>
            </a:r>
            <a:r>
              <a:rPr lang="en-US" altLang="zh-CN" sz="2000" i="1">
                <a:ea typeface="MingLiU_HKSCS-ExtB" panose="02020500000000000000" charset="-120"/>
              </a:rPr>
              <a:t>N  </a:t>
            </a:r>
            <a:r>
              <a:rPr lang="zh-CN" altLang="en-US" sz="2000">
                <a:ea typeface="MingLiU_HKSCS-ExtB" panose="02020500000000000000" charset="-120"/>
              </a:rPr>
              <a:t>个不同时刻通过同一信道 </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a:ea typeface="MingLiU_HKSCS-ExtB" panose="02020500000000000000" charset="-120"/>
              </a:rPr>
              <a:t>  </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a:ea typeface="MingLiU_HKSCS-ExtB" panose="02020500000000000000" charset="-120"/>
              </a:rPr>
              <a:t>)  </a:t>
            </a:r>
            <a:r>
              <a:rPr lang="en-US" altLang="zh-CN" sz="2000" i="1">
                <a:ea typeface="MingLiU_HKSCS-ExtB" panose="02020500000000000000" charset="-120"/>
              </a:rPr>
              <a:t>Y</a:t>
            </a:r>
            <a:r>
              <a:rPr lang="en-US" altLang="zh-CN" sz="2000">
                <a:ea typeface="MingLiU_HKSCS-ExtB" panose="02020500000000000000" charset="-120"/>
              </a:rPr>
              <a:t>} </a:t>
            </a:r>
            <a:r>
              <a:rPr lang="zh-CN" altLang="en-US" sz="2000">
                <a:ea typeface="MingLiU_HKSCS-ExtB" panose="02020500000000000000" charset="-120"/>
              </a:rPr>
              <a:t>所造成的平均失真度，因此都等于单符号信源 </a:t>
            </a:r>
            <a:r>
              <a:rPr lang="en-US" altLang="zh-CN" sz="2000" i="1">
                <a:ea typeface="MingLiU_HKSCS-ExtB" panose="02020500000000000000" charset="-120"/>
              </a:rPr>
              <a:t>X </a:t>
            </a:r>
            <a:r>
              <a:rPr lang="zh-CN" altLang="en-US" sz="2000">
                <a:ea typeface="MingLiU_HKSCS-ExtB" panose="02020500000000000000" charset="-120"/>
              </a:rPr>
              <a:t>通过信道 </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a:ea typeface="MingLiU_HKSCS-ExtB" panose="02020500000000000000" charset="-120"/>
              </a:rPr>
              <a:t>  </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a:ea typeface="MingLiU_HKSCS-ExtB" panose="02020500000000000000" charset="-120"/>
              </a:rPr>
              <a:t>)  </a:t>
            </a:r>
            <a:r>
              <a:rPr lang="en-US" altLang="zh-CN" sz="2000" i="1">
                <a:ea typeface="MingLiU_HKSCS-ExtB" panose="02020500000000000000" charset="-120"/>
              </a:rPr>
              <a:t>Y</a:t>
            </a:r>
            <a:r>
              <a:rPr lang="en-US" altLang="zh-CN" sz="2000">
                <a:ea typeface="MingLiU_HKSCS-ExtB" panose="02020500000000000000" charset="-120"/>
              </a:rPr>
              <a:t>} </a:t>
            </a:r>
            <a:r>
              <a:rPr lang="zh-CN" altLang="en-US" sz="2000">
                <a:ea typeface="MingLiU_HKSCS-ExtB" panose="02020500000000000000" charset="-120"/>
              </a:rPr>
              <a:t>所造成的平均失真度，即：</a:t>
            </a:r>
          </a:p>
          <a:p>
            <a:pPr marL="355600" lvl="1">
              <a:buClr>
                <a:srgbClr val="993366"/>
              </a:buClr>
            </a:pPr>
            <a:endParaRPr lang="zh-CN" altLang="en-US" sz="2000">
              <a:ea typeface="MingLiU_HKSCS-ExtB" panose="02020500000000000000" charset="-120"/>
            </a:endParaRPr>
          </a:p>
          <a:p>
            <a:pPr marL="355600" lvl="1">
              <a:buClr>
                <a:srgbClr val="993366"/>
              </a:buClr>
            </a:pPr>
            <a:endParaRPr lang="zh-CN" altLang="en-US" sz="2000">
              <a:ea typeface="MingLiU_HKSCS-ExtB" panose="02020500000000000000" charset="-120"/>
            </a:endParaRPr>
          </a:p>
          <a:p>
            <a:pPr marL="355600" lvl="1">
              <a:buClr>
                <a:srgbClr val="993366"/>
              </a:buClr>
            </a:pPr>
            <a:endParaRPr lang="zh-CN" altLang="en-US" sz="2000">
              <a:ea typeface="MingLiU_HKSCS-ExtB" panose="02020500000000000000" charset="-120"/>
            </a:endParaRPr>
          </a:p>
          <a:p>
            <a:pPr marL="355600" lvl="1">
              <a:buClr>
                <a:srgbClr val="993366"/>
              </a:buClr>
            </a:pPr>
            <a:endParaRPr lang="zh-CN" altLang="en-US" sz="800">
              <a:ea typeface="MingLiU_HKSCS-ExtB" panose="02020500000000000000" charset="-120"/>
            </a:endParaRPr>
          </a:p>
          <a:p>
            <a:pPr marL="355600" lvl="1">
              <a:buClr>
                <a:srgbClr val="993366"/>
              </a:buClr>
            </a:pPr>
            <a:r>
              <a:rPr lang="zh-CN" altLang="en-US" sz="2000">
                <a:solidFill>
                  <a:srgbClr val="0000CC"/>
                </a:solidFill>
                <a:ea typeface="MingLiU_HKSCS-ExtB" panose="02020500000000000000" charset="-120"/>
              </a:rPr>
              <a:t> </a:t>
            </a:r>
            <a:r>
              <a:rPr lang="zh-CN" altLang="en-US" sz="2000" u="sng">
                <a:solidFill>
                  <a:srgbClr val="0000CC"/>
                </a:solidFill>
                <a:ea typeface="MingLiU_HKSCS-ExtB" panose="02020500000000000000" charset="-120"/>
              </a:rPr>
              <a:t>结论说明</a:t>
            </a:r>
            <a:r>
              <a:rPr lang="zh-CN" altLang="en-US" sz="2000">
                <a:solidFill>
                  <a:srgbClr val="0000CC"/>
                </a:solidFill>
                <a:ea typeface="MingLiU_HKSCS-ExtB" panose="02020500000000000000" charset="-120"/>
              </a:rPr>
              <a:t>：</a:t>
            </a:r>
            <a:r>
              <a:rPr lang="zh-CN" altLang="en-US" sz="2000">
                <a:solidFill>
                  <a:srgbClr val="FF0000"/>
                </a:solidFill>
                <a:ea typeface="MingLiU_HKSCS-ExtB" panose="02020500000000000000" charset="-120"/>
              </a:rPr>
              <a:t>离散无记忆 </a:t>
            </a:r>
            <a:r>
              <a:rPr lang="en-US" altLang="zh-CN" sz="2000" i="1">
                <a:solidFill>
                  <a:srgbClr val="FF0000"/>
                </a:solidFill>
                <a:ea typeface="MingLiU_HKSCS-ExtB" panose="02020500000000000000" charset="-120"/>
              </a:rPr>
              <a:t>N </a:t>
            </a:r>
            <a:r>
              <a:rPr lang="zh-CN" altLang="en-US" sz="2000">
                <a:solidFill>
                  <a:srgbClr val="FF0000"/>
                </a:solidFill>
                <a:ea typeface="MingLiU_HKSCS-ExtB" panose="02020500000000000000" charset="-120"/>
              </a:rPr>
              <a:t>次扩展信源通过离散无记忆 </a:t>
            </a:r>
            <a:r>
              <a:rPr lang="en-US" altLang="zh-CN" sz="2000" i="1">
                <a:solidFill>
                  <a:srgbClr val="FF0000"/>
                </a:solidFill>
                <a:ea typeface="MingLiU_HKSCS-ExtB" panose="02020500000000000000" charset="-120"/>
              </a:rPr>
              <a:t>N </a:t>
            </a:r>
            <a:r>
              <a:rPr lang="zh-CN" altLang="en-US" sz="2000">
                <a:solidFill>
                  <a:srgbClr val="FF0000"/>
                </a:solidFill>
                <a:ea typeface="MingLiU_HKSCS-ExtB" panose="02020500000000000000" charset="-120"/>
              </a:rPr>
              <a:t>次扩展信道的平均失真度是单符号信源通过单符号信道的平均失真度的 </a:t>
            </a:r>
            <a:r>
              <a:rPr lang="en-US" altLang="zh-CN" sz="2000" i="1">
                <a:solidFill>
                  <a:srgbClr val="FF0000"/>
                </a:solidFill>
                <a:ea typeface="MingLiU_HKSCS-ExtB" panose="02020500000000000000" charset="-120"/>
              </a:rPr>
              <a:t>N </a:t>
            </a:r>
            <a:r>
              <a:rPr lang="zh-CN" altLang="en-US" sz="2000">
                <a:solidFill>
                  <a:srgbClr val="FF0000"/>
                </a:solidFill>
                <a:ea typeface="MingLiU_HKSCS-ExtB" panose="02020500000000000000" charset="-120"/>
              </a:rPr>
              <a:t>倍。</a:t>
            </a:r>
          </a:p>
        </p:txBody>
      </p:sp>
      <p:graphicFrame>
        <p:nvGraphicFramePr>
          <p:cNvPr id="2212" name="对象 2211"/>
          <p:cNvGraphicFramePr/>
          <p:nvPr/>
        </p:nvGraphicFramePr>
        <p:xfrm>
          <a:off x="2771775" y="3644900"/>
          <a:ext cx="4224338" cy="1336675"/>
        </p:xfrm>
        <a:graphic>
          <a:graphicData uri="http://schemas.openxmlformats.org/presentationml/2006/ole">
            <mc:AlternateContent xmlns:mc="http://schemas.openxmlformats.org/markup-compatibility/2006">
              <mc:Choice xmlns:v="urn:schemas-microsoft-com:vml" Requires="v">
                <p:oleObj spid="_x0000_s16387" r:id="rId3" imgW="1372870" imgH="711200" progId="Equation.3">
                  <p:embed/>
                </p:oleObj>
              </mc:Choice>
              <mc:Fallback>
                <p:oleObj r:id="rId3" imgW="1372870" imgH="711200" progId="Equation.3">
                  <p:embed/>
                  <p:pic>
                    <p:nvPicPr>
                      <p:cNvPr id="0" name="图片 3131"/>
                      <p:cNvPicPr/>
                      <p:nvPr/>
                    </p:nvPicPr>
                    <p:blipFill>
                      <a:blip r:embed="rId4"/>
                      <a:stretch>
                        <a:fillRect/>
                      </a:stretch>
                    </p:blipFill>
                    <p:spPr>
                      <a:xfrm>
                        <a:off x="2771775" y="3644900"/>
                        <a:ext cx="4224338" cy="1336675"/>
                      </a:xfrm>
                      <a:prstGeom prst="rect">
                        <a:avLst/>
                      </a:prstGeom>
                      <a:noFill/>
                      <a:ln w="38100">
                        <a:noFill/>
                        <a:miter/>
                      </a:ln>
                    </p:spPr>
                  </p:pic>
                </p:oleObj>
              </mc:Fallback>
            </mc:AlternateContent>
          </a:graphicData>
        </a:graphic>
      </p:graphicFrame>
      <p:graphicFrame>
        <p:nvGraphicFramePr>
          <p:cNvPr id="2213" name="对象 2212"/>
          <p:cNvGraphicFramePr/>
          <p:nvPr/>
        </p:nvGraphicFramePr>
        <p:xfrm>
          <a:off x="1258888" y="2227263"/>
          <a:ext cx="398462" cy="409575"/>
        </p:xfrm>
        <a:graphic>
          <a:graphicData uri="http://schemas.openxmlformats.org/presentationml/2006/ole">
            <mc:AlternateContent xmlns:mc="http://schemas.openxmlformats.org/markup-compatibility/2006">
              <mc:Choice xmlns:v="urn:schemas-microsoft-com:vml" Requires="v">
                <p:oleObj spid="_x0000_s16388" r:id="rId5" imgW="228600" imgH="158115" progId="Equation.3">
                  <p:embed/>
                </p:oleObj>
              </mc:Choice>
              <mc:Fallback>
                <p:oleObj r:id="rId5" imgW="228600" imgH="158115" progId="Equation.3">
                  <p:embed/>
                  <p:pic>
                    <p:nvPicPr>
                      <p:cNvPr id="0" name="图片 3129"/>
                      <p:cNvPicPr/>
                      <p:nvPr/>
                    </p:nvPicPr>
                    <p:blipFill>
                      <a:blip r:embed="rId6"/>
                      <a:stretch>
                        <a:fillRect/>
                      </a:stretch>
                    </p:blipFill>
                    <p:spPr>
                      <a:xfrm>
                        <a:off x="1258888" y="2227263"/>
                        <a:ext cx="398462" cy="409575"/>
                      </a:xfrm>
                      <a:prstGeom prst="rect">
                        <a:avLst/>
                      </a:prstGeom>
                      <a:noFill/>
                      <a:ln w="38100">
                        <a:noFill/>
                        <a:miter/>
                      </a:ln>
                    </p:spPr>
                  </p:pic>
                </p:oleObj>
              </mc:Fallback>
            </mc:AlternateContent>
          </a:graphicData>
        </a:graphic>
      </p:graphicFrame>
      <p:sp>
        <p:nvSpPr>
          <p:cNvPr id="2214" name="矩形 2213"/>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212"/>
                                        </p:tgtEl>
                                        <p:attrNameLst>
                                          <p:attrName>style.visibility</p:attrName>
                                        </p:attrNameLst>
                                      </p:cBhvr>
                                      <p:to>
                                        <p:strVal val="visible"/>
                                      </p:to>
                                    </p:set>
                                    <p:anim calcmode="lin" valueType="num">
                                      <p:cBhvr additive="base">
                                        <p:cTn id="7" dur="1000" fill="hold"/>
                                        <p:tgtEl>
                                          <p:spTgt spid="2212"/>
                                        </p:tgtEl>
                                        <p:attrNameLst>
                                          <p:attrName>ppt_x</p:attrName>
                                        </p:attrNameLst>
                                      </p:cBhvr>
                                      <p:tavLst>
                                        <p:tav tm="0">
                                          <p:val>
                                            <p:strVal val="#ppt_x-.2"/>
                                          </p:val>
                                        </p:tav>
                                        <p:tav tm="100000">
                                          <p:val>
                                            <p:strVal val="#ppt_x"/>
                                          </p:val>
                                        </p:tav>
                                      </p:tavLst>
                                    </p:anim>
                                    <p:anim calcmode="lin" valueType="num">
                                      <p:cBhvr additive="base">
                                        <p:cTn id="8" dur="1000" fill="hold"/>
                                        <p:tgtEl>
                                          <p:spTgt spid="2212"/>
                                        </p:tgtEl>
                                        <p:attrNameLst>
                                          <p:attrName>ppt_y</p:attrName>
                                        </p:attrNameLst>
                                      </p:cBhvr>
                                      <p:tavLst>
                                        <p:tav tm="0">
                                          <p:val>
                                            <p:strVal val="#ppt_y"/>
                                          </p:val>
                                        </p:tav>
                                        <p:tav tm="100000">
                                          <p:val>
                                            <p:strVal val="#ppt_y"/>
                                          </p:val>
                                        </p:tav>
                                      </p:tavLst>
                                    </p:anim>
                                    <p:animEffect transition="in" filter="wipe(right)">
                                      <p:cBhvr additive="base">
                                        <p:cTn id="9" dur="1000"/>
                                        <p:tgtEl>
                                          <p:spTgt spid="2212"/>
                                        </p:tgtEl>
                                      </p:cBhvr>
                                    </p:animEffect>
                                  </p:childTnLst>
                                </p:cTn>
                              </p:par>
                              <p:par>
                                <p:cTn id="10" presetID="29" presetClass="entr" presetSubtype="0" fill="hold" nodeType="withEffect">
                                  <p:childTnLst>
                                    <p:set>
                                      <p:cBhvr additive="base">
                                        <p:cTn id="11" dur="1" fill="hold">
                                          <p:stCondLst>
                                            <p:cond delay="0"/>
                                          </p:stCondLst>
                                        </p:cTn>
                                        <p:tgtEl>
                                          <p:spTgt spid="2213"/>
                                        </p:tgtEl>
                                        <p:attrNameLst>
                                          <p:attrName>style.visibility</p:attrName>
                                        </p:attrNameLst>
                                      </p:cBhvr>
                                      <p:to>
                                        <p:strVal val="visible"/>
                                      </p:to>
                                    </p:set>
                                    <p:anim calcmode="lin" valueType="num">
                                      <p:cBhvr additive="base">
                                        <p:cTn id="12" dur="1000" fill="hold"/>
                                        <p:tgtEl>
                                          <p:spTgt spid="2213"/>
                                        </p:tgtEl>
                                        <p:attrNameLst>
                                          <p:attrName>ppt_x</p:attrName>
                                        </p:attrNameLst>
                                      </p:cBhvr>
                                      <p:tavLst>
                                        <p:tav tm="0">
                                          <p:val>
                                            <p:strVal val="#ppt_x-.2"/>
                                          </p:val>
                                        </p:tav>
                                        <p:tav tm="100000">
                                          <p:val>
                                            <p:strVal val="#ppt_x"/>
                                          </p:val>
                                        </p:tav>
                                      </p:tavLst>
                                    </p:anim>
                                    <p:anim calcmode="lin" valueType="num">
                                      <p:cBhvr additive="base">
                                        <p:cTn id="13" dur="1000" fill="hold"/>
                                        <p:tgtEl>
                                          <p:spTgt spid="2213"/>
                                        </p:tgtEl>
                                        <p:attrNameLst>
                                          <p:attrName>ppt_y</p:attrName>
                                        </p:attrNameLst>
                                      </p:cBhvr>
                                      <p:tavLst>
                                        <p:tav tm="0">
                                          <p:val>
                                            <p:strVal val="#ppt_y"/>
                                          </p:val>
                                        </p:tav>
                                        <p:tav tm="100000">
                                          <p:val>
                                            <p:strVal val="#ppt_y"/>
                                          </p:val>
                                        </p:tav>
                                      </p:tavLst>
                                    </p:anim>
                                    <p:animEffect transition="in" filter="wipe(right)">
                                      <p:cBhvr additive="base">
                                        <p:cTn id="14" dur="1000"/>
                                        <p:tgtEl>
                                          <p:spTgt spid="2213"/>
                                        </p:tgtEl>
                                      </p:cBhvr>
                                    </p:animEffect>
                                  </p:childTnLst>
                                </p:cTn>
                              </p:par>
                              <p:par>
                                <p:cTn id="15" presetID="29" presetClass="entr" presetSubtype="0" fill="hold" nodeType="withEffect">
                                  <p:childTnLst>
                                    <p:set>
                                      <p:cBhvr additive="base">
                                        <p:cTn id="16" dur="1" fill="hold">
                                          <p:stCondLst>
                                            <p:cond delay="0"/>
                                          </p:stCondLst>
                                        </p:cTn>
                                        <p:tgtEl>
                                          <p:spTgt spid="2211">
                                            <p:txEl>
                                              <p:pRg st="2" end="2"/>
                                            </p:txEl>
                                          </p:spTgt>
                                        </p:tgtEl>
                                        <p:attrNameLst>
                                          <p:attrName>style.visibility</p:attrName>
                                        </p:attrNameLst>
                                      </p:cBhvr>
                                      <p:to>
                                        <p:strVal val="visible"/>
                                      </p:to>
                                    </p:set>
                                    <p:anim calcmode="lin" valueType="num">
                                      <p:cBhvr additive="base">
                                        <p:cTn id="17" dur="1000" fill="hold"/>
                                        <p:tgtEl>
                                          <p:spTgt spid="2211">
                                            <p:txEl>
                                              <p:pRg st="2" end="2"/>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211">
                                            <p:txEl>
                                              <p:pRg st="2" end="2"/>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211">
                                            <p:txEl>
                                              <p:pRg st="2" end="2"/>
                                            </p:txEl>
                                          </p:spTgt>
                                        </p:tgtEl>
                                      </p:cBhvr>
                                    </p:animEffect>
                                  </p:childTnLst>
                                </p:cTn>
                              </p:par>
                              <p:par>
                                <p:cTn id="20" presetID="29" presetClass="entr" presetSubtype="0" fill="hold" nodeType="withEffect">
                                  <p:childTnLst>
                                    <p:set>
                                      <p:cBhvr additive="base">
                                        <p:cTn id="21" dur="1" fill="hold">
                                          <p:stCondLst>
                                            <p:cond delay="0"/>
                                          </p:stCondLst>
                                        </p:cTn>
                                        <p:tgtEl>
                                          <p:spTgt spid="2211">
                                            <p:txEl>
                                              <p:pRg st="7" end="7"/>
                                            </p:txEl>
                                          </p:spTgt>
                                        </p:tgtEl>
                                        <p:attrNameLst>
                                          <p:attrName>style.visibility</p:attrName>
                                        </p:attrNameLst>
                                      </p:cBhvr>
                                      <p:to>
                                        <p:strVal val="visible"/>
                                      </p:to>
                                    </p:set>
                                    <p:anim calcmode="lin" valueType="num">
                                      <p:cBhvr additive="base">
                                        <p:cTn id="22" dur="1000" fill="hold"/>
                                        <p:tgtEl>
                                          <p:spTgt spid="2211">
                                            <p:txEl>
                                              <p:pRg st="7" end="7"/>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211">
                                            <p:txEl>
                                              <p:pRg st="7" end="7"/>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2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28</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17" name="标题 2216"/>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4.1.2 </a:t>
            </a:r>
            <a:r>
              <a:rPr lang="zh-CN" altLang="en-US">
                <a:ea typeface="MingLiU_HKSCS-ExtB" panose="02020500000000000000" charset="-120"/>
              </a:rPr>
              <a:t>失真度与平均失真度</a:t>
            </a:r>
          </a:p>
        </p:txBody>
      </p:sp>
      <p:sp>
        <p:nvSpPr>
          <p:cNvPr id="2218" name="文本占位符 2217"/>
          <p:cNvSpPr>
            <a:spLocks noGrp="1"/>
          </p:cNvSpPr>
          <p:nvPr>
            <p:ph type="body" idx="4294967295"/>
          </p:nvPr>
        </p:nvSpPr>
        <p:spPr/>
        <p:txBody>
          <a:bodyPr/>
          <a:lstStyle/>
          <a:p>
            <a:pPr marL="355600" indent="-355600">
              <a:buClr>
                <a:srgbClr val="993366"/>
              </a:buClr>
              <a:buNone/>
            </a:pPr>
            <a:r>
              <a:rPr lang="en-US" altLang="zh-CN">
                <a:ea typeface="MingLiU_HKSCS-ExtB" panose="02020500000000000000" charset="-120"/>
              </a:rPr>
              <a:t>(5)  </a:t>
            </a:r>
            <a:r>
              <a:rPr lang="en-US" altLang="zh-CN" i="1">
                <a:ea typeface="MingLiU_HKSCS-ExtB" panose="02020500000000000000" charset="-120"/>
              </a:rPr>
              <a:t>N </a:t>
            </a:r>
            <a:r>
              <a:rPr lang="zh-CN" altLang="en-US">
                <a:ea typeface="MingLiU_HKSCS-ExtB" panose="02020500000000000000" charset="-120"/>
              </a:rPr>
              <a:t>次扩展信道的平均失真度</a:t>
            </a:r>
          </a:p>
          <a:p>
            <a:pPr marL="355600" indent="-355600">
              <a:buClr>
                <a:srgbClr val="993366"/>
              </a:buClr>
            </a:pPr>
            <a:r>
              <a:rPr lang="zh-CN" altLang="en-US" sz="2400">
                <a:solidFill>
                  <a:srgbClr val="0000CC"/>
                </a:solidFill>
                <a:ea typeface="MingLiU_HKSCS-ExtB" panose="02020500000000000000" charset="-120"/>
              </a:rPr>
              <a:t> </a:t>
            </a:r>
            <a:r>
              <a:rPr lang="en-US" altLang="zh-CN" sz="2400" i="1" u="sng">
                <a:solidFill>
                  <a:srgbClr val="0000CC"/>
                </a:solidFill>
                <a:ea typeface="MingLiU_HKSCS-ExtB" panose="02020500000000000000" charset="-120"/>
              </a:rPr>
              <a:t>N </a:t>
            </a:r>
            <a:r>
              <a:rPr lang="zh-CN" altLang="en-US" sz="2400" u="sng">
                <a:solidFill>
                  <a:srgbClr val="0000CC"/>
                </a:solidFill>
                <a:ea typeface="MingLiU_HKSCS-ExtB" panose="02020500000000000000" charset="-120"/>
              </a:rPr>
              <a:t>次扩展的保真度准则</a:t>
            </a:r>
            <a:r>
              <a:rPr lang="zh-CN" altLang="en-US" sz="2400">
                <a:solidFill>
                  <a:srgbClr val="0000CC"/>
                </a:solidFill>
                <a:ea typeface="MingLiU_HKSCS-ExtB" panose="02020500000000000000" charset="-120"/>
              </a:rPr>
              <a:t>：</a:t>
            </a:r>
            <a:r>
              <a:rPr lang="zh-CN" altLang="en-US" sz="2400">
                <a:solidFill>
                  <a:srgbClr val="FF0000"/>
                </a:solidFill>
                <a:ea typeface="MingLiU_HKSCS-ExtB" panose="02020500000000000000" charset="-120"/>
              </a:rPr>
              <a:t>离散无记忆 </a:t>
            </a:r>
            <a:r>
              <a:rPr lang="en-US" altLang="zh-CN" sz="2400" i="1">
                <a:solidFill>
                  <a:srgbClr val="FF0000"/>
                </a:solidFill>
                <a:ea typeface="MingLiU_HKSCS-ExtB" panose="02020500000000000000" charset="-120"/>
              </a:rPr>
              <a:t>N </a:t>
            </a:r>
            <a:r>
              <a:rPr lang="zh-CN" altLang="en-US" sz="2400">
                <a:solidFill>
                  <a:srgbClr val="FF0000"/>
                </a:solidFill>
                <a:ea typeface="MingLiU_HKSCS-ExtB" panose="02020500000000000000" charset="-120"/>
              </a:rPr>
              <a:t>次扩展信源通过离散无记忆 </a:t>
            </a:r>
            <a:r>
              <a:rPr lang="en-US" altLang="zh-CN" sz="2400" i="1">
                <a:solidFill>
                  <a:srgbClr val="FF0000"/>
                </a:solidFill>
                <a:ea typeface="MingLiU_HKSCS-ExtB" panose="02020500000000000000" charset="-120"/>
              </a:rPr>
              <a:t>N </a:t>
            </a:r>
            <a:r>
              <a:rPr lang="zh-CN" altLang="en-US" sz="2400">
                <a:solidFill>
                  <a:srgbClr val="FF0000"/>
                </a:solidFill>
                <a:ea typeface="MingLiU_HKSCS-ExtB" panose="02020500000000000000" charset="-120"/>
              </a:rPr>
              <a:t>次扩展信道的保真度准则为：</a:t>
            </a:r>
          </a:p>
        </p:txBody>
      </p:sp>
      <p:graphicFrame>
        <p:nvGraphicFramePr>
          <p:cNvPr id="2219" name="对象 2218"/>
          <p:cNvGraphicFramePr/>
          <p:nvPr/>
        </p:nvGraphicFramePr>
        <p:xfrm>
          <a:off x="3563620" y="3357245"/>
          <a:ext cx="2127250" cy="641350"/>
        </p:xfrm>
        <a:graphic>
          <a:graphicData uri="http://schemas.openxmlformats.org/presentationml/2006/ole">
            <mc:AlternateContent xmlns:mc="http://schemas.openxmlformats.org/markup-compatibility/2006">
              <mc:Choice xmlns:v="urn:schemas-microsoft-com:vml" Requires="v">
                <p:oleObj spid="_x0000_s17410" r:id="rId3" imgW="655955" imgH="241300" progId="Equation.3">
                  <p:embed/>
                </p:oleObj>
              </mc:Choice>
              <mc:Fallback>
                <p:oleObj r:id="rId3" imgW="655955" imgH="241300" progId="Equation.3">
                  <p:embed/>
                  <p:pic>
                    <p:nvPicPr>
                      <p:cNvPr id="0" name="图片 3130"/>
                      <p:cNvPicPr/>
                      <p:nvPr/>
                    </p:nvPicPr>
                    <p:blipFill>
                      <a:blip r:embed="rId4"/>
                      <a:stretch>
                        <a:fillRect/>
                      </a:stretch>
                    </p:blipFill>
                    <p:spPr>
                      <a:xfrm>
                        <a:off x="3563620" y="3357245"/>
                        <a:ext cx="2127250" cy="641350"/>
                      </a:xfrm>
                      <a:prstGeom prst="rect">
                        <a:avLst/>
                      </a:prstGeom>
                      <a:noFill/>
                      <a:ln w="38100">
                        <a:noFill/>
                        <a:miter/>
                      </a:ln>
                    </p:spPr>
                  </p:pic>
                </p:oleObj>
              </mc:Fallback>
            </mc:AlternateContent>
          </a:graphicData>
        </a:graphic>
      </p:graphicFrame>
      <p:sp>
        <p:nvSpPr>
          <p:cNvPr id="2220" name="矩形 2219"/>
          <p:cNvSpPr/>
          <p:nvPr/>
        </p:nvSpPr>
        <p:spPr>
          <a:xfrm>
            <a:off x="8029575" y="5948363"/>
            <a:ext cx="796925" cy="360362"/>
          </a:xfrm>
          <a:solidFill>
            <a:srgbClr val="BBE0E3"/>
          </a:solidFill>
          <a:ln w="12700">
            <a:noFill/>
          </a:ln>
        </p:spPr>
        <p:txBody>
          <a:bodyPr/>
          <a:lstStyle/>
          <a:p>
            <a:endParaRPr lang="zh-CN" altLang="en-US"/>
          </a:p>
        </p:txBody>
      </p:sp>
      <p:sp>
        <p:nvSpPr>
          <p:cNvPr id="2221" name="矩形 2220"/>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219"/>
                                        </p:tgtEl>
                                        <p:attrNameLst>
                                          <p:attrName>style.visibility</p:attrName>
                                        </p:attrNameLst>
                                      </p:cBhvr>
                                      <p:to>
                                        <p:strVal val="visible"/>
                                      </p:to>
                                    </p:set>
                                    <p:anim calcmode="lin" valueType="num">
                                      <p:cBhvr additive="base">
                                        <p:cTn id="7" dur="1000" fill="hold"/>
                                        <p:tgtEl>
                                          <p:spTgt spid="2219"/>
                                        </p:tgtEl>
                                        <p:attrNameLst>
                                          <p:attrName>ppt_x</p:attrName>
                                        </p:attrNameLst>
                                      </p:cBhvr>
                                      <p:tavLst>
                                        <p:tav tm="0">
                                          <p:val>
                                            <p:strVal val="#ppt_x-.2"/>
                                          </p:val>
                                        </p:tav>
                                        <p:tav tm="100000">
                                          <p:val>
                                            <p:strVal val="#ppt_x"/>
                                          </p:val>
                                        </p:tav>
                                      </p:tavLst>
                                    </p:anim>
                                    <p:anim calcmode="lin" valueType="num">
                                      <p:cBhvr additive="base">
                                        <p:cTn id="8" dur="1000" fill="hold"/>
                                        <p:tgtEl>
                                          <p:spTgt spid="2219"/>
                                        </p:tgtEl>
                                        <p:attrNameLst>
                                          <p:attrName>ppt_y</p:attrName>
                                        </p:attrNameLst>
                                      </p:cBhvr>
                                      <p:tavLst>
                                        <p:tav tm="0">
                                          <p:val>
                                            <p:strVal val="#ppt_y"/>
                                          </p:val>
                                        </p:tav>
                                        <p:tav tm="100000">
                                          <p:val>
                                            <p:strVal val="#ppt_y"/>
                                          </p:val>
                                        </p:tav>
                                      </p:tavLst>
                                    </p:anim>
                                    <p:animEffect transition="in" filter="wipe(right)">
                                      <p:cBhvr additive="base">
                                        <p:cTn id="9" dur="1000"/>
                                        <p:tgtEl>
                                          <p:spTgt spid="2219"/>
                                        </p:tgtEl>
                                      </p:cBhvr>
                                    </p:animEffect>
                                  </p:childTnLst>
                                </p:cTn>
                              </p:par>
                              <p:par>
                                <p:cTn id="10" presetID="29" presetClass="entr" presetSubtype="0" fill="hold" grpId="0" nodeType="withEffect">
                                  <p:childTnLst>
                                    <p:set>
                                      <p:cBhvr additive="base">
                                        <p:cTn id="11" dur="1" fill="hold">
                                          <p:stCondLst>
                                            <p:cond delay="0"/>
                                          </p:stCondLst>
                                        </p:cTn>
                                        <p:tgtEl>
                                          <p:spTgt spid="2220"/>
                                        </p:tgtEl>
                                        <p:attrNameLst>
                                          <p:attrName>style.visibility</p:attrName>
                                        </p:attrNameLst>
                                      </p:cBhvr>
                                      <p:to>
                                        <p:strVal val="visible"/>
                                      </p:to>
                                    </p:set>
                                    <p:anim calcmode="lin" valueType="num">
                                      <p:cBhvr additive="base">
                                        <p:cTn id="12" dur="1000" fill="hold"/>
                                        <p:tgtEl>
                                          <p:spTgt spid="2220"/>
                                        </p:tgtEl>
                                        <p:attrNameLst>
                                          <p:attrName>ppt_x</p:attrName>
                                        </p:attrNameLst>
                                      </p:cBhvr>
                                      <p:tavLst>
                                        <p:tav tm="0">
                                          <p:val>
                                            <p:strVal val="#ppt_x-.2"/>
                                          </p:val>
                                        </p:tav>
                                        <p:tav tm="100000">
                                          <p:val>
                                            <p:strVal val="#ppt_x"/>
                                          </p:val>
                                        </p:tav>
                                      </p:tavLst>
                                    </p:anim>
                                    <p:anim calcmode="lin" valueType="num">
                                      <p:cBhvr additive="base">
                                        <p:cTn id="13" dur="1000" fill="hold"/>
                                        <p:tgtEl>
                                          <p:spTgt spid="2220"/>
                                        </p:tgtEl>
                                        <p:attrNameLst>
                                          <p:attrName>ppt_y</p:attrName>
                                        </p:attrNameLst>
                                      </p:cBhvr>
                                      <p:tavLst>
                                        <p:tav tm="0">
                                          <p:val>
                                            <p:strVal val="#ppt_y"/>
                                          </p:val>
                                        </p:tav>
                                        <p:tav tm="100000">
                                          <p:val>
                                            <p:strVal val="#ppt_y"/>
                                          </p:val>
                                        </p:tav>
                                      </p:tavLst>
                                    </p:anim>
                                    <p:animEffect transition="in" filter="wipe(right)">
                                      <p:cBhvr additive="base">
                                        <p:cTn id="14" dur="1000"/>
                                        <p:tgtEl>
                                          <p:spTgt spid="2220"/>
                                        </p:tgtEl>
                                      </p:cBhvr>
                                    </p:animEffect>
                                  </p:childTnLst>
                                </p:cTn>
                              </p:par>
                              <p:par>
                                <p:cTn id="15" presetID="29" presetClass="entr" presetSubtype="0" fill="hold" nodeType="withEffect">
                                  <p:childTnLst>
                                    <p:set>
                                      <p:cBhvr additive="base">
                                        <p:cTn id="16" dur="1" fill="hold">
                                          <p:stCondLst>
                                            <p:cond delay="0"/>
                                          </p:stCondLst>
                                        </p:cTn>
                                        <p:tgtEl>
                                          <p:spTgt spid="2218">
                                            <p:txEl>
                                              <p:pRg st="1" end="1"/>
                                            </p:txEl>
                                          </p:spTgt>
                                        </p:tgtEl>
                                        <p:attrNameLst>
                                          <p:attrName>style.visibility</p:attrName>
                                        </p:attrNameLst>
                                      </p:cBhvr>
                                      <p:to>
                                        <p:strVal val="visible"/>
                                      </p:to>
                                    </p:set>
                                    <p:anim calcmode="lin" valueType="num">
                                      <p:cBhvr additive="base">
                                        <p:cTn id="17" dur="1000" fill="hold"/>
                                        <p:tgtEl>
                                          <p:spTgt spid="2218">
                                            <p:txEl>
                                              <p:pRg st="1" end="1"/>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218">
                                            <p:txEl>
                                              <p:pRg st="1" end="1"/>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2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29</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24" name="标题 2223"/>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4.1.3 </a:t>
            </a:r>
            <a:r>
              <a:rPr lang="zh-CN" altLang="en-US">
                <a:ea typeface="MingLiU_HKSCS-ExtB" panose="02020500000000000000" charset="-120"/>
              </a:rPr>
              <a:t>信息率失真函数的定义</a:t>
            </a:r>
          </a:p>
        </p:txBody>
      </p:sp>
      <p:sp>
        <p:nvSpPr>
          <p:cNvPr id="2225" name="文本占位符 2224"/>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hlinkClick r:id="" action="ppaction://hlinkshowjump?jump=nextslide" tooltip="下一页"/>
              </a:rPr>
              <a:t>试验信道</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信息率失真函数</a:t>
            </a:r>
          </a:p>
          <a:p>
            <a:pPr marL="355600" indent="-355600">
              <a:buClr>
                <a:srgbClr val="993366"/>
              </a:buClr>
              <a:buNone/>
            </a:pPr>
            <a:r>
              <a:rPr lang="en-US" altLang="zh-CN">
                <a:ea typeface="MingLiU_HKSCS-ExtB" panose="02020500000000000000" charset="-120"/>
              </a:rPr>
              <a:t>(3) </a:t>
            </a:r>
            <a:r>
              <a:rPr lang="zh-CN" altLang="en-US">
                <a:ea typeface="MingLiU_HKSCS-ExtB" panose="02020500000000000000" charset="-120"/>
              </a:rPr>
              <a:t>求信息率失真函数的方法</a:t>
            </a:r>
          </a:p>
          <a:p>
            <a:pPr marL="355600" indent="-355600">
              <a:buClr>
                <a:srgbClr val="993366"/>
              </a:buClr>
              <a:buNone/>
            </a:pPr>
            <a:r>
              <a:rPr lang="en-US" altLang="zh-CN">
                <a:ea typeface="MingLiU_HKSCS-ExtB" panose="02020500000000000000" charset="-120"/>
              </a:rPr>
              <a:t>(4) </a:t>
            </a:r>
            <a:r>
              <a:rPr lang="zh-CN" altLang="en-US">
                <a:ea typeface="MingLiU_HKSCS-ExtB" panose="02020500000000000000" charset="-120"/>
              </a:rPr>
              <a:t>研究信道编码和率失真函数的意义</a:t>
            </a:r>
          </a:p>
        </p:txBody>
      </p:sp>
      <p:sp>
        <p:nvSpPr>
          <p:cNvPr id="2226" name="矩形 2225"/>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30</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29" name="标题 2228"/>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4.1.3 </a:t>
            </a:r>
            <a:r>
              <a:rPr lang="zh-CN" altLang="en-US">
                <a:ea typeface="MingLiU_HKSCS-ExtB" panose="02020500000000000000" charset="-120"/>
              </a:rPr>
              <a:t>信息率失真函数的定义</a:t>
            </a:r>
          </a:p>
        </p:txBody>
      </p:sp>
      <p:sp>
        <p:nvSpPr>
          <p:cNvPr id="2230" name="文本占位符 2229"/>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(1) </a:t>
            </a:r>
            <a:r>
              <a:rPr lang="zh-CN" altLang="en-US">
                <a:ea typeface="MingLiU_HKSCS-ExtB" panose="02020500000000000000" charset="-120"/>
              </a:rPr>
              <a:t>试验信道</a:t>
            </a:r>
          </a:p>
          <a:p>
            <a:pPr>
              <a:buClr>
                <a:srgbClr val="993366"/>
              </a:buClr>
            </a:pPr>
            <a:r>
              <a:rPr lang="zh-CN" altLang="en-US" sz="2400">
                <a:solidFill>
                  <a:srgbClr val="0000CC"/>
                </a:solidFill>
                <a:ea typeface="MingLiU_HKSCS-ExtB" panose="02020500000000000000" charset="-120"/>
              </a:rPr>
              <a:t> 单符号信源和单符号信道的试验信道</a:t>
            </a:r>
          </a:p>
          <a:p>
            <a:pPr marL="355600" lvl="1">
              <a:buClr>
                <a:srgbClr val="993366"/>
              </a:buClr>
            </a:pPr>
            <a:r>
              <a:rPr lang="zh-CN" altLang="en-US">
                <a:ea typeface="MingLiU_HKSCS-ExtB" panose="02020500000000000000" charset="-120"/>
              </a:rPr>
              <a:t> 当固定信源（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X</a:t>
            </a:r>
            <a:r>
              <a:rPr lang="en-US" altLang="zh-CN">
                <a:ea typeface="MingLiU_HKSCS-ExtB" panose="02020500000000000000" charset="-120"/>
              </a:rPr>
              <a:t>)</a:t>
            </a:r>
            <a:r>
              <a:rPr lang="zh-CN" altLang="en-US">
                <a:ea typeface="MingLiU_HKSCS-ExtB" panose="02020500000000000000" charset="-120"/>
              </a:rPr>
              <a:t>已知），单个符号失真度也给定时，选择信道使             。凡满足要求的信道称为 </a:t>
            </a:r>
            <a:r>
              <a:rPr lang="en-US" altLang="zh-CN" i="1">
                <a:solidFill>
                  <a:srgbClr val="FF0000"/>
                </a:solidFill>
                <a:ea typeface="MingLiU_HKSCS-ExtB" panose="02020500000000000000" charset="-120"/>
              </a:rPr>
              <a:t>D </a:t>
            </a:r>
            <a:r>
              <a:rPr lang="zh-CN" altLang="en-US">
                <a:solidFill>
                  <a:srgbClr val="FF0000"/>
                </a:solidFill>
                <a:ea typeface="MingLiU_HKSCS-ExtB" panose="02020500000000000000" charset="-120"/>
              </a:rPr>
              <a:t>失真许可的试验信道</a:t>
            </a:r>
            <a:r>
              <a:rPr lang="zh-CN" altLang="en-US">
                <a:ea typeface="MingLiU_HKSCS-ExtB" panose="02020500000000000000" charset="-120"/>
              </a:rPr>
              <a:t>，简称试验信道。</a:t>
            </a:r>
          </a:p>
          <a:p>
            <a:pPr marL="355600" lvl="1">
              <a:buClr>
                <a:srgbClr val="993366"/>
              </a:buClr>
            </a:pPr>
            <a:r>
              <a:rPr lang="zh-CN" altLang="en-US">
                <a:ea typeface="MingLiU_HKSCS-ExtB" panose="02020500000000000000" charset="-120"/>
              </a:rPr>
              <a:t> 所有试验信道构成的集合用 </a:t>
            </a:r>
            <a:r>
              <a:rPr lang="en-US" altLang="zh-CN" i="1">
                <a:solidFill>
                  <a:srgbClr val="FF0000"/>
                </a:solidFill>
                <a:ea typeface="MingLiU_HKSCS-ExtB" panose="02020500000000000000" charset="-120"/>
              </a:rPr>
              <a:t>P</a:t>
            </a:r>
            <a:r>
              <a:rPr lang="en-US" altLang="zh-CN" i="1" baseline="-25000">
                <a:solidFill>
                  <a:srgbClr val="FF0000"/>
                </a:solidFill>
                <a:ea typeface="MingLiU_HKSCS-ExtB" panose="02020500000000000000" charset="-120"/>
              </a:rPr>
              <a:t>D</a:t>
            </a:r>
            <a:r>
              <a:rPr lang="en-US" altLang="zh-CN" i="1" baseline="-25000">
                <a:solidFill>
                  <a:srgbClr val="FFFF00"/>
                </a:solidFill>
                <a:ea typeface="MingLiU_HKSCS-ExtB" panose="02020500000000000000" charset="-120"/>
              </a:rPr>
              <a:t> </a:t>
            </a:r>
            <a:r>
              <a:rPr lang="zh-CN" altLang="en-US">
                <a:ea typeface="MingLiU_HKSCS-ExtB" panose="02020500000000000000" charset="-120"/>
              </a:rPr>
              <a:t>来表示，即：</a:t>
            </a:r>
          </a:p>
        </p:txBody>
      </p:sp>
      <p:graphicFrame>
        <p:nvGraphicFramePr>
          <p:cNvPr id="2231" name="对象 2230"/>
          <p:cNvGraphicFramePr/>
          <p:nvPr/>
        </p:nvGraphicFramePr>
        <p:xfrm>
          <a:off x="1781175" y="4652963"/>
          <a:ext cx="6170613" cy="515937"/>
        </p:xfrm>
        <a:graphic>
          <a:graphicData uri="http://schemas.openxmlformats.org/presentationml/2006/ole">
            <mc:AlternateContent xmlns:mc="http://schemas.openxmlformats.org/markup-compatibility/2006">
              <mc:Choice xmlns:v="urn:schemas-microsoft-com:vml" Requires="v">
                <p:oleObj spid="_x0000_s18435" r:id="rId3" imgW="455295" imgH="266700" progId="Equation.3">
                  <p:embed/>
                </p:oleObj>
              </mc:Choice>
              <mc:Fallback>
                <p:oleObj r:id="rId3" imgW="455295" imgH="266700" progId="Equation.3">
                  <p:embed/>
                  <p:pic>
                    <p:nvPicPr>
                      <p:cNvPr id="0" name="图片 3134"/>
                      <p:cNvPicPr/>
                      <p:nvPr/>
                    </p:nvPicPr>
                    <p:blipFill>
                      <a:blip r:embed="rId4"/>
                      <a:stretch>
                        <a:fillRect/>
                      </a:stretch>
                    </p:blipFill>
                    <p:spPr>
                      <a:xfrm>
                        <a:off x="1781175" y="4652963"/>
                        <a:ext cx="6170613" cy="515937"/>
                      </a:xfrm>
                      <a:prstGeom prst="rect">
                        <a:avLst/>
                      </a:prstGeom>
                      <a:noFill/>
                      <a:ln w="38100">
                        <a:noFill/>
                        <a:miter/>
                      </a:ln>
                    </p:spPr>
                  </p:pic>
                </p:oleObj>
              </mc:Fallback>
            </mc:AlternateContent>
          </a:graphicData>
        </a:graphic>
      </p:graphicFrame>
      <p:graphicFrame>
        <p:nvGraphicFramePr>
          <p:cNvPr id="2232" name="对象 2231"/>
          <p:cNvGraphicFramePr/>
          <p:nvPr/>
        </p:nvGraphicFramePr>
        <p:xfrm>
          <a:off x="2699703" y="2925445"/>
          <a:ext cx="730250" cy="411163"/>
        </p:xfrm>
        <a:graphic>
          <a:graphicData uri="http://schemas.openxmlformats.org/presentationml/2006/ole">
            <mc:AlternateContent xmlns:mc="http://schemas.openxmlformats.org/markup-compatibility/2006">
              <mc:Choice xmlns:v="urn:schemas-microsoft-com:vml" Requires="v">
                <p:oleObj spid="_x0000_s18436" r:id="rId5" imgW="370840" imgH="203200" progId="Equation.3">
                  <p:embed/>
                </p:oleObj>
              </mc:Choice>
              <mc:Fallback>
                <p:oleObj r:id="rId5" imgW="370840" imgH="203200" progId="Equation.3">
                  <p:embed/>
                  <p:pic>
                    <p:nvPicPr>
                      <p:cNvPr id="0" name="图片 3133"/>
                      <p:cNvPicPr/>
                      <p:nvPr/>
                    </p:nvPicPr>
                    <p:blipFill>
                      <a:blip r:embed="rId6"/>
                      <a:stretch>
                        <a:fillRect/>
                      </a:stretch>
                    </p:blipFill>
                    <p:spPr>
                      <a:xfrm>
                        <a:off x="2699703" y="2925445"/>
                        <a:ext cx="730250" cy="411163"/>
                      </a:xfrm>
                      <a:prstGeom prst="rect">
                        <a:avLst/>
                      </a:prstGeom>
                      <a:noFill/>
                      <a:ln w="38100">
                        <a:noFill/>
                        <a:miter/>
                      </a:ln>
                    </p:spPr>
                  </p:pic>
                </p:oleObj>
              </mc:Fallback>
            </mc:AlternateContent>
          </a:graphicData>
        </a:graphic>
      </p:graphicFrame>
      <p:sp>
        <p:nvSpPr>
          <p:cNvPr id="2233" name="矩形 2232"/>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31</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36" name="标题 2235"/>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4.1.3 </a:t>
            </a:r>
            <a:r>
              <a:rPr lang="zh-CN" altLang="en-US">
                <a:ea typeface="MingLiU_HKSCS-ExtB" panose="02020500000000000000" charset="-120"/>
              </a:rPr>
              <a:t>信息率失真函数的定义</a:t>
            </a:r>
          </a:p>
        </p:txBody>
      </p:sp>
      <p:sp>
        <p:nvSpPr>
          <p:cNvPr id="2237" name="文本占位符 2236"/>
          <p:cNvSpPr>
            <a:spLocks noGrp="1"/>
          </p:cNvSpPr>
          <p:nvPr>
            <p:ph type="body" idx="4294967295"/>
          </p:nvPr>
        </p:nvSpPr>
        <p:spPr>
          <a:xfrm>
            <a:off x="590550" y="981075"/>
            <a:ext cx="8229600" cy="5327650"/>
          </a:xfrm>
        </p:spPr>
        <p:txBody>
          <a:bodyPr/>
          <a:lstStyle/>
          <a:p>
            <a:pPr marL="357505" indent="-357505">
              <a:buClr>
                <a:srgbClr val="993366"/>
              </a:buClr>
              <a:buNone/>
            </a:pPr>
            <a:r>
              <a:rPr lang="en-US" altLang="zh-CN">
                <a:ea typeface="MingLiU_HKSCS-ExtB" panose="02020500000000000000" charset="-120"/>
              </a:rPr>
              <a:t>(1) </a:t>
            </a:r>
            <a:r>
              <a:rPr lang="zh-CN" altLang="en-US">
                <a:ea typeface="MingLiU_HKSCS-ExtB" panose="02020500000000000000" charset="-120"/>
              </a:rPr>
              <a:t>试验信道</a:t>
            </a:r>
          </a:p>
          <a:p>
            <a:pPr marL="357505" indent="-357505">
              <a:buClr>
                <a:srgbClr val="993366"/>
              </a:buClr>
            </a:pPr>
            <a:r>
              <a:rPr lang="zh-CN" altLang="en-US" sz="2400" i="1">
                <a:solidFill>
                  <a:srgbClr val="0000CC"/>
                </a:solidFill>
                <a:ea typeface="MingLiU_HKSCS-ExtB" panose="02020500000000000000" charset="-120"/>
              </a:rPr>
              <a:t> </a:t>
            </a:r>
            <a:r>
              <a:rPr lang="en-US" altLang="zh-CN" sz="2400" i="1">
                <a:solidFill>
                  <a:srgbClr val="0000CC"/>
                </a:solidFill>
                <a:ea typeface="MingLiU_HKSCS-ExtB" panose="02020500000000000000" charset="-120"/>
              </a:rPr>
              <a:t>N </a:t>
            </a:r>
            <a:r>
              <a:rPr lang="zh-CN" altLang="en-US" sz="2400">
                <a:solidFill>
                  <a:srgbClr val="0000CC"/>
                </a:solidFill>
                <a:ea typeface="MingLiU_HKSCS-ExtB" panose="02020500000000000000" charset="-120"/>
              </a:rPr>
              <a:t>次扩展的试验信道</a:t>
            </a:r>
            <a:r>
              <a:rPr lang="zh-CN" altLang="en-GB" sz="2400">
                <a:solidFill>
                  <a:srgbClr val="0000CC"/>
                </a:solidFill>
                <a:ea typeface="MingLiU_HKSCS-ExtB" panose="02020500000000000000" charset="-120"/>
              </a:rPr>
              <a:t>：</a:t>
            </a:r>
            <a:r>
              <a:rPr lang="zh-CN" altLang="en-US" sz="2400">
                <a:ea typeface="MingLiU_HKSCS-ExtB" panose="02020500000000000000" charset="-120"/>
              </a:rPr>
              <a:t>对于离散无记忆信源的 </a:t>
            </a:r>
            <a:r>
              <a:rPr lang="en-US" altLang="zh-CN" sz="2400" i="1">
                <a:solidFill>
                  <a:srgbClr val="FF0000"/>
                </a:solidFill>
                <a:ea typeface="MingLiU_HKSCS-ExtB" panose="02020500000000000000" charset="-120"/>
              </a:rPr>
              <a:t>N </a:t>
            </a:r>
            <a:r>
              <a:rPr lang="zh-CN" altLang="en-US" sz="2400">
                <a:solidFill>
                  <a:srgbClr val="FF0000"/>
                </a:solidFill>
                <a:ea typeface="MingLiU_HKSCS-ExtB" panose="02020500000000000000" charset="-120"/>
              </a:rPr>
              <a:t>次扩展信源</a:t>
            </a:r>
            <a:r>
              <a:rPr lang="zh-CN" altLang="en-US" sz="2400">
                <a:ea typeface="MingLiU_HKSCS-ExtB" panose="02020500000000000000" charset="-120"/>
              </a:rPr>
              <a:t>和离散无记忆信道的 </a:t>
            </a:r>
            <a:r>
              <a:rPr lang="en-US" altLang="zh-CN" sz="2400" i="1">
                <a:solidFill>
                  <a:srgbClr val="FF0000"/>
                </a:solidFill>
                <a:ea typeface="MingLiU_HKSCS-ExtB" panose="02020500000000000000" charset="-120"/>
              </a:rPr>
              <a:t>N </a:t>
            </a:r>
            <a:r>
              <a:rPr lang="zh-CN" altLang="en-US" sz="2400">
                <a:solidFill>
                  <a:srgbClr val="FF0000"/>
                </a:solidFill>
                <a:ea typeface="MingLiU_HKSCS-ExtB" panose="02020500000000000000" charset="-120"/>
              </a:rPr>
              <a:t>次扩展信道</a:t>
            </a:r>
            <a:r>
              <a:rPr lang="zh-CN" altLang="en-US" sz="2400">
                <a:ea typeface="MingLiU_HKSCS-ExtB" panose="02020500000000000000" charset="-120"/>
              </a:rPr>
              <a:t>，其试验信道集合 </a:t>
            </a:r>
            <a:r>
              <a:rPr lang="en-US" altLang="zh-CN" sz="2400" i="1">
                <a:solidFill>
                  <a:srgbClr val="FF0000"/>
                </a:solidFill>
                <a:ea typeface="MingLiU_HKSCS-ExtB" panose="02020500000000000000" charset="-120"/>
              </a:rPr>
              <a:t>P</a:t>
            </a:r>
            <a:r>
              <a:rPr lang="en-US" altLang="zh-CN" sz="2400" i="1" baseline="-25000">
                <a:solidFill>
                  <a:srgbClr val="FF0000"/>
                </a:solidFill>
                <a:ea typeface="MingLiU_HKSCS-ExtB" panose="02020500000000000000" charset="-120"/>
              </a:rPr>
              <a:t>D</a:t>
            </a:r>
            <a:r>
              <a:rPr lang="en-US" altLang="zh-CN" sz="2400" baseline="-25000">
                <a:solidFill>
                  <a:srgbClr val="FF0000"/>
                </a:solidFill>
                <a:ea typeface="MingLiU_HKSCS-ExtB" panose="02020500000000000000" charset="-120"/>
              </a:rPr>
              <a:t>(</a:t>
            </a:r>
            <a:r>
              <a:rPr lang="en-US" altLang="zh-CN" sz="2400" i="1" baseline="-25000">
                <a:solidFill>
                  <a:srgbClr val="FF0000"/>
                </a:solidFill>
                <a:ea typeface="MingLiU_HKSCS-ExtB" panose="02020500000000000000" charset="-120"/>
              </a:rPr>
              <a:t>N</a:t>
            </a:r>
            <a:r>
              <a:rPr lang="en-US" altLang="zh-CN" sz="2400" baseline="-25000">
                <a:solidFill>
                  <a:srgbClr val="FF0000"/>
                </a:solidFill>
                <a:ea typeface="MingLiU_HKSCS-ExtB" panose="02020500000000000000" charset="-120"/>
              </a:rPr>
              <a:t>)</a:t>
            </a:r>
            <a:r>
              <a:rPr lang="en-US" altLang="zh-CN" sz="2400" baseline="-25000">
                <a:solidFill>
                  <a:srgbClr val="FFFF00"/>
                </a:solidFill>
                <a:ea typeface="MingLiU_HKSCS-ExtB" panose="02020500000000000000" charset="-120"/>
              </a:rPr>
              <a:t> </a:t>
            </a:r>
            <a:r>
              <a:rPr lang="zh-CN" altLang="en-US" sz="2400">
                <a:ea typeface="MingLiU_HKSCS-ExtB" panose="02020500000000000000" charset="-120"/>
              </a:rPr>
              <a:t>为：</a:t>
            </a:r>
          </a:p>
        </p:txBody>
      </p:sp>
      <p:graphicFrame>
        <p:nvGraphicFramePr>
          <p:cNvPr id="2238" name="对象 2237"/>
          <p:cNvGraphicFramePr/>
          <p:nvPr/>
        </p:nvGraphicFramePr>
        <p:xfrm>
          <a:off x="1249363" y="3422650"/>
          <a:ext cx="7377112" cy="511175"/>
        </p:xfrm>
        <a:graphic>
          <a:graphicData uri="http://schemas.openxmlformats.org/presentationml/2006/ole">
            <mc:AlternateContent xmlns:mc="http://schemas.openxmlformats.org/markup-compatibility/2006">
              <mc:Choice xmlns:v="urn:schemas-microsoft-com:vml" Requires="v">
                <p:oleObj spid="_x0000_s19458" r:id="rId3" imgW="450215" imgH="266700" progId="Equation.3">
                  <p:embed/>
                </p:oleObj>
              </mc:Choice>
              <mc:Fallback>
                <p:oleObj r:id="rId3" imgW="450215" imgH="266700" progId="Equation.3">
                  <p:embed/>
                  <p:pic>
                    <p:nvPicPr>
                      <p:cNvPr id="0" name="图片 3132"/>
                      <p:cNvPicPr/>
                      <p:nvPr/>
                    </p:nvPicPr>
                    <p:blipFill>
                      <a:blip r:embed="rId4"/>
                      <a:stretch>
                        <a:fillRect/>
                      </a:stretch>
                    </p:blipFill>
                    <p:spPr>
                      <a:xfrm>
                        <a:off x="1249363" y="3422650"/>
                        <a:ext cx="7377112" cy="511175"/>
                      </a:xfrm>
                      <a:prstGeom prst="rect">
                        <a:avLst/>
                      </a:prstGeom>
                      <a:noFill/>
                      <a:ln w="38100">
                        <a:noFill/>
                        <a:miter/>
                      </a:ln>
                    </p:spPr>
                  </p:pic>
                </p:oleObj>
              </mc:Fallback>
            </mc:AlternateContent>
          </a:graphicData>
        </a:graphic>
      </p:graphicFrame>
      <p:sp>
        <p:nvSpPr>
          <p:cNvPr id="2239" name="矩形 2238"/>
          <p:cNvSpPr/>
          <p:nvPr/>
        </p:nvSpPr>
        <p:spPr>
          <a:xfrm>
            <a:off x="8029575" y="5948363"/>
            <a:ext cx="796925" cy="360362"/>
          </a:xfrm>
          <a:solidFill>
            <a:srgbClr val="BBE0E3"/>
          </a:solidFill>
          <a:ln w="12700">
            <a:noFill/>
          </a:ln>
        </p:spPr>
        <p:txBody>
          <a:bodyPr/>
          <a:lstStyle/>
          <a:p>
            <a:endParaRPr lang="zh-CN" altLang="en-US"/>
          </a:p>
        </p:txBody>
      </p:sp>
      <p:sp>
        <p:nvSpPr>
          <p:cNvPr id="2240" name="矩形 2239"/>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32</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43" name="标题 2242"/>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4.1.3 </a:t>
            </a:r>
            <a:r>
              <a:rPr lang="zh-CN" altLang="en-US">
                <a:ea typeface="MingLiU_HKSCS-ExtB" panose="02020500000000000000" charset="-120"/>
              </a:rPr>
              <a:t>信息率失真函数的定义</a:t>
            </a:r>
          </a:p>
        </p:txBody>
      </p:sp>
      <p:sp>
        <p:nvSpPr>
          <p:cNvPr id="2244" name="文本占位符 2243"/>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(2) </a:t>
            </a:r>
            <a:r>
              <a:rPr lang="zh-CN" altLang="en-US">
                <a:ea typeface="MingLiU_HKSCS-ExtB" panose="02020500000000000000" charset="-120"/>
              </a:rPr>
              <a:t>信息率失真函数</a:t>
            </a:r>
          </a:p>
          <a:p>
            <a:pPr>
              <a:buClr>
                <a:srgbClr val="993366"/>
              </a:buClr>
            </a:pPr>
            <a:r>
              <a:rPr lang="zh-CN" altLang="en-US" sz="2000">
                <a:ea typeface="MingLiU_HKSCS-ExtB" panose="02020500000000000000" charset="-120"/>
              </a:rPr>
              <a:t> 单符号信源和单符号信道的信息率失真函数</a:t>
            </a:r>
          </a:p>
          <a:p>
            <a:pPr marL="355600" lvl="1">
              <a:buClr>
                <a:srgbClr val="993366"/>
              </a:buClr>
            </a:pPr>
            <a:r>
              <a:rPr lang="zh-CN" altLang="en-US" sz="2000">
                <a:solidFill>
                  <a:srgbClr val="0000CC"/>
                </a:solidFill>
                <a:ea typeface="MingLiU_HKSCS-ExtB" panose="02020500000000000000" charset="-120"/>
              </a:rPr>
              <a:t> </a:t>
            </a:r>
            <a:r>
              <a:rPr lang="zh-CN" altLang="en-US" sz="2000" u="sng">
                <a:solidFill>
                  <a:srgbClr val="0000CC"/>
                </a:solidFill>
                <a:ea typeface="MingLiU_HKSCS-ExtB" panose="02020500000000000000" charset="-120"/>
              </a:rPr>
              <a:t>信息率失真函数（率失真函数） </a:t>
            </a:r>
            <a:r>
              <a:rPr lang="en-US" altLang="zh-CN" sz="2000" i="1" u="sng">
                <a:solidFill>
                  <a:srgbClr val="0000CC"/>
                </a:solidFill>
                <a:ea typeface="MingLiU_HKSCS-ExtB" panose="02020500000000000000" charset="-120"/>
              </a:rPr>
              <a:t>R</a:t>
            </a:r>
            <a:r>
              <a:rPr lang="en-US" altLang="zh-CN" sz="2000" u="sng">
                <a:solidFill>
                  <a:srgbClr val="0000CC"/>
                </a:solidFill>
                <a:ea typeface="MingLiU_HKSCS-ExtB" panose="02020500000000000000" charset="-120"/>
              </a:rPr>
              <a:t>(</a:t>
            </a:r>
            <a:r>
              <a:rPr lang="en-US" altLang="zh-CN" sz="2000" i="1" u="sng">
                <a:solidFill>
                  <a:srgbClr val="0000CC"/>
                </a:solidFill>
                <a:ea typeface="MingLiU_HKSCS-ExtB" panose="02020500000000000000" charset="-120"/>
              </a:rPr>
              <a:t>D</a:t>
            </a:r>
            <a:r>
              <a:rPr lang="en-US" altLang="zh-CN" sz="2000" u="sng">
                <a:solidFill>
                  <a:srgbClr val="0000CC"/>
                </a:solidFill>
                <a:ea typeface="MingLiU_HKSCS-ExtB" panose="02020500000000000000" charset="-120"/>
              </a:rPr>
              <a:t>)</a:t>
            </a:r>
            <a:r>
              <a:rPr lang="en-US" altLang="zh-CN" sz="2000">
                <a:solidFill>
                  <a:srgbClr val="0000CC"/>
                </a:solidFill>
                <a:ea typeface="MingLiU_HKSCS-ExtB" panose="02020500000000000000" charset="-120"/>
              </a:rPr>
              <a:t> </a:t>
            </a:r>
            <a:r>
              <a:rPr lang="zh-CN" altLang="en-US" sz="2000">
                <a:solidFill>
                  <a:srgbClr val="0000CC"/>
                </a:solidFill>
                <a:ea typeface="MingLiU_HKSCS-ExtB" panose="02020500000000000000" charset="-120"/>
              </a:rPr>
              <a:t>：</a:t>
            </a:r>
            <a:r>
              <a:rPr lang="zh-CN" altLang="en-US" sz="2000">
                <a:ea typeface="MingLiU_HKSCS-ExtB" panose="02020500000000000000" charset="-120"/>
              </a:rPr>
              <a:t>在信源和失真度给定以后，</a:t>
            </a:r>
            <a:r>
              <a:rPr lang="en-US" altLang="zh-CN" sz="2000" i="1">
                <a:ea typeface="MingLiU_HKSCS-ExtB" panose="02020500000000000000" charset="-120"/>
              </a:rPr>
              <a:t>P</a:t>
            </a:r>
            <a:r>
              <a:rPr lang="en-US" altLang="zh-CN" sz="2000" i="1" baseline="-25000">
                <a:ea typeface="MingLiU_HKSCS-ExtB" panose="02020500000000000000" charset="-120"/>
              </a:rPr>
              <a:t>D </a:t>
            </a:r>
            <a:r>
              <a:rPr lang="zh-CN" altLang="en-US" sz="2000">
                <a:ea typeface="MingLiU_HKSCS-ExtB" panose="02020500000000000000" charset="-120"/>
              </a:rPr>
              <a:t>是满足保真度准则             的试验信道集合，平均互信息 </a:t>
            </a:r>
            <a:r>
              <a:rPr lang="en-US" altLang="zh-CN" sz="2000" i="1">
                <a:ea typeface="MingLiU_HKSCS-ExtB" panose="02020500000000000000" charset="-120"/>
              </a:rPr>
              <a:t>I</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a:ea typeface="MingLiU_HKSCS-ExtB" panose="02020500000000000000" charset="-120"/>
              </a:rPr>
              <a:t>) </a:t>
            </a:r>
            <a:r>
              <a:rPr lang="zh-CN" altLang="en-US" sz="2000">
                <a:ea typeface="MingLiU_HKSCS-ExtB" panose="02020500000000000000" charset="-120"/>
              </a:rPr>
              <a:t>是信道传递概率 </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i="1" baseline="-25000">
                <a:ea typeface="MingLiU_HKSCS-ExtB" panose="02020500000000000000" charset="-120"/>
              </a:rPr>
              <a:t>j </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i="1" baseline="-25000">
                <a:ea typeface="MingLiU_HKSCS-ExtB" panose="02020500000000000000" charset="-120"/>
              </a:rPr>
              <a:t>i</a:t>
            </a:r>
            <a:r>
              <a:rPr lang="en-US" altLang="zh-CN" sz="2000">
                <a:ea typeface="MingLiU_HKSCS-ExtB" panose="02020500000000000000" charset="-120"/>
              </a:rPr>
              <a:t>) </a:t>
            </a:r>
            <a:r>
              <a:rPr lang="zh-CN" altLang="en-US" sz="2000">
                <a:ea typeface="MingLiU_HKSCS-ExtB" panose="02020500000000000000" charset="-120"/>
              </a:rPr>
              <a:t>的下凸函数，所以在 </a:t>
            </a:r>
            <a:r>
              <a:rPr lang="en-US" altLang="zh-CN" sz="2000" i="1">
                <a:ea typeface="MingLiU_HKSCS-ExtB" panose="02020500000000000000" charset="-120"/>
              </a:rPr>
              <a:t>P</a:t>
            </a:r>
            <a:r>
              <a:rPr lang="en-US" altLang="zh-CN" sz="2000" i="1" baseline="-25000">
                <a:ea typeface="MingLiU_HKSCS-ExtB" panose="02020500000000000000" charset="-120"/>
              </a:rPr>
              <a:t>D </a:t>
            </a:r>
            <a:r>
              <a:rPr lang="zh-CN" altLang="en-US" sz="2000">
                <a:ea typeface="MingLiU_HKSCS-ExtB" panose="02020500000000000000" charset="-120"/>
              </a:rPr>
              <a:t>中一定可以找到某个试验信道，使  </a:t>
            </a:r>
            <a:r>
              <a:rPr lang="en-US" altLang="zh-CN" sz="2000" i="1">
                <a:ea typeface="MingLiU_HKSCS-ExtB" panose="02020500000000000000" charset="-120"/>
              </a:rPr>
              <a:t>I</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a:ea typeface="MingLiU_HKSCS-ExtB" panose="02020500000000000000" charset="-120"/>
              </a:rPr>
              <a:t>) </a:t>
            </a:r>
            <a:r>
              <a:rPr lang="zh-CN" altLang="en-US" sz="2000">
                <a:ea typeface="MingLiU_HKSCS-ExtB" panose="02020500000000000000" charset="-120"/>
              </a:rPr>
              <a:t>达到最小，即：</a:t>
            </a:r>
          </a:p>
          <a:p>
            <a:pPr marL="355600" lvl="1">
              <a:buClr>
                <a:srgbClr val="993366"/>
              </a:buClr>
            </a:pPr>
            <a:endParaRPr lang="zh-CN" altLang="en-US">
              <a:ea typeface="MingLiU_HKSCS-ExtB" panose="02020500000000000000" charset="-120"/>
            </a:endParaRPr>
          </a:p>
          <a:p>
            <a:pPr marL="355600" lvl="1">
              <a:buClr>
                <a:srgbClr val="993366"/>
              </a:buClr>
            </a:pPr>
            <a:r>
              <a:rPr lang="zh-CN" altLang="en-US" sz="2000">
                <a:ea typeface="MingLiU_HKSCS-ExtB" panose="02020500000000000000" charset="-120"/>
              </a:rPr>
              <a:t> 在信源给定以后，总希望在允许一定失真的情况下，传送信源所必须的信息率越小越好。</a:t>
            </a:r>
            <a:r>
              <a:rPr lang="zh-CN" altLang="en-US" sz="2000">
                <a:solidFill>
                  <a:srgbClr val="FF0000"/>
                </a:solidFill>
                <a:ea typeface="MingLiU_HKSCS-ExtB" panose="02020500000000000000" charset="-120"/>
              </a:rPr>
              <a:t>从接收端来看，就是在满足保真度准则            的条件下，寻找再现信源消息必须的最低平均信息量，即平均互信息的最小值。</a:t>
            </a:r>
          </a:p>
        </p:txBody>
      </p:sp>
      <p:graphicFrame>
        <p:nvGraphicFramePr>
          <p:cNvPr id="2245" name="对象 2244"/>
          <p:cNvGraphicFramePr/>
          <p:nvPr/>
        </p:nvGraphicFramePr>
        <p:xfrm>
          <a:off x="3059113" y="4005263"/>
          <a:ext cx="2722562" cy="590550"/>
        </p:xfrm>
        <a:graphic>
          <a:graphicData uri="http://schemas.openxmlformats.org/presentationml/2006/ole">
            <mc:AlternateContent xmlns:mc="http://schemas.openxmlformats.org/markup-compatibility/2006">
              <mc:Choice xmlns:v="urn:schemas-microsoft-com:vml" Requires="v">
                <p:oleObj spid="_x0000_s20484" r:id="rId3" imgW="633095" imgH="304800" progId="Equation.3">
                  <p:embed/>
                </p:oleObj>
              </mc:Choice>
              <mc:Fallback>
                <p:oleObj r:id="rId3" imgW="633095" imgH="304800" progId="Equation.3">
                  <p:embed/>
                  <p:pic>
                    <p:nvPicPr>
                      <p:cNvPr id="0" name="图片 3135"/>
                      <p:cNvPicPr/>
                      <p:nvPr/>
                    </p:nvPicPr>
                    <p:blipFill>
                      <a:blip r:embed="rId4"/>
                      <a:stretch>
                        <a:fillRect/>
                      </a:stretch>
                    </p:blipFill>
                    <p:spPr>
                      <a:xfrm>
                        <a:off x="3059113" y="4005263"/>
                        <a:ext cx="2722562" cy="590550"/>
                      </a:xfrm>
                      <a:prstGeom prst="rect">
                        <a:avLst/>
                      </a:prstGeom>
                      <a:noFill/>
                      <a:ln w="38100">
                        <a:noFill/>
                        <a:miter/>
                      </a:ln>
                    </p:spPr>
                  </p:pic>
                </p:oleObj>
              </mc:Fallback>
            </mc:AlternateContent>
          </a:graphicData>
        </a:graphic>
      </p:graphicFrame>
      <p:graphicFrame>
        <p:nvGraphicFramePr>
          <p:cNvPr id="2246" name="对象 2245"/>
          <p:cNvGraphicFramePr/>
          <p:nvPr/>
        </p:nvGraphicFramePr>
        <p:xfrm>
          <a:off x="3491865" y="2708275"/>
          <a:ext cx="666750" cy="304800"/>
        </p:xfrm>
        <a:graphic>
          <a:graphicData uri="http://schemas.openxmlformats.org/presentationml/2006/ole">
            <mc:AlternateContent xmlns:mc="http://schemas.openxmlformats.org/markup-compatibility/2006">
              <mc:Choice xmlns:v="urn:schemas-microsoft-com:vml" Requires="v">
                <p:oleObj spid="_x0000_s20485" r:id="rId5" imgW="370840" imgH="203200" progId="Equation.3">
                  <p:embed/>
                </p:oleObj>
              </mc:Choice>
              <mc:Fallback>
                <p:oleObj r:id="rId5" imgW="370840" imgH="203200" progId="Equation.3">
                  <p:embed/>
                  <p:pic>
                    <p:nvPicPr>
                      <p:cNvPr id="0" name="图片 3136"/>
                      <p:cNvPicPr/>
                      <p:nvPr/>
                    </p:nvPicPr>
                    <p:blipFill>
                      <a:blip r:embed="rId6"/>
                      <a:stretch>
                        <a:fillRect/>
                      </a:stretch>
                    </p:blipFill>
                    <p:spPr>
                      <a:xfrm>
                        <a:off x="3491865" y="2708275"/>
                        <a:ext cx="666750" cy="304800"/>
                      </a:xfrm>
                      <a:prstGeom prst="rect">
                        <a:avLst/>
                      </a:prstGeom>
                      <a:noFill/>
                      <a:ln w="38100">
                        <a:noFill/>
                        <a:miter/>
                      </a:ln>
                    </p:spPr>
                  </p:pic>
                </p:oleObj>
              </mc:Fallback>
            </mc:AlternateContent>
          </a:graphicData>
        </a:graphic>
      </p:graphicFrame>
      <p:graphicFrame>
        <p:nvGraphicFramePr>
          <p:cNvPr id="2247" name="对象 2246"/>
          <p:cNvGraphicFramePr/>
          <p:nvPr/>
        </p:nvGraphicFramePr>
        <p:xfrm>
          <a:off x="7956233" y="5085715"/>
          <a:ext cx="571500" cy="322263"/>
        </p:xfrm>
        <a:graphic>
          <a:graphicData uri="http://schemas.openxmlformats.org/presentationml/2006/ole">
            <mc:AlternateContent xmlns:mc="http://schemas.openxmlformats.org/markup-compatibility/2006">
              <mc:Choice xmlns:v="urn:schemas-microsoft-com:vml" Requires="v">
                <p:oleObj spid="_x0000_s20486" r:id="rId7" imgW="370840" imgH="203200" progId="Equation.3">
                  <p:embed/>
                </p:oleObj>
              </mc:Choice>
              <mc:Fallback>
                <p:oleObj r:id="rId7" imgW="370840" imgH="203200" progId="Equation.3">
                  <p:embed/>
                  <p:pic>
                    <p:nvPicPr>
                      <p:cNvPr id="0" name="图片 3137"/>
                      <p:cNvPicPr/>
                      <p:nvPr/>
                    </p:nvPicPr>
                    <p:blipFill>
                      <a:blip r:embed="rId8"/>
                      <a:stretch>
                        <a:fillRect/>
                      </a:stretch>
                    </p:blipFill>
                    <p:spPr>
                      <a:xfrm>
                        <a:off x="7956233" y="5085715"/>
                        <a:ext cx="571500" cy="322263"/>
                      </a:xfrm>
                      <a:prstGeom prst="rect">
                        <a:avLst/>
                      </a:prstGeom>
                      <a:noFill/>
                      <a:ln w="38100">
                        <a:noFill/>
                        <a:miter/>
                      </a:ln>
                    </p:spPr>
                  </p:pic>
                </p:oleObj>
              </mc:Fallback>
            </mc:AlternateContent>
          </a:graphicData>
        </a:graphic>
      </p:graphicFrame>
      <p:sp>
        <p:nvSpPr>
          <p:cNvPr id="2248" name="矩形 2247"/>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33</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51" name="标题 2250"/>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4.1.3 </a:t>
            </a:r>
            <a:r>
              <a:rPr lang="zh-CN" altLang="en-US">
                <a:ea typeface="MingLiU_HKSCS-ExtB" panose="02020500000000000000" charset="-120"/>
              </a:rPr>
              <a:t>信息率失真函数的定义</a:t>
            </a:r>
          </a:p>
        </p:txBody>
      </p:sp>
      <p:sp>
        <p:nvSpPr>
          <p:cNvPr id="2252" name="文本占位符 2251"/>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(2) </a:t>
            </a:r>
            <a:r>
              <a:rPr lang="zh-CN" altLang="en-US">
                <a:ea typeface="MingLiU_HKSCS-ExtB" panose="02020500000000000000" charset="-120"/>
              </a:rPr>
              <a:t>信息率失真函数</a:t>
            </a:r>
          </a:p>
          <a:p>
            <a:pPr>
              <a:buClr>
                <a:srgbClr val="993366"/>
              </a:buClr>
            </a:pPr>
            <a:r>
              <a:rPr lang="zh-CN" altLang="en-US" sz="2000">
                <a:ea typeface="MingLiU_HKSCS-ExtB" panose="02020500000000000000" charset="-120"/>
              </a:rPr>
              <a:t> “</a:t>
            </a:r>
            <a:r>
              <a:rPr lang="en-US" altLang="zh-CN" sz="2000" i="1">
                <a:ea typeface="MingLiU_HKSCS-ExtB" panose="02020500000000000000" charset="-120"/>
              </a:rPr>
              <a:t>N </a:t>
            </a:r>
            <a:r>
              <a:rPr lang="zh-CN" altLang="en-US" sz="2000">
                <a:ea typeface="MingLiU_HKSCS-ExtB" panose="02020500000000000000" charset="-120"/>
              </a:rPr>
              <a:t>次扩展”的信息率失真函数</a:t>
            </a:r>
          </a:p>
          <a:p>
            <a:pPr marL="355600" lvl="1">
              <a:buClr>
                <a:srgbClr val="993366"/>
              </a:buClr>
            </a:pPr>
            <a:r>
              <a:rPr lang="zh-CN" altLang="en-US" sz="2000">
                <a:solidFill>
                  <a:srgbClr val="0000CC"/>
                </a:solidFill>
                <a:ea typeface="MingLiU_HKSCS-ExtB" panose="02020500000000000000" charset="-120"/>
              </a:rPr>
              <a:t> </a:t>
            </a:r>
            <a:r>
              <a:rPr lang="zh-CN" altLang="en-US" sz="2000" u="sng">
                <a:solidFill>
                  <a:srgbClr val="0000CC"/>
                </a:solidFill>
                <a:ea typeface="MingLiU_HKSCS-ExtB" panose="02020500000000000000" charset="-120"/>
              </a:rPr>
              <a:t>“</a:t>
            </a:r>
            <a:r>
              <a:rPr lang="en-US" altLang="zh-CN" sz="2000" i="1" u="sng">
                <a:solidFill>
                  <a:srgbClr val="0000CC"/>
                </a:solidFill>
                <a:ea typeface="MingLiU_HKSCS-ExtB" panose="02020500000000000000" charset="-120"/>
              </a:rPr>
              <a:t>N </a:t>
            </a:r>
            <a:r>
              <a:rPr lang="zh-CN" altLang="en-US" sz="2000" u="sng">
                <a:solidFill>
                  <a:srgbClr val="0000CC"/>
                </a:solidFill>
                <a:ea typeface="MingLiU_HKSCS-ExtB" panose="02020500000000000000" charset="-120"/>
              </a:rPr>
              <a:t>次扩展”的信息率失真函数</a:t>
            </a:r>
            <a:r>
              <a:rPr lang="en-US" altLang="zh-CN" sz="2000" i="1" u="sng">
                <a:solidFill>
                  <a:srgbClr val="0000CC"/>
                </a:solidFill>
                <a:ea typeface="MingLiU_HKSCS-ExtB" panose="02020500000000000000" charset="-120"/>
              </a:rPr>
              <a:t>R</a:t>
            </a:r>
            <a:r>
              <a:rPr lang="en-US" altLang="zh-CN" sz="2000" i="1" u="sng" baseline="-25000">
                <a:solidFill>
                  <a:srgbClr val="0000CC"/>
                </a:solidFill>
                <a:ea typeface="MingLiU_HKSCS-ExtB" panose="02020500000000000000" charset="-120"/>
              </a:rPr>
              <a:t>N</a:t>
            </a:r>
            <a:r>
              <a:rPr lang="en-US" altLang="zh-CN" sz="2000" u="sng">
                <a:solidFill>
                  <a:srgbClr val="0000CC"/>
                </a:solidFill>
                <a:ea typeface="MingLiU_HKSCS-ExtB" panose="02020500000000000000" charset="-120"/>
              </a:rPr>
              <a:t>(</a:t>
            </a:r>
            <a:r>
              <a:rPr lang="en-US" altLang="zh-CN" sz="2000" i="1" u="sng">
                <a:solidFill>
                  <a:srgbClr val="0000CC"/>
                </a:solidFill>
                <a:ea typeface="MingLiU_HKSCS-ExtB" panose="02020500000000000000" charset="-120"/>
              </a:rPr>
              <a:t>D</a:t>
            </a:r>
            <a:r>
              <a:rPr lang="en-US" altLang="zh-CN" sz="2000" u="sng">
                <a:solidFill>
                  <a:srgbClr val="0000CC"/>
                </a:solidFill>
                <a:ea typeface="MingLiU_HKSCS-ExtB" panose="02020500000000000000" charset="-120"/>
              </a:rPr>
              <a:t>)</a:t>
            </a:r>
            <a:r>
              <a:rPr lang="en-US" altLang="zh-CN" sz="2000">
                <a:solidFill>
                  <a:srgbClr val="0000CC"/>
                </a:solidFill>
                <a:ea typeface="MingLiU_HKSCS-ExtB" panose="02020500000000000000" charset="-120"/>
              </a:rPr>
              <a:t> </a:t>
            </a:r>
            <a:r>
              <a:rPr lang="zh-CN" altLang="en-US" sz="2000">
                <a:solidFill>
                  <a:srgbClr val="0000CC"/>
                </a:solidFill>
                <a:ea typeface="MingLiU_HKSCS-ExtB" panose="02020500000000000000" charset="-120"/>
              </a:rPr>
              <a:t>：</a:t>
            </a:r>
            <a:r>
              <a:rPr lang="zh-CN" altLang="en-US" sz="2000">
                <a:ea typeface="MingLiU_HKSCS-ExtB" panose="02020500000000000000" charset="-120"/>
              </a:rPr>
              <a:t>对于离散无记忆信源的 </a:t>
            </a:r>
            <a:r>
              <a:rPr lang="en-US" altLang="zh-CN" sz="2000" i="1">
                <a:ea typeface="MingLiU_HKSCS-ExtB" panose="02020500000000000000" charset="-120"/>
              </a:rPr>
              <a:t>N </a:t>
            </a:r>
            <a:r>
              <a:rPr lang="zh-CN" altLang="en-US" sz="2000">
                <a:ea typeface="MingLiU_HKSCS-ExtB" panose="02020500000000000000" charset="-120"/>
              </a:rPr>
              <a:t>次扩展信源和离散无记忆信道的 </a:t>
            </a:r>
            <a:r>
              <a:rPr lang="en-US" altLang="zh-CN" sz="2000" i="1">
                <a:ea typeface="MingLiU_HKSCS-ExtB" panose="02020500000000000000" charset="-120"/>
              </a:rPr>
              <a:t>N </a:t>
            </a:r>
            <a:r>
              <a:rPr lang="zh-CN" altLang="en-US" sz="2000">
                <a:ea typeface="MingLiU_HKSCS-ExtB" panose="02020500000000000000" charset="-120"/>
              </a:rPr>
              <a:t>次扩展信道，在所有满足保真度准则                     的 </a:t>
            </a:r>
            <a:r>
              <a:rPr lang="en-US" altLang="zh-CN" sz="2000" i="1">
                <a:ea typeface="MingLiU_HKSCS-ExtB" panose="02020500000000000000" charset="-120"/>
              </a:rPr>
              <a:t>N </a:t>
            </a:r>
            <a:r>
              <a:rPr lang="zh-CN" altLang="en-US" sz="2000">
                <a:ea typeface="MingLiU_HKSCS-ExtB" panose="02020500000000000000" charset="-120"/>
              </a:rPr>
              <a:t>维试验信道集合中，一定可以寻找到某个信道使平均互信息取最小值：</a:t>
            </a:r>
          </a:p>
          <a:p>
            <a:pPr marL="355600" lvl="1">
              <a:buClr>
                <a:srgbClr val="993366"/>
              </a:buClr>
            </a:pPr>
            <a:endParaRPr lang="zh-CN" altLang="en-US" sz="2000">
              <a:ea typeface="MingLiU_HKSCS-ExtB" panose="02020500000000000000" charset="-120"/>
            </a:endParaRPr>
          </a:p>
          <a:p>
            <a:pPr marL="355600" lvl="1">
              <a:buClr>
                <a:srgbClr val="993366"/>
              </a:buClr>
            </a:pPr>
            <a:endParaRPr lang="zh-CN" altLang="en-US" sz="2000">
              <a:ea typeface="MingLiU_HKSCS-ExtB" panose="02020500000000000000" charset="-120"/>
            </a:endParaRPr>
          </a:p>
          <a:p>
            <a:pPr marL="355600" lvl="1">
              <a:buClr>
                <a:srgbClr val="993366"/>
              </a:buClr>
            </a:pPr>
            <a:r>
              <a:rPr lang="zh-CN" altLang="en-US" sz="2000">
                <a:ea typeface="MingLiU_HKSCS-ExtB" panose="02020500000000000000" charset="-120"/>
              </a:rPr>
              <a:t> 由信源和信道的无记忆性，可以证明：</a:t>
            </a:r>
          </a:p>
          <a:p>
            <a:pPr marL="355600" lvl="1" algn="ctr">
              <a:buClr>
                <a:srgbClr val="993366"/>
              </a:buClr>
              <a:buNone/>
            </a:pPr>
            <a:r>
              <a:rPr lang="en-US" altLang="zh-CN" sz="2000" i="1">
                <a:solidFill>
                  <a:srgbClr val="FF0000"/>
                </a:solidFill>
                <a:ea typeface="MingLiU_HKSCS-ExtB" panose="02020500000000000000" charset="-120"/>
              </a:rPr>
              <a:t>R</a:t>
            </a:r>
            <a:r>
              <a:rPr lang="en-US" altLang="zh-CN" sz="2000" i="1" baseline="-25000">
                <a:solidFill>
                  <a:srgbClr val="FF0000"/>
                </a:solidFill>
                <a:ea typeface="MingLiU_HKSCS-ExtB" panose="02020500000000000000" charset="-120"/>
              </a:rPr>
              <a:t>N</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D</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NR</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D</a:t>
            </a:r>
            <a:r>
              <a:rPr lang="en-US" altLang="zh-CN" sz="2000">
                <a:solidFill>
                  <a:srgbClr val="FF0000"/>
                </a:solidFill>
                <a:ea typeface="MingLiU_HKSCS-ExtB" panose="02020500000000000000" charset="-120"/>
              </a:rPr>
              <a:t>)</a:t>
            </a:r>
          </a:p>
        </p:txBody>
      </p:sp>
      <p:graphicFrame>
        <p:nvGraphicFramePr>
          <p:cNvPr id="2253" name="对象 2252"/>
          <p:cNvGraphicFramePr/>
          <p:nvPr/>
        </p:nvGraphicFramePr>
        <p:xfrm>
          <a:off x="2915603" y="4148773"/>
          <a:ext cx="3533775" cy="630237"/>
        </p:xfrm>
        <a:graphic>
          <a:graphicData uri="http://schemas.openxmlformats.org/presentationml/2006/ole">
            <mc:AlternateContent xmlns:mc="http://schemas.openxmlformats.org/markup-compatibility/2006">
              <mc:Choice xmlns:v="urn:schemas-microsoft-com:vml" Requires="v">
                <p:oleObj spid="_x0000_s21507" r:id="rId3" imgW="675640" imgH="317500" progId="Equation.3">
                  <p:embed/>
                </p:oleObj>
              </mc:Choice>
              <mc:Fallback>
                <p:oleObj r:id="rId3" imgW="675640" imgH="317500" progId="Equation.3">
                  <p:embed/>
                  <p:pic>
                    <p:nvPicPr>
                      <p:cNvPr id="0" name="图片 3139"/>
                      <p:cNvPicPr/>
                      <p:nvPr/>
                    </p:nvPicPr>
                    <p:blipFill>
                      <a:blip r:embed="rId4"/>
                      <a:stretch>
                        <a:fillRect/>
                      </a:stretch>
                    </p:blipFill>
                    <p:spPr>
                      <a:xfrm>
                        <a:off x="2915603" y="4148773"/>
                        <a:ext cx="3533775" cy="630237"/>
                      </a:xfrm>
                      <a:prstGeom prst="rect">
                        <a:avLst/>
                      </a:prstGeom>
                      <a:noFill/>
                      <a:ln w="38100">
                        <a:noFill/>
                        <a:miter/>
                      </a:ln>
                    </p:spPr>
                  </p:pic>
                </p:oleObj>
              </mc:Fallback>
            </mc:AlternateContent>
          </a:graphicData>
        </a:graphic>
      </p:graphicFrame>
      <p:graphicFrame>
        <p:nvGraphicFramePr>
          <p:cNvPr id="2254" name="对象 2253"/>
          <p:cNvGraphicFramePr/>
          <p:nvPr/>
        </p:nvGraphicFramePr>
        <p:xfrm>
          <a:off x="1403033" y="3141028"/>
          <a:ext cx="1236662" cy="423862"/>
        </p:xfrm>
        <a:graphic>
          <a:graphicData uri="http://schemas.openxmlformats.org/presentationml/2006/ole">
            <mc:AlternateContent xmlns:mc="http://schemas.openxmlformats.org/markup-compatibility/2006">
              <mc:Choice xmlns:v="urn:schemas-microsoft-com:vml" Requires="v">
                <p:oleObj spid="_x0000_s21508" r:id="rId5" imgW="655955" imgH="241300" progId="Equation.3">
                  <p:embed/>
                </p:oleObj>
              </mc:Choice>
              <mc:Fallback>
                <p:oleObj r:id="rId5" imgW="655955" imgH="241300" progId="Equation.3">
                  <p:embed/>
                  <p:pic>
                    <p:nvPicPr>
                      <p:cNvPr id="0" name="图片 3138"/>
                      <p:cNvPicPr/>
                      <p:nvPr/>
                    </p:nvPicPr>
                    <p:blipFill>
                      <a:blip r:embed="rId6"/>
                      <a:stretch>
                        <a:fillRect/>
                      </a:stretch>
                    </p:blipFill>
                    <p:spPr>
                      <a:xfrm>
                        <a:off x="1403033" y="3141028"/>
                        <a:ext cx="1236662" cy="423862"/>
                      </a:xfrm>
                      <a:prstGeom prst="rect">
                        <a:avLst/>
                      </a:prstGeom>
                      <a:noFill/>
                      <a:ln w="38100">
                        <a:noFill/>
                        <a:miter/>
                      </a:ln>
                    </p:spPr>
                  </p:pic>
                </p:oleObj>
              </mc:Fallback>
            </mc:AlternateContent>
          </a:graphicData>
        </a:graphic>
      </p:graphicFrame>
      <p:sp>
        <p:nvSpPr>
          <p:cNvPr id="2255" name="矩形 2254"/>
          <p:cNvSpPr/>
          <p:nvPr/>
        </p:nvSpPr>
        <p:spPr>
          <a:xfrm>
            <a:off x="8029575" y="5948363"/>
            <a:ext cx="796925" cy="360362"/>
          </a:xfrm>
          <a:solidFill>
            <a:srgbClr val="BBE0E3"/>
          </a:solidFill>
          <a:ln w="12700">
            <a:noFill/>
          </a:ln>
        </p:spPr>
        <p:txBody>
          <a:bodyPr/>
          <a:lstStyle/>
          <a:p>
            <a:endParaRPr lang="zh-CN" altLang="en-US"/>
          </a:p>
        </p:txBody>
      </p:sp>
      <p:sp>
        <p:nvSpPr>
          <p:cNvPr id="2256" name="矩形 2255"/>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253"/>
                                        </p:tgtEl>
                                        <p:attrNameLst>
                                          <p:attrName>style.visibility</p:attrName>
                                        </p:attrNameLst>
                                      </p:cBhvr>
                                      <p:to>
                                        <p:strVal val="visible"/>
                                      </p:to>
                                    </p:set>
                                    <p:anim calcmode="lin" valueType="num">
                                      <p:cBhvr additive="base">
                                        <p:cTn id="7" dur="1000" fill="hold"/>
                                        <p:tgtEl>
                                          <p:spTgt spid="2253"/>
                                        </p:tgtEl>
                                        <p:attrNameLst>
                                          <p:attrName>ppt_x</p:attrName>
                                        </p:attrNameLst>
                                      </p:cBhvr>
                                      <p:tavLst>
                                        <p:tav tm="0">
                                          <p:val>
                                            <p:strVal val="#ppt_x-.2"/>
                                          </p:val>
                                        </p:tav>
                                        <p:tav tm="100000">
                                          <p:val>
                                            <p:strVal val="#ppt_x"/>
                                          </p:val>
                                        </p:tav>
                                      </p:tavLst>
                                    </p:anim>
                                    <p:anim calcmode="lin" valueType="num">
                                      <p:cBhvr additive="base">
                                        <p:cTn id="8" dur="1000" fill="hold"/>
                                        <p:tgtEl>
                                          <p:spTgt spid="2253"/>
                                        </p:tgtEl>
                                        <p:attrNameLst>
                                          <p:attrName>ppt_y</p:attrName>
                                        </p:attrNameLst>
                                      </p:cBhvr>
                                      <p:tavLst>
                                        <p:tav tm="0">
                                          <p:val>
                                            <p:strVal val="#ppt_y"/>
                                          </p:val>
                                        </p:tav>
                                        <p:tav tm="100000">
                                          <p:val>
                                            <p:strVal val="#ppt_y"/>
                                          </p:val>
                                        </p:tav>
                                      </p:tavLst>
                                    </p:anim>
                                    <p:animEffect transition="in" filter="wipe(right)">
                                      <p:cBhvr additive="base">
                                        <p:cTn id="9" dur="1000"/>
                                        <p:tgtEl>
                                          <p:spTgt spid="2253"/>
                                        </p:tgtEl>
                                      </p:cBhvr>
                                    </p:animEffect>
                                  </p:childTnLst>
                                </p:cTn>
                              </p:par>
                              <p:par>
                                <p:cTn id="10" presetID="29" presetClass="entr" presetSubtype="0" fill="hold" grpId="0" nodeType="withEffect">
                                  <p:childTnLst>
                                    <p:set>
                                      <p:cBhvr additive="base">
                                        <p:cTn id="11" dur="1" fill="hold">
                                          <p:stCondLst>
                                            <p:cond delay="0"/>
                                          </p:stCondLst>
                                        </p:cTn>
                                        <p:tgtEl>
                                          <p:spTgt spid="2255"/>
                                        </p:tgtEl>
                                        <p:attrNameLst>
                                          <p:attrName>style.visibility</p:attrName>
                                        </p:attrNameLst>
                                      </p:cBhvr>
                                      <p:to>
                                        <p:strVal val="visible"/>
                                      </p:to>
                                    </p:set>
                                    <p:anim calcmode="lin" valueType="num">
                                      <p:cBhvr additive="base">
                                        <p:cTn id="12" dur="1000" fill="hold"/>
                                        <p:tgtEl>
                                          <p:spTgt spid="2255"/>
                                        </p:tgtEl>
                                        <p:attrNameLst>
                                          <p:attrName>ppt_x</p:attrName>
                                        </p:attrNameLst>
                                      </p:cBhvr>
                                      <p:tavLst>
                                        <p:tav tm="0">
                                          <p:val>
                                            <p:strVal val="#ppt_x-.2"/>
                                          </p:val>
                                        </p:tav>
                                        <p:tav tm="100000">
                                          <p:val>
                                            <p:strVal val="#ppt_x"/>
                                          </p:val>
                                        </p:tav>
                                      </p:tavLst>
                                    </p:anim>
                                    <p:anim calcmode="lin" valueType="num">
                                      <p:cBhvr additive="base">
                                        <p:cTn id="13" dur="1000" fill="hold"/>
                                        <p:tgtEl>
                                          <p:spTgt spid="2255"/>
                                        </p:tgtEl>
                                        <p:attrNameLst>
                                          <p:attrName>ppt_y</p:attrName>
                                        </p:attrNameLst>
                                      </p:cBhvr>
                                      <p:tavLst>
                                        <p:tav tm="0">
                                          <p:val>
                                            <p:strVal val="#ppt_y"/>
                                          </p:val>
                                        </p:tav>
                                        <p:tav tm="100000">
                                          <p:val>
                                            <p:strVal val="#ppt_y"/>
                                          </p:val>
                                        </p:tav>
                                      </p:tavLst>
                                    </p:anim>
                                    <p:animEffect transition="in" filter="wipe(right)">
                                      <p:cBhvr additive="base">
                                        <p:cTn id="14" dur="1000"/>
                                        <p:tgtEl>
                                          <p:spTgt spid="2255"/>
                                        </p:tgtEl>
                                      </p:cBhvr>
                                    </p:animEffect>
                                  </p:childTnLst>
                                </p:cTn>
                              </p:par>
                              <p:par>
                                <p:cTn id="15" presetID="29" presetClass="entr" presetSubtype="0" fill="hold" nodeType="withEffect">
                                  <p:childTnLst>
                                    <p:set>
                                      <p:cBhvr additive="base">
                                        <p:cTn id="16" dur="1" fill="hold">
                                          <p:stCondLst>
                                            <p:cond delay="0"/>
                                          </p:stCondLst>
                                        </p:cTn>
                                        <p:tgtEl>
                                          <p:spTgt spid="2252">
                                            <p:txEl>
                                              <p:pRg st="1" end="1"/>
                                            </p:txEl>
                                          </p:spTgt>
                                        </p:tgtEl>
                                        <p:attrNameLst>
                                          <p:attrName>style.visibility</p:attrName>
                                        </p:attrNameLst>
                                      </p:cBhvr>
                                      <p:to>
                                        <p:strVal val="visible"/>
                                      </p:to>
                                    </p:set>
                                    <p:anim calcmode="lin" valueType="num">
                                      <p:cBhvr additive="base">
                                        <p:cTn id="17" dur="1000" fill="hold"/>
                                        <p:tgtEl>
                                          <p:spTgt spid="2252">
                                            <p:txEl>
                                              <p:pRg st="1" end="1"/>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252">
                                            <p:txEl>
                                              <p:pRg st="1" end="1"/>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252">
                                            <p:txEl>
                                              <p:pRg st="1" end="1"/>
                                            </p:txEl>
                                          </p:spTgt>
                                        </p:tgtEl>
                                      </p:cBhvr>
                                    </p:animEffect>
                                  </p:childTnLst>
                                </p:cTn>
                              </p:par>
                              <p:par>
                                <p:cTn id="20" presetID="29" presetClass="entr" presetSubtype="0" fill="hold" nodeType="withEffect">
                                  <p:childTnLst>
                                    <p:set>
                                      <p:cBhvr additive="base">
                                        <p:cTn id="21" dur="1" fill="hold">
                                          <p:stCondLst>
                                            <p:cond delay="0"/>
                                          </p:stCondLst>
                                        </p:cTn>
                                        <p:tgtEl>
                                          <p:spTgt spid="2252">
                                            <p:txEl>
                                              <p:charRg st="29" end="124"/>
                                            </p:txEl>
                                          </p:spTgt>
                                        </p:tgtEl>
                                        <p:attrNameLst>
                                          <p:attrName>style.visibility</p:attrName>
                                        </p:attrNameLst>
                                      </p:cBhvr>
                                      <p:to>
                                        <p:strVal val="visible"/>
                                      </p:to>
                                    </p:set>
                                    <p:anim calcmode="lin" valueType="num">
                                      <p:cBhvr additive="base">
                                        <p:cTn id="22" dur="1000" fill="hold"/>
                                        <p:tgtEl>
                                          <p:spTgt spid="2252">
                                            <p:txEl>
                                              <p:charRg st="29" end="124"/>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252">
                                            <p:txEl>
                                              <p:charRg st="29" end="124"/>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252">
                                            <p:txEl>
                                              <p:charRg st="29" end="124"/>
                                            </p:txEl>
                                          </p:spTgt>
                                        </p:tgtEl>
                                      </p:cBhvr>
                                    </p:animEffect>
                                  </p:childTnLst>
                                </p:cTn>
                              </p:par>
                              <p:par>
                                <p:cTn id="25" presetID="29" presetClass="entr" presetSubtype="0" fill="hold" nodeType="withEffect">
                                  <p:childTnLst>
                                    <p:set>
                                      <p:cBhvr additive="base">
                                        <p:cTn id="26" dur="1" fill="hold">
                                          <p:stCondLst>
                                            <p:cond delay="0"/>
                                          </p:stCondLst>
                                        </p:cTn>
                                        <p:tgtEl>
                                          <p:spTgt spid="2252">
                                            <p:txEl>
                                              <p:charRg st="187" end="188"/>
                                            </p:txEl>
                                          </p:spTgt>
                                        </p:tgtEl>
                                        <p:attrNameLst>
                                          <p:attrName>style.visibility</p:attrName>
                                        </p:attrNameLst>
                                      </p:cBhvr>
                                      <p:to>
                                        <p:strVal val="visible"/>
                                      </p:to>
                                    </p:set>
                                    <p:anim calcmode="lin" valueType="num">
                                      <p:cBhvr additive="base">
                                        <p:cTn id="27" dur="1000" fill="hold"/>
                                        <p:tgtEl>
                                          <p:spTgt spid="2252">
                                            <p:txEl>
                                              <p:charRg st="187" end="188"/>
                                            </p:txEl>
                                          </p:spTgt>
                                        </p:tgtEl>
                                        <p:attrNameLst>
                                          <p:attrName>ppt_x</p:attrName>
                                        </p:attrNameLst>
                                      </p:cBhvr>
                                      <p:tavLst>
                                        <p:tav tm="0">
                                          <p:val>
                                            <p:strVal val="#ppt_x-.2"/>
                                          </p:val>
                                        </p:tav>
                                        <p:tav tm="100000">
                                          <p:val>
                                            <p:strVal val="#ppt_x"/>
                                          </p:val>
                                        </p:tav>
                                      </p:tavLst>
                                    </p:anim>
                                    <p:anim calcmode="lin" valueType="num">
                                      <p:cBhvr additive="base">
                                        <p:cTn id="28" dur="1000" fill="hold"/>
                                        <p:tgtEl>
                                          <p:spTgt spid="2252">
                                            <p:txEl>
                                              <p:charRg st="187" end="188"/>
                                            </p:txEl>
                                          </p:spTgt>
                                        </p:tgtEl>
                                        <p:attrNameLst>
                                          <p:attrName>ppt_y</p:attrName>
                                        </p:attrNameLst>
                                      </p:cBhvr>
                                      <p:tavLst>
                                        <p:tav tm="0">
                                          <p:val>
                                            <p:strVal val="#ppt_y"/>
                                          </p:val>
                                        </p:tav>
                                        <p:tav tm="100000">
                                          <p:val>
                                            <p:strVal val="#ppt_y"/>
                                          </p:val>
                                        </p:tav>
                                      </p:tavLst>
                                    </p:anim>
                                    <p:animEffect transition="in" filter="wipe(right)">
                                      <p:cBhvr additive="base">
                                        <p:cTn id="29" dur="1000"/>
                                        <p:tgtEl>
                                          <p:spTgt spid="2252">
                                            <p:txEl>
                                              <p:charRg st="187" end="188"/>
                                            </p:txEl>
                                          </p:spTgt>
                                        </p:tgtEl>
                                      </p:cBhvr>
                                    </p:animEffect>
                                  </p:childTnLst>
                                </p:cTn>
                              </p:par>
                              <p:par>
                                <p:cTn id="30" presetID="29" presetClass="entr" presetSubtype="0" fill="hold" nodeType="withEffect">
                                  <p:childTnLst>
                                    <p:set>
                                      <p:cBhvr additive="base">
                                        <p:cTn id="31" dur="1" fill="hold">
                                          <p:stCondLst>
                                            <p:cond delay="0"/>
                                          </p:stCondLst>
                                        </p:cTn>
                                        <p:tgtEl>
                                          <p:spTgt spid="2252">
                                            <p:txEl>
                                              <p:charRg st="188" end="188"/>
                                            </p:txEl>
                                          </p:spTgt>
                                        </p:tgtEl>
                                        <p:attrNameLst>
                                          <p:attrName>style.visibility</p:attrName>
                                        </p:attrNameLst>
                                      </p:cBhvr>
                                      <p:to>
                                        <p:strVal val="visible"/>
                                      </p:to>
                                    </p:set>
                                    <p:anim calcmode="lin" valueType="num">
                                      <p:cBhvr additive="base">
                                        <p:cTn id="32" dur="1000" fill="hold"/>
                                        <p:tgtEl>
                                          <p:spTgt spid="2252">
                                            <p:txEl>
                                              <p:charRg st="188" end="188"/>
                                            </p:txEl>
                                          </p:spTgt>
                                        </p:tgtEl>
                                        <p:attrNameLst>
                                          <p:attrName>ppt_x</p:attrName>
                                        </p:attrNameLst>
                                      </p:cBhvr>
                                      <p:tavLst>
                                        <p:tav tm="0">
                                          <p:val>
                                            <p:strVal val="#ppt_x-.2"/>
                                          </p:val>
                                        </p:tav>
                                        <p:tav tm="100000">
                                          <p:val>
                                            <p:strVal val="#ppt_x"/>
                                          </p:val>
                                        </p:tav>
                                      </p:tavLst>
                                    </p:anim>
                                    <p:anim calcmode="lin" valueType="num">
                                      <p:cBhvr additive="base">
                                        <p:cTn id="33" dur="1000" fill="hold"/>
                                        <p:tgtEl>
                                          <p:spTgt spid="2252">
                                            <p:txEl>
                                              <p:charRg st="188" end="188"/>
                                            </p:txEl>
                                          </p:spTgt>
                                        </p:tgtEl>
                                        <p:attrNameLst>
                                          <p:attrName>ppt_y</p:attrName>
                                        </p:attrNameLst>
                                      </p:cBhvr>
                                      <p:tavLst>
                                        <p:tav tm="0">
                                          <p:val>
                                            <p:strVal val="#ppt_y"/>
                                          </p:val>
                                        </p:tav>
                                        <p:tav tm="100000">
                                          <p:val>
                                            <p:strVal val="#ppt_y"/>
                                          </p:val>
                                        </p:tav>
                                      </p:tavLst>
                                    </p:anim>
                                    <p:animEffect transition="in" filter="wipe(right)">
                                      <p:cBhvr additive="base">
                                        <p:cTn id="34" dur="1000"/>
                                        <p:tgtEl>
                                          <p:spTgt spid="2252">
                                            <p:txEl>
                                              <p:charRg st="188" end="188"/>
                                            </p:txEl>
                                          </p:spTgt>
                                        </p:tgtEl>
                                      </p:cBhvr>
                                    </p:animEffect>
                                  </p:childTnLst>
                                </p:cTn>
                              </p:par>
                              <p:par>
                                <p:cTn id="35" presetID="29" presetClass="entr" presetSubtype="0" fill="hold" nodeType="withEffect">
                                  <p:childTnLst>
                                    <p:set>
                                      <p:cBhvr additive="base">
                                        <p:cTn id="36" dur="1" fill="hold">
                                          <p:stCondLst>
                                            <p:cond delay="0"/>
                                          </p:stCondLst>
                                        </p:cTn>
                                        <p:tgtEl>
                                          <p:spTgt spid="2254"/>
                                        </p:tgtEl>
                                        <p:attrNameLst>
                                          <p:attrName>style.visibility</p:attrName>
                                        </p:attrNameLst>
                                      </p:cBhvr>
                                      <p:to>
                                        <p:strVal val="visible"/>
                                      </p:to>
                                    </p:set>
                                    <p:anim calcmode="lin" valueType="num">
                                      <p:cBhvr additive="base">
                                        <p:cTn id="37" dur="1000" fill="hold"/>
                                        <p:tgtEl>
                                          <p:spTgt spid="2254"/>
                                        </p:tgtEl>
                                        <p:attrNameLst>
                                          <p:attrName>ppt_x</p:attrName>
                                        </p:attrNameLst>
                                      </p:cBhvr>
                                      <p:tavLst>
                                        <p:tav tm="0">
                                          <p:val>
                                            <p:strVal val="#ppt_x-.2"/>
                                          </p:val>
                                        </p:tav>
                                        <p:tav tm="100000">
                                          <p:val>
                                            <p:strVal val="#ppt_x"/>
                                          </p:val>
                                        </p:tav>
                                      </p:tavLst>
                                    </p:anim>
                                    <p:anim calcmode="lin" valueType="num">
                                      <p:cBhvr additive="base">
                                        <p:cTn id="38" dur="1000" fill="hold"/>
                                        <p:tgtEl>
                                          <p:spTgt spid="2254"/>
                                        </p:tgtEl>
                                        <p:attrNameLst>
                                          <p:attrName>ppt_y</p:attrName>
                                        </p:attrNameLst>
                                      </p:cBhvr>
                                      <p:tavLst>
                                        <p:tav tm="0">
                                          <p:val>
                                            <p:strVal val="#ppt_y"/>
                                          </p:val>
                                        </p:tav>
                                        <p:tav tm="100000">
                                          <p:val>
                                            <p:strVal val="#ppt_y"/>
                                          </p:val>
                                        </p:tav>
                                      </p:tavLst>
                                    </p:anim>
                                    <p:animEffect transition="in" filter="wipe(right)">
                                      <p:cBhvr additive="base">
                                        <p:cTn id="39" dur="1000"/>
                                        <p:tgtEl>
                                          <p:spTgt spid="2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34</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59" name="标题 2258"/>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4.1.3 </a:t>
            </a:r>
            <a:r>
              <a:rPr lang="zh-CN" altLang="en-US">
                <a:ea typeface="MingLiU_HKSCS-ExtB" panose="02020500000000000000" charset="-120"/>
              </a:rPr>
              <a:t>信息率失真函数的定义</a:t>
            </a:r>
          </a:p>
        </p:txBody>
      </p:sp>
      <p:sp>
        <p:nvSpPr>
          <p:cNvPr id="2260" name="文本占位符 2259"/>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(3) </a:t>
            </a:r>
            <a:r>
              <a:rPr lang="zh-CN" altLang="en-US">
                <a:ea typeface="MingLiU_HKSCS-ExtB" panose="02020500000000000000" charset="-120"/>
              </a:rPr>
              <a:t>求信息率失真函数的方法</a:t>
            </a:r>
          </a:p>
          <a:p>
            <a:pPr>
              <a:buClr>
                <a:srgbClr val="993366"/>
              </a:buClr>
            </a:pPr>
            <a:r>
              <a:rPr lang="zh-CN" altLang="en-US" sz="2000">
                <a:solidFill>
                  <a:srgbClr val="0000CC"/>
                </a:solidFill>
                <a:ea typeface="MingLiU_HKSCS-ExtB" panose="02020500000000000000" charset="-120"/>
              </a:rPr>
              <a:t> 对偶问题：</a:t>
            </a:r>
          </a:p>
          <a:p>
            <a:pPr lvl="1">
              <a:buClr>
                <a:srgbClr val="993366"/>
              </a:buClr>
            </a:pPr>
            <a:r>
              <a:rPr lang="zh-CN" altLang="en-US" sz="2000">
                <a:ea typeface="MingLiU_HKSCS-ExtB" panose="02020500000000000000" charset="-120"/>
              </a:rPr>
              <a:t> 平均互信息 </a:t>
            </a:r>
            <a:r>
              <a:rPr lang="en-US" altLang="zh-CN" sz="2000" i="1">
                <a:ea typeface="MingLiU_HKSCS-ExtB" panose="02020500000000000000" charset="-120"/>
              </a:rPr>
              <a:t>I</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a:ea typeface="MingLiU_HKSCS-ExtB" panose="02020500000000000000" charset="-120"/>
              </a:rPr>
              <a:t>) </a:t>
            </a:r>
            <a:r>
              <a:rPr lang="zh-CN" altLang="en-US" sz="2000">
                <a:ea typeface="MingLiU_HKSCS-ExtB" panose="02020500000000000000" charset="-120"/>
              </a:rPr>
              <a:t>既是信源概率分布 </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i="1" baseline="-25000">
                <a:ea typeface="MingLiU_HKSCS-ExtB" panose="02020500000000000000" charset="-120"/>
              </a:rPr>
              <a:t>i</a:t>
            </a:r>
            <a:r>
              <a:rPr lang="en-US" altLang="zh-CN" sz="2000">
                <a:ea typeface="MingLiU_HKSCS-ExtB" panose="02020500000000000000" charset="-120"/>
              </a:rPr>
              <a:t>) </a:t>
            </a:r>
            <a:r>
              <a:rPr lang="zh-CN" altLang="en-US" sz="2000">
                <a:ea typeface="MingLiU_HKSCS-ExtB" panose="02020500000000000000" charset="-120"/>
              </a:rPr>
              <a:t>的上凸函数，又是信道传递概率 </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i="1" baseline="-25000">
                <a:ea typeface="MingLiU_HKSCS-ExtB" panose="02020500000000000000" charset="-120"/>
              </a:rPr>
              <a:t>j </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i="1" baseline="-25000">
                <a:ea typeface="MingLiU_HKSCS-ExtB" panose="02020500000000000000" charset="-120"/>
              </a:rPr>
              <a:t>i</a:t>
            </a:r>
            <a:r>
              <a:rPr lang="en-US" altLang="zh-CN" sz="2000">
                <a:ea typeface="MingLiU_HKSCS-ExtB" panose="02020500000000000000" charset="-120"/>
              </a:rPr>
              <a:t>) </a:t>
            </a:r>
            <a:r>
              <a:rPr lang="zh-CN" altLang="en-US" sz="2000">
                <a:ea typeface="MingLiU_HKSCS-ExtB" panose="02020500000000000000" charset="-120"/>
              </a:rPr>
              <a:t>的下凸函数。</a:t>
            </a:r>
          </a:p>
          <a:p>
            <a:pPr lvl="1">
              <a:buClr>
                <a:srgbClr val="993366"/>
              </a:buClr>
            </a:pPr>
            <a:r>
              <a:rPr lang="zh-CN" altLang="en-US" sz="2000">
                <a:ea typeface="MingLiU_HKSCS-ExtB" panose="02020500000000000000" charset="-120"/>
              </a:rPr>
              <a:t> 率失真函数 </a:t>
            </a:r>
            <a:r>
              <a:rPr lang="en-US" altLang="zh-CN" sz="2000" i="1">
                <a:ea typeface="MingLiU_HKSCS-ExtB" panose="02020500000000000000" charset="-120"/>
              </a:rPr>
              <a:t>R</a:t>
            </a:r>
            <a:r>
              <a:rPr lang="en-US" altLang="zh-CN" sz="2000">
                <a:ea typeface="MingLiU_HKSCS-ExtB" panose="02020500000000000000" charset="-120"/>
              </a:rPr>
              <a:t>(</a:t>
            </a:r>
            <a:r>
              <a:rPr lang="en-US" altLang="zh-CN" sz="2000" i="1">
                <a:ea typeface="MingLiU_HKSCS-ExtB" panose="02020500000000000000" charset="-120"/>
              </a:rPr>
              <a:t>D</a:t>
            </a:r>
            <a:r>
              <a:rPr lang="en-US" altLang="zh-CN" sz="2000">
                <a:ea typeface="MingLiU_HKSCS-ExtB" panose="02020500000000000000" charset="-120"/>
              </a:rPr>
              <a:t>) </a:t>
            </a:r>
            <a:r>
              <a:rPr lang="zh-CN" altLang="en-US" sz="2000">
                <a:ea typeface="MingLiU_HKSCS-ExtB" panose="02020500000000000000" charset="-120"/>
              </a:rPr>
              <a:t>是在</a:t>
            </a:r>
            <a:r>
              <a:rPr lang="zh-CN" altLang="en-US" sz="2000" u="sng">
                <a:solidFill>
                  <a:srgbClr val="FF0000"/>
                </a:solidFill>
                <a:effectLst>
                  <a:outerShdw blurRad="38100" dist="38100" dir="2700000">
                    <a:srgbClr val="C0C0C0"/>
                  </a:outerShdw>
                </a:effectLst>
                <a:ea typeface="MingLiU_HKSCS-ExtB" panose="02020500000000000000" charset="-120"/>
              </a:rPr>
              <a:t>允许平均失真度 </a:t>
            </a:r>
            <a:r>
              <a:rPr lang="en-US" altLang="zh-CN" sz="2000" i="1" u="sng">
                <a:solidFill>
                  <a:srgbClr val="FF0000"/>
                </a:solidFill>
                <a:effectLst>
                  <a:outerShdw blurRad="38100" dist="38100" dir="2700000">
                    <a:srgbClr val="C0C0C0"/>
                  </a:outerShdw>
                </a:effectLst>
                <a:ea typeface="MingLiU_HKSCS-ExtB" panose="02020500000000000000" charset="-120"/>
              </a:rPr>
              <a:t>D</a:t>
            </a:r>
            <a:r>
              <a:rPr lang="en-US" altLang="zh-CN" sz="2000" i="1">
                <a:ea typeface="MingLiU_HKSCS-ExtB" panose="02020500000000000000" charset="-120"/>
              </a:rPr>
              <a:t> </a:t>
            </a:r>
            <a:r>
              <a:rPr lang="zh-CN" altLang="en-US" sz="2000">
                <a:ea typeface="MingLiU_HKSCS-ExtB" panose="02020500000000000000" charset="-120"/>
              </a:rPr>
              <a:t>和信源概率分布 </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i="1" baseline="-25000">
                <a:ea typeface="MingLiU_HKSCS-ExtB" panose="02020500000000000000" charset="-120"/>
              </a:rPr>
              <a:t>i</a:t>
            </a:r>
            <a:r>
              <a:rPr lang="en-US" altLang="zh-CN" sz="2000">
                <a:ea typeface="MingLiU_HKSCS-ExtB" panose="02020500000000000000" charset="-120"/>
              </a:rPr>
              <a:t>) </a:t>
            </a:r>
            <a:r>
              <a:rPr lang="zh-CN" altLang="en-US" sz="2000">
                <a:ea typeface="MingLiU_HKSCS-ExtB" panose="02020500000000000000" charset="-120"/>
              </a:rPr>
              <a:t>已给的条件下，求平均互信息的极小值（最小）问题。</a:t>
            </a:r>
          </a:p>
          <a:p>
            <a:pPr lvl="1">
              <a:buClr>
                <a:srgbClr val="993366"/>
              </a:buClr>
            </a:pPr>
            <a:r>
              <a:rPr lang="zh-CN" altLang="en-US" sz="2000">
                <a:ea typeface="MingLiU_HKSCS-ExtB" panose="02020500000000000000" charset="-120"/>
              </a:rPr>
              <a:t> 而</a:t>
            </a:r>
            <a:r>
              <a:rPr lang="zh-CN" altLang="en-US" sz="2000">
                <a:effectLst>
                  <a:outerShdw blurRad="38100" dist="38100" dir="2700000">
                    <a:srgbClr val="C0C0C0"/>
                  </a:outerShdw>
                </a:effectLst>
                <a:ea typeface="MingLiU_HKSCS-ExtB" panose="02020500000000000000" charset="-120"/>
              </a:rPr>
              <a:t>信道容量 </a:t>
            </a:r>
            <a:r>
              <a:rPr lang="en-US" altLang="zh-CN" sz="2000" i="1">
                <a:effectLst>
                  <a:outerShdw blurRad="38100" dist="38100" dir="2700000">
                    <a:srgbClr val="C0C0C0"/>
                  </a:outerShdw>
                </a:effectLst>
                <a:ea typeface="MingLiU_HKSCS-ExtB" panose="02020500000000000000" charset="-120"/>
              </a:rPr>
              <a:t>C</a:t>
            </a:r>
            <a:r>
              <a:rPr lang="en-US" altLang="zh-CN" sz="2000" i="1">
                <a:ea typeface="MingLiU_HKSCS-ExtB" panose="02020500000000000000" charset="-120"/>
              </a:rPr>
              <a:t> </a:t>
            </a:r>
            <a:r>
              <a:rPr lang="zh-CN" altLang="en-US" sz="2000">
                <a:ea typeface="MingLiU_HKSCS-ExtB" panose="02020500000000000000" charset="-120"/>
              </a:rPr>
              <a:t>是在信道特性 </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i="1" baseline="-25000">
                <a:ea typeface="MingLiU_HKSCS-ExtB" panose="02020500000000000000" charset="-120"/>
              </a:rPr>
              <a:t>j </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i="1" baseline="-25000">
                <a:ea typeface="MingLiU_HKSCS-ExtB" panose="02020500000000000000" charset="-120"/>
              </a:rPr>
              <a:t>i</a:t>
            </a:r>
            <a:r>
              <a:rPr lang="en-US" altLang="zh-CN" sz="2000">
                <a:ea typeface="MingLiU_HKSCS-ExtB" panose="02020500000000000000" charset="-120"/>
              </a:rPr>
              <a:t>) </a:t>
            </a:r>
            <a:r>
              <a:rPr lang="zh-CN" altLang="en-US" sz="2000">
                <a:ea typeface="MingLiU_HKSCS-ExtB" panose="02020500000000000000" charset="-120"/>
              </a:rPr>
              <a:t>已知的条件下求平均互信息的极大值（最大）问题。这两个问题是</a:t>
            </a:r>
            <a:r>
              <a:rPr lang="zh-CN" altLang="en-US" sz="2000" u="sng">
                <a:ea typeface="MingLiU_HKSCS-ExtB" panose="02020500000000000000" charset="-120"/>
              </a:rPr>
              <a:t>对偶问题</a:t>
            </a:r>
            <a:r>
              <a:rPr lang="zh-CN" altLang="en-US" sz="2000">
                <a:ea typeface="MingLiU_HKSCS-ExtB" panose="02020500000000000000" charset="-120"/>
              </a:rPr>
              <a:t>。</a:t>
            </a:r>
          </a:p>
        </p:txBody>
      </p:sp>
      <p:sp>
        <p:nvSpPr>
          <p:cNvPr id="2261" name="矩形 2260"/>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35</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64" name="标题 2263"/>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4.1.3 </a:t>
            </a:r>
            <a:r>
              <a:rPr lang="zh-CN" altLang="en-US">
                <a:ea typeface="MingLiU_HKSCS-ExtB" panose="02020500000000000000" charset="-120"/>
              </a:rPr>
              <a:t>信息率失真函数的定义</a:t>
            </a:r>
          </a:p>
        </p:txBody>
      </p:sp>
      <p:sp>
        <p:nvSpPr>
          <p:cNvPr id="2265" name="文本占位符 2264"/>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(3) </a:t>
            </a:r>
            <a:r>
              <a:rPr lang="zh-CN" altLang="en-US">
                <a:ea typeface="MingLiU_HKSCS-ExtB" panose="02020500000000000000" charset="-120"/>
              </a:rPr>
              <a:t>求信息率失真函数的方法</a:t>
            </a:r>
          </a:p>
          <a:p>
            <a:pPr marL="355600" indent="-355600">
              <a:buClr>
                <a:srgbClr val="993366"/>
              </a:buClr>
            </a:pPr>
            <a:r>
              <a:rPr lang="zh-CN" altLang="en-US" sz="2400" u="sng">
                <a:solidFill>
                  <a:srgbClr val="0000CC"/>
                </a:solidFill>
                <a:ea typeface="MingLiU_HKSCS-ExtB" panose="02020500000000000000" charset="-120"/>
              </a:rPr>
              <a:t>求信道容量的方法</a:t>
            </a:r>
            <a:r>
              <a:rPr lang="zh-CN" altLang="en-US" sz="2400">
                <a:solidFill>
                  <a:srgbClr val="0000CC"/>
                </a:solidFill>
                <a:ea typeface="MingLiU_HKSCS-ExtB" panose="02020500000000000000" charset="-120"/>
              </a:rPr>
              <a:t>：</a:t>
            </a:r>
            <a:r>
              <a:rPr lang="zh-CN" altLang="en-US" sz="2400">
                <a:ea typeface="MingLiU_HKSCS-ExtB" panose="02020500000000000000" charset="-120"/>
              </a:rPr>
              <a:t>信道容量是假定信道固定的前提下，选择一种</a:t>
            </a:r>
            <a:r>
              <a:rPr lang="zh-CN" altLang="en-US" sz="2400" i="1">
                <a:effectLst>
                  <a:outerShdw blurRad="38100" dist="38100" dir="2700000">
                    <a:srgbClr val="C0C0C0"/>
                  </a:outerShdw>
                </a:effectLst>
                <a:ea typeface="MingLiU_HKSCS-ExtB" panose="02020500000000000000" charset="-120"/>
              </a:rPr>
              <a:t>试验信源</a:t>
            </a:r>
            <a:r>
              <a:rPr lang="zh-CN" altLang="en-US" sz="2400">
                <a:ea typeface="MingLiU_HKSCS-ExtB" panose="02020500000000000000" charset="-120"/>
              </a:rPr>
              <a:t>，使信息率最大。一旦找到了这个信道容量，它就与信源不再有关，而是信道特性的参量，随信道特性的变化而变化。</a:t>
            </a:r>
          </a:p>
        </p:txBody>
      </p:sp>
      <p:sp>
        <p:nvSpPr>
          <p:cNvPr id="2266" name="矩形 2265"/>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265">
                                            <p:txEl>
                                              <p:pRg st="1" end="1"/>
                                            </p:txEl>
                                          </p:spTgt>
                                        </p:tgtEl>
                                        <p:attrNameLst>
                                          <p:attrName>style.visibility</p:attrName>
                                        </p:attrNameLst>
                                      </p:cBhvr>
                                      <p:to>
                                        <p:strVal val="visible"/>
                                      </p:to>
                                    </p:set>
                                    <p:anim calcmode="lin" valueType="num">
                                      <p:cBhvr additive="base">
                                        <p:cTn id="7" dur="1000" fill="hold"/>
                                        <p:tgtEl>
                                          <p:spTgt spid="2265">
                                            <p:txEl>
                                              <p:pRg st="1" end="1"/>
                                            </p:txEl>
                                          </p:spTgt>
                                        </p:tgtEl>
                                        <p:attrNameLst>
                                          <p:attrName>ppt_x</p:attrName>
                                        </p:attrNameLst>
                                      </p:cBhvr>
                                      <p:tavLst>
                                        <p:tav tm="0">
                                          <p:val>
                                            <p:strVal val="#ppt_x-.2"/>
                                          </p:val>
                                        </p:tav>
                                        <p:tav tm="100000">
                                          <p:val>
                                            <p:strVal val="#ppt_x"/>
                                          </p:val>
                                        </p:tav>
                                      </p:tavLst>
                                    </p:anim>
                                    <p:anim calcmode="lin" valueType="num">
                                      <p:cBhvr additive="base">
                                        <p:cTn id="8" dur="1000" fill="hold"/>
                                        <p:tgtEl>
                                          <p:spTgt spid="2265">
                                            <p:txEl>
                                              <p:pRg st="1" end="1"/>
                                            </p:txEl>
                                          </p:spTgt>
                                        </p:tgtEl>
                                        <p:attrNameLst>
                                          <p:attrName>ppt_y</p:attrName>
                                        </p:attrNameLst>
                                      </p:cBhvr>
                                      <p:tavLst>
                                        <p:tav tm="0">
                                          <p:val>
                                            <p:strVal val="#ppt_y"/>
                                          </p:val>
                                        </p:tav>
                                        <p:tav tm="100000">
                                          <p:val>
                                            <p:strVal val="#ppt_y"/>
                                          </p:val>
                                        </p:tav>
                                      </p:tavLst>
                                    </p:anim>
                                    <p:animEffect transition="in" filter="wipe(right)">
                                      <p:cBhvr additive="base">
                                        <p:cTn id="9" dur="1000"/>
                                        <p:tgtEl>
                                          <p:spTgt spid="226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36</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69" name="标题 2268"/>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4.1.3 </a:t>
            </a:r>
            <a:r>
              <a:rPr lang="zh-CN" altLang="en-US">
                <a:ea typeface="MingLiU_HKSCS-ExtB" panose="02020500000000000000" charset="-120"/>
              </a:rPr>
              <a:t>信息率失真函数的定义</a:t>
            </a:r>
          </a:p>
        </p:txBody>
      </p:sp>
      <p:sp>
        <p:nvSpPr>
          <p:cNvPr id="2270" name="文本占位符 2269"/>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(3) </a:t>
            </a:r>
            <a:r>
              <a:rPr lang="zh-CN" altLang="en-US">
                <a:ea typeface="MingLiU_HKSCS-ExtB" panose="02020500000000000000" charset="-120"/>
              </a:rPr>
              <a:t>求信息率失真函数的方法</a:t>
            </a:r>
          </a:p>
          <a:p>
            <a:pPr marL="355600" indent="-355600">
              <a:buClr>
                <a:srgbClr val="993366"/>
              </a:buClr>
            </a:pPr>
            <a:r>
              <a:rPr lang="zh-CN" altLang="en-US" sz="2400" u="sng">
                <a:solidFill>
                  <a:srgbClr val="0000CC"/>
                </a:solidFill>
                <a:ea typeface="MingLiU_HKSCS-ExtB" panose="02020500000000000000" charset="-120"/>
              </a:rPr>
              <a:t>求信息率失真函数的方法</a:t>
            </a:r>
            <a:r>
              <a:rPr lang="zh-CN" altLang="en-GB" sz="2400">
                <a:solidFill>
                  <a:srgbClr val="0000CC"/>
                </a:solidFill>
                <a:ea typeface="MingLiU_HKSCS-ExtB" panose="02020500000000000000" charset="-120"/>
              </a:rPr>
              <a:t>：</a:t>
            </a:r>
            <a:r>
              <a:rPr lang="zh-CN" altLang="en-US" sz="2400">
                <a:ea typeface="MingLiU_HKSCS-ExtB" panose="02020500000000000000" charset="-120"/>
              </a:rPr>
              <a:t>信息率失真函数 </a:t>
            </a:r>
            <a:r>
              <a:rPr lang="en-US" altLang="zh-CN" sz="2400" i="1">
                <a:ea typeface="MingLiU_HKSCS-ExtB" panose="02020500000000000000" charset="-120"/>
              </a:rPr>
              <a:t>R</a:t>
            </a:r>
            <a:r>
              <a:rPr lang="en-US" altLang="zh-CN" sz="2400">
                <a:ea typeface="MingLiU_HKSCS-ExtB" panose="02020500000000000000" charset="-120"/>
              </a:rPr>
              <a:t>(</a:t>
            </a:r>
            <a:r>
              <a:rPr lang="en-US" altLang="zh-CN" sz="2400" i="1">
                <a:ea typeface="MingLiU_HKSCS-ExtB" panose="02020500000000000000" charset="-120"/>
              </a:rPr>
              <a:t>D</a:t>
            </a:r>
            <a:r>
              <a:rPr lang="en-US" altLang="zh-CN" sz="2400">
                <a:ea typeface="MingLiU_HKSCS-ExtB" panose="02020500000000000000" charset="-120"/>
              </a:rPr>
              <a:t>) </a:t>
            </a:r>
            <a:r>
              <a:rPr lang="zh-CN" altLang="en-US" sz="2400">
                <a:ea typeface="MingLiU_HKSCS-ExtB" panose="02020500000000000000" charset="-120"/>
              </a:rPr>
              <a:t>是假定信源给定的情况下，在</a:t>
            </a:r>
            <a:r>
              <a:rPr lang="zh-CN" altLang="en-US" sz="2400" u="sng">
                <a:effectLst>
                  <a:outerShdw blurRad="38100" dist="38100" dir="2700000">
                    <a:srgbClr val="C0C0C0"/>
                  </a:outerShdw>
                </a:effectLst>
                <a:ea typeface="MingLiU_HKSCS-ExtB" panose="02020500000000000000" charset="-120"/>
              </a:rPr>
              <a:t>用户可以容忍的失真度</a:t>
            </a:r>
            <a:r>
              <a:rPr lang="zh-CN" altLang="en-US" sz="2400">
                <a:ea typeface="MingLiU_HKSCS-ExtB" panose="02020500000000000000" charset="-120"/>
              </a:rPr>
              <a:t>内再现信源消息所必须获得的</a:t>
            </a:r>
            <a:r>
              <a:rPr lang="zh-CN" altLang="en-US" sz="2400">
                <a:effectLst>
                  <a:outerShdw blurRad="38100" dist="38100" dir="2700000">
                    <a:srgbClr val="C0C0C0"/>
                  </a:outerShdw>
                </a:effectLst>
                <a:ea typeface="MingLiU_HKSCS-ExtB" panose="02020500000000000000" charset="-120"/>
              </a:rPr>
              <a:t>最小平均信息量</a:t>
            </a:r>
            <a:r>
              <a:rPr lang="zh-CN" altLang="en-US" sz="2400">
                <a:ea typeface="MingLiU_HKSCS-ExtB" panose="02020500000000000000" charset="-120"/>
              </a:rPr>
              <a:t>。它反映的是信源可压缩程度。</a:t>
            </a:r>
            <a:r>
              <a:rPr lang="zh-CN" altLang="en-US" sz="2400">
                <a:solidFill>
                  <a:srgbClr val="660033"/>
                </a:solidFill>
                <a:ea typeface="MingLiU_HKSCS-ExtB" panose="02020500000000000000" charset="-120"/>
              </a:rPr>
              <a:t>率失真函数一旦找到，就与求极值过程中选择的试验信道不再有关，而只是信源特性的参量。不同的信源，其 </a:t>
            </a:r>
            <a:r>
              <a:rPr lang="en-US" altLang="zh-CN" sz="2400" i="1">
                <a:solidFill>
                  <a:srgbClr val="660033"/>
                </a:solidFill>
                <a:ea typeface="MingLiU_HKSCS-ExtB" panose="02020500000000000000" charset="-120"/>
              </a:rPr>
              <a:t>R</a:t>
            </a:r>
            <a:r>
              <a:rPr lang="en-US" altLang="zh-CN" sz="2400">
                <a:solidFill>
                  <a:srgbClr val="660033"/>
                </a:solidFill>
                <a:ea typeface="MingLiU_HKSCS-ExtB" panose="02020500000000000000" charset="-120"/>
              </a:rPr>
              <a:t>(</a:t>
            </a:r>
            <a:r>
              <a:rPr lang="en-US" altLang="zh-CN" sz="2400" i="1">
                <a:solidFill>
                  <a:srgbClr val="660033"/>
                </a:solidFill>
                <a:ea typeface="MingLiU_HKSCS-ExtB" panose="02020500000000000000" charset="-120"/>
              </a:rPr>
              <a:t>D</a:t>
            </a:r>
            <a:r>
              <a:rPr lang="en-US" altLang="zh-CN" sz="2400">
                <a:solidFill>
                  <a:srgbClr val="660033"/>
                </a:solidFill>
                <a:ea typeface="MingLiU_HKSCS-ExtB" panose="02020500000000000000" charset="-120"/>
              </a:rPr>
              <a:t>) </a:t>
            </a:r>
            <a:r>
              <a:rPr lang="zh-CN" altLang="en-US" sz="2400">
                <a:solidFill>
                  <a:srgbClr val="660033"/>
                </a:solidFill>
                <a:ea typeface="MingLiU_HKSCS-ExtB" panose="02020500000000000000" charset="-120"/>
              </a:rPr>
              <a:t>是不同的。</a:t>
            </a:r>
          </a:p>
        </p:txBody>
      </p:sp>
      <p:sp>
        <p:nvSpPr>
          <p:cNvPr id="2271" name="矩形 2270"/>
          <p:cNvSpPr/>
          <p:nvPr/>
        </p:nvSpPr>
        <p:spPr>
          <a:xfrm>
            <a:off x="8029575" y="5948363"/>
            <a:ext cx="796925" cy="360362"/>
          </a:xfrm>
          <a:solidFill>
            <a:srgbClr val="BBE0E3"/>
          </a:solidFill>
          <a:ln w="12700">
            <a:noFill/>
          </a:ln>
        </p:spPr>
        <p:txBody>
          <a:bodyPr/>
          <a:lstStyle/>
          <a:p>
            <a:endParaRPr lang="zh-CN" altLang="en-US"/>
          </a:p>
        </p:txBody>
      </p:sp>
      <p:sp>
        <p:nvSpPr>
          <p:cNvPr id="2272" name="矩形 2271"/>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childTnLst>
                                    <p:set>
                                      <p:cBhvr additive="base">
                                        <p:cTn id="6" dur="1" fill="hold">
                                          <p:stCondLst>
                                            <p:cond delay="0"/>
                                          </p:stCondLst>
                                        </p:cTn>
                                        <p:tgtEl>
                                          <p:spTgt spid="2271"/>
                                        </p:tgtEl>
                                        <p:attrNameLst>
                                          <p:attrName>style.visibility</p:attrName>
                                        </p:attrNameLst>
                                      </p:cBhvr>
                                      <p:to>
                                        <p:strVal val="visible"/>
                                      </p:to>
                                    </p:set>
                                    <p:anim calcmode="lin" valueType="num">
                                      <p:cBhvr additive="base">
                                        <p:cTn id="7" dur="1000" fill="hold"/>
                                        <p:tgtEl>
                                          <p:spTgt spid="2271"/>
                                        </p:tgtEl>
                                        <p:attrNameLst>
                                          <p:attrName>ppt_x</p:attrName>
                                        </p:attrNameLst>
                                      </p:cBhvr>
                                      <p:tavLst>
                                        <p:tav tm="0">
                                          <p:val>
                                            <p:strVal val="#ppt_x-.2"/>
                                          </p:val>
                                        </p:tav>
                                        <p:tav tm="100000">
                                          <p:val>
                                            <p:strVal val="#ppt_x"/>
                                          </p:val>
                                        </p:tav>
                                      </p:tavLst>
                                    </p:anim>
                                    <p:anim calcmode="lin" valueType="num">
                                      <p:cBhvr additive="base">
                                        <p:cTn id="8" dur="1000" fill="hold"/>
                                        <p:tgtEl>
                                          <p:spTgt spid="2271"/>
                                        </p:tgtEl>
                                        <p:attrNameLst>
                                          <p:attrName>ppt_y</p:attrName>
                                        </p:attrNameLst>
                                      </p:cBhvr>
                                      <p:tavLst>
                                        <p:tav tm="0">
                                          <p:val>
                                            <p:strVal val="#ppt_y"/>
                                          </p:val>
                                        </p:tav>
                                        <p:tav tm="100000">
                                          <p:val>
                                            <p:strVal val="#ppt_y"/>
                                          </p:val>
                                        </p:tav>
                                      </p:tavLst>
                                    </p:anim>
                                    <p:animEffect transition="in" filter="wipe(right)">
                                      <p:cBhvr additive="base">
                                        <p:cTn id="9" dur="1000"/>
                                        <p:tgtEl>
                                          <p:spTgt spid="2271"/>
                                        </p:tgtEl>
                                      </p:cBhvr>
                                    </p:animEffect>
                                  </p:childTnLst>
                                </p:cTn>
                              </p:par>
                              <p:par>
                                <p:cTn id="10" presetID="29" presetClass="entr" presetSubtype="0" fill="hold" nodeType="withEffect">
                                  <p:childTnLst>
                                    <p:set>
                                      <p:cBhvr additive="base">
                                        <p:cTn id="11" dur="1" fill="hold">
                                          <p:stCondLst>
                                            <p:cond delay="0"/>
                                          </p:stCondLst>
                                        </p:cTn>
                                        <p:tgtEl>
                                          <p:spTgt spid="2270">
                                            <p:txEl>
                                              <p:pRg st="1" end="1"/>
                                            </p:txEl>
                                          </p:spTgt>
                                        </p:tgtEl>
                                        <p:attrNameLst>
                                          <p:attrName>style.visibility</p:attrName>
                                        </p:attrNameLst>
                                      </p:cBhvr>
                                      <p:to>
                                        <p:strVal val="visible"/>
                                      </p:to>
                                    </p:set>
                                    <p:anim calcmode="lin" valueType="num">
                                      <p:cBhvr additive="base">
                                        <p:cTn id="12" dur="1000" fill="hold"/>
                                        <p:tgtEl>
                                          <p:spTgt spid="2270">
                                            <p:txEl>
                                              <p:pRg st="1" end="1"/>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270">
                                            <p:txEl>
                                              <p:pRg st="1" end="1"/>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27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37</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86" name="标题 2285"/>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287" name="文本占位符 2286"/>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hlinkClick r:id="" action="ppaction://hlinkshowjump?jump=nextslide" tooltip="下一页"/>
              </a:rPr>
              <a:t>率失真函数的定义域</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率失真函数对允许平均失真度的下凸性</a:t>
            </a:r>
          </a:p>
          <a:p>
            <a:pPr marL="355600" indent="-355600">
              <a:buClr>
                <a:srgbClr val="993366"/>
              </a:buClr>
              <a:buNone/>
            </a:pPr>
            <a:r>
              <a:rPr lang="en-US" altLang="zh-CN">
                <a:ea typeface="MingLiU_HKSCS-ExtB" panose="02020500000000000000" charset="-120"/>
              </a:rPr>
              <a:t>(3) </a:t>
            </a:r>
            <a:r>
              <a:rPr lang="zh-CN" altLang="en-US">
                <a:ea typeface="MingLiU_HKSCS-ExtB" panose="02020500000000000000" charset="-120"/>
              </a:rPr>
              <a:t>率失真函数的单调递减和连续</a:t>
            </a:r>
            <a:r>
              <a:rPr lang="zh-CN" altLang="en-GB">
                <a:ea typeface="MingLiU_HKSCS-ExtB" panose="02020500000000000000" charset="-120"/>
              </a:rPr>
              <a:t>性</a:t>
            </a:r>
          </a:p>
        </p:txBody>
      </p:sp>
      <p:sp>
        <p:nvSpPr>
          <p:cNvPr id="2288" name="矩形 2287"/>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38</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91" name="标题 2290"/>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292" name="文本占位符 2291"/>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(1) </a:t>
            </a:r>
            <a:r>
              <a:rPr lang="zh-CN" altLang="en-US">
                <a:ea typeface="MingLiU_HKSCS-ExtB" panose="02020500000000000000" charset="-120"/>
              </a:rPr>
              <a:t>率失真函数的定义域</a:t>
            </a:r>
          </a:p>
          <a:p>
            <a:pPr>
              <a:buClr>
                <a:srgbClr val="993366"/>
              </a:buClr>
            </a:pPr>
            <a:r>
              <a:rPr lang="zh-CN" altLang="en-US" sz="2400">
                <a:ea typeface="MingLiU_HKSCS-ExtB" panose="02020500000000000000" charset="-120"/>
              </a:rPr>
              <a:t> 什么是率失真函数的定义域</a:t>
            </a:r>
          </a:p>
          <a:p>
            <a:pPr marL="355600" lvl="1">
              <a:buClr>
                <a:srgbClr val="993366"/>
              </a:buClr>
            </a:pPr>
            <a:r>
              <a:rPr lang="zh-CN" altLang="en-US">
                <a:solidFill>
                  <a:srgbClr val="0000CC"/>
                </a:solidFill>
                <a:ea typeface="MingLiU_HKSCS-ExtB" panose="02020500000000000000" charset="-120"/>
              </a:rPr>
              <a:t> </a:t>
            </a:r>
            <a:r>
              <a:rPr lang="zh-CN" altLang="en-US" u="sng">
                <a:solidFill>
                  <a:srgbClr val="0000CC"/>
                </a:solidFill>
                <a:ea typeface="MingLiU_HKSCS-ExtB" panose="02020500000000000000" charset="-120"/>
              </a:rPr>
              <a:t>允许平均失真度</a:t>
            </a:r>
            <a:r>
              <a:rPr lang="zh-CN" altLang="en-US">
                <a:solidFill>
                  <a:srgbClr val="0000CC"/>
                </a:solidFill>
                <a:ea typeface="MingLiU_HKSCS-ExtB" panose="02020500000000000000" charset="-120"/>
              </a:rPr>
              <a:t>：</a:t>
            </a:r>
            <a:r>
              <a:rPr lang="zh-CN" altLang="en-US">
                <a:ea typeface="MingLiU_HKSCS-ExtB" panose="02020500000000000000" charset="-120"/>
              </a:rPr>
              <a:t>率失真函数中的自变量 </a:t>
            </a:r>
            <a:r>
              <a:rPr lang="en-US" altLang="zh-CN" i="1">
                <a:ea typeface="MingLiU_HKSCS-ExtB" panose="02020500000000000000" charset="-120"/>
              </a:rPr>
              <a:t>D</a:t>
            </a:r>
            <a:r>
              <a:rPr lang="zh-CN" altLang="en-US">
                <a:ea typeface="MingLiU_HKSCS-ExtB" panose="02020500000000000000" charset="-120"/>
              </a:rPr>
              <a:t>，也就是人们规定的平均失真度        的上限值。</a:t>
            </a:r>
          </a:p>
          <a:p>
            <a:pPr marL="355600" lvl="1">
              <a:buClr>
                <a:srgbClr val="993366"/>
              </a:buClr>
            </a:pPr>
            <a:r>
              <a:rPr lang="zh-CN" altLang="en-US">
                <a:solidFill>
                  <a:srgbClr val="0000CC"/>
                </a:solidFill>
                <a:ea typeface="MingLiU_HKSCS-ExtB" panose="02020500000000000000" charset="-120"/>
              </a:rPr>
              <a:t> </a:t>
            </a:r>
            <a:r>
              <a:rPr lang="zh-CN" altLang="en-US" u="sng">
                <a:solidFill>
                  <a:srgbClr val="0000CC"/>
                </a:solidFill>
                <a:ea typeface="MingLiU_HKSCS-ExtB" panose="02020500000000000000" charset="-120"/>
              </a:rPr>
              <a:t>率失真函数的定义域</a:t>
            </a:r>
            <a:r>
              <a:rPr lang="zh-CN" altLang="en-US">
                <a:ea typeface="MingLiU_HKSCS-ExtB" panose="02020500000000000000" charset="-120"/>
              </a:rPr>
              <a:t>问题就是在信源和失真函数已知的情况下，讨论</a:t>
            </a:r>
            <a:r>
              <a:rPr lang="zh-CN" altLang="en-US">
                <a:solidFill>
                  <a:srgbClr val="FF0000"/>
                </a:solidFill>
                <a:ea typeface="MingLiU_HKSCS-ExtB" panose="02020500000000000000" charset="-120"/>
              </a:rPr>
              <a:t>允许平均失真度 </a:t>
            </a:r>
            <a:r>
              <a:rPr lang="en-US" altLang="zh-CN" i="1">
                <a:solidFill>
                  <a:srgbClr val="FF0000"/>
                </a:solidFill>
                <a:ea typeface="MingLiU_HKSCS-ExtB" panose="02020500000000000000" charset="-120"/>
              </a:rPr>
              <a:t>D </a:t>
            </a:r>
            <a:r>
              <a:rPr lang="zh-CN" altLang="en-US">
                <a:solidFill>
                  <a:srgbClr val="FF0000"/>
                </a:solidFill>
                <a:ea typeface="MingLiU_HKSCS-ExtB" panose="02020500000000000000" charset="-120"/>
              </a:rPr>
              <a:t>的最小和最大值问题</a:t>
            </a:r>
            <a:r>
              <a:rPr lang="zh-CN" altLang="en-US">
                <a:ea typeface="MingLiU_HKSCS-ExtB" panose="02020500000000000000" charset="-120"/>
              </a:rPr>
              <a:t>。</a:t>
            </a:r>
          </a:p>
          <a:p>
            <a:pPr marL="355600" lvl="1">
              <a:buClr>
                <a:srgbClr val="993366"/>
              </a:buClr>
            </a:pPr>
            <a:r>
              <a:rPr lang="zh-CN" altLang="en-US" i="1">
                <a:ea typeface="MingLiU_HKSCS-ExtB" panose="02020500000000000000" charset="-120"/>
              </a:rPr>
              <a:t> </a:t>
            </a:r>
            <a:r>
              <a:rPr lang="en-US" altLang="zh-CN" i="1">
                <a:ea typeface="MingLiU_HKSCS-ExtB" panose="02020500000000000000" charset="-120"/>
              </a:rPr>
              <a:t>D </a:t>
            </a:r>
            <a:r>
              <a:rPr lang="zh-CN" altLang="en-US">
                <a:ea typeface="MingLiU_HKSCS-ExtB" panose="02020500000000000000" charset="-120"/>
              </a:rPr>
              <a:t>的选取必须根据固定信源 </a:t>
            </a:r>
            <a:r>
              <a:rPr lang="en-US" altLang="zh-CN" i="1">
                <a:ea typeface="MingLiU_HKSCS-ExtB" panose="02020500000000000000" charset="-120"/>
              </a:rPr>
              <a:t>X </a:t>
            </a:r>
            <a:r>
              <a:rPr lang="zh-CN" altLang="en-US">
                <a:ea typeface="MingLiU_HKSCS-ExtB" panose="02020500000000000000" charset="-120"/>
              </a:rPr>
              <a:t>的统计特性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X</a:t>
            </a:r>
            <a:r>
              <a:rPr lang="en-US" altLang="zh-CN">
                <a:ea typeface="MingLiU_HKSCS-ExtB" panose="02020500000000000000" charset="-120"/>
              </a:rPr>
              <a:t>) </a:t>
            </a:r>
            <a:r>
              <a:rPr lang="zh-CN" altLang="en-US">
                <a:ea typeface="MingLiU_HKSCS-ExtB" panose="02020500000000000000" charset="-120"/>
              </a:rPr>
              <a:t>和选定的失真函数 </a:t>
            </a:r>
            <a:r>
              <a:rPr lang="en-US" altLang="zh-CN" i="1">
                <a:ea typeface="MingLiU_HKSCS-ExtB" panose="02020500000000000000" charset="-120"/>
              </a:rPr>
              <a:t>d</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 </a:t>
            </a:r>
            <a:r>
              <a:rPr lang="en-US" altLang="zh-CN">
                <a:ea typeface="MingLiU_HKSCS-ExtB" panose="02020500000000000000" charset="-120"/>
              </a:rPr>
              <a:t>, </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a:t>
            </a:r>
            <a:r>
              <a:rPr lang="zh-CN" altLang="en-US">
                <a:ea typeface="MingLiU_HKSCS-ExtB" panose="02020500000000000000" charset="-120"/>
              </a:rPr>
              <a:t>，在平均失真度      的可能取值范围内。</a:t>
            </a:r>
          </a:p>
        </p:txBody>
      </p:sp>
      <p:graphicFrame>
        <p:nvGraphicFramePr>
          <p:cNvPr id="2293" name="对象 2292"/>
          <p:cNvGraphicFramePr/>
          <p:nvPr/>
        </p:nvGraphicFramePr>
        <p:xfrm>
          <a:off x="3924300" y="2852738"/>
          <a:ext cx="280988" cy="406400"/>
        </p:xfrm>
        <a:graphic>
          <a:graphicData uri="http://schemas.openxmlformats.org/presentationml/2006/ole">
            <mc:AlternateContent xmlns:mc="http://schemas.openxmlformats.org/markup-compatibility/2006">
              <mc:Choice xmlns:v="urn:schemas-microsoft-com:vml" Requires="v">
                <p:oleObj spid="_x0000_s22531" r:id="rId3" imgW="165100" imgH="114935" progId="Equation.3">
                  <p:embed/>
                </p:oleObj>
              </mc:Choice>
              <mc:Fallback>
                <p:oleObj r:id="rId3" imgW="165100" imgH="114935" progId="Equation.3">
                  <p:embed/>
                  <p:pic>
                    <p:nvPicPr>
                      <p:cNvPr id="0" name="图片 3140"/>
                      <p:cNvPicPr/>
                      <p:nvPr/>
                    </p:nvPicPr>
                    <p:blipFill>
                      <a:blip r:embed="rId4"/>
                      <a:stretch>
                        <a:fillRect/>
                      </a:stretch>
                    </p:blipFill>
                    <p:spPr>
                      <a:xfrm>
                        <a:off x="3924300" y="2852738"/>
                        <a:ext cx="280988" cy="406400"/>
                      </a:xfrm>
                      <a:prstGeom prst="rect">
                        <a:avLst/>
                      </a:prstGeom>
                      <a:noFill/>
                      <a:ln w="38100">
                        <a:noFill/>
                        <a:miter/>
                      </a:ln>
                    </p:spPr>
                  </p:pic>
                </p:oleObj>
              </mc:Fallback>
            </mc:AlternateContent>
          </a:graphicData>
        </a:graphic>
      </p:graphicFrame>
      <p:graphicFrame>
        <p:nvGraphicFramePr>
          <p:cNvPr id="2294" name="对象 2293"/>
          <p:cNvGraphicFramePr/>
          <p:nvPr/>
        </p:nvGraphicFramePr>
        <p:xfrm>
          <a:off x="5795963" y="5084763"/>
          <a:ext cx="285750" cy="414337"/>
        </p:xfrm>
        <a:graphic>
          <a:graphicData uri="http://schemas.openxmlformats.org/presentationml/2006/ole">
            <mc:AlternateContent xmlns:mc="http://schemas.openxmlformats.org/markup-compatibility/2006">
              <mc:Choice xmlns:v="urn:schemas-microsoft-com:vml" Requires="v">
                <p:oleObj spid="_x0000_s22532" r:id="rId5" imgW="165100" imgH="114935" progId="Equation.3">
                  <p:embed/>
                </p:oleObj>
              </mc:Choice>
              <mc:Fallback>
                <p:oleObj r:id="rId5" imgW="165100" imgH="114935" progId="Equation.3">
                  <p:embed/>
                  <p:pic>
                    <p:nvPicPr>
                      <p:cNvPr id="0" name="图片 3141"/>
                      <p:cNvPicPr/>
                      <p:nvPr/>
                    </p:nvPicPr>
                    <p:blipFill>
                      <a:blip r:embed="rId6"/>
                      <a:stretch>
                        <a:fillRect/>
                      </a:stretch>
                    </p:blipFill>
                    <p:spPr>
                      <a:xfrm>
                        <a:off x="5795963" y="5084763"/>
                        <a:ext cx="285750" cy="414337"/>
                      </a:xfrm>
                      <a:prstGeom prst="rect">
                        <a:avLst/>
                      </a:prstGeom>
                      <a:noFill/>
                      <a:ln w="38100">
                        <a:noFill/>
                        <a:miter/>
                      </a:ln>
                    </p:spPr>
                  </p:pic>
                </p:oleObj>
              </mc:Fallback>
            </mc:AlternateContent>
          </a:graphicData>
        </a:graphic>
      </p:graphicFrame>
      <p:sp>
        <p:nvSpPr>
          <p:cNvPr id="2295" name="矩形 2294"/>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39</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298" name="标题 2297"/>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299" name="文本占位符 2298"/>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(1) </a:t>
            </a:r>
            <a:r>
              <a:rPr lang="zh-CN" altLang="en-US">
                <a:ea typeface="MingLiU_HKSCS-ExtB" panose="02020500000000000000" charset="-120"/>
              </a:rPr>
              <a:t>率失真函数的定义域</a:t>
            </a:r>
          </a:p>
          <a:p>
            <a:pPr>
              <a:buClr>
                <a:srgbClr val="993366"/>
              </a:buClr>
            </a:pPr>
            <a:r>
              <a:rPr lang="zh-CN" altLang="en-US" sz="2400">
                <a:ea typeface="MingLiU_HKSCS-ExtB" panose="02020500000000000000" charset="-120"/>
              </a:rPr>
              <a:t> 信源最小平均失真度 </a:t>
            </a:r>
            <a:r>
              <a:rPr lang="en-US" altLang="zh-CN" sz="2400" i="1">
                <a:ea typeface="MingLiU_HKSCS-ExtB" panose="02020500000000000000" charset="-120"/>
              </a:rPr>
              <a:t>D</a:t>
            </a:r>
            <a:r>
              <a:rPr lang="en-US" altLang="zh-CN" sz="2400" baseline="-25000">
                <a:ea typeface="MingLiU_HKSCS-ExtB" panose="02020500000000000000" charset="-120"/>
              </a:rPr>
              <a:t>min</a:t>
            </a:r>
          </a:p>
          <a:p>
            <a:pPr marL="355600" lvl="1">
              <a:buClr>
                <a:srgbClr val="993366"/>
              </a:buClr>
            </a:pPr>
            <a:r>
              <a:rPr lang="en-US" altLang="zh-CN">
                <a:ea typeface="MingLiU_HKSCS-ExtB" panose="02020500000000000000" charset="-120"/>
              </a:rPr>
              <a:t>        </a:t>
            </a:r>
            <a:r>
              <a:rPr lang="zh-CN" altLang="en-US">
                <a:ea typeface="MingLiU_HKSCS-ExtB" panose="02020500000000000000" charset="-120"/>
              </a:rPr>
              <a:t>是非负函数 </a:t>
            </a:r>
            <a:r>
              <a:rPr lang="en-US" altLang="zh-CN" i="1">
                <a:ea typeface="MingLiU_HKSCS-ExtB" panose="02020500000000000000" charset="-120"/>
              </a:rPr>
              <a:t>d</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 </a:t>
            </a:r>
            <a:r>
              <a:rPr lang="en-US" altLang="zh-CN">
                <a:ea typeface="MingLiU_HKSCS-ExtB" panose="02020500000000000000" charset="-120"/>
              </a:rPr>
              <a:t>, </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 </a:t>
            </a:r>
            <a:r>
              <a:rPr lang="zh-CN" altLang="en-US">
                <a:ea typeface="MingLiU_HKSCS-ExtB" panose="02020500000000000000" charset="-120"/>
              </a:rPr>
              <a:t>的数学期望，也是一个非负函数，显然其下限为 </a:t>
            </a:r>
            <a:r>
              <a:rPr lang="en-US" altLang="zh-CN">
                <a:ea typeface="MingLiU_HKSCS-ExtB" panose="02020500000000000000" charset="-120"/>
              </a:rPr>
              <a:t>0</a:t>
            </a:r>
            <a:r>
              <a:rPr lang="zh-CN" altLang="en-US">
                <a:ea typeface="MingLiU_HKSCS-ExtB" panose="02020500000000000000" charset="-120"/>
              </a:rPr>
              <a:t>。因此</a:t>
            </a:r>
            <a:r>
              <a:rPr lang="zh-CN" altLang="en-US">
                <a:solidFill>
                  <a:srgbClr val="FF0000"/>
                </a:solidFill>
                <a:ea typeface="MingLiU_HKSCS-ExtB" panose="02020500000000000000" charset="-120"/>
              </a:rPr>
              <a:t>允许平均失真度 </a:t>
            </a:r>
            <a:r>
              <a:rPr lang="en-US" altLang="zh-CN" i="1">
                <a:solidFill>
                  <a:srgbClr val="FF0000"/>
                </a:solidFill>
                <a:ea typeface="MingLiU_HKSCS-ExtB" panose="02020500000000000000" charset="-120"/>
              </a:rPr>
              <a:t>D </a:t>
            </a:r>
            <a:r>
              <a:rPr lang="zh-CN" altLang="en-US">
                <a:solidFill>
                  <a:srgbClr val="FF0000"/>
                </a:solidFill>
                <a:ea typeface="MingLiU_HKSCS-ExtB" panose="02020500000000000000" charset="-120"/>
              </a:rPr>
              <a:t>的下限也必然是 </a:t>
            </a:r>
            <a:r>
              <a:rPr lang="en-US" altLang="zh-CN">
                <a:solidFill>
                  <a:srgbClr val="FF0000"/>
                </a:solidFill>
                <a:ea typeface="MingLiU_HKSCS-ExtB" panose="02020500000000000000" charset="-120"/>
              </a:rPr>
              <a:t>0</a:t>
            </a:r>
            <a:r>
              <a:rPr lang="zh-CN" altLang="en-US">
                <a:ea typeface="MingLiU_HKSCS-ExtB" panose="02020500000000000000" charset="-120"/>
              </a:rPr>
              <a:t>，这就是不允许有任何失真的情况。</a:t>
            </a:r>
          </a:p>
          <a:p>
            <a:pPr marL="355600" lvl="1">
              <a:buClr>
                <a:srgbClr val="993366"/>
              </a:buClr>
            </a:pPr>
            <a:r>
              <a:rPr lang="zh-CN" altLang="en-US">
                <a:ea typeface="MingLiU_HKSCS-ExtB" panose="02020500000000000000" charset="-120"/>
              </a:rPr>
              <a:t> 允许平均失真度 </a:t>
            </a:r>
            <a:r>
              <a:rPr lang="en-US" altLang="zh-CN" i="1">
                <a:ea typeface="MingLiU_HKSCS-ExtB" panose="02020500000000000000" charset="-120"/>
              </a:rPr>
              <a:t>D </a:t>
            </a:r>
            <a:r>
              <a:rPr lang="zh-CN" altLang="en-US">
                <a:ea typeface="MingLiU_HKSCS-ExtB" panose="02020500000000000000" charset="-120"/>
              </a:rPr>
              <a:t>能否达到其下限值 </a:t>
            </a:r>
            <a:r>
              <a:rPr lang="en-US" altLang="zh-CN">
                <a:ea typeface="MingLiU_HKSCS-ExtB" panose="02020500000000000000" charset="-120"/>
              </a:rPr>
              <a:t>0</a:t>
            </a:r>
            <a:r>
              <a:rPr lang="zh-CN" altLang="en-US">
                <a:ea typeface="MingLiU_HKSCS-ExtB" panose="02020500000000000000" charset="-120"/>
              </a:rPr>
              <a:t>，与单个符号的失真函数有关。</a:t>
            </a:r>
          </a:p>
        </p:txBody>
      </p:sp>
      <p:graphicFrame>
        <p:nvGraphicFramePr>
          <p:cNvPr id="2300" name="对象 2299"/>
          <p:cNvGraphicFramePr/>
          <p:nvPr/>
        </p:nvGraphicFramePr>
        <p:xfrm>
          <a:off x="1547813" y="2420938"/>
          <a:ext cx="274637" cy="339725"/>
        </p:xfrm>
        <a:graphic>
          <a:graphicData uri="http://schemas.openxmlformats.org/presentationml/2006/ole">
            <mc:AlternateContent xmlns:mc="http://schemas.openxmlformats.org/markup-compatibility/2006">
              <mc:Choice xmlns:v="urn:schemas-microsoft-com:vml" Requires="v">
                <p:oleObj spid="_x0000_s23554" r:id="rId3" imgW="165100" imgH="114935" progId="Equation.3">
                  <p:embed/>
                </p:oleObj>
              </mc:Choice>
              <mc:Fallback>
                <p:oleObj r:id="rId3" imgW="165100" imgH="114935" progId="Equation.3">
                  <p:embed/>
                  <p:pic>
                    <p:nvPicPr>
                      <p:cNvPr id="0" name="图片 3143"/>
                      <p:cNvPicPr/>
                      <p:nvPr/>
                    </p:nvPicPr>
                    <p:blipFill>
                      <a:blip r:embed="rId4"/>
                      <a:stretch>
                        <a:fillRect/>
                      </a:stretch>
                    </p:blipFill>
                    <p:spPr>
                      <a:xfrm>
                        <a:off x="1547813" y="2420938"/>
                        <a:ext cx="274637" cy="339725"/>
                      </a:xfrm>
                      <a:prstGeom prst="rect">
                        <a:avLst/>
                      </a:prstGeom>
                      <a:noFill/>
                      <a:ln w="38100">
                        <a:noFill/>
                        <a:miter/>
                      </a:ln>
                    </p:spPr>
                  </p:pic>
                </p:oleObj>
              </mc:Fallback>
            </mc:AlternateContent>
          </a:graphicData>
        </a:graphic>
      </p:graphicFrame>
      <p:sp>
        <p:nvSpPr>
          <p:cNvPr id="2301" name="矩形 2300"/>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300"/>
                                        </p:tgtEl>
                                        <p:attrNameLst>
                                          <p:attrName>style.visibility</p:attrName>
                                        </p:attrNameLst>
                                      </p:cBhvr>
                                      <p:to>
                                        <p:strVal val="visible"/>
                                      </p:to>
                                    </p:set>
                                    <p:anim calcmode="lin" valueType="num">
                                      <p:cBhvr additive="base">
                                        <p:cTn id="7" dur="1000" fill="hold"/>
                                        <p:tgtEl>
                                          <p:spTgt spid="2300"/>
                                        </p:tgtEl>
                                        <p:attrNameLst>
                                          <p:attrName>ppt_x</p:attrName>
                                        </p:attrNameLst>
                                      </p:cBhvr>
                                      <p:tavLst>
                                        <p:tav tm="0">
                                          <p:val>
                                            <p:strVal val="#ppt_x-.2"/>
                                          </p:val>
                                        </p:tav>
                                        <p:tav tm="100000">
                                          <p:val>
                                            <p:strVal val="#ppt_x"/>
                                          </p:val>
                                        </p:tav>
                                      </p:tavLst>
                                    </p:anim>
                                    <p:anim calcmode="lin" valueType="num">
                                      <p:cBhvr additive="base">
                                        <p:cTn id="8" dur="1000" fill="hold"/>
                                        <p:tgtEl>
                                          <p:spTgt spid="2300"/>
                                        </p:tgtEl>
                                        <p:attrNameLst>
                                          <p:attrName>ppt_y</p:attrName>
                                        </p:attrNameLst>
                                      </p:cBhvr>
                                      <p:tavLst>
                                        <p:tav tm="0">
                                          <p:val>
                                            <p:strVal val="#ppt_y"/>
                                          </p:val>
                                        </p:tav>
                                        <p:tav tm="100000">
                                          <p:val>
                                            <p:strVal val="#ppt_y"/>
                                          </p:val>
                                        </p:tav>
                                      </p:tavLst>
                                    </p:anim>
                                    <p:animEffect transition="in" filter="wipe(right)">
                                      <p:cBhvr additive="base">
                                        <p:cTn id="9" dur="1000"/>
                                        <p:tgtEl>
                                          <p:spTgt spid="2300"/>
                                        </p:tgtEl>
                                      </p:cBhvr>
                                    </p:animEffect>
                                  </p:childTnLst>
                                </p:cTn>
                              </p:par>
                              <p:par>
                                <p:cTn id="10" presetID="29" presetClass="entr" presetSubtype="0" fill="hold" nodeType="withEffect">
                                  <p:childTnLst>
                                    <p:set>
                                      <p:cBhvr additive="base">
                                        <p:cTn id="11" dur="1" fill="hold">
                                          <p:stCondLst>
                                            <p:cond delay="0"/>
                                          </p:stCondLst>
                                        </p:cTn>
                                        <p:tgtEl>
                                          <p:spTgt spid="2299">
                                            <p:txEl>
                                              <p:pRg st="1" end="1"/>
                                            </p:txEl>
                                          </p:spTgt>
                                        </p:tgtEl>
                                        <p:attrNameLst>
                                          <p:attrName>style.visibility</p:attrName>
                                        </p:attrNameLst>
                                      </p:cBhvr>
                                      <p:to>
                                        <p:strVal val="visible"/>
                                      </p:to>
                                    </p:set>
                                    <p:anim calcmode="lin" valueType="num">
                                      <p:cBhvr additive="base">
                                        <p:cTn id="12" dur="1000" fill="hold"/>
                                        <p:tgtEl>
                                          <p:spTgt spid="2299">
                                            <p:txEl>
                                              <p:pRg st="1" end="1"/>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299">
                                            <p:txEl>
                                              <p:pRg st="1" end="1"/>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299">
                                            <p:txEl>
                                              <p:pRg st="1" end="1"/>
                                            </p:txEl>
                                          </p:spTgt>
                                        </p:tgtEl>
                                      </p:cBhvr>
                                    </p:animEffect>
                                  </p:childTnLst>
                                </p:cTn>
                              </p:par>
                              <p:par>
                                <p:cTn id="15" presetID="29" presetClass="entr" presetSubtype="0" fill="hold" nodeType="withEffect">
                                  <p:childTnLst>
                                    <p:set>
                                      <p:cBhvr additive="base">
                                        <p:cTn id="16" dur="1" fill="hold">
                                          <p:stCondLst>
                                            <p:cond delay="0"/>
                                          </p:stCondLst>
                                        </p:cTn>
                                        <p:tgtEl>
                                          <p:spTgt spid="2299">
                                            <p:txEl>
                                              <p:pRg st="2" end="2"/>
                                            </p:txEl>
                                          </p:spTgt>
                                        </p:tgtEl>
                                        <p:attrNameLst>
                                          <p:attrName>style.visibility</p:attrName>
                                        </p:attrNameLst>
                                      </p:cBhvr>
                                      <p:to>
                                        <p:strVal val="visible"/>
                                      </p:to>
                                    </p:set>
                                    <p:anim calcmode="lin" valueType="num">
                                      <p:cBhvr additive="base">
                                        <p:cTn id="17" dur="1000" fill="hold"/>
                                        <p:tgtEl>
                                          <p:spTgt spid="2299">
                                            <p:txEl>
                                              <p:pRg st="2" end="2"/>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299">
                                            <p:txEl>
                                              <p:pRg st="2" end="2"/>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299">
                                            <p:txEl>
                                              <p:pRg st="2" end="2"/>
                                            </p:txEl>
                                          </p:spTgt>
                                        </p:tgtEl>
                                      </p:cBhvr>
                                    </p:animEffect>
                                  </p:childTnLst>
                                </p:cTn>
                              </p:par>
                              <p:par>
                                <p:cTn id="20" presetID="29" presetClass="entr" presetSubtype="0" fill="hold" nodeType="withEffect">
                                  <p:childTnLst>
                                    <p:set>
                                      <p:cBhvr additive="base">
                                        <p:cTn id="21" dur="1" fill="hold">
                                          <p:stCondLst>
                                            <p:cond delay="0"/>
                                          </p:stCondLst>
                                        </p:cTn>
                                        <p:tgtEl>
                                          <p:spTgt spid="2299">
                                            <p:txEl>
                                              <p:pRg st="3" end="3"/>
                                            </p:txEl>
                                          </p:spTgt>
                                        </p:tgtEl>
                                        <p:attrNameLst>
                                          <p:attrName>style.visibility</p:attrName>
                                        </p:attrNameLst>
                                      </p:cBhvr>
                                      <p:to>
                                        <p:strVal val="visible"/>
                                      </p:to>
                                    </p:set>
                                    <p:anim calcmode="lin" valueType="num">
                                      <p:cBhvr additive="base">
                                        <p:cTn id="22" dur="1000" fill="hold"/>
                                        <p:tgtEl>
                                          <p:spTgt spid="2299">
                                            <p:txEl>
                                              <p:pRg st="3" end="3"/>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299">
                                            <p:txEl>
                                              <p:pRg st="3" end="3"/>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2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40</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04" name="标题 2303"/>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05" name="文本占位符 2304"/>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(1) </a:t>
            </a:r>
            <a:r>
              <a:rPr lang="zh-CN" altLang="en-US">
                <a:ea typeface="MingLiU_HKSCS-ExtB" panose="02020500000000000000" charset="-120"/>
              </a:rPr>
              <a:t>率失真函数的定义域</a:t>
            </a:r>
          </a:p>
          <a:p>
            <a:pPr>
              <a:buClr>
                <a:srgbClr val="993366"/>
              </a:buClr>
            </a:pPr>
            <a:r>
              <a:rPr lang="zh-CN" altLang="en-US" sz="2400">
                <a:ea typeface="MingLiU_HKSCS-ExtB" panose="02020500000000000000" charset="-120"/>
              </a:rPr>
              <a:t> 信源最小平均失真度 </a:t>
            </a:r>
            <a:r>
              <a:rPr lang="en-US" altLang="zh-CN" sz="2400" i="1">
                <a:ea typeface="MingLiU_HKSCS-ExtB" panose="02020500000000000000" charset="-120"/>
              </a:rPr>
              <a:t>D</a:t>
            </a:r>
            <a:r>
              <a:rPr lang="en-US" altLang="zh-CN" sz="2400" baseline="-25000">
                <a:ea typeface="MingLiU_HKSCS-ExtB" panose="02020500000000000000" charset="-120"/>
              </a:rPr>
              <a:t>min</a:t>
            </a:r>
          </a:p>
          <a:p>
            <a:pPr marL="355600" lvl="1">
              <a:buClr>
                <a:srgbClr val="993366"/>
              </a:buClr>
            </a:pPr>
            <a:r>
              <a:rPr lang="en-US" altLang="zh-CN">
                <a:solidFill>
                  <a:srgbClr val="0000CC"/>
                </a:solidFill>
                <a:ea typeface="MingLiU_HKSCS-ExtB" panose="02020500000000000000" charset="-120"/>
              </a:rPr>
              <a:t> </a:t>
            </a:r>
            <a:r>
              <a:rPr lang="zh-CN" altLang="en-US" u="sng">
                <a:solidFill>
                  <a:srgbClr val="0000CC"/>
                </a:solidFill>
                <a:ea typeface="MingLiU_HKSCS-ExtB" panose="02020500000000000000" charset="-120"/>
              </a:rPr>
              <a:t>信源最小平均失真度 </a:t>
            </a:r>
            <a:r>
              <a:rPr lang="en-US" altLang="zh-CN" i="1" u="sng">
                <a:solidFill>
                  <a:srgbClr val="0000CC"/>
                </a:solidFill>
                <a:ea typeface="MingLiU_HKSCS-ExtB" panose="02020500000000000000" charset="-120"/>
              </a:rPr>
              <a:t>D</a:t>
            </a:r>
            <a:r>
              <a:rPr lang="en-US" altLang="zh-CN" u="sng" baseline="-25000">
                <a:solidFill>
                  <a:srgbClr val="0000CC"/>
                </a:solidFill>
                <a:ea typeface="MingLiU_HKSCS-ExtB" panose="02020500000000000000" charset="-120"/>
              </a:rPr>
              <a:t>min</a:t>
            </a:r>
            <a:r>
              <a:rPr lang="en-US" altLang="zh-CN">
                <a:solidFill>
                  <a:srgbClr val="0000CC"/>
                </a:solidFill>
                <a:ea typeface="MingLiU_HKSCS-ExtB" panose="02020500000000000000" charset="-120"/>
              </a:rPr>
              <a:t> </a:t>
            </a:r>
            <a:r>
              <a:rPr lang="zh-CN" altLang="en-US">
                <a:solidFill>
                  <a:srgbClr val="0000CC"/>
                </a:solidFill>
                <a:ea typeface="MingLiU_HKSCS-ExtB" panose="02020500000000000000" charset="-120"/>
              </a:rPr>
              <a:t>：</a:t>
            </a:r>
            <a:r>
              <a:rPr lang="zh-CN" altLang="en-US">
                <a:ea typeface="MingLiU_HKSCS-ExtB" panose="02020500000000000000" charset="-120"/>
              </a:rPr>
              <a:t>对于每一个 </a:t>
            </a:r>
            <a:r>
              <a:rPr lang="en-US" altLang="zh-CN" i="1">
                <a:ea typeface="MingLiU_HKSCS-ExtB" panose="02020500000000000000" charset="-120"/>
              </a:rPr>
              <a:t>x</a:t>
            </a:r>
            <a:r>
              <a:rPr lang="en-US" altLang="zh-CN" i="1" baseline="-25000">
                <a:ea typeface="MingLiU_HKSCS-ExtB" panose="02020500000000000000" charset="-120"/>
              </a:rPr>
              <a:t>i</a:t>
            </a:r>
            <a:r>
              <a:rPr lang="zh-CN" altLang="en-US">
                <a:ea typeface="MingLiU_HKSCS-ExtB" panose="02020500000000000000" charset="-120"/>
              </a:rPr>
              <a:t>，找出一个 </a:t>
            </a:r>
            <a:r>
              <a:rPr lang="en-US" altLang="zh-CN" i="1">
                <a:ea typeface="MingLiU_HKSCS-ExtB" panose="02020500000000000000" charset="-120"/>
              </a:rPr>
              <a:t>y</a:t>
            </a:r>
            <a:r>
              <a:rPr lang="en-US" altLang="zh-CN" i="1" baseline="-25000">
                <a:ea typeface="MingLiU_HKSCS-ExtB" panose="02020500000000000000" charset="-120"/>
              </a:rPr>
              <a:t>j </a:t>
            </a:r>
            <a:r>
              <a:rPr lang="zh-CN" altLang="en-US">
                <a:ea typeface="MingLiU_HKSCS-ExtB" panose="02020500000000000000" charset="-120"/>
              </a:rPr>
              <a:t>与之对应，使 </a:t>
            </a:r>
            <a:r>
              <a:rPr lang="en-US" altLang="zh-CN" i="1">
                <a:ea typeface="MingLiU_HKSCS-ExtB" panose="02020500000000000000" charset="-120"/>
              </a:rPr>
              <a:t>d</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 </a:t>
            </a:r>
            <a:r>
              <a:rPr lang="en-US" altLang="zh-CN">
                <a:ea typeface="MingLiU_HKSCS-ExtB" panose="02020500000000000000" charset="-120"/>
              </a:rPr>
              <a:t>, </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 </a:t>
            </a:r>
            <a:r>
              <a:rPr lang="zh-CN" altLang="en-US">
                <a:ea typeface="MingLiU_HKSCS-ExtB" panose="02020500000000000000" charset="-120"/>
              </a:rPr>
              <a:t>最小，不同的 </a:t>
            </a:r>
            <a:r>
              <a:rPr lang="en-US" altLang="zh-CN" i="1">
                <a:ea typeface="MingLiU_HKSCS-ExtB" panose="02020500000000000000" charset="-120"/>
              </a:rPr>
              <a:t>x</a:t>
            </a:r>
            <a:r>
              <a:rPr lang="en-US" altLang="zh-CN" i="1" baseline="-25000">
                <a:ea typeface="MingLiU_HKSCS-ExtB" panose="02020500000000000000" charset="-120"/>
              </a:rPr>
              <a:t>i </a:t>
            </a:r>
            <a:r>
              <a:rPr lang="zh-CN" altLang="en-US">
                <a:ea typeface="MingLiU_HKSCS-ExtB" panose="02020500000000000000" charset="-120"/>
              </a:rPr>
              <a:t>对应的最小 </a:t>
            </a:r>
            <a:r>
              <a:rPr lang="en-US" altLang="zh-CN" i="1">
                <a:ea typeface="MingLiU_HKSCS-ExtB" panose="02020500000000000000" charset="-120"/>
              </a:rPr>
              <a:t>d</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 </a:t>
            </a:r>
            <a:r>
              <a:rPr lang="en-US" altLang="zh-CN">
                <a:ea typeface="MingLiU_HKSCS-ExtB" panose="02020500000000000000" charset="-120"/>
              </a:rPr>
              <a:t>, </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 </a:t>
            </a:r>
            <a:r>
              <a:rPr lang="zh-CN" altLang="en-US">
                <a:ea typeface="MingLiU_HKSCS-ExtB" panose="02020500000000000000" charset="-120"/>
              </a:rPr>
              <a:t>也不同。这相当于在失真矩阵的每一行找出一个最小的 </a:t>
            </a:r>
            <a:r>
              <a:rPr lang="en-US" altLang="zh-CN" i="1">
                <a:ea typeface="MingLiU_HKSCS-ExtB" panose="02020500000000000000" charset="-120"/>
              </a:rPr>
              <a:t>d</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 </a:t>
            </a:r>
            <a:r>
              <a:rPr lang="en-US" altLang="zh-CN">
                <a:ea typeface="MingLiU_HKSCS-ExtB" panose="02020500000000000000" charset="-120"/>
              </a:rPr>
              <a:t>, </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 </a:t>
            </a:r>
            <a:r>
              <a:rPr lang="zh-CN" altLang="en-US">
                <a:ea typeface="MingLiU_HKSCS-ExtB" panose="02020500000000000000" charset="-120"/>
              </a:rPr>
              <a:t>，各行的最小 </a:t>
            </a:r>
            <a:r>
              <a:rPr lang="en-US" altLang="zh-CN" i="1">
                <a:ea typeface="MingLiU_HKSCS-ExtB" panose="02020500000000000000" charset="-120"/>
              </a:rPr>
              <a:t>d</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 </a:t>
            </a:r>
            <a:r>
              <a:rPr lang="en-US" altLang="zh-CN">
                <a:ea typeface="MingLiU_HKSCS-ExtB" panose="02020500000000000000" charset="-120"/>
              </a:rPr>
              <a:t>, </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 </a:t>
            </a:r>
            <a:r>
              <a:rPr lang="zh-CN" altLang="en-US">
                <a:ea typeface="MingLiU_HKSCS-ExtB" panose="02020500000000000000" charset="-120"/>
              </a:rPr>
              <a:t>值都不同。对所有这些不同的最小值求数学期望，就是信源的最小平均失真度。</a:t>
            </a:r>
          </a:p>
        </p:txBody>
      </p:sp>
      <p:graphicFrame>
        <p:nvGraphicFramePr>
          <p:cNvPr id="2306" name="对象 2305"/>
          <p:cNvGraphicFramePr/>
          <p:nvPr/>
        </p:nvGraphicFramePr>
        <p:xfrm>
          <a:off x="2987675" y="5013325"/>
          <a:ext cx="3629025" cy="838200"/>
        </p:xfrm>
        <a:graphic>
          <a:graphicData uri="http://schemas.openxmlformats.org/presentationml/2006/ole">
            <mc:AlternateContent xmlns:mc="http://schemas.openxmlformats.org/markup-compatibility/2006">
              <mc:Choice xmlns:v="urn:schemas-microsoft-com:vml" Requires="v">
                <p:oleObj spid="_x0000_s24578" r:id="rId3" imgW="831850" imgH="431800" progId="Equation.3">
                  <p:embed/>
                </p:oleObj>
              </mc:Choice>
              <mc:Fallback>
                <p:oleObj r:id="rId3" imgW="831850" imgH="431800" progId="Equation.3">
                  <p:embed/>
                  <p:pic>
                    <p:nvPicPr>
                      <p:cNvPr id="0" name="图片 3144"/>
                      <p:cNvPicPr/>
                      <p:nvPr/>
                    </p:nvPicPr>
                    <p:blipFill>
                      <a:blip r:embed="rId4"/>
                      <a:stretch>
                        <a:fillRect/>
                      </a:stretch>
                    </p:blipFill>
                    <p:spPr>
                      <a:xfrm>
                        <a:off x="2987675" y="5013325"/>
                        <a:ext cx="3629025" cy="838200"/>
                      </a:xfrm>
                      <a:prstGeom prst="rect">
                        <a:avLst/>
                      </a:prstGeom>
                      <a:noFill/>
                      <a:ln w="38100">
                        <a:noFill/>
                        <a:miter/>
                      </a:ln>
                    </p:spPr>
                  </p:pic>
                </p:oleObj>
              </mc:Fallback>
            </mc:AlternateContent>
          </a:graphicData>
        </a:graphic>
      </p:graphicFrame>
      <p:sp>
        <p:nvSpPr>
          <p:cNvPr id="2307" name="矩形 2306"/>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306"/>
                                        </p:tgtEl>
                                        <p:attrNameLst>
                                          <p:attrName>style.visibility</p:attrName>
                                        </p:attrNameLst>
                                      </p:cBhvr>
                                      <p:to>
                                        <p:strVal val="visible"/>
                                      </p:to>
                                    </p:set>
                                    <p:anim calcmode="lin" valueType="num">
                                      <p:cBhvr additive="base">
                                        <p:cTn id="7" dur="1000" fill="hold"/>
                                        <p:tgtEl>
                                          <p:spTgt spid="2306"/>
                                        </p:tgtEl>
                                        <p:attrNameLst>
                                          <p:attrName>ppt_x</p:attrName>
                                        </p:attrNameLst>
                                      </p:cBhvr>
                                      <p:tavLst>
                                        <p:tav tm="0">
                                          <p:val>
                                            <p:strVal val="#ppt_x-.2"/>
                                          </p:val>
                                        </p:tav>
                                        <p:tav tm="100000">
                                          <p:val>
                                            <p:strVal val="#ppt_x"/>
                                          </p:val>
                                        </p:tav>
                                      </p:tavLst>
                                    </p:anim>
                                    <p:anim calcmode="lin" valueType="num">
                                      <p:cBhvr additive="base">
                                        <p:cTn id="8" dur="1000" fill="hold"/>
                                        <p:tgtEl>
                                          <p:spTgt spid="2306"/>
                                        </p:tgtEl>
                                        <p:attrNameLst>
                                          <p:attrName>ppt_y</p:attrName>
                                        </p:attrNameLst>
                                      </p:cBhvr>
                                      <p:tavLst>
                                        <p:tav tm="0">
                                          <p:val>
                                            <p:strVal val="#ppt_y"/>
                                          </p:val>
                                        </p:tav>
                                        <p:tav tm="100000">
                                          <p:val>
                                            <p:strVal val="#ppt_y"/>
                                          </p:val>
                                        </p:tav>
                                      </p:tavLst>
                                    </p:anim>
                                    <p:animEffect transition="in" filter="wipe(right)">
                                      <p:cBhvr additive="base">
                                        <p:cTn id="9" dur="1000"/>
                                        <p:tgtEl>
                                          <p:spTgt spid="2306"/>
                                        </p:tgtEl>
                                      </p:cBhvr>
                                    </p:animEffect>
                                  </p:childTnLst>
                                </p:cTn>
                              </p:par>
                              <p:par>
                                <p:cTn id="10" presetID="29" presetClass="entr" presetSubtype="0" fill="hold" nodeType="withEffect">
                                  <p:childTnLst>
                                    <p:set>
                                      <p:cBhvr additive="base">
                                        <p:cTn id="11" dur="1" fill="hold">
                                          <p:stCondLst>
                                            <p:cond delay="0"/>
                                          </p:stCondLst>
                                        </p:cTn>
                                        <p:tgtEl>
                                          <p:spTgt spid="2305">
                                            <p:txEl>
                                              <p:pRg st="2" end="2"/>
                                            </p:txEl>
                                          </p:spTgt>
                                        </p:tgtEl>
                                        <p:attrNameLst>
                                          <p:attrName>style.visibility</p:attrName>
                                        </p:attrNameLst>
                                      </p:cBhvr>
                                      <p:to>
                                        <p:strVal val="visible"/>
                                      </p:to>
                                    </p:set>
                                    <p:anim calcmode="lin" valueType="num">
                                      <p:cBhvr additive="base">
                                        <p:cTn id="12" dur="1000" fill="hold"/>
                                        <p:tgtEl>
                                          <p:spTgt spid="2305">
                                            <p:txEl>
                                              <p:pRg st="2" end="2"/>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305">
                                            <p:txEl>
                                              <p:pRg st="2" end="2"/>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30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41</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10" name="标题 2309"/>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11" name="文本占位符 2310"/>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(1) </a:t>
            </a:r>
            <a:r>
              <a:rPr lang="zh-CN" altLang="en-US">
                <a:ea typeface="MingLiU_HKSCS-ExtB" panose="02020500000000000000" charset="-120"/>
              </a:rPr>
              <a:t>率失真函数的定义域</a:t>
            </a:r>
          </a:p>
          <a:p>
            <a:pPr>
              <a:buClr>
                <a:srgbClr val="993366"/>
              </a:buClr>
            </a:pPr>
            <a:r>
              <a:rPr lang="zh-CN" altLang="en-US" sz="2400">
                <a:ea typeface="MingLiU_HKSCS-ExtB" panose="02020500000000000000" charset="-120"/>
              </a:rPr>
              <a:t> 信源最小平均失真度 </a:t>
            </a:r>
            <a:r>
              <a:rPr lang="en-US" altLang="zh-CN" sz="2400" i="1">
                <a:ea typeface="MingLiU_HKSCS-ExtB" panose="02020500000000000000" charset="-120"/>
              </a:rPr>
              <a:t>D</a:t>
            </a:r>
            <a:r>
              <a:rPr lang="en-US" altLang="zh-CN" sz="2400" baseline="-25000">
                <a:ea typeface="MingLiU_HKSCS-ExtB" panose="02020500000000000000" charset="-120"/>
              </a:rPr>
              <a:t>min</a:t>
            </a:r>
          </a:p>
          <a:p>
            <a:pPr marL="355600" lvl="1">
              <a:buClr>
                <a:srgbClr val="993366"/>
              </a:buClr>
            </a:pPr>
            <a:r>
              <a:rPr lang="en-US" altLang="zh-CN" sz="2000">
                <a:solidFill>
                  <a:srgbClr val="FF0000"/>
                </a:solidFill>
                <a:ea typeface="MingLiU_HKSCS-ExtB" panose="02020500000000000000" charset="-120"/>
              </a:rPr>
              <a:t> </a:t>
            </a:r>
            <a:r>
              <a:rPr lang="zh-CN" altLang="en-US" sz="2000">
                <a:solidFill>
                  <a:srgbClr val="FF0000"/>
                </a:solidFill>
                <a:ea typeface="MingLiU_HKSCS-ExtB" panose="02020500000000000000" charset="-120"/>
              </a:rPr>
              <a:t>只有当失真矩阵的每一行至少有一个 </a:t>
            </a:r>
            <a:r>
              <a:rPr lang="en-US" altLang="zh-CN" sz="2000">
                <a:solidFill>
                  <a:srgbClr val="FF0000"/>
                </a:solidFill>
                <a:ea typeface="MingLiU_HKSCS-ExtB" panose="02020500000000000000" charset="-120"/>
              </a:rPr>
              <a:t>0 </a:t>
            </a:r>
            <a:r>
              <a:rPr lang="zh-CN" altLang="en-US" sz="2000">
                <a:solidFill>
                  <a:srgbClr val="FF0000"/>
                </a:solidFill>
                <a:ea typeface="MingLiU_HKSCS-ExtB" panose="02020500000000000000" charset="-120"/>
              </a:rPr>
              <a:t>元素时，信源的平均失真度才能达到下限值 </a:t>
            </a:r>
            <a:r>
              <a:rPr lang="en-US" altLang="zh-CN" sz="2000">
                <a:solidFill>
                  <a:srgbClr val="FF0000"/>
                </a:solidFill>
                <a:ea typeface="MingLiU_HKSCS-ExtB" panose="02020500000000000000" charset="-120"/>
              </a:rPr>
              <a:t>0</a:t>
            </a:r>
            <a:r>
              <a:rPr lang="zh-CN" altLang="en-US" sz="2000">
                <a:solidFill>
                  <a:srgbClr val="FF0000"/>
                </a:solidFill>
                <a:ea typeface="MingLiU_HKSCS-ExtB" panose="02020500000000000000" charset="-120"/>
              </a:rPr>
              <a:t>。</a:t>
            </a:r>
            <a:r>
              <a:rPr lang="zh-CN" altLang="en-US" sz="2000">
                <a:ea typeface="MingLiU_HKSCS-ExtB" panose="02020500000000000000" charset="-120"/>
              </a:rPr>
              <a:t>当 </a:t>
            </a:r>
            <a:r>
              <a:rPr lang="en-US" altLang="zh-CN" sz="2000" i="1">
                <a:ea typeface="MingLiU_HKSCS-ExtB" panose="02020500000000000000" charset="-120"/>
              </a:rPr>
              <a:t>D</a:t>
            </a:r>
            <a:r>
              <a:rPr lang="en-US" altLang="zh-CN" sz="2000" baseline="-25000">
                <a:ea typeface="MingLiU_HKSCS-ExtB" panose="02020500000000000000" charset="-120"/>
              </a:rPr>
              <a:t>min</a:t>
            </a:r>
            <a:r>
              <a:rPr lang="en-US" altLang="zh-CN" sz="2000">
                <a:ea typeface="MingLiU_HKSCS-ExtB" panose="02020500000000000000" charset="-120"/>
              </a:rPr>
              <a:t>=0</a:t>
            </a:r>
            <a:r>
              <a:rPr lang="zh-CN" altLang="en-US" sz="2000">
                <a:ea typeface="MingLiU_HKSCS-ExtB" panose="02020500000000000000" charset="-120"/>
              </a:rPr>
              <a:t>时（信源不允许任何失真存在），信息率至少应等于信源输出的平均信息量（信源熵），即 </a:t>
            </a:r>
            <a:r>
              <a:rPr lang="en-US" altLang="zh-CN" sz="2000" i="1">
                <a:ea typeface="MingLiU_HKSCS-ExtB" panose="02020500000000000000" charset="-120"/>
              </a:rPr>
              <a:t>R</a:t>
            </a:r>
            <a:r>
              <a:rPr lang="en-US" altLang="zh-CN" sz="2000">
                <a:ea typeface="MingLiU_HKSCS-ExtB" panose="02020500000000000000" charset="-120"/>
              </a:rPr>
              <a:t>(0)=</a:t>
            </a:r>
            <a:r>
              <a:rPr lang="en-US" altLang="zh-CN" sz="2000" i="1">
                <a:ea typeface="MingLiU_HKSCS-ExtB" panose="02020500000000000000" charset="-120"/>
              </a:rPr>
              <a:t>H</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a:ea typeface="MingLiU_HKSCS-ExtB" panose="02020500000000000000" charset="-120"/>
              </a:rPr>
              <a:t>)</a:t>
            </a:r>
            <a:r>
              <a:rPr lang="zh-CN" altLang="en-US" sz="2000">
                <a:ea typeface="MingLiU_HKSCS-ExtB" panose="02020500000000000000" charset="-120"/>
              </a:rPr>
              <a:t>。</a:t>
            </a:r>
          </a:p>
          <a:p>
            <a:pPr marL="355600" lvl="1">
              <a:buClr>
                <a:srgbClr val="993366"/>
              </a:buClr>
            </a:pPr>
            <a:r>
              <a:rPr lang="zh-CN" altLang="en-US" sz="2000">
                <a:ea typeface="MingLiU_HKSCS-ExtB" panose="02020500000000000000" charset="-120"/>
              </a:rPr>
              <a:t> 连续信源有                            。这时虽然信源熵是有限的，但信息量是无穷大。实际信道容量总是有限的，无失真传送这种连续信息是不可能的。只有当允许失真（</a:t>
            </a:r>
            <a:r>
              <a:rPr lang="en-US" altLang="zh-CN" sz="2000" i="1">
                <a:ea typeface="MingLiU_HKSCS-ExtB" panose="02020500000000000000" charset="-120"/>
              </a:rPr>
              <a:t>R</a:t>
            </a:r>
            <a:r>
              <a:rPr lang="en-US" altLang="zh-CN" sz="2000">
                <a:ea typeface="MingLiU_HKSCS-ExtB" panose="02020500000000000000" charset="-120"/>
              </a:rPr>
              <a:t>(</a:t>
            </a:r>
            <a:r>
              <a:rPr lang="en-US" altLang="zh-CN" sz="2000" i="1">
                <a:ea typeface="MingLiU_HKSCS-ExtB" panose="02020500000000000000" charset="-120"/>
              </a:rPr>
              <a:t>D</a:t>
            </a:r>
            <a:r>
              <a:rPr lang="en-US" altLang="zh-CN" sz="2000">
                <a:ea typeface="MingLiU_HKSCS-ExtB" panose="02020500000000000000" charset="-120"/>
              </a:rPr>
              <a:t>)</a:t>
            </a:r>
            <a:r>
              <a:rPr lang="zh-CN" altLang="en-US" sz="2000">
                <a:ea typeface="MingLiU_HKSCS-ExtB" panose="02020500000000000000" charset="-120"/>
              </a:rPr>
              <a:t>为有限值），传送才是可能的。</a:t>
            </a:r>
          </a:p>
        </p:txBody>
      </p:sp>
      <p:graphicFrame>
        <p:nvGraphicFramePr>
          <p:cNvPr id="2312" name="对象 2311"/>
          <p:cNvGraphicFramePr/>
          <p:nvPr/>
        </p:nvGraphicFramePr>
        <p:xfrm>
          <a:off x="2627313" y="3716338"/>
          <a:ext cx="1462087" cy="433387"/>
        </p:xfrm>
        <a:graphic>
          <a:graphicData uri="http://schemas.openxmlformats.org/presentationml/2006/ole">
            <mc:AlternateContent xmlns:mc="http://schemas.openxmlformats.org/markup-compatibility/2006">
              <mc:Choice xmlns:v="urn:schemas-microsoft-com:vml" Requires="v">
                <p:oleObj spid="_x0000_s25602" r:id="rId3" imgW="557530" imgH="279400" progId="Equation.3">
                  <p:embed/>
                </p:oleObj>
              </mc:Choice>
              <mc:Fallback>
                <p:oleObj r:id="rId3" imgW="557530" imgH="279400" progId="Equation.3">
                  <p:embed/>
                  <p:pic>
                    <p:nvPicPr>
                      <p:cNvPr id="0" name="图片 3142"/>
                      <p:cNvPicPr/>
                      <p:nvPr/>
                    </p:nvPicPr>
                    <p:blipFill>
                      <a:blip r:embed="rId4"/>
                      <a:stretch>
                        <a:fillRect/>
                      </a:stretch>
                    </p:blipFill>
                    <p:spPr>
                      <a:xfrm>
                        <a:off x="2627313" y="3716338"/>
                        <a:ext cx="1462087" cy="433387"/>
                      </a:xfrm>
                      <a:prstGeom prst="rect">
                        <a:avLst/>
                      </a:prstGeom>
                      <a:noFill/>
                      <a:ln w="38100">
                        <a:noFill/>
                        <a:miter/>
                      </a:ln>
                    </p:spPr>
                  </p:pic>
                </p:oleObj>
              </mc:Fallback>
            </mc:AlternateContent>
          </a:graphicData>
        </a:graphic>
      </p:graphicFrame>
      <p:sp>
        <p:nvSpPr>
          <p:cNvPr id="2313" name="矩形 2312"/>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312"/>
                                        </p:tgtEl>
                                        <p:attrNameLst>
                                          <p:attrName>style.visibility</p:attrName>
                                        </p:attrNameLst>
                                      </p:cBhvr>
                                      <p:to>
                                        <p:strVal val="visible"/>
                                      </p:to>
                                    </p:set>
                                    <p:anim calcmode="lin" valueType="num">
                                      <p:cBhvr additive="base">
                                        <p:cTn id="7" dur="1000" fill="hold"/>
                                        <p:tgtEl>
                                          <p:spTgt spid="2312"/>
                                        </p:tgtEl>
                                        <p:attrNameLst>
                                          <p:attrName>ppt_x</p:attrName>
                                        </p:attrNameLst>
                                      </p:cBhvr>
                                      <p:tavLst>
                                        <p:tav tm="0">
                                          <p:val>
                                            <p:strVal val="#ppt_x-.2"/>
                                          </p:val>
                                        </p:tav>
                                        <p:tav tm="100000">
                                          <p:val>
                                            <p:strVal val="#ppt_x"/>
                                          </p:val>
                                        </p:tav>
                                      </p:tavLst>
                                    </p:anim>
                                    <p:anim calcmode="lin" valueType="num">
                                      <p:cBhvr additive="base">
                                        <p:cTn id="8" dur="1000" fill="hold"/>
                                        <p:tgtEl>
                                          <p:spTgt spid="2312"/>
                                        </p:tgtEl>
                                        <p:attrNameLst>
                                          <p:attrName>ppt_y</p:attrName>
                                        </p:attrNameLst>
                                      </p:cBhvr>
                                      <p:tavLst>
                                        <p:tav tm="0">
                                          <p:val>
                                            <p:strVal val="#ppt_y"/>
                                          </p:val>
                                        </p:tav>
                                        <p:tav tm="100000">
                                          <p:val>
                                            <p:strVal val="#ppt_y"/>
                                          </p:val>
                                        </p:tav>
                                      </p:tavLst>
                                    </p:anim>
                                    <p:animEffect transition="in" filter="wipe(right)">
                                      <p:cBhvr additive="base">
                                        <p:cTn id="9" dur="1000"/>
                                        <p:tgtEl>
                                          <p:spTgt spid="2312"/>
                                        </p:tgtEl>
                                      </p:cBhvr>
                                    </p:animEffect>
                                  </p:childTnLst>
                                </p:cTn>
                              </p:par>
                              <p:par>
                                <p:cTn id="10" presetID="29" presetClass="entr" presetSubtype="0" fill="hold" nodeType="withEffect">
                                  <p:childTnLst>
                                    <p:set>
                                      <p:cBhvr additive="base">
                                        <p:cTn id="11" dur="1" fill="hold">
                                          <p:stCondLst>
                                            <p:cond delay="0"/>
                                          </p:stCondLst>
                                        </p:cTn>
                                        <p:tgtEl>
                                          <p:spTgt spid="2311">
                                            <p:txEl>
                                              <p:pRg st="2" end="2"/>
                                            </p:txEl>
                                          </p:spTgt>
                                        </p:tgtEl>
                                        <p:attrNameLst>
                                          <p:attrName>style.visibility</p:attrName>
                                        </p:attrNameLst>
                                      </p:cBhvr>
                                      <p:to>
                                        <p:strVal val="visible"/>
                                      </p:to>
                                    </p:set>
                                    <p:anim calcmode="lin" valueType="num">
                                      <p:cBhvr additive="base">
                                        <p:cTn id="12" dur="1000" fill="hold"/>
                                        <p:tgtEl>
                                          <p:spTgt spid="2311">
                                            <p:txEl>
                                              <p:pRg st="2" end="2"/>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311">
                                            <p:txEl>
                                              <p:pRg st="2" end="2"/>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311">
                                            <p:txEl>
                                              <p:pRg st="2" end="2"/>
                                            </p:txEl>
                                          </p:spTgt>
                                        </p:tgtEl>
                                      </p:cBhvr>
                                    </p:animEffect>
                                  </p:childTnLst>
                                </p:cTn>
                              </p:par>
                              <p:par>
                                <p:cTn id="15" presetID="29" presetClass="entr" presetSubtype="0" fill="hold" nodeType="withEffect">
                                  <p:childTnLst>
                                    <p:set>
                                      <p:cBhvr additive="base">
                                        <p:cTn id="16" dur="1" fill="hold">
                                          <p:stCondLst>
                                            <p:cond delay="0"/>
                                          </p:stCondLst>
                                        </p:cTn>
                                        <p:tgtEl>
                                          <p:spTgt spid="2311">
                                            <p:txEl>
                                              <p:pRg st="3" end="3"/>
                                            </p:txEl>
                                          </p:spTgt>
                                        </p:tgtEl>
                                        <p:attrNameLst>
                                          <p:attrName>style.visibility</p:attrName>
                                        </p:attrNameLst>
                                      </p:cBhvr>
                                      <p:to>
                                        <p:strVal val="visible"/>
                                      </p:to>
                                    </p:set>
                                    <p:anim calcmode="lin" valueType="num">
                                      <p:cBhvr additive="base">
                                        <p:cTn id="17" dur="1000" fill="hold"/>
                                        <p:tgtEl>
                                          <p:spTgt spid="2311">
                                            <p:txEl>
                                              <p:pRg st="3" end="3"/>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311">
                                            <p:txEl>
                                              <p:pRg st="3" end="3"/>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3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42</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16" name="标题 2315"/>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17" name="文本占位符 2316"/>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(1) </a:t>
            </a:r>
            <a:r>
              <a:rPr lang="zh-CN" altLang="en-US">
                <a:ea typeface="MingLiU_HKSCS-ExtB" panose="02020500000000000000" charset="-120"/>
              </a:rPr>
              <a:t>率失真函数的定义域</a:t>
            </a:r>
          </a:p>
          <a:p>
            <a:pPr>
              <a:buClr>
                <a:srgbClr val="993366"/>
              </a:buClr>
            </a:pPr>
            <a:r>
              <a:rPr lang="zh-CN" altLang="en-US" sz="2400">
                <a:ea typeface="MingLiU_HKSCS-ExtB" panose="02020500000000000000" charset="-120"/>
              </a:rPr>
              <a:t> 信源最小平均失真度 </a:t>
            </a:r>
            <a:r>
              <a:rPr lang="en-US" altLang="zh-CN" sz="2400" i="1">
                <a:ea typeface="MingLiU_HKSCS-ExtB" panose="02020500000000000000" charset="-120"/>
              </a:rPr>
              <a:t>D</a:t>
            </a:r>
            <a:r>
              <a:rPr lang="en-US" altLang="zh-CN" sz="2400" baseline="-25000">
                <a:ea typeface="MingLiU_HKSCS-ExtB" panose="02020500000000000000" charset="-120"/>
              </a:rPr>
              <a:t>min</a:t>
            </a:r>
          </a:p>
          <a:p>
            <a:pPr marL="355600" lvl="1">
              <a:buClr>
                <a:schemeClr val="folHlink"/>
              </a:buClr>
              <a:buFont typeface="Wingdings" panose="05000000000000000000" pitchFamily="2" charset="2"/>
              <a:buChar char="]"/>
            </a:pPr>
            <a:r>
              <a:rPr lang="en-US" altLang="zh-CN" sz="2000">
                <a:solidFill>
                  <a:srgbClr val="0000CC"/>
                </a:solidFill>
                <a:ea typeface="MingLiU_HKSCS-ExtB" panose="02020500000000000000" charset="-120"/>
              </a:rPr>
              <a:t> [</a:t>
            </a:r>
            <a:r>
              <a:rPr lang="zh-CN" altLang="en-US" sz="2000">
                <a:solidFill>
                  <a:srgbClr val="0000CC"/>
                </a:solidFill>
                <a:ea typeface="MingLiU_HKSCS-ExtB" panose="02020500000000000000" charset="-120"/>
              </a:rPr>
              <a:t>举例</a:t>
            </a:r>
            <a:r>
              <a:rPr lang="en-US" altLang="zh-CN" sz="2000">
                <a:solidFill>
                  <a:srgbClr val="0000CC"/>
                </a:solidFill>
                <a:ea typeface="MingLiU_HKSCS-ExtB" panose="02020500000000000000" charset="-120"/>
              </a:rPr>
              <a:t>]</a:t>
            </a:r>
            <a:r>
              <a:rPr lang="zh-CN" altLang="en-US" sz="2000">
                <a:solidFill>
                  <a:srgbClr val="0000CC"/>
                </a:solidFill>
                <a:ea typeface="MingLiU_HKSCS-ExtB" panose="02020500000000000000" charset="-120"/>
              </a:rPr>
              <a:t>：</a:t>
            </a:r>
            <a:r>
              <a:rPr lang="zh-CN" altLang="en-US" sz="2000">
                <a:ea typeface="MingLiU_HKSCS-ExtB" panose="02020500000000000000" charset="-120"/>
              </a:rPr>
              <a:t>除删信源 </a:t>
            </a:r>
            <a:r>
              <a:rPr lang="en-US" altLang="zh-CN" sz="2000" i="1">
                <a:ea typeface="MingLiU_HKSCS-ExtB" panose="02020500000000000000" charset="-120"/>
              </a:rPr>
              <a:t>X </a:t>
            </a:r>
            <a:r>
              <a:rPr lang="zh-CN" altLang="en-US" sz="2000">
                <a:ea typeface="MingLiU_HKSCS-ExtB" panose="02020500000000000000" charset="-120"/>
              </a:rPr>
              <a:t>取值于</a:t>
            </a:r>
            <a:r>
              <a:rPr lang="en-US" altLang="zh-CN" sz="2000">
                <a:ea typeface="MingLiU_HKSCS-ExtB" panose="02020500000000000000" charset="-120"/>
              </a:rPr>
              <a:t>{0,1}</a:t>
            </a:r>
            <a:r>
              <a:rPr lang="zh-CN" altLang="en-US" sz="2000">
                <a:ea typeface="MingLiU_HKSCS-ExtB" panose="02020500000000000000" charset="-120"/>
              </a:rPr>
              <a:t>，</a:t>
            </a:r>
            <a:r>
              <a:rPr lang="en-US" altLang="zh-CN" sz="2000" i="1">
                <a:ea typeface="MingLiU_HKSCS-ExtB" panose="02020500000000000000" charset="-120"/>
              </a:rPr>
              <a:t>Y </a:t>
            </a:r>
            <a:r>
              <a:rPr lang="zh-CN" altLang="en-US" sz="2000">
                <a:ea typeface="MingLiU_HKSCS-ExtB" panose="02020500000000000000" charset="-120"/>
              </a:rPr>
              <a:t>取值于</a:t>
            </a:r>
          </a:p>
          <a:p>
            <a:pPr marL="355600" lvl="1">
              <a:buClr>
                <a:schemeClr val="folHlink"/>
              </a:buClr>
              <a:buFont typeface="Wingdings" panose="05000000000000000000" pitchFamily="2" charset="2"/>
              <a:buNone/>
            </a:pPr>
            <a:r>
              <a:rPr lang="zh-CN" altLang="en-US" sz="2000">
                <a:ea typeface="MingLiU_HKSCS-ExtB" panose="02020500000000000000" charset="-120"/>
              </a:rPr>
              <a:t>   </a:t>
            </a:r>
            <a:r>
              <a:rPr lang="en-US" altLang="zh-CN" sz="2000">
                <a:ea typeface="MingLiU_HKSCS-ExtB" panose="02020500000000000000" charset="-120"/>
              </a:rPr>
              <a:t>{0,1,2}</a:t>
            </a:r>
            <a:r>
              <a:rPr lang="zh-CN" altLang="en-US" sz="2000">
                <a:ea typeface="MingLiU_HKSCS-ExtB" panose="02020500000000000000" charset="-120"/>
              </a:rPr>
              <a:t>，失真矩阵为：</a:t>
            </a:r>
          </a:p>
          <a:p>
            <a:pPr marL="355600" lvl="1">
              <a:buClr>
                <a:schemeClr val="folHlink"/>
              </a:buClr>
              <a:buFont typeface="Wingdings" panose="05000000000000000000" pitchFamily="2" charset="2"/>
              <a:buChar char="]"/>
            </a:pPr>
            <a:endParaRPr lang="zh-CN" altLang="en-US" sz="2000">
              <a:ea typeface="MingLiU_HKSCS-ExtB" panose="02020500000000000000" charset="-120"/>
            </a:endParaRPr>
          </a:p>
          <a:p>
            <a:pPr marL="355600" lvl="1">
              <a:buClr>
                <a:schemeClr val="folHlink"/>
              </a:buClr>
              <a:buFont typeface="Wingdings" panose="05000000000000000000" pitchFamily="2" charset="2"/>
              <a:buChar char="]"/>
            </a:pPr>
            <a:endParaRPr lang="zh-CN" altLang="en-US" sz="2000">
              <a:ea typeface="MingLiU_HKSCS-ExtB" panose="02020500000000000000" charset="-120"/>
            </a:endParaRPr>
          </a:p>
          <a:p>
            <a:pPr marL="355600" lvl="1">
              <a:buClr>
                <a:schemeClr val="folHlink"/>
              </a:buClr>
              <a:buFont typeface="Wingdings" panose="05000000000000000000" pitchFamily="2" charset="2"/>
              <a:buChar char="]"/>
            </a:pPr>
            <a:endParaRPr lang="zh-CN" altLang="en-US" sz="2000">
              <a:ea typeface="MingLiU_HKSCS-ExtB" panose="02020500000000000000" charset="-120"/>
            </a:endParaRPr>
          </a:p>
          <a:p>
            <a:pPr marL="355600" lvl="1">
              <a:buClr>
                <a:schemeClr val="folHlink"/>
              </a:buClr>
              <a:buFont typeface="Wingdings" panose="05000000000000000000" pitchFamily="2" charset="2"/>
              <a:buChar char="]"/>
            </a:pPr>
            <a:r>
              <a:rPr lang="zh-CN" altLang="en-US" sz="2000">
                <a:ea typeface="MingLiU_HKSCS-ExtB" panose="02020500000000000000" charset="-120"/>
              </a:rPr>
              <a:t> 满足最小允许失真度的试验信道是一个无噪无损的试验信道：</a:t>
            </a:r>
          </a:p>
        </p:txBody>
      </p:sp>
      <p:graphicFrame>
        <p:nvGraphicFramePr>
          <p:cNvPr id="2318" name="对象 2317"/>
          <p:cNvGraphicFramePr/>
          <p:nvPr/>
        </p:nvGraphicFramePr>
        <p:xfrm>
          <a:off x="6243638" y="1268413"/>
          <a:ext cx="2505075" cy="2736850"/>
        </p:xfrm>
        <a:graphic>
          <a:graphicData uri="http://schemas.openxmlformats.org/presentationml/2006/ole">
            <mc:AlternateContent xmlns:mc="http://schemas.openxmlformats.org/markup-compatibility/2006">
              <mc:Choice xmlns:v="urn:schemas-microsoft-com:vml" Requires="v">
                <p:oleObj spid="_x0000_s26630" r:id="rId3" imgW="2381250" imgH="2400300" progId="Visio.Drawing.11">
                  <p:embed/>
                </p:oleObj>
              </mc:Choice>
              <mc:Fallback>
                <p:oleObj r:id="rId3" imgW="2381250" imgH="2400300" progId="Visio.Drawing.11">
                  <p:embed/>
                  <p:pic>
                    <p:nvPicPr>
                      <p:cNvPr id="0" name="图片 3146"/>
                      <p:cNvPicPr/>
                      <p:nvPr/>
                    </p:nvPicPr>
                    <p:blipFill>
                      <a:blip r:embed="rId4"/>
                      <a:stretch>
                        <a:fillRect/>
                      </a:stretch>
                    </p:blipFill>
                    <p:spPr>
                      <a:xfrm>
                        <a:off x="6243638" y="1268413"/>
                        <a:ext cx="2505075" cy="2736850"/>
                      </a:xfrm>
                      <a:prstGeom prst="rect">
                        <a:avLst/>
                      </a:prstGeom>
                      <a:noFill/>
                      <a:ln w="38100">
                        <a:noFill/>
                        <a:miter/>
                      </a:ln>
                    </p:spPr>
                  </p:pic>
                </p:oleObj>
              </mc:Fallback>
            </mc:AlternateContent>
          </a:graphicData>
        </a:graphic>
      </p:graphicFrame>
      <p:graphicFrame>
        <p:nvGraphicFramePr>
          <p:cNvPr id="2319" name="对象 2318"/>
          <p:cNvGraphicFramePr/>
          <p:nvPr/>
        </p:nvGraphicFramePr>
        <p:xfrm>
          <a:off x="3775075" y="2717800"/>
          <a:ext cx="1412875" cy="1216025"/>
        </p:xfrm>
        <a:graphic>
          <a:graphicData uri="http://schemas.openxmlformats.org/presentationml/2006/ole">
            <mc:AlternateContent xmlns:mc="http://schemas.openxmlformats.org/markup-compatibility/2006">
              <mc:Choice xmlns:v="urn:schemas-microsoft-com:vml" Requires="v">
                <p:oleObj spid="_x0000_s26631" r:id="rId5" imgW="990600" imgH="572770" progId="Equation.3">
                  <p:embed/>
                </p:oleObj>
              </mc:Choice>
              <mc:Fallback>
                <p:oleObj r:id="rId5" imgW="990600" imgH="572770" progId="Equation.3">
                  <p:embed/>
                  <p:pic>
                    <p:nvPicPr>
                      <p:cNvPr id="0" name="图片 3148"/>
                      <p:cNvPicPr/>
                      <p:nvPr/>
                    </p:nvPicPr>
                    <p:blipFill>
                      <a:blip r:embed="rId6"/>
                      <a:stretch>
                        <a:fillRect/>
                      </a:stretch>
                    </p:blipFill>
                    <p:spPr>
                      <a:xfrm>
                        <a:off x="3775075" y="2717800"/>
                        <a:ext cx="1412875" cy="1216025"/>
                      </a:xfrm>
                      <a:prstGeom prst="rect">
                        <a:avLst/>
                      </a:prstGeom>
                      <a:noFill/>
                      <a:ln w="38100">
                        <a:noFill/>
                        <a:miter/>
                      </a:ln>
                    </p:spPr>
                  </p:pic>
                </p:oleObj>
              </mc:Fallback>
            </mc:AlternateContent>
          </a:graphicData>
        </a:graphic>
      </p:graphicFrame>
      <p:graphicFrame>
        <p:nvGraphicFramePr>
          <p:cNvPr id="2320" name="对象 2319"/>
          <p:cNvGraphicFramePr/>
          <p:nvPr/>
        </p:nvGraphicFramePr>
        <p:xfrm>
          <a:off x="1487488" y="4005263"/>
          <a:ext cx="4375150" cy="698500"/>
        </p:xfrm>
        <a:graphic>
          <a:graphicData uri="http://schemas.openxmlformats.org/presentationml/2006/ole">
            <mc:AlternateContent xmlns:mc="http://schemas.openxmlformats.org/markup-compatibility/2006">
              <mc:Choice xmlns:v="urn:schemas-microsoft-com:vml" Requires="v">
                <p:oleObj spid="_x0000_s26632" r:id="rId7" imgW="871855" imgH="431800" progId="Equation.3">
                  <p:embed/>
                </p:oleObj>
              </mc:Choice>
              <mc:Fallback>
                <p:oleObj r:id="rId7" imgW="871855" imgH="431800" progId="Equation.3">
                  <p:embed/>
                  <p:pic>
                    <p:nvPicPr>
                      <p:cNvPr id="0" name="图片 3149"/>
                      <p:cNvPicPr/>
                      <p:nvPr/>
                    </p:nvPicPr>
                    <p:blipFill>
                      <a:blip r:embed="rId8"/>
                      <a:stretch>
                        <a:fillRect/>
                      </a:stretch>
                    </p:blipFill>
                    <p:spPr>
                      <a:xfrm>
                        <a:off x="1487488" y="4005263"/>
                        <a:ext cx="4375150" cy="698500"/>
                      </a:xfrm>
                      <a:prstGeom prst="rect">
                        <a:avLst/>
                      </a:prstGeom>
                      <a:noFill/>
                      <a:ln w="38100">
                        <a:noFill/>
                        <a:miter/>
                      </a:ln>
                    </p:spPr>
                  </p:pic>
                </p:oleObj>
              </mc:Fallback>
            </mc:AlternateContent>
          </a:graphicData>
        </a:graphic>
      </p:graphicFrame>
      <p:graphicFrame>
        <p:nvGraphicFramePr>
          <p:cNvPr id="2321" name="对象 2320"/>
          <p:cNvGraphicFramePr/>
          <p:nvPr/>
        </p:nvGraphicFramePr>
        <p:xfrm>
          <a:off x="1493838" y="5219700"/>
          <a:ext cx="1636712" cy="862013"/>
        </p:xfrm>
        <a:graphic>
          <a:graphicData uri="http://schemas.openxmlformats.org/presentationml/2006/ole">
            <mc:AlternateContent xmlns:mc="http://schemas.openxmlformats.org/markup-compatibility/2006">
              <mc:Choice xmlns:v="urn:schemas-microsoft-com:vml" Requires="v">
                <p:oleObj spid="_x0000_s26633" r:id="rId9" imgW="840740" imgH="469900" progId="Equation.3">
                  <p:embed/>
                </p:oleObj>
              </mc:Choice>
              <mc:Fallback>
                <p:oleObj r:id="rId9" imgW="840740" imgH="469900" progId="Equation.3">
                  <p:embed/>
                  <p:pic>
                    <p:nvPicPr>
                      <p:cNvPr id="0" name="图片 3147"/>
                      <p:cNvPicPr/>
                      <p:nvPr/>
                    </p:nvPicPr>
                    <p:blipFill>
                      <a:blip r:embed="rId10"/>
                      <a:stretch>
                        <a:fillRect/>
                      </a:stretch>
                    </p:blipFill>
                    <p:spPr>
                      <a:xfrm>
                        <a:off x="1493838" y="5219700"/>
                        <a:ext cx="1636712" cy="862013"/>
                      </a:xfrm>
                      <a:prstGeom prst="rect">
                        <a:avLst/>
                      </a:prstGeom>
                      <a:noFill/>
                      <a:ln w="38100">
                        <a:noFill/>
                        <a:miter/>
                      </a:ln>
                    </p:spPr>
                  </p:pic>
                </p:oleObj>
              </mc:Fallback>
            </mc:AlternateContent>
          </a:graphicData>
        </a:graphic>
      </p:graphicFrame>
      <p:graphicFrame>
        <p:nvGraphicFramePr>
          <p:cNvPr id="2322" name="对象 2321"/>
          <p:cNvGraphicFramePr/>
          <p:nvPr/>
        </p:nvGraphicFramePr>
        <p:xfrm>
          <a:off x="4137025" y="5373688"/>
          <a:ext cx="2065338" cy="422275"/>
        </p:xfrm>
        <a:graphic>
          <a:graphicData uri="http://schemas.openxmlformats.org/presentationml/2006/ole">
            <mc:AlternateContent xmlns:mc="http://schemas.openxmlformats.org/markup-compatibility/2006">
              <mc:Choice xmlns:v="urn:schemas-microsoft-com:vml" Requires="v">
                <p:oleObj spid="_x0000_s26634" r:id="rId11" imgW="441960" imgH="203200" progId="Equation.3">
                  <p:embed/>
                </p:oleObj>
              </mc:Choice>
              <mc:Fallback>
                <p:oleObj r:id="rId11" imgW="441960" imgH="203200" progId="Equation.3">
                  <p:embed/>
                  <p:pic>
                    <p:nvPicPr>
                      <p:cNvPr id="0" name="图片 3150"/>
                      <p:cNvPicPr/>
                      <p:nvPr/>
                    </p:nvPicPr>
                    <p:blipFill>
                      <a:blip r:embed="rId12"/>
                      <a:stretch>
                        <a:fillRect/>
                      </a:stretch>
                    </p:blipFill>
                    <p:spPr>
                      <a:xfrm>
                        <a:off x="4137025" y="5373688"/>
                        <a:ext cx="2065338" cy="422275"/>
                      </a:xfrm>
                      <a:prstGeom prst="rect">
                        <a:avLst/>
                      </a:prstGeom>
                      <a:noFill/>
                      <a:ln w="38100">
                        <a:noFill/>
                        <a:miter/>
                      </a:ln>
                    </p:spPr>
                  </p:pic>
                </p:oleObj>
              </mc:Fallback>
            </mc:AlternateContent>
          </a:graphicData>
        </a:graphic>
      </p:graphicFrame>
      <p:sp>
        <p:nvSpPr>
          <p:cNvPr id="2323" name="矩形 2322"/>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318"/>
                                        </p:tgtEl>
                                        <p:attrNameLst>
                                          <p:attrName>style.visibility</p:attrName>
                                        </p:attrNameLst>
                                      </p:cBhvr>
                                      <p:to>
                                        <p:strVal val="visible"/>
                                      </p:to>
                                    </p:set>
                                    <p:anim calcmode="lin" valueType="num">
                                      <p:cBhvr additive="base">
                                        <p:cTn id="7" dur="1000" fill="hold"/>
                                        <p:tgtEl>
                                          <p:spTgt spid="2318"/>
                                        </p:tgtEl>
                                        <p:attrNameLst>
                                          <p:attrName>ppt_x</p:attrName>
                                        </p:attrNameLst>
                                      </p:cBhvr>
                                      <p:tavLst>
                                        <p:tav tm="0">
                                          <p:val>
                                            <p:strVal val="#ppt_x-.2"/>
                                          </p:val>
                                        </p:tav>
                                        <p:tav tm="100000">
                                          <p:val>
                                            <p:strVal val="#ppt_x"/>
                                          </p:val>
                                        </p:tav>
                                      </p:tavLst>
                                    </p:anim>
                                    <p:anim calcmode="lin" valueType="num">
                                      <p:cBhvr additive="base">
                                        <p:cTn id="8" dur="1000" fill="hold"/>
                                        <p:tgtEl>
                                          <p:spTgt spid="2318"/>
                                        </p:tgtEl>
                                        <p:attrNameLst>
                                          <p:attrName>ppt_y</p:attrName>
                                        </p:attrNameLst>
                                      </p:cBhvr>
                                      <p:tavLst>
                                        <p:tav tm="0">
                                          <p:val>
                                            <p:strVal val="#ppt_y"/>
                                          </p:val>
                                        </p:tav>
                                        <p:tav tm="100000">
                                          <p:val>
                                            <p:strVal val="#ppt_y"/>
                                          </p:val>
                                        </p:tav>
                                      </p:tavLst>
                                    </p:anim>
                                    <p:animEffect transition="in" filter="wipe(right)">
                                      <p:cBhvr additive="base">
                                        <p:cTn id="9" dur="1000"/>
                                        <p:tgtEl>
                                          <p:spTgt spid="2318"/>
                                        </p:tgtEl>
                                      </p:cBhvr>
                                    </p:animEffect>
                                  </p:childTnLst>
                                </p:cTn>
                              </p:par>
                              <p:par>
                                <p:cTn id="10" presetID="29" presetClass="entr" presetSubtype="0" fill="hold" nodeType="withEffect">
                                  <p:childTnLst>
                                    <p:set>
                                      <p:cBhvr additive="base">
                                        <p:cTn id="11" dur="1" fill="hold">
                                          <p:stCondLst>
                                            <p:cond delay="0"/>
                                          </p:stCondLst>
                                        </p:cTn>
                                        <p:tgtEl>
                                          <p:spTgt spid="2319"/>
                                        </p:tgtEl>
                                        <p:attrNameLst>
                                          <p:attrName>style.visibility</p:attrName>
                                        </p:attrNameLst>
                                      </p:cBhvr>
                                      <p:to>
                                        <p:strVal val="visible"/>
                                      </p:to>
                                    </p:set>
                                    <p:anim calcmode="lin" valueType="num">
                                      <p:cBhvr additive="base">
                                        <p:cTn id="12" dur="1000" fill="hold"/>
                                        <p:tgtEl>
                                          <p:spTgt spid="2319"/>
                                        </p:tgtEl>
                                        <p:attrNameLst>
                                          <p:attrName>ppt_x</p:attrName>
                                        </p:attrNameLst>
                                      </p:cBhvr>
                                      <p:tavLst>
                                        <p:tav tm="0">
                                          <p:val>
                                            <p:strVal val="#ppt_x-.2"/>
                                          </p:val>
                                        </p:tav>
                                        <p:tav tm="100000">
                                          <p:val>
                                            <p:strVal val="#ppt_x"/>
                                          </p:val>
                                        </p:tav>
                                      </p:tavLst>
                                    </p:anim>
                                    <p:anim calcmode="lin" valueType="num">
                                      <p:cBhvr additive="base">
                                        <p:cTn id="13" dur="1000" fill="hold"/>
                                        <p:tgtEl>
                                          <p:spTgt spid="2319"/>
                                        </p:tgtEl>
                                        <p:attrNameLst>
                                          <p:attrName>ppt_y</p:attrName>
                                        </p:attrNameLst>
                                      </p:cBhvr>
                                      <p:tavLst>
                                        <p:tav tm="0">
                                          <p:val>
                                            <p:strVal val="#ppt_y"/>
                                          </p:val>
                                        </p:tav>
                                        <p:tav tm="100000">
                                          <p:val>
                                            <p:strVal val="#ppt_y"/>
                                          </p:val>
                                        </p:tav>
                                      </p:tavLst>
                                    </p:anim>
                                    <p:animEffect transition="in" filter="wipe(right)">
                                      <p:cBhvr additive="base">
                                        <p:cTn id="14" dur="1000"/>
                                        <p:tgtEl>
                                          <p:spTgt spid="2319"/>
                                        </p:tgtEl>
                                      </p:cBhvr>
                                    </p:animEffect>
                                  </p:childTnLst>
                                </p:cTn>
                              </p:par>
                              <p:par>
                                <p:cTn id="15" presetID="29" presetClass="entr" presetSubtype="0" fill="hold" nodeType="withEffect">
                                  <p:childTnLst>
                                    <p:set>
                                      <p:cBhvr additive="base">
                                        <p:cTn id="16" dur="1" fill="hold">
                                          <p:stCondLst>
                                            <p:cond delay="0"/>
                                          </p:stCondLst>
                                        </p:cTn>
                                        <p:tgtEl>
                                          <p:spTgt spid="2320"/>
                                        </p:tgtEl>
                                        <p:attrNameLst>
                                          <p:attrName>style.visibility</p:attrName>
                                        </p:attrNameLst>
                                      </p:cBhvr>
                                      <p:to>
                                        <p:strVal val="visible"/>
                                      </p:to>
                                    </p:set>
                                    <p:anim calcmode="lin" valueType="num">
                                      <p:cBhvr additive="base">
                                        <p:cTn id="17" dur="1000" fill="hold"/>
                                        <p:tgtEl>
                                          <p:spTgt spid="2320"/>
                                        </p:tgtEl>
                                        <p:attrNameLst>
                                          <p:attrName>ppt_x</p:attrName>
                                        </p:attrNameLst>
                                      </p:cBhvr>
                                      <p:tavLst>
                                        <p:tav tm="0">
                                          <p:val>
                                            <p:strVal val="#ppt_x-.2"/>
                                          </p:val>
                                        </p:tav>
                                        <p:tav tm="100000">
                                          <p:val>
                                            <p:strVal val="#ppt_x"/>
                                          </p:val>
                                        </p:tav>
                                      </p:tavLst>
                                    </p:anim>
                                    <p:anim calcmode="lin" valueType="num">
                                      <p:cBhvr additive="base">
                                        <p:cTn id="18" dur="1000" fill="hold"/>
                                        <p:tgtEl>
                                          <p:spTgt spid="2320"/>
                                        </p:tgtEl>
                                        <p:attrNameLst>
                                          <p:attrName>ppt_y</p:attrName>
                                        </p:attrNameLst>
                                      </p:cBhvr>
                                      <p:tavLst>
                                        <p:tav tm="0">
                                          <p:val>
                                            <p:strVal val="#ppt_y"/>
                                          </p:val>
                                        </p:tav>
                                        <p:tav tm="100000">
                                          <p:val>
                                            <p:strVal val="#ppt_y"/>
                                          </p:val>
                                        </p:tav>
                                      </p:tavLst>
                                    </p:anim>
                                    <p:animEffect transition="in" filter="wipe(right)">
                                      <p:cBhvr additive="base">
                                        <p:cTn id="19" dur="1000"/>
                                        <p:tgtEl>
                                          <p:spTgt spid="2320"/>
                                        </p:tgtEl>
                                      </p:cBhvr>
                                    </p:animEffect>
                                  </p:childTnLst>
                                </p:cTn>
                              </p:par>
                              <p:par>
                                <p:cTn id="20" presetID="29" presetClass="entr" presetSubtype="0" fill="hold" nodeType="withEffect">
                                  <p:childTnLst>
                                    <p:set>
                                      <p:cBhvr additive="base">
                                        <p:cTn id="21" dur="1" fill="hold">
                                          <p:stCondLst>
                                            <p:cond delay="0"/>
                                          </p:stCondLst>
                                        </p:cTn>
                                        <p:tgtEl>
                                          <p:spTgt spid="2321"/>
                                        </p:tgtEl>
                                        <p:attrNameLst>
                                          <p:attrName>style.visibility</p:attrName>
                                        </p:attrNameLst>
                                      </p:cBhvr>
                                      <p:to>
                                        <p:strVal val="visible"/>
                                      </p:to>
                                    </p:set>
                                    <p:anim calcmode="lin" valueType="num">
                                      <p:cBhvr additive="base">
                                        <p:cTn id="22" dur="1000" fill="hold"/>
                                        <p:tgtEl>
                                          <p:spTgt spid="2321"/>
                                        </p:tgtEl>
                                        <p:attrNameLst>
                                          <p:attrName>ppt_x</p:attrName>
                                        </p:attrNameLst>
                                      </p:cBhvr>
                                      <p:tavLst>
                                        <p:tav tm="0">
                                          <p:val>
                                            <p:strVal val="#ppt_x-.2"/>
                                          </p:val>
                                        </p:tav>
                                        <p:tav tm="100000">
                                          <p:val>
                                            <p:strVal val="#ppt_x"/>
                                          </p:val>
                                        </p:tav>
                                      </p:tavLst>
                                    </p:anim>
                                    <p:anim calcmode="lin" valueType="num">
                                      <p:cBhvr additive="base">
                                        <p:cTn id="23" dur="1000" fill="hold"/>
                                        <p:tgtEl>
                                          <p:spTgt spid="2321"/>
                                        </p:tgtEl>
                                        <p:attrNameLst>
                                          <p:attrName>ppt_y</p:attrName>
                                        </p:attrNameLst>
                                      </p:cBhvr>
                                      <p:tavLst>
                                        <p:tav tm="0">
                                          <p:val>
                                            <p:strVal val="#ppt_y"/>
                                          </p:val>
                                        </p:tav>
                                        <p:tav tm="100000">
                                          <p:val>
                                            <p:strVal val="#ppt_y"/>
                                          </p:val>
                                        </p:tav>
                                      </p:tavLst>
                                    </p:anim>
                                    <p:animEffect transition="in" filter="wipe(right)">
                                      <p:cBhvr additive="base">
                                        <p:cTn id="24" dur="1000"/>
                                        <p:tgtEl>
                                          <p:spTgt spid="2321"/>
                                        </p:tgtEl>
                                      </p:cBhvr>
                                    </p:animEffect>
                                  </p:childTnLst>
                                </p:cTn>
                              </p:par>
                              <p:par>
                                <p:cTn id="25" presetID="29" presetClass="entr" presetSubtype="0" fill="hold" nodeType="withEffect">
                                  <p:childTnLst>
                                    <p:set>
                                      <p:cBhvr additive="base">
                                        <p:cTn id="26" dur="1" fill="hold">
                                          <p:stCondLst>
                                            <p:cond delay="0"/>
                                          </p:stCondLst>
                                        </p:cTn>
                                        <p:tgtEl>
                                          <p:spTgt spid="2322"/>
                                        </p:tgtEl>
                                        <p:attrNameLst>
                                          <p:attrName>style.visibility</p:attrName>
                                        </p:attrNameLst>
                                      </p:cBhvr>
                                      <p:to>
                                        <p:strVal val="visible"/>
                                      </p:to>
                                    </p:set>
                                    <p:anim calcmode="lin" valueType="num">
                                      <p:cBhvr additive="base">
                                        <p:cTn id="27" dur="1000" fill="hold"/>
                                        <p:tgtEl>
                                          <p:spTgt spid="2322"/>
                                        </p:tgtEl>
                                        <p:attrNameLst>
                                          <p:attrName>ppt_x</p:attrName>
                                        </p:attrNameLst>
                                      </p:cBhvr>
                                      <p:tavLst>
                                        <p:tav tm="0">
                                          <p:val>
                                            <p:strVal val="#ppt_x-.2"/>
                                          </p:val>
                                        </p:tav>
                                        <p:tav tm="100000">
                                          <p:val>
                                            <p:strVal val="#ppt_x"/>
                                          </p:val>
                                        </p:tav>
                                      </p:tavLst>
                                    </p:anim>
                                    <p:anim calcmode="lin" valueType="num">
                                      <p:cBhvr additive="base">
                                        <p:cTn id="28" dur="1000" fill="hold"/>
                                        <p:tgtEl>
                                          <p:spTgt spid="2322"/>
                                        </p:tgtEl>
                                        <p:attrNameLst>
                                          <p:attrName>ppt_y</p:attrName>
                                        </p:attrNameLst>
                                      </p:cBhvr>
                                      <p:tavLst>
                                        <p:tav tm="0">
                                          <p:val>
                                            <p:strVal val="#ppt_y"/>
                                          </p:val>
                                        </p:tav>
                                        <p:tav tm="100000">
                                          <p:val>
                                            <p:strVal val="#ppt_y"/>
                                          </p:val>
                                        </p:tav>
                                      </p:tavLst>
                                    </p:anim>
                                    <p:animEffect transition="in" filter="wipe(right)">
                                      <p:cBhvr additive="base">
                                        <p:cTn id="29" dur="1000"/>
                                        <p:tgtEl>
                                          <p:spTgt spid="2322"/>
                                        </p:tgtEl>
                                      </p:cBhvr>
                                    </p:animEffect>
                                  </p:childTnLst>
                                </p:cTn>
                              </p:par>
                              <p:par>
                                <p:cTn id="30" presetID="29" presetClass="entr" presetSubtype="0" fill="hold" nodeType="withEffect">
                                  <p:childTnLst>
                                    <p:set>
                                      <p:cBhvr additive="base">
                                        <p:cTn id="31" dur="1" fill="hold">
                                          <p:stCondLst>
                                            <p:cond delay="0"/>
                                          </p:stCondLst>
                                        </p:cTn>
                                        <p:tgtEl>
                                          <p:spTgt spid="2317">
                                            <p:txEl>
                                              <p:pRg st="2" end="2"/>
                                            </p:txEl>
                                          </p:spTgt>
                                        </p:tgtEl>
                                        <p:attrNameLst>
                                          <p:attrName>style.visibility</p:attrName>
                                        </p:attrNameLst>
                                      </p:cBhvr>
                                      <p:to>
                                        <p:strVal val="visible"/>
                                      </p:to>
                                    </p:set>
                                    <p:anim calcmode="lin" valueType="num">
                                      <p:cBhvr additive="base">
                                        <p:cTn id="32" dur="1000" fill="hold"/>
                                        <p:tgtEl>
                                          <p:spTgt spid="2317">
                                            <p:txEl>
                                              <p:pRg st="2" end="2"/>
                                            </p:txEl>
                                          </p:spTgt>
                                        </p:tgtEl>
                                        <p:attrNameLst>
                                          <p:attrName>ppt_x</p:attrName>
                                        </p:attrNameLst>
                                      </p:cBhvr>
                                      <p:tavLst>
                                        <p:tav tm="0">
                                          <p:val>
                                            <p:strVal val="#ppt_x-.2"/>
                                          </p:val>
                                        </p:tav>
                                        <p:tav tm="100000">
                                          <p:val>
                                            <p:strVal val="#ppt_x"/>
                                          </p:val>
                                        </p:tav>
                                      </p:tavLst>
                                    </p:anim>
                                    <p:anim calcmode="lin" valueType="num">
                                      <p:cBhvr additive="base">
                                        <p:cTn id="33" dur="1000" fill="hold"/>
                                        <p:tgtEl>
                                          <p:spTgt spid="2317">
                                            <p:txEl>
                                              <p:pRg st="2" end="2"/>
                                            </p:txEl>
                                          </p:spTgt>
                                        </p:tgtEl>
                                        <p:attrNameLst>
                                          <p:attrName>ppt_y</p:attrName>
                                        </p:attrNameLst>
                                      </p:cBhvr>
                                      <p:tavLst>
                                        <p:tav tm="0">
                                          <p:val>
                                            <p:strVal val="#ppt_y"/>
                                          </p:val>
                                        </p:tav>
                                        <p:tav tm="100000">
                                          <p:val>
                                            <p:strVal val="#ppt_y"/>
                                          </p:val>
                                        </p:tav>
                                      </p:tavLst>
                                    </p:anim>
                                    <p:animEffect transition="in" filter="wipe(right)">
                                      <p:cBhvr additive="base">
                                        <p:cTn id="34" dur="1000"/>
                                        <p:tgtEl>
                                          <p:spTgt spid="2317">
                                            <p:txEl>
                                              <p:pRg st="2" end="2"/>
                                            </p:txEl>
                                          </p:spTgt>
                                        </p:tgtEl>
                                      </p:cBhvr>
                                    </p:animEffect>
                                  </p:childTnLst>
                                </p:cTn>
                              </p:par>
                              <p:par>
                                <p:cTn id="35" presetID="29" presetClass="entr" presetSubtype="0" fill="hold" nodeType="withEffect">
                                  <p:childTnLst>
                                    <p:set>
                                      <p:cBhvr additive="base">
                                        <p:cTn id="36" dur="1" fill="hold">
                                          <p:stCondLst>
                                            <p:cond delay="0"/>
                                          </p:stCondLst>
                                        </p:cTn>
                                        <p:tgtEl>
                                          <p:spTgt spid="2317">
                                            <p:txEl>
                                              <p:pRg st="3" end="3"/>
                                            </p:txEl>
                                          </p:spTgt>
                                        </p:tgtEl>
                                        <p:attrNameLst>
                                          <p:attrName>style.visibility</p:attrName>
                                        </p:attrNameLst>
                                      </p:cBhvr>
                                      <p:to>
                                        <p:strVal val="visible"/>
                                      </p:to>
                                    </p:set>
                                    <p:anim calcmode="lin" valueType="num">
                                      <p:cBhvr additive="base">
                                        <p:cTn id="37" dur="1000" fill="hold"/>
                                        <p:tgtEl>
                                          <p:spTgt spid="2317">
                                            <p:txEl>
                                              <p:pRg st="3" end="3"/>
                                            </p:txEl>
                                          </p:spTgt>
                                        </p:tgtEl>
                                        <p:attrNameLst>
                                          <p:attrName>ppt_x</p:attrName>
                                        </p:attrNameLst>
                                      </p:cBhvr>
                                      <p:tavLst>
                                        <p:tav tm="0">
                                          <p:val>
                                            <p:strVal val="#ppt_x-.2"/>
                                          </p:val>
                                        </p:tav>
                                        <p:tav tm="100000">
                                          <p:val>
                                            <p:strVal val="#ppt_x"/>
                                          </p:val>
                                        </p:tav>
                                      </p:tavLst>
                                    </p:anim>
                                    <p:anim calcmode="lin" valueType="num">
                                      <p:cBhvr additive="base">
                                        <p:cTn id="38" dur="1000" fill="hold"/>
                                        <p:tgtEl>
                                          <p:spTgt spid="2317">
                                            <p:txEl>
                                              <p:pRg st="3" end="3"/>
                                            </p:txEl>
                                          </p:spTgt>
                                        </p:tgtEl>
                                        <p:attrNameLst>
                                          <p:attrName>ppt_y</p:attrName>
                                        </p:attrNameLst>
                                      </p:cBhvr>
                                      <p:tavLst>
                                        <p:tav tm="0">
                                          <p:val>
                                            <p:strVal val="#ppt_y"/>
                                          </p:val>
                                        </p:tav>
                                        <p:tav tm="100000">
                                          <p:val>
                                            <p:strVal val="#ppt_y"/>
                                          </p:val>
                                        </p:tav>
                                      </p:tavLst>
                                    </p:anim>
                                    <p:animEffect transition="in" filter="wipe(right)">
                                      <p:cBhvr additive="base">
                                        <p:cTn id="39" dur="1000"/>
                                        <p:tgtEl>
                                          <p:spTgt spid="2317">
                                            <p:txEl>
                                              <p:pRg st="3" end="3"/>
                                            </p:txEl>
                                          </p:spTgt>
                                        </p:tgtEl>
                                      </p:cBhvr>
                                    </p:animEffect>
                                  </p:childTnLst>
                                </p:cTn>
                              </p:par>
                              <p:par>
                                <p:cTn id="40" presetID="29" presetClass="entr" presetSubtype="0" fill="hold" nodeType="withEffect">
                                  <p:childTnLst>
                                    <p:set>
                                      <p:cBhvr additive="base">
                                        <p:cTn id="41" dur="1" fill="hold">
                                          <p:stCondLst>
                                            <p:cond delay="0"/>
                                          </p:stCondLst>
                                        </p:cTn>
                                        <p:tgtEl>
                                          <p:spTgt spid="2317">
                                            <p:txEl>
                                              <p:pRg st="7" end="7"/>
                                            </p:txEl>
                                          </p:spTgt>
                                        </p:tgtEl>
                                        <p:attrNameLst>
                                          <p:attrName>style.visibility</p:attrName>
                                        </p:attrNameLst>
                                      </p:cBhvr>
                                      <p:to>
                                        <p:strVal val="visible"/>
                                      </p:to>
                                    </p:set>
                                    <p:anim calcmode="lin" valueType="num">
                                      <p:cBhvr additive="base">
                                        <p:cTn id="42" dur="1000" fill="hold"/>
                                        <p:tgtEl>
                                          <p:spTgt spid="2317">
                                            <p:txEl>
                                              <p:pRg st="7" end="7"/>
                                            </p:txEl>
                                          </p:spTgt>
                                        </p:tgtEl>
                                        <p:attrNameLst>
                                          <p:attrName>ppt_x</p:attrName>
                                        </p:attrNameLst>
                                      </p:cBhvr>
                                      <p:tavLst>
                                        <p:tav tm="0">
                                          <p:val>
                                            <p:strVal val="#ppt_x-.2"/>
                                          </p:val>
                                        </p:tav>
                                        <p:tav tm="100000">
                                          <p:val>
                                            <p:strVal val="#ppt_x"/>
                                          </p:val>
                                        </p:tav>
                                      </p:tavLst>
                                    </p:anim>
                                    <p:anim calcmode="lin" valueType="num">
                                      <p:cBhvr additive="base">
                                        <p:cTn id="43" dur="1000" fill="hold"/>
                                        <p:tgtEl>
                                          <p:spTgt spid="2317">
                                            <p:txEl>
                                              <p:pRg st="7" end="7"/>
                                            </p:txEl>
                                          </p:spTgt>
                                        </p:tgtEl>
                                        <p:attrNameLst>
                                          <p:attrName>ppt_y</p:attrName>
                                        </p:attrNameLst>
                                      </p:cBhvr>
                                      <p:tavLst>
                                        <p:tav tm="0">
                                          <p:val>
                                            <p:strVal val="#ppt_y"/>
                                          </p:val>
                                        </p:tav>
                                        <p:tav tm="100000">
                                          <p:val>
                                            <p:strVal val="#ppt_y"/>
                                          </p:val>
                                        </p:tav>
                                      </p:tavLst>
                                    </p:anim>
                                    <p:animEffect transition="in" filter="wipe(right)">
                                      <p:cBhvr additive="base">
                                        <p:cTn id="44" dur="1000"/>
                                        <p:tgtEl>
                                          <p:spTgt spid="231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43</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26" name="标题 2325"/>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27" name="文本占位符 2326"/>
          <p:cNvSpPr>
            <a:spLocks noGrp="1"/>
          </p:cNvSpPr>
          <p:nvPr>
            <p:ph type="body" idx="4294967295"/>
          </p:nvPr>
        </p:nvSpPr>
        <p:spPr>
          <a:xfrm>
            <a:off x="611188" y="981075"/>
            <a:ext cx="7910512" cy="5327650"/>
          </a:xfrm>
        </p:spPr>
        <p:txBody>
          <a:bodyPr/>
          <a:lstStyle/>
          <a:p>
            <a:pPr>
              <a:buClr>
                <a:srgbClr val="993366"/>
              </a:buClr>
              <a:buNone/>
            </a:pPr>
            <a:r>
              <a:rPr lang="en-US" altLang="zh-CN">
                <a:ea typeface="MingLiU_HKSCS-ExtB" panose="02020500000000000000" charset="-120"/>
              </a:rPr>
              <a:t>(1) </a:t>
            </a:r>
            <a:r>
              <a:rPr lang="zh-CN" altLang="en-US">
                <a:ea typeface="MingLiU_HKSCS-ExtB" panose="02020500000000000000" charset="-120"/>
              </a:rPr>
              <a:t>率失真函数的定义域</a:t>
            </a:r>
          </a:p>
          <a:p>
            <a:pPr>
              <a:buClr>
                <a:srgbClr val="993366"/>
              </a:buClr>
            </a:pPr>
            <a:r>
              <a:rPr lang="zh-CN" altLang="en-US" sz="2400">
                <a:ea typeface="MingLiU_HKSCS-ExtB" panose="02020500000000000000" charset="-120"/>
              </a:rPr>
              <a:t> 信源最大平均失真度 </a:t>
            </a:r>
            <a:r>
              <a:rPr lang="en-US" altLang="zh-CN" sz="2400" i="1">
                <a:ea typeface="MingLiU_HKSCS-ExtB" panose="02020500000000000000" charset="-120"/>
              </a:rPr>
              <a:t>D</a:t>
            </a:r>
            <a:r>
              <a:rPr lang="en-US" altLang="zh-CN" sz="2400" baseline="-25000">
                <a:ea typeface="MingLiU_HKSCS-ExtB" panose="02020500000000000000" charset="-120"/>
              </a:rPr>
              <a:t>max</a:t>
            </a:r>
          </a:p>
          <a:p>
            <a:pPr marL="355600" lvl="1">
              <a:lnSpc>
                <a:spcPct val="120000"/>
              </a:lnSpc>
              <a:buClr>
                <a:srgbClr val="993366"/>
              </a:buClr>
            </a:pPr>
            <a:r>
              <a:rPr lang="en-US" altLang="zh-CN" sz="2000">
                <a:solidFill>
                  <a:srgbClr val="0000CC"/>
                </a:solidFill>
                <a:ea typeface="MingLiU_HKSCS-ExtB" panose="02020500000000000000" charset="-120"/>
              </a:rPr>
              <a:t> </a:t>
            </a:r>
            <a:r>
              <a:rPr lang="zh-CN" altLang="en-US" sz="2000" u="sng">
                <a:solidFill>
                  <a:srgbClr val="0000CC"/>
                </a:solidFill>
                <a:ea typeface="MingLiU_HKSCS-ExtB" panose="02020500000000000000" charset="-120"/>
              </a:rPr>
              <a:t>信源最大平均失真度 </a:t>
            </a:r>
            <a:r>
              <a:rPr lang="en-US" altLang="zh-CN" sz="2000" i="1" u="sng">
                <a:solidFill>
                  <a:srgbClr val="0000CC"/>
                </a:solidFill>
                <a:ea typeface="MingLiU_HKSCS-ExtB" panose="02020500000000000000" charset="-120"/>
              </a:rPr>
              <a:t>D</a:t>
            </a:r>
            <a:r>
              <a:rPr lang="en-US" altLang="zh-CN" sz="2000" u="sng" baseline="-25000">
                <a:solidFill>
                  <a:srgbClr val="0000CC"/>
                </a:solidFill>
                <a:ea typeface="MingLiU_HKSCS-ExtB" panose="02020500000000000000" charset="-120"/>
              </a:rPr>
              <a:t>max</a:t>
            </a:r>
            <a:r>
              <a:rPr lang="zh-CN" altLang="en-US" sz="2000">
                <a:solidFill>
                  <a:srgbClr val="0000CC"/>
                </a:solidFill>
                <a:ea typeface="MingLiU_HKSCS-ExtB" panose="02020500000000000000" charset="-120"/>
              </a:rPr>
              <a:t>：</a:t>
            </a:r>
            <a:r>
              <a:rPr lang="zh-CN" altLang="en-US" sz="2000">
                <a:ea typeface="MingLiU_HKSCS-ExtB" panose="02020500000000000000" charset="-120"/>
              </a:rPr>
              <a:t>必须的信息率越小，容忍的失真就越大。当 </a:t>
            </a:r>
            <a:r>
              <a:rPr lang="en-US" altLang="zh-CN" sz="2000" i="1">
                <a:ea typeface="MingLiU_HKSCS-ExtB" panose="02020500000000000000" charset="-120"/>
              </a:rPr>
              <a:t>R</a:t>
            </a:r>
            <a:r>
              <a:rPr lang="en-US" altLang="zh-CN" sz="2000">
                <a:ea typeface="MingLiU_HKSCS-ExtB" panose="02020500000000000000" charset="-120"/>
              </a:rPr>
              <a:t>(</a:t>
            </a:r>
            <a:r>
              <a:rPr lang="en-US" altLang="zh-CN" sz="2000" i="1">
                <a:ea typeface="MingLiU_HKSCS-ExtB" panose="02020500000000000000" charset="-120"/>
              </a:rPr>
              <a:t>D</a:t>
            </a:r>
            <a:r>
              <a:rPr lang="en-US" altLang="zh-CN" sz="2000">
                <a:ea typeface="MingLiU_HKSCS-ExtB" panose="02020500000000000000" charset="-120"/>
              </a:rPr>
              <a:t>) </a:t>
            </a:r>
            <a:r>
              <a:rPr lang="zh-CN" altLang="en-US" sz="2000">
                <a:ea typeface="MingLiU_HKSCS-ExtB" panose="02020500000000000000" charset="-120"/>
              </a:rPr>
              <a:t>等于 </a:t>
            </a:r>
            <a:r>
              <a:rPr lang="en-US" altLang="zh-CN" sz="2000">
                <a:ea typeface="MingLiU_HKSCS-ExtB" panose="02020500000000000000" charset="-120"/>
              </a:rPr>
              <a:t>0 </a:t>
            </a:r>
            <a:r>
              <a:rPr lang="zh-CN" altLang="en-US" sz="2000">
                <a:ea typeface="MingLiU_HKSCS-ExtB" panose="02020500000000000000" charset="-120"/>
              </a:rPr>
              <a:t>时，对应的平均失真最大，也就是</a:t>
            </a:r>
            <a:r>
              <a:rPr lang="zh-CN" altLang="en-US" sz="2000">
                <a:solidFill>
                  <a:srgbClr val="FF0000"/>
                </a:solidFill>
                <a:ea typeface="MingLiU_HKSCS-ExtB" panose="02020500000000000000" charset="-120"/>
              </a:rPr>
              <a:t>函数 </a:t>
            </a:r>
            <a:r>
              <a:rPr lang="en-US" altLang="zh-CN" sz="2000" i="1">
                <a:solidFill>
                  <a:srgbClr val="FF0000"/>
                </a:solidFill>
                <a:ea typeface="MingLiU_HKSCS-ExtB" panose="02020500000000000000" charset="-120"/>
              </a:rPr>
              <a:t>R</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D</a:t>
            </a:r>
            <a:r>
              <a:rPr lang="en-US" altLang="zh-CN" sz="2000">
                <a:solidFill>
                  <a:srgbClr val="FF0000"/>
                </a:solidFill>
                <a:ea typeface="MingLiU_HKSCS-ExtB" panose="02020500000000000000" charset="-120"/>
              </a:rPr>
              <a:t>) </a:t>
            </a:r>
            <a:r>
              <a:rPr lang="zh-CN" altLang="en-US" sz="2000">
                <a:solidFill>
                  <a:srgbClr val="FF0000"/>
                </a:solidFill>
                <a:ea typeface="MingLiU_HKSCS-ExtB" panose="02020500000000000000" charset="-120"/>
              </a:rPr>
              <a:t>定义域的上界值 </a:t>
            </a:r>
            <a:r>
              <a:rPr lang="en-US" altLang="zh-CN" sz="2000" i="1">
                <a:solidFill>
                  <a:srgbClr val="FF0000"/>
                </a:solidFill>
                <a:ea typeface="MingLiU_HKSCS-ExtB" panose="02020500000000000000" charset="-120"/>
              </a:rPr>
              <a:t>D</a:t>
            </a:r>
            <a:r>
              <a:rPr lang="en-US" altLang="zh-CN" sz="2000" baseline="-25000">
                <a:solidFill>
                  <a:srgbClr val="FF0000"/>
                </a:solidFill>
                <a:ea typeface="MingLiU_HKSCS-ExtB" panose="02020500000000000000" charset="-120"/>
              </a:rPr>
              <a:t>max</a:t>
            </a:r>
            <a:r>
              <a:rPr lang="en-US" altLang="zh-CN" sz="2000">
                <a:solidFill>
                  <a:srgbClr val="FF0000"/>
                </a:solidFill>
                <a:ea typeface="MingLiU_HKSCS-ExtB" panose="02020500000000000000" charset="-120"/>
              </a:rPr>
              <a:t> </a:t>
            </a:r>
            <a:r>
              <a:rPr lang="zh-CN" altLang="en-US" sz="2000">
                <a:solidFill>
                  <a:srgbClr val="FF0000"/>
                </a:solidFill>
                <a:ea typeface="MingLiU_HKSCS-ExtB" panose="02020500000000000000" charset="-120"/>
              </a:rPr>
              <a:t>。</a:t>
            </a:r>
          </a:p>
          <a:p>
            <a:pPr marL="355600" lvl="1">
              <a:lnSpc>
                <a:spcPct val="120000"/>
              </a:lnSpc>
              <a:buClr>
                <a:srgbClr val="993366"/>
              </a:buClr>
            </a:pPr>
            <a:r>
              <a:rPr lang="zh-CN" altLang="en-US" sz="2000">
                <a:ea typeface="MingLiU_HKSCS-ExtB" panose="02020500000000000000" charset="-120"/>
              </a:rPr>
              <a:t> 信息率失真函数是平均互信息的极小值：</a:t>
            </a:r>
          </a:p>
          <a:p>
            <a:pPr marL="723900" lvl="2">
              <a:lnSpc>
                <a:spcPct val="120000"/>
              </a:lnSpc>
              <a:buClr>
                <a:srgbClr val="993366"/>
              </a:buClr>
            </a:pPr>
            <a:r>
              <a:rPr lang="zh-CN" altLang="en-US">
                <a:ea typeface="MingLiU_HKSCS-ExtB" panose="02020500000000000000" charset="-120"/>
              </a:rPr>
              <a:t> 当 </a:t>
            </a:r>
            <a:r>
              <a:rPr lang="en-US" altLang="zh-CN" i="1">
                <a:ea typeface="MingLiU_HKSCS-ExtB" panose="02020500000000000000" charset="-120"/>
              </a:rPr>
              <a:t>R</a:t>
            </a:r>
            <a:r>
              <a:rPr lang="en-US" altLang="zh-CN">
                <a:ea typeface="MingLiU_HKSCS-ExtB" panose="02020500000000000000" charset="-120"/>
              </a:rPr>
              <a:t>(</a:t>
            </a:r>
            <a:r>
              <a:rPr lang="en-US" altLang="zh-CN" i="1">
                <a:ea typeface="MingLiU_HKSCS-ExtB" panose="02020500000000000000" charset="-120"/>
              </a:rPr>
              <a:t>D</a:t>
            </a:r>
            <a:r>
              <a:rPr lang="en-US" altLang="zh-CN">
                <a:ea typeface="MingLiU_HKSCS-ExtB" panose="02020500000000000000" charset="-120"/>
              </a:rPr>
              <a:t>) =0 </a:t>
            </a:r>
            <a:r>
              <a:rPr lang="zh-CN" altLang="en-US">
                <a:ea typeface="MingLiU_HKSCS-ExtB" panose="02020500000000000000" charset="-120"/>
              </a:rPr>
              <a:t>时，平均互信息的极小值等于 </a:t>
            </a:r>
            <a:r>
              <a:rPr lang="en-US" altLang="zh-CN">
                <a:ea typeface="MingLiU_HKSCS-ExtB" panose="02020500000000000000" charset="-120"/>
              </a:rPr>
              <a:t>0</a:t>
            </a:r>
            <a:r>
              <a:rPr lang="zh-CN" altLang="en-US">
                <a:ea typeface="MingLiU_HKSCS-ExtB" panose="02020500000000000000" charset="-120"/>
              </a:rPr>
              <a:t>；</a:t>
            </a:r>
          </a:p>
          <a:p>
            <a:pPr marL="723900" lvl="2">
              <a:lnSpc>
                <a:spcPct val="120000"/>
              </a:lnSpc>
              <a:buClr>
                <a:srgbClr val="993366"/>
              </a:buClr>
            </a:pPr>
            <a:r>
              <a:rPr lang="zh-CN" altLang="en-US">
                <a:ea typeface="MingLiU_HKSCS-ExtB" panose="02020500000000000000" charset="-120"/>
              </a:rPr>
              <a:t> 当 </a:t>
            </a:r>
            <a:r>
              <a:rPr lang="en-US" altLang="zh-CN" i="1">
                <a:ea typeface="MingLiU_HKSCS-ExtB" panose="02020500000000000000" charset="-120"/>
              </a:rPr>
              <a:t>D </a:t>
            </a:r>
            <a:r>
              <a:rPr lang="en-US" altLang="zh-CN">
                <a:ea typeface="MingLiU_HKSCS-ExtB" panose="02020500000000000000" charset="-120"/>
              </a:rPr>
              <a:t>&gt;</a:t>
            </a:r>
            <a:r>
              <a:rPr lang="en-US" altLang="zh-CN" i="1">
                <a:ea typeface="MingLiU_HKSCS-ExtB" panose="02020500000000000000" charset="-120"/>
              </a:rPr>
              <a:t>D</a:t>
            </a:r>
            <a:r>
              <a:rPr lang="en-US" altLang="zh-CN" baseline="-25000">
                <a:ea typeface="MingLiU_HKSCS-ExtB" panose="02020500000000000000" charset="-120"/>
              </a:rPr>
              <a:t>max  </a:t>
            </a:r>
            <a:r>
              <a:rPr lang="zh-CN" altLang="en-US">
                <a:ea typeface="MingLiU_HKSCS-ExtB" panose="02020500000000000000" charset="-120"/>
              </a:rPr>
              <a:t>时，从数学意义上讲，因为 </a:t>
            </a:r>
            <a:r>
              <a:rPr lang="en-US" altLang="zh-CN" i="1">
                <a:ea typeface="MingLiU_HKSCS-ExtB" panose="02020500000000000000" charset="-120"/>
              </a:rPr>
              <a:t>R</a:t>
            </a:r>
            <a:r>
              <a:rPr lang="en-US" altLang="zh-CN">
                <a:ea typeface="MingLiU_HKSCS-ExtB" panose="02020500000000000000" charset="-120"/>
              </a:rPr>
              <a:t>(</a:t>
            </a:r>
            <a:r>
              <a:rPr lang="en-US" altLang="zh-CN" i="1">
                <a:ea typeface="MingLiU_HKSCS-ExtB" panose="02020500000000000000" charset="-120"/>
              </a:rPr>
              <a:t>D</a:t>
            </a:r>
            <a:r>
              <a:rPr lang="en-US" altLang="zh-CN">
                <a:ea typeface="MingLiU_HKSCS-ExtB" panose="02020500000000000000" charset="-120"/>
              </a:rPr>
              <a:t>) </a:t>
            </a:r>
            <a:r>
              <a:rPr lang="zh-CN" altLang="en-US">
                <a:ea typeface="MingLiU_HKSCS-ExtB" panose="02020500000000000000" charset="-120"/>
              </a:rPr>
              <a:t>是非负函数，所以它仍只能等于 </a:t>
            </a:r>
            <a:r>
              <a:rPr lang="en-US" altLang="zh-CN">
                <a:ea typeface="MingLiU_HKSCS-ExtB" panose="02020500000000000000" charset="-120"/>
              </a:rPr>
              <a:t>0</a:t>
            </a:r>
            <a:r>
              <a:rPr lang="zh-CN" altLang="en-US">
                <a:ea typeface="MingLiU_HKSCS-ExtB" panose="02020500000000000000" charset="-120"/>
              </a:rPr>
              <a:t>。</a:t>
            </a:r>
          </a:p>
          <a:p>
            <a:pPr marL="355600" lvl="1">
              <a:lnSpc>
                <a:spcPct val="120000"/>
              </a:lnSpc>
              <a:buClr>
                <a:srgbClr val="993366"/>
              </a:buClr>
              <a:buNone/>
            </a:pPr>
            <a:r>
              <a:rPr lang="zh-CN" altLang="en-US" sz="2000">
                <a:ea typeface="MingLiU_HKSCS-ExtB" panose="02020500000000000000" charset="-120"/>
              </a:rPr>
              <a:t>这相当于输入 </a:t>
            </a:r>
            <a:r>
              <a:rPr lang="en-US" altLang="zh-CN" sz="2000" i="1">
                <a:ea typeface="MingLiU_HKSCS-ExtB" panose="02020500000000000000" charset="-120"/>
              </a:rPr>
              <a:t>X </a:t>
            </a:r>
            <a:r>
              <a:rPr lang="zh-CN" altLang="en-US" sz="2000">
                <a:ea typeface="MingLiU_HKSCS-ExtB" panose="02020500000000000000" charset="-120"/>
              </a:rPr>
              <a:t>和输出 </a:t>
            </a:r>
            <a:r>
              <a:rPr lang="en-US" altLang="zh-CN" sz="2000" i="1">
                <a:ea typeface="MingLiU_HKSCS-ExtB" panose="02020500000000000000" charset="-120"/>
              </a:rPr>
              <a:t>Y </a:t>
            </a:r>
            <a:r>
              <a:rPr lang="zh-CN" altLang="en-US" sz="2000">
                <a:ea typeface="MingLiU_HKSCS-ExtB" panose="02020500000000000000" charset="-120"/>
              </a:rPr>
              <a:t>统计独立。意味着</a:t>
            </a:r>
            <a:r>
              <a:rPr lang="zh-CN" altLang="en-US" sz="2000">
                <a:solidFill>
                  <a:srgbClr val="FF0000"/>
                </a:solidFill>
                <a:ea typeface="MingLiU_HKSCS-ExtB" panose="02020500000000000000" charset="-120"/>
              </a:rPr>
              <a:t>在接收端收不到信源发送的任何信息</a:t>
            </a:r>
            <a:r>
              <a:rPr lang="zh-CN" altLang="en-US" sz="2000">
                <a:ea typeface="MingLiU_HKSCS-ExtB" panose="02020500000000000000" charset="-120"/>
              </a:rPr>
              <a:t>，与</a:t>
            </a:r>
            <a:r>
              <a:rPr lang="zh-CN" altLang="en-US" sz="2000">
                <a:solidFill>
                  <a:srgbClr val="FF0000"/>
                </a:solidFill>
                <a:ea typeface="MingLiU_HKSCS-ExtB" panose="02020500000000000000" charset="-120"/>
              </a:rPr>
              <a:t>信源不发送任何信息</a:t>
            </a:r>
            <a:r>
              <a:rPr lang="zh-CN" altLang="en-US" sz="2000">
                <a:ea typeface="MingLiU_HKSCS-ExtB" panose="02020500000000000000" charset="-120"/>
              </a:rPr>
              <a:t>等效。或者说</a:t>
            </a:r>
            <a:r>
              <a:rPr lang="zh-CN" altLang="en-US" sz="2000">
                <a:solidFill>
                  <a:srgbClr val="FF0000"/>
                </a:solidFill>
                <a:ea typeface="MingLiU_HKSCS-ExtB" panose="02020500000000000000" charset="-120"/>
              </a:rPr>
              <a:t>传送信源符号的信息率可以压缩至 </a:t>
            </a:r>
            <a:r>
              <a:rPr lang="en-US" altLang="zh-CN" sz="2000">
                <a:solidFill>
                  <a:srgbClr val="FF0000"/>
                </a:solidFill>
                <a:ea typeface="MingLiU_HKSCS-ExtB" panose="02020500000000000000" charset="-120"/>
              </a:rPr>
              <a:t>0</a:t>
            </a:r>
            <a:r>
              <a:rPr lang="zh-CN" altLang="en-US" sz="2000">
                <a:ea typeface="MingLiU_HKSCS-ExtB" panose="02020500000000000000" charset="-120"/>
              </a:rPr>
              <a:t>。</a:t>
            </a:r>
          </a:p>
        </p:txBody>
      </p:sp>
      <p:sp>
        <p:nvSpPr>
          <p:cNvPr id="2328" name="矩形 2327"/>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327">
                                            <p:txEl>
                                              <p:pRg st="1" end="1"/>
                                            </p:txEl>
                                          </p:spTgt>
                                        </p:tgtEl>
                                        <p:attrNameLst>
                                          <p:attrName>style.visibility</p:attrName>
                                        </p:attrNameLst>
                                      </p:cBhvr>
                                      <p:to>
                                        <p:strVal val="visible"/>
                                      </p:to>
                                    </p:set>
                                    <p:anim calcmode="lin" valueType="num">
                                      <p:cBhvr additive="base">
                                        <p:cTn id="7" dur="1000" fill="hold"/>
                                        <p:tgtEl>
                                          <p:spTgt spid="2327">
                                            <p:txEl>
                                              <p:pRg st="1" end="1"/>
                                            </p:txEl>
                                          </p:spTgt>
                                        </p:tgtEl>
                                        <p:attrNameLst>
                                          <p:attrName>ppt_x</p:attrName>
                                        </p:attrNameLst>
                                      </p:cBhvr>
                                      <p:tavLst>
                                        <p:tav tm="0">
                                          <p:val>
                                            <p:strVal val="#ppt_x-.2"/>
                                          </p:val>
                                        </p:tav>
                                        <p:tav tm="100000">
                                          <p:val>
                                            <p:strVal val="#ppt_x"/>
                                          </p:val>
                                        </p:tav>
                                      </p:tavLst>
                                    </p:anim>
                                    <p:anim calcmode="lin" valueType="num">
                                      <p:cBhvr additive="base">
                                        <p:cTn id="8" dur="1000" fill="hold"/>
                                        <p:tgtEl>
                                          <p:spTgt spid="2327">
                                            <p:txEl>
                                              <p:pRg st="1" end="1"/>
                                            </p:txEl>
                                          </p:spTgt>
                                        </p:tgtEl>
                                        <p:attrNameLst>
                                          <p:attrName>ppt_y</p:attrName>
                                        </p:attrNameLst>
                                      </p:cBhvr>
                                      <p:tavLst>
                                        <p:tav tm="0">
                                          <p:val>
                                            <p:strVal val="#ppt_y"/>
                                          </p:val>
                                        </p:tav>
                                        <p:tav tm="100000">
                                          <p:val>
                                            <p:strVal val="#ppt_y"/>
                                          </p:val>
                                        </p:tav>
                                      </p:tavLst>
                                    </p:anim>
                                    <p:animEffect transition="in" filter="wipe(right)">
                                      <p:cBhvr additive="base">
                                        <p:cTn id="9" dur="1000"/>
                                        <p:tgtEl>
                                          <p:spTgt spid="2327">
                                            <p:txEl>
                                              <p:pRg st="1" end="1"/>
                                            </p:txEl>
                                          </p:spTgt>
                                        </p:tgtEl>
                                      </p:cBhvr>
                                    </p:animEffect>
                                  </p:childTnLst>
                                </p:cTn>
                              </p:par>
                              <p:par>
                                <p:cTn id="10" presetID="29" presetClass="entr" presetSubtype="0" fill="hold" nodeType="withEffect">
                                  <p:childTnLst>
                                    <p:set>
                                      <p:cBhvr additive="base">
                                        <p:cTn id="11" dur="1" fill="hold">
                                          <p:stCondLst>
                                            <p:cond delay="0"/>
                                          </p:stCondLst>
                                        </p:cTn>
                                        <p:tgtEl>
                                          <p:spTgt spid="2327">
                                            <p:txEl>
                                              <p:pRg st="2" end="2"/>
                                            </p:txEl>
                                          </p:spTgt>
                                        </p:tgtEl>
                                        <p:attrNameLst>
                                          <p:attrName>style.visibility</p:attrName>
                                        </p:attrNameLst>
                                      </p:cBhvr>
                                      <p:to>
                                        <p:strVal val="visible"/>
                                      </p:to>
                                    </p:set>
                                    <p:anim calcmode="lin" valueType="num">
                                      <p:cBhvr additive="base">
                                        <p:cTn id="12" dur="1000" fill="hold"/>
                                        <p:tgtEl>
                                          <p:spTgt spid="2327">
                                            <p:txEl>
                                              <p:pRg st="2" end="2"/>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327">
                                            <p:txEl>
                                              <p:pRg st="2" end="2"/>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327">
                                            <p:txEl>
                                              <p:pRg st="2" end="2"/>
                                            </p:txEl>
                                          </p:spTgt>
                                        </p:tgtEl>
                                      </p:cBhvr>
                                    </p:animEffect>
                                  </p:childTnLst>
                                </p:cTn>
                              </p:par>
                              <p:par>
                                <p:cTn id="15" presetID="29" presetClass="entr" presetSubtype="0" fill="hold" nodeType="withEffect">
                                  <p:childTnLst>
                                    <p:set>
                                      <p:cBhvr additive="base">
                                        <p:cTn id="16" dur="1" fill="hold">
                                          <p:stCondLst>
                                            <p:cond delay="0"/>
                                          </p:stCondLst>
                                        </p:cTn>
                                        <p:tgtEl>
                                          <p:spTgt spid="2327">
                                            <p:txEl>
                                              <p:pRg st="3" end="3"/>
                                            </p:txEl>
                                          </p:spTgt>
                                        </p:tgtEl>
                                        <p:attrNameLst>
                                          <p:attrName>style.visibility</p:attrName>
                                        </p:attrNameLst>
                                      </p:cBhvr>
                                      <p:to>
                                        <p:strVal val="visible"/>
                                      </p:to>
                                    </p:set>
                                    <p:anim calcmode="lin" valueType="num">
                                      <p:cBhvr additive="base">
                                        <p:cTn id="17" dur="1000" fill="hold"/>
                                        <p:tgtEl>
                                          <p:spTgt spid="2327">
                                            <p:txEl>
                                              <p:pRg st="3" end="3"/>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327">
                                            <p:txEl>
                                              <p:pRg st="3" end="3"/>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327">
                                            <p:txEl>
                                              <p:pRg st="3" end="3"/>
                                            </p:txEl>
                                          </p:spTgt>
                                        </p:tgtEl>
                                      </p:cBhvr>
                                    </p:animEffect>
                                  </p:childTnLst>
                                </p:cTn>
                              </p:par>
                              <p:par>
                                <p:cTn id="20" presetID="29" presetClass="entr" presetSubtype="0" fill="hold" nodeType="withEffect">
                                  <p:childTnLst>
                                    <p:set>
                                      <p:cBhvr additive="base">
                                        <p:cTn id="21" dur="1" fill="hold">
                                          <p:stCondLst>
                                            <p:cond delay="0"/>
                                          </p:stCondLst>
                                        </p:cTn>
                                        <p:tgtEl>
                                          <p:spTgt spid="2327">
                                            <p:txEl>
                                              <p:pRg st="4" end="4"/>
                                            </p:txEl>
                                          </p:spTgt>
                                        </p:tgtEl>
                                        <p:attrNameLst>
                                          <p:attrName>style.visibility</p:attrName>
                                        </p:attrNameLst>
                                      </p:cBhvr>
                                      <p:to>
                                        <p:strVal val="visible"/>
                                      </p:to>
                                    </p:set>
                                    <p:anim calcmode="lin" valueType="num">
                                      <p:cBhvr additive="base">
                                        <p:cTn id="22" dur="1000" fill="hold"/>
                                        <p:tgtEl>
                                          <p:spTgt spid="2327">
                                            <p:txEl>
                                              <p:pRg st="4" end="4"/>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327">
                                            <p:txEl>
                                              <p:pRg st="4" end="4"/>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327">
                                            <p:txEl>
                                              <p:pRg st="4" end="4"/>
                                            </p:txEl>
                                          </p:spTgt>
                                        </p:tgtEl>
                                      </p:cBhvr>
                                    </p:animEffect>
                                  </p:childTnLst>
                                </p:cTn>
                              </p:par>
                              <p:par>
                                <p:cTn id="25" presetID="29" presetClass="entr" presetSubtype="0" fill="hold" nodeType="withEffect">
                                  <p:childTnLst>
                                    <p:set>
                                      <p:cBhvr additive="base">
                                        <p:cTn id="26" dur="1" fill="hold">
                                          <p:stCondLst>
                                            <p:cond delay="0"/>
                                          </p:stCondLst>
                                        </p:cTn>
                                        <p:tgtEl>
                                          <p:spTgt spid="2327">
                                            <p:txEl>
                                              <p:pRg st="5" end="5"/>
                                            </p:txEl>
                                          </p:spTgt>
                                        </p:tgtEl>
                                        <p:attrNameLst>
                                          <p:attrName>style.visibility</p:attrName>
                                        </p:attrNameLst>
                                      </p:cBhvr>
                                      <p:to>
                                        <p:strVal val="visible"/>
                                      </p:to>
                                    </p:set>
                                    <p:anim calcmode="lin" valueType="num">
                                      <p:cBhvr additive="base">
                                        <p:cTn id="27" dur="1000" fill="hold"/>
                                        <p:tgtEl>
                                          <p:spTgt spid="2327">
                                            <p:txEl>
                                              <p:pRg st="5" end="5"/>
                                            </p:txEl>
                                          </p:spTgt>
                                        </p:tgtEl>
                                        <p:attrNameLst>
                                          <p:attrName>ppt_x</p:attrName>
                                        </p:attrNameLst>
                                      </p:cBhvr>
                                      <p:tavLst>
                                        <p:tav tm="0">
                                          <p:val>
                                            <p:strVal val="#ppt_x-.2"/>
                                          </p:val>
                                        </p:tav>
                                        <p:tav tm="100000">
                                          <p:val>
                                            <p:strVal val="#ppt_x"/>
                                          </p:val>
                                        </p:tav>
                                      </p:tavLst>
                                    </p:anim>
                                    <p:anim calcmode="lin" valueType="num">
                                      <p:cBhvr additive="base">
                                        <p:cTn id="28" dur="1000" fill="hold"/>
                                        <p:tgtEl>
                                          <p:spTgt spid="2327">
                                            <p:txEl>
                                              <p:pRg st="5" end="5"/>
                                            </p:txEl>
                                          </p:spTgt>
                                        </p:tgtEl>
                                        <p:attrNameLst>
                                          <p:attrName>ppt_y</p:attrName>
                                        </p:attrNameLst>
                                      </p:cBhvr>
                                      <p:tavLst>
                                        <p:tav tm="0">
                                          <p:val>
                                            <p:strVal val="#ppt_y"/>
                                          </p:val>
                                        </p:tav>
                                        <p:tav tm="100000">
                                          <p:val>
                                            <p:strVal val="#ppt_y"/>
                                          </p:val>
                                        </p:tav>
                                      </p:tavLst>
                                    </p:anim>
                                    <p:animEffect transition="in" filter="wipe(right)">
                                      <p:cBhvr additive="base">
                                        <p:cTn id="29" dur="1000"/>
                                        <p:tgtEl>
                                          <p:spTgt spid="2327">
                                            <p:txEl>
                                              <p:pRg st="5" end="5"/>
                                            </p:txEl>
                                          </p:spTgt>
                                        </p:tgtEl>
                                      </p:cBhvr>
                                    </p:animEffect>
                                  </p:childTnLst>
                                </p:cTn>
                              </p:par>
                              <p:par>
                                <p:cTn id="30" presetID="29" presetClass="entr" presetSubtype="0" fill="hold" nodeType="withEffect">
                                  <p:childTnLst>
                                    <p:set>
                                      <p:cBhvr additive="base">
                                        <p:cTn id="31" dur="1" fill="hold">
                                          <p:stCondLst>
                                            <p:cond delay="0"/>
                                          </p:stCondLst>
                                        </p:cTn>
                                        <p:tgtEl>
                                          <p:spTgt spid="2327">
                                            <p:txEl>
                                              <p:pRg st="6" end="6"/>
                                            </p:txEl>
                                          </p:spTgt>
                                        </p:tgtEl>
                                        <p:attrNameLst>
                                          <p:attrName>style.visibility</p:attrName>
                                        </p:attrNameLst>
                                      </p:cBhvr>
                                      <p:to>
                                        <p:strVal val="visible"/>
                                      </p:to>
                                    </p:set>
                                    <p:anim calcmode="lin" valueType="num">
                                      <p:cBhvr additive="base">
                                        <p:cTn id="32" dur="1000" fill="hold"/>
                                        <p:tgtEl>
                                          <p:spTgt spid="2327">
                                            <p:txEl>
                                              <p:pRg st="6" end="6"/>
                                            </p:txEl>
                                          </p:spTgt>
                                        </p:tgtEl>
                                        <p:attrNameLst>
                                          <p:attrName>ppt_x</p:attrName>
                                        </p:attrNameLst>
                                      </p:cBhvr>
                                      <p:tavLst>
                                        <p:tav tm="0">
                                          <p:val>
                                            <p:strVal val="#ppt_x-.2"/>
                                          </p:val>
                                        </p:tav>
                                        <p:tav tm="100000">
                                          <p:val>
                                            <p:strVal val="#ppt_x"/>
                                          </p:val>
                                        </p:tav>
                                      </p:tavLst>
                                    </p:anim>
                                    <p:anim calcmode="lin" valueType="num">
                                      <p:cBhvr additive="base">
                                        <p:cTn id="33" dur="1000" fill="hold"/>
                                        <p:tgtEl>
                                          <p:spTgt spid="2327">
                                            <p:txEl>
                                              <p:pRg st="6" end="6"/>
                                            </p:txEl>
                                          </p:spTgt>
                                        </p:tgtEl>
                                        <p:attrNameLst>
                                          <p:attrName>ppt_y</p:attrName>
                                        </p:attrNameLst>
                                      </p:cBhvr>
                                      <p:tavLst>
                                        <p:tav tm="0">
                                          <p:val>
                                            <p:strVal val="#ppt_y"/>
                                          </p:val>
                                        </p:tav>
                                        <p:tav tm="100000">
                                          <p:val>
                                            <p:strVal val="#ppt_y"/>
                                          </p:val>
                                        </p:tav>
                                      </p:tavLst>
                                    </p:anim>
                                    <p:animEffect transition="in" filter="wipe(right)">
                                      <p:cBhvr additive="base">
                                        <p:cTn id="34" dur="1000"/>
                                        <p:tgtEl>
                                          <p:spTgt spid="23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44</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31" name="矩形 2330"/>
          <p:cNvSpPr/>
          <p:nvPr/>
        </p:nvSpPr>
        <p:spPr>
          <a:xfrm>
            <a:off x="5437188" y="5373688"/>
            <a:ext cx="2325687" cy="719137"/>
          </a:xfrm>
          <a:prstGeom prst="rect">
            <a:avLst/>
          </a:prstGeom>
          <a:solidFill>
            <a:srgbClr val="FFD9FF">
              <a:alpha val="50195"/>
            </a:srgbClr>
          </a:solidFill>
          <a:ln w="12700">
            <a:noFill/>
          </a:ln>
        </p:spPr>
        <p:txBody>
          <a:bodyPr/>
          <a:lstStyle/>
          <a:p>
            <a:endParaRPr lang="zh-CN" altLang="en-US"/>
          </a:p>
        </p:txBody>
      </p:sp>
      <p:sp>
        <p:nvSpPr>
          <p:cNvPr id="2332" name="矩形 2331"/>
          <p:cNvSpPr/>
          <p:nvPr/>
        </p:nvSpPr>
        <p:spPr>
          <a:xfrm>
            <a:off x="2179638" y="5373688"/>
            <a:ext cx="2325687" cy="719137"/>
          </a:xfrm>
          <a:prstGeom prst="rect">
            <a:avLst/>
          </a:prstGeom>
          <a:solidFill>
            <a:srgbClr val="FFD9FF">
              <a:alpha val="50195"/>
            </a:srgbClr>
          </a:solidFill>
          <a:ln w="12700">
            <a:noFill/>
          </a:ln>
        </p:spPr>
        <p:txBody>
          <a:bodyPr/>
          <a:lstStyle/>
          <a:p>
            <a:endParaRPr lang="zh-CN" altLang="en-US"/>
          </a:p>
        </p:txBody>
      </p:sp>
      <p:graphicFrame>
        <p:nvGraphicFramePr>
          <p:cNvPr id="2333" name="对象 2332"/>
          <p:cNvGraphicFramePr/>
          <p:nvPr/>
        </p:nvGraphicFramePr>
        <p:xfrm>
          <a:off x="1647825" y="4581525"/>
          <a:ext cx="7178675" cy="1503363"/>
        </p:xfrm>
        <a:graphic>
          <a:graphicData uri="http://schemas.openxmlformats.org/presentationml/2006/ole">
            <mc:AlternateContent xmlns:mc="http://schemas.openxmlformats.org/markup-compatibility/2006">
              <mc:Choice xmlns:v="urn:schemas-microsoft-com:vml" Requires="v">
                <p:oleObj spid="_x0000_s27650" r:id="rId3" imgW="1766570" imgH="927100" progId="Equation.3">
                  <p:embed/>
                </p:oleObj>
              </mc:Choice>
              <mc:Fallback>
                <p:oleObj r:id="rId3" imgW="1766570" imgH="927100" progId="Equation.3">
                  <p:embed/>
                  <p:pic>
                    <p:nvPicPr>
                      <p:cNvPr id="0" name="图片 3145"/>
                      <p:cNvPicPr/>
                      <p:nvPr/>
                    </p:nvPicPr>
                    <p:blipFill>
                      <a:blip r:embed="rId4"/>
                      <a:stretch>
                        <a:fillRect/>
                      </a:stretch>
                    </p:blipFill>
                    <p:spPr>
                      <a:xfrm>
                        <a:off x="1647825" y="4581525"/>
                        <a:ext cx="7178675" cy="1503363"/>
                      </a:xfrm>
                      <a:prstGeom prst="rect">
                        <a:avLst/>
                      </a:prstGeom>
                      <a:noFill/>
                      <a:ln w="38100">
                        <a:noFill/>
                        <a:miter/>
                      </a:ln>
                    </p:spPr>
                  </p:pic>
                </p:oleObj>
              </mc:Fallback>
            </mc:AlternateContent>
          </a:graphicData>
        </a:graphic>
      </p:graphicFrame>
      <p:sp>
        <p:nvSpPr>
          <p:cNvPr id="2334" name="标题 2333"/>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35" name="文本占位符 2334"/>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(1) </a:t>
            </a:r>
            <a:r>
              <a:rPr lang="zh-CN" altLang="en-US">
                <a:ea typeface="MingLiU_HKSCS-ExtB" panose="02020500000000000000" charset="-120"/>
              </a:rPr>
              <a:t>率失真函数的定义域</a:t>
            </a:r>
          </a:p>
          <a:p>
            <a:pPr>
              <a:buClr>
                <a:srgbClr val="993366"/>
              </a:buClr>
            </a:pPr>
            <a:r>
              <a:rPr lang="zh-CN" altLang="en-US" sz="2400">
                <a:ea typeface="MingLiU_HKSCS-ExtB" panose="02020500000000000000" charset="-120"/>
              </a:rPr>
              <a:t> 信源最大平均失真度 </a:t>
            </a:r>
            <a:r>
              <a:rPr lang="en-US" altLang="zh-CN" sz="2400" i="1">
                <a:ea typeface="MingLiU_HKSCS-ExtB" panose="02020500000000000000" charset="-120"/>
              </a:rPr>
              <a:t>D</a:t>
            </a:r>
            <a:r>
              <a:rPr lang="en-US" altLang="zh-CN" sz="2400" baseline="-25000">
                <a:ea typeface="MingLiU_HKSCS-ExtB" panose="02020500000000000000" charset="-120"/>
              </a:rPr>
              <a:t>max</a:t>
            </a:r>
          </a:p>
          <a:p>
            <a:pPr marL="355600" lvl="1">
              <a:buClr>
                <a:srgbClr val="993366"/>
              </a:buClr>
            </a:pPr>
            <a:r>
              <a:rPr lang="en-US" altLang="zh-CN">
                <a:ea typeface="MingLiU_HKSCS-ExtB" panose="02020500000000000000" charset="-120"/>
              </a:rPr>
              <a:t> </a:t>
            </a:r>
            <a:r>
              <a:rPr lang="zh-CN" altLang="en-US" u="sng">
                <a:solidFill>
                  <a:srgbClr val="0000CC"/>
                </a:solidFill>
                <a:ea typeface="MingLiU_HKSCS-ExtB" panose="02020500000000000000" charset="-120"/>
              </a:rPr>
              <a:t>计算 </a:t>
            </a:r>
            <a:r>
              <a:rPr lang="en-US" altLang="zh-CN" i="1" u="sng">
                <a:solidFill>
                  <a:srgbClr val="0000CC"/>
                </a:solidFill>
                <a:ea typeface="MingLiU_HKSCS-ExtB" panose="02020500000000000000" charset="-120"/>
              </a:rPr>
              <a:t>D</a:t>
            </a:r>
            <a:r>
              <a:rPr lang="en-US" altLang="zh-CN" u="sng" baseline="-25000">
                <a:solidFill>
                  <a:srgbClr val="0000CC"/>
                </a:solidFill>
                <a:ea typeface="MingLiU_HKSCS-ExtB" panose="02020500000000000000" charset="-120"/>
              </a:rPr>
              <a:t>max  </a:t>
            </a:r>
            <a:r>
              <a:rPr lang="zh-CN" altLang="en-US" u="sng">
                <a:solidFill>
                  <a:srgbClr val="0000CC"/>
                </a:solidFill>
                <a:ea typeface="MingLiU_HKSCS-ExtB" panose="02020500000000000000" charset="-120"/>
              </a:rPr>
              <a:t>的值</a:t>
            </a:r>
          </a:p>
          <a:p>
            <a:pPr marL="723900" lvl="2">
              <a:buClr>
                <a:srgbClr val="993366"/>
              </a:buClr>
            </a:pPr>
            <a:r>
              <a:rPr lang="zh-CN" altLang="en-US">
                <a:ea typeface="MingLiU_HKSCS-ExtB" panose="02020500000000000000" charset="-120"/>
              </a:rPr>
              <a:t> 令试验信道特性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y</a:t>
            </a:r>
            <a:r>
              <a:rPr lang="en-US" altLang="zh-CN" i="1" baseline="-25000">
                <a:ea typeface="MingLiU_HKSCS-ExtB" panose="02020500000000000000" charset="-120"/>
              </a:rPr>
              <a:t>j </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a:t>
            </a:r>
            <a:r>
              <a:rPr lang="en-US" altLang="zh-CN">
                <a:ea typeface="MingLiU_HKSCS-ExtB" panose="02020500000000000000" charset="-120"/>
              </a:rPr>
              <a:t>)=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 (</a:t>
            </a:r>
            <a:r>
              <a:rPr lang="en-US" altLang="zh-CN" i="1">
                <a:ea typeface="MingLiU_HKSCS-ExtB" panose="02020500000000000000" charset="-120"/>
              </a:rPr>
              <a:t>i</a:t>
            </a:r>
            <a:r>
              <a:rPr lang="en-US" altLang="zh-CN">
                <a:ea typeface="MingLiU_HKSCS-ExtB" panose="02020500000000000000" charset="-120"/>
              </a:rPr>
              <a:t>=1,2,…,</a:t>
            </a:r>
            <a:r>
              <a:rPr lang="en-US" altLang="zh-CN" i="1">
                <a:ea typeface="MingLiU_HKSCS-ExtB" panose="02020500000000000000" charset="-120"/>
              </a:rPr>
              <a:t>n</a:t>
            </a:r>
            <a:r>
              <a:rPr lang="en-US" altLang="zh-CN">
                <a:ea typeface="MingLiU_HKSCS-ExtB" panose="02020500000000000000" charset="-120"/>
              </a:rPr>
              <a:t>)   </a:t>
            </a:r>
            <a:r>
              <a:rPr lang="zh-CN" altLang="en-US">
                <a:ea typeface="MingLiU_HKSCS-ExtB" panose="02020500000000000000" charset="-120"/>
              </a:rPr>
              <a:t>这时 </a:t>
            </a:r>
            <a:r>
              <a:rPr lang="en-US" altLang="zh-CN" i="1">
                <a:ea typeface="MingLiU_HKSCS-ExtB" panose="02020500000000000000" charset="-120"/>
              </a:rPr>
              <a:t>X </a:t>
            </a:r>
            <a:r>
              <a:rPr lang="zh-CN" altLang="en-US">
                <a:ea typeface="MingLiU_HKSCS-ExtB" panose="02020500000000000000" charset="-120"/>
              </a:rPr>
              <a:t>和 </a:t>
            </a:r>
            <a:r>
              <a:rPr lang="en-US" altLang="zh-CN" i="1">
                <a:ea typeface="MingLiU_HKSCS-ExtB" panose="02020500000000000000" charset="-120"/>
              </a:rPr>
              <a:t>Y </a:t>
            </a:r>
            <a:r>
              <a:rPr lang="zh-CN" altLang="en-US">
                <a:ea typeface="MingLiU_HKSCS-ExtB" panose="02020500000000000000" charset="-120"/>
              </a:rPr>
              <a:t>相互独立，等效于通信中断，因此 </a:t>
            </a:r>
            <a:r>
              <a:rPr lang="en-US" altLang="zh-CN" i="1">
                <a:ea typeface="MingLiU_HKSCS-ExtB" panose="02020500000000000000" charset="-120"/>
              </a:rPr>
              <a:t>I</a:t>
            </a:r>
            <a:r>
              <a:rPr lang="en-US" altLang="zh-CN">
                <a:ea typeface="MingLiU_HKSCS-ExtB" panose="02020500000000000000" charset="-120"/>
              </a:rPr>
              <a:t>(</a:t>
            </a:r>
            <a:r>
              <a:rPr lang="en-US" altLang="zh-CN" i="1">
                <a:ea typeface="MingLiU_HKSCS-ExtB" panose="02020500000000000000" charset="-120"/>
              </a:rPr>
              <a:t>X</a:t>
            </a:r>
            <a:r>
              <a:rPr lang="en-US" altLang="zh-CN">
                <a:ea typeface="MingLiU_HKSCS-ExtB" panose="02020500000000000000" charset="-120"/>
              </a:rPr>
              <a:t>;</a:t>
            </a:r>
            <a:r>
              <a:rPr lang="en-US" altLang="zh-CN" i="1">
                <a:ea typeface="MingLiU_HKSCS-ExtB" panose="02020500000000000000" charset="-120"/>
              </a:rPr>
              <a:t>Y</a:t>
            </a:r>
            <a:r>
              <a:rPr lang="en-US" altLang="zh-CN">
                <a:ea typeface="MingLiU_HKSCS-ExtB" panose="02020500000000000000" charset="-120"/>
              </a:rPr>
              <a:t>) =0</a:t>
            </a:r>
            <a:r>
              <a:rPr lang="zh-CN" altLang="en-US">
                <a:ea typeface="MingLiU_HKSCS-ExtB" panose="02020500000000000000" charset="-120"/>
              </a:rPr>
              <a:t>，即 </a:t>
            </a:r>
            <a:r>
              <a:rPr lang="en-US" altLang="zh-CN" i="1">
                <a:ea typeface="MingLiU_HKSCS-ExtB" panose="02020500000000000000" charset="-120"/>
              </a:rPr>
              <a:t>R</a:t>
            </a:r>
            <a:r>
              <a:rPr lang="en-US" altLang="zh-CN">
                <a:ea typeface="MingLiU_HKSCS-ExtB" panose="02020500000000000000" charset="-120"/>
              </a:rPr>
              <a:t>(</a:t>
            </a:r>
            <a:r>
              <a:rPr lang="en-US" altLang="zh-CN" i="1">
                <a:ea typeface="MingLiU_HKSCS-ExtB" panose="02020500000000000000" charset="-120"/>
              </a:rPr>
              <a:t>D</a:t>
            </a:r>
            <a:r>
              <a:rPr lang="en-US" altLang="zh-CN">
                <a:ea typeface="MingLiU_HKSCS-ExtB" panose="02020500000000000000" charset="-120"/>
              </a:rPr>
              <a:t>)=0</a:t>
            </a:r>
            <a:r>
              <a:rPr lang="zh-CN" altLang="en-US">
                <a:ea typeface="MingLiU_HKSCS-ExtB" panose="02020500000000000000" charset="-120"/>
              </a:rPr>
              <a:t>。</a:t>
            </a:r>
          </a:p>
          <a:p>
            <a:pPr marL="723900" lvl="2">
              <a:buClr>
                <a:srgbClr val="993366"/>
              </a:buClr>
            </a:pPr>
            <a:r>
              <a:rPr lang="zh-CN" altLang="en-US">
                <a:ea typeface="MingLiU_HKSCS-ExtB" panose="02020500000000000000" charset="-120"/>
              </a:rPr>
              <a:t> 满足上式的试验信道有许多，相应地可求出许多平均失真度值，从中选取最小的一个，就是这类平均失真值的下界 </a:t>
            </a:r>
            <a:r>
              <a:rPr lang="en-US" altLang="zh-CN" i="1">
                <a:ea typeface="MingLiU_HKSCS-ExtB" panose="02020500000000000000" charset="-120"/>
              </a:rPr>
              <a:t>D</a:t>
            </a:r>
            <a:r>
              <a:rPr lang="en-US" altLang="zh-CN" baseline="-25000">
                <a:ea typeface="MingLiU_HKSCS-ExtB" panose="02020500000000000000" charset="-120"/>
              </a:rPr>
              <a:t>max </a:t>
            </a:r>
            <a:r>
              <a:rPr lang="zh-CN" altLang="en-US">
                <a:ea typeface="MingLiU_HKSCS-ExtB" panose="02020500000000000000" charset="-120"/>
              </a:rPr>
              <a:t>。</a:t>
            </a:r>
          </a:p>
        </p:txBody>
      </p:sp>
      <p:sp>
        <p:nvSpPr>
          <p:cNvPr id="2336" name="矩形 2335"/>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333"/>
                                        </p:tgtEl>
                                        <p:attrNameLst>
                                          <p:attrName>style.visibility</p:attrName>
                                        </p:attrNameLst>
                                      </p:cBhvr>
                                      <p:to>
                                        <p:strVal val="visible"/>
                                      </p:to>
                                    </p:set>
                                    <p:anim calcmode="lin" valueType="num">
                                      <p:cBhvr additive="base">
                                        <p:cTn id="7" dur="1000" fill="hold"/>
                                        <p:tgtEl>
                                          <p:spTgt spid="2333"/>
                                        </p:tgtEl>
                                        <p:attrNameLst>
                                          <p:attrName>ppt_x</p:attrName>
                                        </p:attrNameLst>
                                      </p:cBhvr>
                                      <p:tavLst>
                                        <p:tav tm="0">
                                          <p:val>
                                            <p:strVal val="#ppt_x-.2"/>
                                          </p:val>
                                        </p:tav>
                                        <p:tav tm="100000">
                                          <p:val>
                                            <p:strVal val="#ppt_x"/>
                                          </p:val>
                                        </p:tav>
                                      </p:tavLst>
                                    </p:anim>
                                    <p:anim calcmode="lin" valueType="num">
                                      <p:cBhvr additive="base">
                                        <p:cTn id="8" dur="1000" fill="hold"/>
                                        <p:tgtEl>
                                          <p:spTgt spid="2333"/>
                                        </p:tgtEl>
                                        <p:attrNameLst>
                                          <p:attrName>ppt_y</p:attrName>
                                        </p:attrNameLst>
                                      </p:cBhvr>
                                      <p:tavLst>
                                        <p:tav tm="0">
                                          <p:val>
                                            <p:strVal val="#ppt_y"/>
                                          </p:val>
                                        </p:tav>
                                        <p:tav tm="100000">
                                          <p:val>
                                            <p:strVal val="#ppt_y"/>
                                          </p:val>
                                        </p:tav>
                                      </p:tavLst>
                                    </p:anim>
                                    <p:animEffect transition="in" filter="wipe(right)">
                                      <p:cBhvr additive="base">
                                        <p:cTn id="9" dur="1000"/>
                                        <p:tgtEl>
                                          <p:spTgt spid="2333"/>
                                        </p:tgtEl>
                                      </p:cBhvr>
                                    </p:animEffect>
                                  </p:childTnLst>
                                </p:cTn>
                              </p:par>
                              <p:par>
                                <p:cTn id="10" presetID="29" presetClass="entr" presetSubtype="0" fill="hold" nodeType="withEffect">
                                  <p:childTnLst>
                                    <p:set>
                                      <p:cBhvr additive="base">
                                        <p:cTn id="11" dur="1" fill="hold">
                                          <p:stCondLst>
                                            <p:cond delay="0"/>
                                          </p:stCondLst>
                                        </p:cTn>
                                        <p:tgtEl>
                                          <p:spTgt spid="2331"/>
                                        </p:tgtEl>
                                        <p:attrNameLst>
                                          <p:attrName>style.visibility</p:attrName>
                                        </p:attrNameLst>
                                      </p:cBhvr>
                                      <p:to>
                                        <p:strVal val="visible"/>
                                      </p:to>
                                    </p:set>
                                    <p:anim calcmode="lin" valueType="num">
                                      <p:cBhvr additive="base">
                                        <p:cTn id="12" dur="1000" fill="hold"/>
                                        <p:tgtEl>
                                          <p:spTgt spid="2331"/>
                                        </p:tgtEl>
                                        <p:attrNameLst>
                                          <p:attrName>ppt_x</p:attrName>
                                        </p:attrNameLst>
                                      </p:cBhvr>
                                      <p:tavLst>
                                        <p:tav tm="0">
                                          <p:val>
                                            <p:strVal val="#ppt_x-.2"/>
                                          </p:val>
                                        </p:tav>
                                        <p:tav tm="100000">
                                          <p:val>
                                            <p:strVal val="#ppt_x"/>
                                          </p:val>
                                        </p:tav>
                                      </p:tavLst>
                                    </p:anim>
                                    <p:anim calcmode="lin" valueType="num">
                                      <p:cBhvr additive="base">
                                        <p:cTn id="13" dur="1000" fill="hold"/>
                                        <p:tgtEl>
                                          <p:spTgt spid="2331"/>
                                        </p:tgtEl>
                                        <p:attrNameLst>
                                          <p:attrName>ppt_y</p:attrName>
                                        </p:attrNameLst>
                                      </p:cBhvr>
                                      <p:tavLst>
                                        <p:tav tm="0">
                                          <p:val>
                                            <p:strVal val="#ppt_y"/>
                                          </p:val>
                                        </p:tav>
                                        <p:tav tm="100000">
                                          <p:val>
                                            <p:strVal val="#ppt_y"/>
                                          </p:val>
                                        </p:tav>
                                      </p:tavLst>
                                    </p:anim>
                                    <p:animEffect transition="in" filter="wipe(right)">
                                      <p:cBhvr additive="base">
                                        <p:cTn id="14" dur="1000"/>
                                        <p:tgtEl>
                                          <p:spTgt spid="2331"/>
                                        </p:tgtEl>
                                      </p:cBhvr>
                                    </p:animEffect>
                                  </p:childTnLst>
                                </p:cTn>
                              </p:par>
                              <p:par>
                                <p:cTn id="15" presetID="29" presetClass="entr" presetSubtype="0" fill="hold" nodeType="withEffect">
                                  <p:childTnLst>
                                    <p:set>
                                      <p:cBhvr additive="base">
                                        <p:cTn id="16" dur="1" fill="hold">
                                          <p:stCondLst>
                                            <p:cond delay="0"/>
                                          </p:stCondLst>
                                        </p:cTn>
                                        <p:tgtEl>
                                          <p:spTgt spid="2332"/>
                                        </p:tgtEl>
                                        <p:attrNameLst>
                                          <p:attrName>style.visibility</p:attrName>
                                        </p:attrNameLst>
                                      </p:cBhvr>
                                      <p:to>
                                        <p:strVal val="visible"/>
                                      </p:to>
                                    </p:set>
                                    <p:anim calcmode="lin" valueType="num">
                                      <p:cBhvr additive="base">
                                        <p:cTn id="17" dur="1000" fill="hold"/>
                                        <p:tgtEl>
                                          <p:spTgt spid="2332"/>
                                        </p:tgtEl>
                                        <p:attrNameLst>
                                          <p:attrName>ppt_x</p:attrName>
                                        </p:attrNameLst>
                                      </p:cBhvr>
                                      <p:tavLst>
                                        <p:tav tm="0">
                                          <p:val>
                                            <p:strVal val="#ppt_x-.2"/>
                                          </p:val>
                                        </p:tav>
                                        <p:tav tm="100000">
                                          <p:val>
                                            <p:strVal val="#ppt_x"/>
                                          </p:val>
                                        </p:tav>
                                      </p:tavLst>
                                    </p:anim>
                                    <p:anim calcmode="lin" valueType="num">
                                      <p:cBhvr additive="base">
                                        <p:cTn id="18" dur="1000" fill="hold"/>
                                        <p:tgtEl>
                                          <p:spTgt spid="2332"/>
                                        </p:tgtEl>
                                        <p:attrNameLst>
                                          <p:attrName>ppt_y</p:attrName>
                                        </p:attrNameLst>
                                      </p:cBhvr>
                                      <p:tavLst>
                                        <p:tav tm="0">
                                          <p:val>
                                            <p:strVal val="#ppt_y"/>
                                          </p:val>
                                        </p:tav>
                                        <p:tav tm="100000">
                                          <p:val>
                                            <p:strVal val="#ppt_y"/>
                                          </p:val>
                                        </p:tav>
                                      </p:tavLst>
                                    </p:anim>
                                    <p:animEffect transition="in" filter="wipe(right)">
                                      <p:cBhvr additive="base">
                                        <p:cTn id="19" dur="1000"/>
                                        <p:tgtEl>
                                          <p:spTgt spid="2332"/>
                                        </p:tgtEl>
                                      </p:cBhvr>
                                    </p:animEffect>
                                  </p:childTnLst>
                                </p:cTn>
                              </p:par>
                              <p:par>
                                <p:cTn id="20" presetID="29" presetClass="entr" presetSubtype="0" fill="hold" nodeType="withEffect">
                                  <p:childTnLst>
                                    <p:set>
                                      <p:cBhvr additive="base">
                                        <p:cTn id="21" dur="1" fill="hold">
                                          <p:stCondLst>
                                            <p:cond delay="0"/>
                                          </p:stCondLst>
                                        </p:cTn>
                                        <p:tgtEl>
                                          <p:spTgt spid="2335">
                                            <p:txEl>
                                              <p:pRg st="2" end="2"/>
                                            </p:txEl>
                                          </p:spTgt>
                                        </p:tgtEl>
                                        <p:attrNameLst>
                                          <p:attrName>style.visibility</p:attrName>
                                        </p:attrNameLst>
                                      </p:cBhvr>
                                      <p:to>
                                        <p:strVal val="visible"/>
                                      </p:to>
                                    </p:set>
                                    <p:anim calcmode="lin" valueType="num">
                                      <p:cBhvr additive="base">
                                        <p:cTn id="22" dur="1000" fill="hold"/>
                                        <p:tgtEl>
                                          <p:spTgt spid="2335">
                                            <p:txEl>
                                              <p:pRg st="2" end="2"/>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335">
                                            <p:txEl>
                                              <p:pRg st="2" end="2"/>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335">
                                            <p:txEl>
                                              <p:pRg st="2" end="2"/>
                                            </p:txEl>
                                          </p:spTgt>
                                        </p:tgtEl>
                                      </p:cBhvr>
                                    </p:animEffect>
                                  </p:childTnLst>
                                </p:cTn>
                              </p:par>
                              <p:par>
                                <p:cTn id="25" presetID="29" presetClass="entr" presetSubtype="0" fill="hold" nodeType="withEffect">
                                  <p:childTnLst>
                                    <p:set>
                                      <p:cBhvr additive="base">
                                        <p:cTn id="26" dur="1" fill="hold">
                                          <p:stCondLst>
                                            <p:cond delay="0"/>
                                          </p:stCondLst>
                                        </p:cTn>
                                        <p:tgtEl>
                                          <p:spTgt spid="2335">
                                            <p:txEl>
                                              <p:pRg st="3" end="3"/>
                                            </p:txEl>
                                          </p:spTgt>
                                        </p:tgtEl>
                                        <p:attrNameLst>
                                          <p:attrName>style.visibility</p:attrName>
                                        </p:attrNameLst>
                                      </p:cBhvr>
                                      <p:to>
                                        <p:strVal val="visible"/>
                                      </p:to>
                                    </p:set>
                                    <p:anim calcmode="lin" valueType="num">
                                      <p:cBhvr additive="base">
                                        <p:cTn id="27" dur="1000" fill="hold"/>
                                        <p:tgtEl>
                                          <p:spTgt spid="2335">
                                            <p:txEl>
                                              <p:pRg st="3" end="3"/>
                                            </p:txEl>
                                          </p:spTgt>
                                        </p:tgtEl>
                                        <p:attrNameLst>
                                          <p:attrName>ppt_x</p:attrName>
                                        </p:attrNameLst>
                                      </p:cBhvr>
                                      <p:tavLst>
                                        <p:tav tm="0">
                                          <p:val>
                                            <p:strVal val="#ppt_x-.2"/>
                                          </p:val>
                                        </p:tav>
                                        <p:tav tm="100000">
                                          <p:val>
                                            <p:strVal val="#ppt_x"/>
                                          </p:val>
                                        </p:tav>
                                      </p:tavLst>
                                    </p:anim>
                                    <p:anim calcmode="lin" valueType="num">
                                      <p:cBhvr additive="base">
                                        <p:cTn id="28" dur="1000" fill="hold"/>
                                        <p:tgtEl>
                                          <p:spTgt spid="2335">
                                            <p:txEl>
                                              <p:pRg st="3" end="3"/>
                                            </p:txEl>
                                          </p:spTgt>
                                        </p:tgtEl>
                                        <p:attrNameLst>
                                          <p:attrName>ppt_y</p:attrName>
                                        </p:attrNameLst>
                                      </p:cBhvr>
                                      <p:tavLst>
                                        <p:tav tm="0">
                                          <p:val>
                                            <p:strVal val="#ppt_y"/>
                                          </p:val>
                                        </p:tav>
                                        <p:tav tm="100000">
                                          <p:val>
                                            <p:strVal val="#ppt_y"/>
                                          </p:val>
                                        </p:tav>
                                      </p:tavLst>
                                    </p:anim>
                                    <p:animEffect transition="in" filter="wipe(right)">
                                      <p:cBhvr additive="base">
                                        <p:cTn id="29" dur="1000"/>
                                        <p:tgtEl>
                                          <p:spTgt spid="2335">
                                            <p:txEl>
                                              <p:pRg st="3" end="3"/>
                                            </p:txEl>
                                          </p:spTgt>
                                        </p:tgtEl>
                                      </p:cBhvr>
                                    </p:animEffect>
                                  </p:childTnLst>
                                </p:cTn>
                              </p:par>
                              <p:par>
                                <p:cTn id="30" presetID="29" presetClass="entr" presetSubtype="0" fill="hold" nodeType="withEffect">
                                  <p:childTnLst>
                                    <p:set>
                                      <p:cBhvr additive="base">
                                        <p:cTn id="31" dur="1" fill="hold">
                                          <p:stCondLst>
                                            <p:cond delay="0"/>
                                          </p:stCondLst>
                                        </p:cTn>
                                        <p:tgtEl>
                                          <p:spTgt spid="2335">
                                            <p:txEl>
                                              <p:pRg st="4" end="4"/>
                                            </p:txEl>
                                          </p:spTgt>
                                        </p:tgtEl>
                                        <p:attrNameLst>
                                          <p:attrName>style.visibility</p:attrName>
                                        </p:attrNameLst>
                                      </p:cBhvr>
                                      <p:to>
                                        <p:strVal val="visible"/>
                                      </p:to>
                                    </p:set>
                                    <p:anim calcmode="lin" valueType="num">
                                      <p:cBhvr additive="base">
                                        <p:cTn id="32" dur="1000" fill="hold"/>
                                        <p:tgtEl>
                                          <p:spTgt spid="2335">
                                            <p:txEl>
                                              <p:pRg st="4" end="4"/>
                                            </p:txEl>
                                          </p:spTgt>
                                        </p:tgtEl>
                                        <p:attrNameLst>
                                          <p:attrName>ppt_x</p:attrName>
                                        </p:attrNameLst>
                                      </p:cBhvr>
                                      <p:tavLst>
                                        <p:tav tm="0">
                                          <p:val>
                                            <p:strVal val="#ppt_x-.2"/>
                                          </p:val>
                                        </p:tav>
                                        <p:tav tm="100000">
                                          <p:val>
                                            <p:strVal val="#ppt_x"/>
                                          </p:val>
                                        </p:tav>
                                      </p:tavLst>
                                    </p:anim>
                                    <p:anim calcmode="lin" valueType="num">
                                      <p:cBhvr additive="base">
                                        <p:cTn id="33" dur="1000" fill="hold"/>
                                        <p:tgtEl>
                                          <p:spTgt spid="2335">
                                            <p:txEl>
                                              <p:pRg st="4" end="4"/>
                                            </p:txEl>
                                          </p:spTgt>
                                        </p:tgtEl>
                                        <p:attrNameLst>
                                          <p:attrName>ppt_y</p:attrName>
                                        </p:attrNameLst>
                                      </p:cBhvr>
                                      <p:tavLst>
                                        <p:tav tm="0">
                                          <p:val>
                                            <p:strVal val="#ppt_y"/>
                                          </p:val>
                                        </p:tav>
                                        <p:tav tm="100000">
                                          <p:val>
                                            <p:strVal val="#ppt_y"/>
                                          </p:val>
                                        </p:tav>
                                      </p:tavLst>
                                    </p:anim>
                                    <p:animEffect transition="in" filter="wipe(right)">
                                      <p:cBhvr additive="base">
                                        <p:cTn id="34" dur="1000"/>
                                        <p:tgtEl>
                                          <p:spTgt spid="23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45</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39" name="标题 2338"/>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40" name="文本占位符 2339"/>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(1) </a:t>
            </a:r>
            <a:r>
              <a:rPr lang="zh-CN" altLang="en-US">
                <a:ea typeface="MingLiU_HKSCS-ExtB" panose="02020500000000000000" charset="-120"/>
              </a:rPr>
              <a:t>率失真函数的定义域</a:t>
            </a:r>
          </a:p>
          <a:p>
            <a:pPr>
              <a:buClr>
                <a:srgbClr val="993366"/>
              </a:buClr>
            </a:pPr>
            <a:r>
              <a:rPr lang="zh-CN" altLang="en-US" sz="2400">
                <a:ea typeface="MingLiU_HKSCS-ExtB" panose="02020500000000000000" charset="-120"/>
              </a:rPr>
              <a:t> 信源最大平均失真度 </a:t>
            </a:r>
            <a:r>
              <a:rPr lang="en-US" altLang="zh-CN" sz="2400" i="1">
                <a:ea typeface="MingLiU_HKSCS-ExtB" panose="02020500000000000000" charset="-120"/>
              </a:rPr>
              <a:t>D</a:t>
            </a:r>
            <a:r>
              <a:rPr lang="en-US" altLang="zh-CN" sz="2400" baseline="-25000">
                <a:ea typeface="MingLiU_HKSCS-ExtB" panose="02020500000000000000" charset="-120"/>
              </a:rPr>
              <a:t>max</a:t>
            </a:r>
          </a:p>
          <a:p>
            <a:pPr marL="355600" lvl="1">
              <a:buClr>
                <a:srgbClr val="993366"/>
              </a:buClr>
            </a:pPr>
            <a:r>
              <a:rPr lang="en-US" altLang="zh-CN">
                <a:ea typeface="MingLiU_HKSCS-ExtB" panose="02020500000000000000" charset="-120"/>
              </a:rPr>
              <a:t> </a:t>
            </a:r>
            <a:r>
              <a:rPr lang="zh-CN" altLang="en-US" u="sng">
                <a:solidFill>
                  <a:srgbClr val="0000CC"/>
                </a:solidFill>
                <a:ea typeface="MingLiU_HKSCS-ExtB" panose="02020500000000000000" charset="-120"/>
              </a:rPr>
              <a:t>计算 </a:t>
            </a:r>
            <a:r>
              <a:rPr lang="en-US" altLang="zh-CN" i="1" u="sng">
                <a:solidFill>
                  <a:srgbClr val="0000CC"/>
                </a:solidFill>
                <a:ea typeface="MingLiU_HKSCS-ExtB" panose="02020500000000000000" charset="-120"/>
              </a:rPr>
              <a:t>D</a:t>
            </a:r>
            <a:r>
              <a:rPr lang="en-US" altLang="zh-CN" u="sng" baseline="-25000">
                <a:solidFill>
                  <a:srgbClr val="0000CC"/>
                </a:solidFill>
                <a:ea typeface="MingLiU_HKSCS-ExtB" panose="02020500000000000000" charset="-120"/>
              </a:rPr>
              <a:t>max  </a:t>
            </a:r>
            <a:r>
              <a:rPr lang="zh-CN" altLang="en-US" u="sng">
                <a:solidFill>
                  <a:srgbClr val="0000CC"/>
                </a:solidFill>
                <a:ea typeface="MingLiU_HKSCS-ExtB" panose="02020500000000000000" charset="-120"/>
              </a:rPr>
              <a:t>的值</a:t>
            </a:r>
          </a:p>
          <a:p>
            <a:pPr marL="723900" lvl="2">
              <a:lnSpc>
                <a:spcPct val="120000"/>
              </a:lnSpc>
              <a:buClr>
                <a:srgbClr val="993366"/>
              </a:buClr>
            </a:pPr>
            <a:r>
              <a:rPr lang="zh-CN" altLang="en-US">
                <a:ea typeface="MingLiU_HKSCS-ExtB" panose="02020500000000000000" charset="-120"/>
              </a:rPr>
              <a:t> 上式是用不同的概率分布 </a:t>
            </a:r>
            <a:r>
              <a:rPr lang="en-US" altLang="zh-CN">
                <a:ea typeface="MingLiU_HKSCS-ExtB" panose="02020500000000000000" charset="-120"/>
              </a:rPr>
              <a:t>{</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 </a:t>
            </a:r>
            <a:r>
              <a:rPr lang="zh-CN" altLang="en-US">
                <a:ea typeface="MingLiU_HKSCS-ExtB" panose="02020500000000000000" charset="-120"/>
              </a:rPr>
              <a:t>对 </a:t>
            </a:r>
            <a:r>
              <a:rPr lang="en-US" altLang="zh-CN" i="1">
                <a:ea typeface="MingLiU_HKSCS-ExtB" panose="02020500000000000000" charset="-120"/>
              </a:rPr>
              <a:t>D</a:t>
            </a:r>
            <a:r>
              <a:rPr lang="en-US" altLang="zh-CN" i="1" baseline="-25000">
                <a:ea typeface="MingLiU_HKSCS-ExtB" panose="02020500000000000000" charset="-120"/>
              </a:rPr>
              <a:t>j </a:t>
            </a:r>
            <a:r>
              <a:rPr lang="zh-CN" altLang="en-US">
                <a:ea typeface="MingLiU_HKSCS-ExtB" panose="02020500000000000000" charset="-120"/>
              </a:rPr>
              <a:t>求数学期望，取数学期望当中最小的一个作为 </a:t>
            </a:r>
            <a:r>
              <a:rPr lang="en-US" altLang="zh-CN" i="1">
                <a:ea typeface="MingLiU_HKSCS-ExtB" panose="02020500000000000000" charset="-120"/>
              </a:rPr>
              <a:t>D</a:t>
            </a:r>
            <a:r>
              <a:rPr lang="en-US" altLang="zh-CN" baseline="-25000">
                <a:ea typeface="MingLiU_HKSCS-ExtB" panose="02020500000000000000" charset="-120"/>
              </a:rPr>
              <a:t>max </a:t>
            </a:r>
            <a:r>
              <a:rPr lang="zh-CN" altLang="en-US">
                <a:ea typeface="MingLiU_HKSCS-ExtB" panose="02020500000000000000" charset="-120"/>
              </a:rPr>
              <a:t>。</a:t>
            </a:r>
          </a:p>
          <a:p>
            <a:pPr marL="723900" lvl="2">
              <a:lnSpc>
                <a:spcPct val="120000"/>
              </a:lnSpc>
              <a:buClr>
                <a:srgbClr val="993366"/>
              </a:buClr>
            </a:pPr>
            <a:r>
              <a:rPr lang="zh-CN" altLang="en-US">
                <a:ea typeface="MingLiU_HKSCS-ExtB" panose="02020500000000000000" charset="-120"/>
              </a:rPr>
              <a:t> 实际是用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 </a:t>
            </a:r>
            <a:r>
              <a:rPr lang="zh-CN" altLang="en-US">
                <a:ea typeface="MingLiU_HKSCS-ExtB" panose="02020500000000000000" charset="-120"/>
              </a:rPr>
              <a:t>对 </a:t>
            </a:r>
            <a:r>
              <a:rPr lang="en-US" altLang="zh-CN" i="1">
                <a:ea typeface="MingLiU_HKSCS-ExtB" panose="02020500000000000000" charset="-120"/>
              </a:rPr>
              <a:t>D</a:t>
            </a:r>
            <a:r>
              <a:rPr lang="en-US" altLang="zh-CN" i="1" baseline="-25000">
                <a:ea typeface="MingLiU_HKSCS-ExtB" panose="02020500000000000000" charset="-120"/>
              </a:rPr>
              <a:t>j </a:t>
            </a:r>
            <a:r>
              <a:rPr lang="zh-CN" altLang="en-US">
                <a:ea typeface="MingLiU_HKSCS-ExtB" panose="02020500000000000000" charset="-120"/>
              </a:rPr>
              <a:t>进行线性分配，使线性分配的结果最小。当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a:t>
            </a:r>
            <a:r>
              <a:rPr lang="en-US" altLang="zh-CN">
                <a:ea typeface="MingLiU_HKSCS-ExtB" panose="02020500000000000000" charset="-120"/>
              </a:rPr>
              <a:t>) </a:t>
            </a:r>
            <a:r>
              <a:rPr lang="zh-CN" altLang="en-US">
                <a:ea typeface="MingLiU_HKSCS-ExtB" panose="02020500000000000000" charset="-120"/>
              </a:rPr>
              <a:t>和 </a:t>
            </a:r>
            <a:r>
              <a:rPr lang="en-US" altLang="zh-CN" i="1">
                <a:ea typeface="MingLiU_HKSCS-ExtB" panose="02020500000000000000" charset="-120"/>
              </a:rPr>
              <a:t>d</a:t>
            </a:r>
            <a:r>
              <a:rPr lang="en-US" altLang="zh-CN">
                <a:ea typeface="MingLiU_HKSCS-ExtB" panose="02020500000000000000" charset="-120"/>
              </a:rPr>
              <a:t>(</a:t>
            </a:r>
            <a:r>
              <a:rPr lang="en-US" altLang="zh-CN" i="1">
                <a:ea typeface="MingLiU_HKSCS-ExtB" panose="02020500000000000000" charset="-120"/>
              </a:rPr>
              <a:t>x</a:t>
            </a:r>
            <a:r>
              <a:rPr lang="en-US" altLang="zh-CN" i="1" baseline="-25000">
                <a:ea typeface="MingLiU_HKSCS-ExtB" panose="02020500000000000000" charset="-120"/>
              </a:rPr>
              <a:t>i </a:t>
            </a:r>
            <a:r>
              <a:rPr lang="en-US" altLang="zh-CN">
                <a:ea typeface="MingLiU_HKSCS-ExtB" panose="02020500000000000000" charset="-120"/>
              </a:rPr>
              <a:t>, </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 </a:t>
            </a:r>
            <a:r>
              <a:rPr lang="zh-CN" altLang="en-US">
                <a:ea typeface="MingLiU_HKSCS-ExtB" panose="02020500000000000000" charset="-120"/>
              </a:rPr>
              <a:t>给定时，必可计算出 </a:t>
            </a:r>
            <a:r>
              <a:rPr lang="en-US" altLang="zh-CN" i="1">
                <a:ea typeface="MingLiU_HKSCS-ExtB" panose="02020500000000000000" charset="-120"/>
              </a:rPr>
              <a:t>D</a:t>
            </a:r>
            <a:r>
              <a:rPr lang="en-US" altLang="zh-CN" i="1" baseline="-25000">
                <a:ea typeface="MingLiU_HKSCS-ExtB" panose="02020500000000000000" charset="-120"/>
              </a:rPr>
              <a:t>j</a:t>
            </a:r>
            <a:r>
              <a:rPr lang="en-US" altLang="zh-CN">
                <a:ea typeface="MingLiU_HKSCS-ExtB" panose="02020500000000000000" charset="-120"/>
              </a:rPr>
              <a:t> </a:t>
            </a:r>
            <a:r>
              <a:rPr lang="zh-CN" altLang="en-US">
                <a:ea typeface="MingLiU_HKSCS-ExtB" panose="02020500000000000000" charset="-120"/>
              </a:rPr>
              <a:t>，</a:t>
            </a:r>
            <a:r>
              <a:rPr lang="en-US" altLang="zh-CN" i="1">
                <a:ea typeface="MingLiU_HKSCS-ExtB" panose="02020500000000000000" charset="-120"/>
              </a:rPr>
              <a:t>D</a:t>
            </a:r>
            <a:r>
              <a:rPr lang="en-US" altLang="zh-CN" i="1" baseline="-25000">
                <a:ea typeface="MingLiU_HKSCS-ExtB" panose="02020500000000000000" charset="-120"/>
              </a:rPr>
              <a:t>j </a:t>
            </a:r>
            <a:r>
              <a:rPr lang="zh-CN" altLang="en-US">
                <a:ea typeface="MingLiU_HKSCS-ExtB" panose="02020500000000000000" charset="-120"/>
              </a:rPr>
              <a:t>随 </a:t>
            </a:r>
            <a:r>
              <a:rPr lang="en-US" altLang="zh-CN" i="1">
                <a:ea typeface="MingLiU_HKSCS-ExtB" panose="02020500000000000000" charset="-120"/>
              </a:rPr>
              <a:t>j </a:t>
            </a:r>
            <a:r>
              <a:rPr lang="zh-CN" altLang="en-US">
                <a:ea typeface="MingLiU_HKSCS-ExtB" panose="02020500000000000000" charset="-120"/>
              </a:rPr>
              <a:t>的变化而变化，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 </a:t>
            </a:r>
            <a:r>
              <a:rPr lang="zh-CN" altLang="en-US">
                <a:ea typeface="MingLiU_HKSCS-ExtB" panose="02020500000000000000" charset="-120"/>
              </a:rPr>
              <a:t>是任选的，只需满足非负性和归一性。若 </a:t>
            </a:r>
            <a:r>
              <a:rPr lang="en-US" altLang="zh-CN" i="1">
                <a:ea typeface="MingLiU_HKSCS-ExtB" panose="02020500000000000000" charset="-120"/>
              </a:rPr>
              <a:t>D</a:t>
            </a:r>
            <a:r>
              <a:rPr lang="en-US" altLang="zh-CN" i="1" baseline="-25000">
                <a:ea typeface="MingLiU_HKSCS-ExtB" panose="02020500000000000000" charset="-120"/>
              </a:rPr>
              <a:t>s </a:t>
            </a:r>
            <a:r>
              <a:rPr lang="zh-CN" altLang="en-US">
                <a:ea typeface="MingLiU_HKSCS-ExtB" panose="02020500000000000000" charset="-120"/>
              </a:rPr>
              <a:t>是所有</a:t>
            </a:r>
            <a:r>
              <a:rPr lang="en-US" altLang="zh-CN" i="1">
                <a:ea typeface="MingLiU_HKSCS-ExtB" panose="02020500000000000000" charset="-120"/>
              </a:rPr>
              <a:t>D</a:t>
            </a:r>
            <a:r>
              <a:rPr lang="en-US" altLang="zh-CN" i="1" baseline="-25000">
                <a:ea typeface="MingLiU_HKSCS-ExtB" panose="02020500000000000000" charset="-120"/>
              </a:rPr>
              <a:t>j </a:t>
            </a:r>
            <a:r>
              <a:rPr lang="zh-CN" altLang="en-US">
                <a:ea typeface="MingLiU_HKSCS-ExtB" panose="02020500000000000000" charset="-120"/>
              </a:rPr>
              <a:t>当中最小的一个，可取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y</a:t>
            </a:r>
            <a:r>
              <a:rPr lang="en-US" altLang="zh-CN" i="1" baseline="-25000">
                <a:ea typeface="MingLiU_HKSCS-ExtB" panose="02020500000000000000" charset="-120"/>
              </a:rPr>
              <a:t>s</a:t>
            </a:r>
            <a:r>
              <a:rPr lang="en-US" altLang="zh-CN">
                <a:ea typeface="MingLiU_HKSCS-ExtB" panose="02020500000000000000" charset="-120"/>
              </a:rPr>
              <a:t>)=1 </a:t>
            </a:r>
            <a:r>
              <a:rPr lang="zh-CN" altLang="en-US">
                <a:ea typeface="MingLiU_HKSCS-ExtB" panose="02020500000000000000" charset="-120"/>
              </a:rPr>
              <a:t>，其它 </a:t>
            </a:r>
            <a:r>
              <a:rPr lang="en-US" altLang="zh-CN" i="1">
                <a:ea typeface="MingLiU_HKSCS-ExtB" panose="02020500000000000000" charset="-120"/>
              </a:rPr>
              <a:t>p</a:t>
            </a:r>
            <a:r>
              <a:rPr lang="en-US" altLang="zh-CN">
                <a:ea typeface="MingLiU_HKSCS-ExtB" panose="02020500000000000000" charset="-120"/>
              </a:rPr>
              <a:t>(</a:t>
            </a:r>
            <a:r>
              <a:rPr lang="en-US" altLang="zh-CN" i="1">
                <a:ea typeface="MingLiU_HKSCS-ExtB" panose="02020500000000000000" charset="-120"/>
              </a:rPr>
              <a:t>y</a:t>
            </a:r>
            <a:r>
              <a:rPr lang="en-US" altLang="zh-CN" i="1" baseline="-25000">
                <a:ea typeface="MingLiU_HKSCS-ExtB" panose="02020500000000000000" charset="-120"/>
              </a:rPr>
              <a:t>j</a:t>
            </a:r>
            <a:r>
              <a:rPr lang="en-US" altLang="zh-CN">
                <a:ea typeface="MingLiU_HKSCS-ExtB" panose="02020500000000000000" charset="-120"/>
              </a:rPr>
              <a:t>) </a:t>
            </a:r>
            <a:r>
              <a:rPr lang="zh-CN" altLang="en-US">
                <a:ea typeface="MingLiU_HKSCS-ExtB" panose="02020500000000000000" charset="-120"/>
              </a:rPr>
              <a:t>为 </a:t>
            </a:r>
            <a:r>
              <a:rPr lang="en-US" altLang="zh-CN">
                <a:ea typeface="MingLiU_HKSCS-ExtB" panose="02020500000000000000" charset="-120"/>
              </a:rPr>
              <a:t>0</a:t>
            </a:r>
            <a:r>
              <a:rPr lang="zh-CN" altLang="en-US">
                <a:ea typeface="MingLiU_HKSCS-ExtB" panose="02020500000000000000" charset="-120"/>
              </a:rPr>
              <a:t>，这时 </a:t>
            </a:r>
            <a:r>
              <a:rPr lang="en-US" altLang="zh-CN" i="1">
                <a:ea typeface="MingLiU_HKSCS-ExtB" panose="02020500000000000000" charset="-120"/>
              </a:rPr>
              <a:t>D</a:t>
            </a:r>
            <a:r>
              <a:rPr lang="en-US" altLang="zh-CN" i="1" baseline="-25000">
                <a:ea typeface="MingLiU_HKSCS-ExtB" panose="02020500000000000000" charset="-120"/>
              </a:rPr>
              <a:t>j </a:t>
            </a:r>
            <a:r>
              <a:rPr lang="zh-CN" altLang="en-US">
                <a:ea typeface="MingLiU_HKSCS-ExtB" panose="02020500000000000000" charset="-120"/>
              </a:rPr>
              <a:t>的线性分配（数学期望）必然最小，即：</a:t>
            </a:r>
          </a:p>
        </p:txBody>
      </p:sp>
      <p:graphicFrame>
        <p:nvGraphicFramePr>
          <p:cNvPr id="2341" name="对象 2340"/>
          <p:cNvGraphicFramePr/>
          <p:nvPr/>
        </p:nvGraphicFramePr>
        <p:xfrm>
          <a:off x="3131820" y="5517198"/>
          <a:ext cx="2690813" cy="1108075"/>
        </p:xfrm>
        <a:graphic>
          <a:graphicData uri="http://schemas.openxmlformats.org/presentationml/2006/ole">
            <mc:AlternateContent xmlns:mc="http://schemas.openxmlformats.org/markup-compatibility/2006">
              <mc:Choice xmlns:v="urn:schemas-microsoft-com:vml" Requires="v">
                <p:oleObj spid="_x0000_s28675" r:id="rId3" imgW="1304290" imgH="711200" progId="Equation.3">
                  <p:embed/>
                </p:oleObj>
              </mc:Choice>
              <mc:Fallback>
                <p:oleObj r:id="rId3" imgW="1304290" imgH="711200" progId="Equation.3">
                  <p:embed/>
                  <p:pic>
                    <p:nvPicPr>
                      <p:cNvPr id="0" name="图片 3156"/>
                      <p:cNvPicPr/>
                      <p:nvPr/>
                    </p:nvPicPr>
                    <p:blipFill>
                      <a:blip r:embed="rId4"/>
                      <a:stretch>
                        <a:fillRect/>
                      </a:stretch>
                    </p:blipFill>
                    <p:spPr>
                      <a:xfrm>
                        <a:off x="3131820" y="5517198"/>
                        <a:ext cx="2690813" cy="1108075"/>
                      </a:xfrm>
                      <a:prstGeom prst="rect">
                        <a:avLst/>
                      </a:prstGeom>
                      <a:noFill/>
                      <a:ln w="38100">
                        <a:noFill/>
                        <a:miter/>
                      </a:ln>
                    </p:spPr>
                  </p:pic>
                </p:oleObj>
              </mc:Fallback>
            </mc:AlternateContent>
          </a:graphicData>
        </a:graphic>
      </p:graphicFrame>
      <p:sp>
        <p:nvSpPr>
          <p:cNvPr id="2342" name="矩形 2341"/>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graphicFrame>
        <p:nvGraphicFramePr>
          <p:cNvPr id="2343" name="对象 2342"/>
          <p:cNvGraphicFramePr/>
          <p:nvPr/>
        </p:nvGraphicFramePr>
        <p:xfrm>
          <a:off x="6227763" y="5589588"/>
          <a:ext cx="2332037" cy="700087"/>
        </p:xfrm>
        <a:graphic>
          <a:graphicData uri="http://schemas.openxmlformats.org/presentationml/2006/ole">
            <mc:AlternateContent xmlns:mc="http://schemas.openxmlformats.org/markup-compatibility/2006">
              <mc:Choice xmlns:v="urn:schemas-microsoft-com:vml" Requires="v">
                <p:oleObj spid="_x0000_s28676" r:id="rId5" imgW="824865" imgH="431800" progId="Equation.3">
                  <p:embed/>
                </p:oleObj>
              </mc:Choice>
              <mc:Fallback>
                <p:oleObj r:id="rId5" imgW="824865" imgH="431800" progId="Equation.3">
                  <p:embed/>
                  <p:pic>
                    <p:nvPicPr>
                      <p:cNvPr id="0" name="图片 3155"/>
                      <p:cNvPicPr/>
                      <p:nvPr/>
                    </p:nvPicPr>
                    <p:blipFill>
                      <a:blip r:embed="rId6"/>
                      <a:stretch>
                        <a:fillRect/>
                      </a:stretch>
                    </p:blipFill>
                    <p:spPr>
                      <a:xfrm>
                        <a:off x="6227763" y="5589588"/>
                        <a:ext cx="2332037" cy="700087"/>
                      </a:xfrm>
                      <a:prstGeom prst="rect">
                        <a:avLst/>
                      </a:prstGeom>
                      <a:noFill/>
                      <a:ln w="38100">
                        <a:noFill/>
                        <a:miter/>
                      </a:ln>
                    </p:spPr>
                  </p:pic>
                </p:oleObj>
              </mc:Fallback>
            </mc:AlternateContent>
          </a:graphicData>
        </a:graphic>
      </p:graphicFrame>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341"/>
                                        </p:tgtEl>
                                        <p:attrNameLst>
                                          <p:attrName>style.visibility</p:attrName>
                                        </p:attrNameLst>
                                      </p:cBhvr>
                                      <p:to>
                                        <p:strVal val="visible"/>
                                      </p:to>
                                    </p:set>
                                    <p:anim calcmode="lin" valueType="num">
                                      <p:cBhvr additive="base">
                                        <p:cTn id="7" dur="1000" fill="hold"/>
                                        <p:tgtEl>
                                          <p:spTgt spid="2341"/>
                                        </p:tgtEl>
                                        <p:attrNameLst>
                                          <p:attrName>ppt_x</p:attrName>
                                        </p:attrNameLst>
                                      </p:cBhvr>
                                      <p:tavLst>
                                        <p:tav tm="0">
                                          <p:val>
                                            <p:strVal val="#ppt_x-.2"/>
                                          </p:val>
                                        </p:tav>
                                        <p:tav tm="100000">
                                          <p:val>
                                            <p:strVal val="#ppt_x"/>
                                          </p:val>
                                        </p:tav>
                                      </p:tavLst>
                                    </p:anim>
                                    <p:anim calcmode="lin" valueType="num">
                                      <p:cBhvr additive="base">
                                        <p:cTn id="8" dur="1000" fill="hold"/>
                                        <p:tgtEl>
                                          <p:spTgt spid="2341"/>
                                        </p:tgtEl>
                                        <p:attrNameLst>
                                          <p:attrName>ppt_y</p:attrName>
                                        </p:attrNameLst>
                                      </p:cBhvr>
                                      <p:tavLst>
                                        <p:tav tm="0">
                                          <p:val>
                                            <p:strVal val="#ppt_y"/>
                                          </p:val>
                                        </p:tav>
                                        <p:tav tm="100000">
                                          <p:val>
                                            <p:strVal val="#ppt_y"/>
                                          </p:val>
                                        </p:tav>
                                      </p:tavLst>
                                    </p:anim>
                                    <p:animEffect transition="in" filter="wipe(right)">
                                      <p:cBhvr additive="base">
                                        <p:cTn id="9" dur="1000"/>
                                        <p:tgtEl>
                                          <p:spTgt spid="2341"/>
                                        </p:tgtEl>
                                      </p:cBhvr>
                                    </p:animEffect>
                                  </p:childTnLst>
                                </p:cTn>
                              </p:par>
                              <p:par>
                                <p:cTn id="10" presetID="29" presetClass="entr" presetSubtype="0" fill="hold" nodeType="withEffect">
                                  <p:childTnLst>
                                    <p:set>
                                      <p:cBhvr additive="base">
                                        <p:cTn id="11" dur="1" fill="hold">
                                          <p:stCondLst>
                                            <p:cond delay="0"/>
                                          </p:stCondLst>
                                        </p:cTn>
                                        <p:tgtEl>
                                          <p:spTgt spid="2340">
                                            <p:txEl>
                                              <p:pRg st="2" end="2"/>
                                            </p:txEl>
                                          </p:spTgt>
                                        </p:tgtEl>
                                        <p:attrNameLst>
                                          <p:attrName>style.visibility</p:attrName>
                                        </p:attrNameLst>
                                      </p:cBhvr>
                                      <p:to>
                                        <p:strVal val="visible"/>
                                      </p:to>
                                    </p:set>
                                    <p:anim calcmode="lin" valueType="num">
                                      <p:cBhvr additive="base">
                                        <p:cTn id="12" dur="1000" fill="hold"/>
                                        <p:tgtEl>
                                          <p:spTgt spid="2340">
                                            <p:txEl>
                                              <p:pRg st="2" end="2"/>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340">
                                            <p:txEl>
                                              <p:pRg st="2" end="2"/>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340">
                                            <p:txEl>
                                              <p:pRg st="2" end="2"/>
                                            </p:txEl>
                                          </p:spTgt>
                                        </p:tgtEl>
                                      </p:cBhvr>
                                    </p:animEffect>
                                  </p:childTnLst>
                                </p:cTn>
                              </p:par>
                              <p:par>
                                <p:cTn id="15" presetID="29" presetClass="entr" presetSubtype="0" fill="hold" nodeType="withEffect">
                                  <p:childTnLst>
                                    <p:set>
                                      <p:cBhvr additive="base">
                                        <p:cTn id="16" dur="1" fill="hold">
                                          <p:stCondLst>
                                            <p:cond delay="0"/>
                                          </p:stCondLst>
                                        </p:cTn>
                                        <p:tgtEl>
                                          <p:spTgt spid="2340">
                                            <p:txEl>
                                              <p:pRg st="3" end="3"/>
                                            </p:txEl>
                                          </p:spTgt>
                                        </p:tgtEl>
                                        <p:attrNameLst>
                                          <p:attrName>style.visibility</p:attrName>
                                        </p:attrNameLst>
                                      </p:cBhvr>
                                      <p:to>
                                        <p:strVal val="visible"/>
                                      </p:to>
                                    </p:set>
                                    <p:anim calcmode="lin" valueType="num">
                                      <p:cBhvr additive="base">
                                        <p:cTn id="17" dur="1000" fill="hold"/>
                                        <p:tgtEl>
                                          <p:spTgt spid="2340">
                                            <p:txEl>
                                              <p:pRg st="3" end="3"/>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340">
                                            <p:txEl>
                                              <p:pRg st="3" end="3"/>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340">
                                            <p:txEl>
                                              <p:pRg st="3" end="3"/>
                                            </p:txEl>
                                          </p:spTgt>
                                        </p:tgtEl>
                                      </p:cBhvr>
                                    </p:animEffect>
                                  </p:childTnLst>
                                </p:cTn>
                              </p:par>
                              <p:par>
                                <p:cTn id="20" presetID="29" presetClass="entr" presetSubtype="0" fill="hold" nodeType="withEffect">
                                  <p:childTnLst>
                                    <p:set>
                                      <p:cBhvr additive="base">
                                        <p:cTn id="21" dur="1" fill="hold">
                                          <p:stCondLst>
                                            <p:cond delay="0"/>
                                          </p:stCondLst>
                                        </p:cTn>
                                        <p:tgtEl>
                                          <p:spTgt spid="2340">
                                            <p:txEl>
                                              <p:pRg st="4" end="4"/>
                                            </p:txEl>
                                          </p:spTgt>
                                        </p:tgtEl>
                                        <p:attrNameLst>
                                          <p:attrName>style.visibility</p:attrName>
                                        </p:attrNameLst>
                                      </p:cBhvr>
                                      <p:to>
                                        <p:strVal val="visible"/>
                                      </p:to>
                                    </p:set>
                                    <p:anim calcmode="lin" valueType="num">
                                      <p:cBhvr additive="base">
                                        <p:cTn id="22" dur="1000" fill="hold"/>
                                        <p:tgtEl>
                                          <p:spTgt spid="2340">
                                            <p:txEl>
                                              <p:pRg st="4" end="4"/>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340">
                                            <p:txEl>
                                              <p:pRg st="4" end="4"/>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340">
                                            <p:txEl>
                                              <p:pRg st="4" end="4"/>
                                            </p:txEl>
                                          </p:spTgt>
                                        </p:tgtEl>
                                      </p:cBhvr>
                                    </p:animEffect>
                                  </p:childTnLst>
                                </p:cTn>
                              </p:par>
                              <p:par>
                                <p:cTn id="25" presetID="29" presetClass="entr" presetSubtype="0" fill="hold" nodeType="withEffect">
                                  <p:childTnLst>
                                    <p:set>
                                      <p:cBhvr additive="base">
                                        <p:cTn id="26" dur="1" fill="hold">
                                          <p:stCondLst>
                                            <p:cond delay="0"/>
                                          </p:stCondLst>
                                        </p:cTn>
                                        <p:tgtEl>
                                          <p:spTgt spid="2343"/>
                                        </p:tgtEl>
                                        <p:attrNameLst>
                                          <p:attrName>style.visibility</p:attrName>
                                        </p:attrNameLst>
                                      </p:cBhvr>
                                      <p:to>
                                        <p:strVal val="visible"/>
                                      </p:to>
                                    </p:set>
                                    <p:anim calcmode="lin" valueType="num">
                                      <p:cBhvr additive="base">
                                        <p:cTn id="27" dur="1000" fill="hold"/>
                                        <p:tgtEl>
                                          <p:spTgt spid="2343"/>
                                        </p:tgtEl>
                                        <p:attrNameLst>
                                          <p:attrName>ppt_x</p:attrName>
                                        </p:attrNameLst>
                                      </p:cBhvr>
                                      <p:tavLst>
                                        <p:tav tm="0">
                                          <p:val>
                                            <p:strVal val="#ppt_x-.2"/>
                                          </p:val>
                                        </p:tav>
                                        <p:tav tm="100000">
                                          <p:val>
                                            <p:strVal val="#ppt_x"/>
                                          </p:val>
                                        </p:tav>
                                      </p:tavLst>
                                    </p:anim>
                                    <p:anim calcmode="lin" valueType="num">
                                      <p:cBhvr additive="base">
                                        <p:cTn id="28" dur="1000" fill="hold"/>
                                        <p:tgtEl>
                                          <p:spTgt spid="2343"/>
                                        </p:tgtEl>
                                        <p:attrNameLst>
                                          <p:attrName>ppt_y</p:attrName>
                                        </p:attrNameLst>
                                      </p:cBhvr>
                                      <p:tavLst>
                                        <p:tav tm="0">
                                          <p:val>
                                            <p:strVal val="#ppt_y"/>
                                          </p:val>
                                        </p:tav>
                                        <p:tav tm="100000">
                                          <p:val>
                                            <p:strVal val="#ppt_y"/>
                                          </p:val>
                                        </p:tav>
                                      </p:tavLst>
                                    </p:anim>
                                    <p:animEffect transition="in" filter="wipe(right)">
                                      <p:cBhvr additive="base">
                                        <p:cTn id="29" dur="1000"/>
                                        <p:tgtEl>
                                          <p:spTgt spid="2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46</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46" name="标题 2345"/>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47" name="文本占位符 2346"/>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率失真函数的定义域</a:t>
            </a:r>
          </a:p>
        </p:txBody>
      </p:sp>
      <p:graphicFrame>
        <p:nvGraphicFramePr>
          <p:cNvPr id="2348" name="对象 2347"/>
          <p:cNvGraphicFramePr/>
          <p:nvPr/>
        </p:nvGraphicFramePr>
        <p:xfrm>
          <a:off x="2809875" y="1722438"/>
          <a:ext cx="4014788" cy="4443412"/>
        </p:xfrm>
        <a:graphic>
          <a:graphicData uri="http://schemas.openxmlformats.org/presentationml/2006/ole">
            <mc:AlternateContent xmlns:mc="http://schemas.openxmlformats.org/markup-compatibility/2006">
              <mc:Choice xmlns:v="urn:schemas-microsoft-com:vml" Requires="v">
                <p:oleObj spid="_x0000_s29698" r:id="rId3" imgW="3667125" imgH="4038600" progId="Visio.Drawing.11">
                  <p:embed/>
                </p:oleObj>
              </mc:Choice>
              <mc:Fallback>
                <p:oleObj r:id="rId3" imgW="3667125" imgH="4038600" progId="Visio.Drawing.11">
                  <p:embed/>
                  <p:pic>
                    <p:nvPicPr>
                      <p:cNvPr id="0" name="图片 3152"/>
                      <p:cNvPicPr/>
                      <p:nvPr/>
                    </p:nvPicPr>
                    <p:blipFill>
                      <a:blip r:embed="rId4"/>
                      <a:stretch>
                        <a:fillRect/>
                      </a:stretch>
                    </p:blipFill>
                    <p:spPr>
                      <a:xfrm>
                        <a:off x="2809875" y="1722438"/>
                        <a:ext cx="4014788" cy="4443412"/>
                      </a:xfrm>
                      <a:prstGeom prst="rect">
                        <a:avLst/>
                      </a:prstGeom>
                      <a:noFill/>
                      <a:ln w="38100">
                        <a:noFill/>
                        <a:miter/>
                      </a:ln>
                    </p:spPr>
                  </p:pic>
                </p:oleObj>
              </mc:Fallback>
            </mc:AlternateContent>
          </a:graphicData>
        </a:graphic>
      </p:graphicFrame>
      <p:sp>
        <p:nvSpPr>
          <p:cNvPr id="2349" name="矩形 2348"/>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348"/>
                                        </p:tgtEl>
                                        <p:attrNameLst>
                                          <p:attrName>style.visibility</p:attrName>
                                        </p:attrNameLst>
                                      </p:cBhvr>
                                      <p:to>
                                        <p:strVal val="visible"/>
                                      </p:to>
                                    </p:set>
                                    <p:anim calcmode="lin" valueType="num">
                                      <p:cBhvr additive="base">
                                        <p:cTn id="7" dur="1000" fill="hold"/>
                                        <p:tgtEl>
                                          <p:spTgt spid="2348"/>
                                        </p:tgtEl>
                                        <p:attrNameLst>
                                          <p:attrName>ppt_x</p:attrName>
                                        </p:attrNameLst>
                                      </p:cBhvr>
                                      <p:tavLst>
                                        <p:tav tm="0">
                                          <p:val>
                                            <p:strVal val="#ppt_x-.2"/>
                                          </p:val>
                                        </p:tav>
                                        <p:tav tm="100000">
                                          <p:val>
                                            <p:strVal val="#ppt_x"/>
                                          </p:val>
                                        </p:tav>
                                      </p:tavLst>
                                    </p:anim>
                                    <p:anim calcmode="lin" valueType="num">
                                      <p:cBhvr additive="base">
                                        <p:cTn id="8" dur="1000" fill="hold"/>
                                        <p:tgtEl>
                                          <p:spTgt spid="2348"/>
                                        </p:tgtEl>
                                        <p:attrNameLst>
                                          <p:attrName>ppt_y</p:attrName>
                                        </p:attrNameLst>
                                      </p:cBhvr>
                                      <p:tavLst>
                                        <p:tav tm="0">
                                          <p:val>
                                            <p:strVal val="#ppt_y"/>
                                          </p:val>
                                        </p:tav>
                                        <p:tav tm="100000">
                                          <p:val>
                                            <p:strVal val="#ppt_y"/>
                                          </p:val>
                                        </p:tav>
                                      </p:tavLst>
                                    </p:anim>
                                    <p:animEffect transition="in" filter="wipe(right)">
                                      <p:cBhvr additive="base">
                                        <p:cTn id="9" dur="1000"/>
                                        <p:tgtEl>
                                          <p:spTgt spid="2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47</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52" name="标题 2351"/>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53" name="文本占位符 2352"/>
          <p:cNvSpPr>
            <a:spLocks noGrp="1"/>
          </p:cNvSpPr>
          <p:nvPr>
            <p:ph type="body" idx="4294967295"/>
          </p:nvPr>
        </p:nvSpPr>
        <p:spPr>
          <a:xfrm>
            <a:off x="611188" y="981075"/>
            <a:ext cx="7910512" cy="5256213"/>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率失真函数的定义域</a:t>
            </a:r>
          </a:p>
          <a:p>
            <a:pPr marL="355600" indent="-355600">
              <a:buClr>
                <a:srgbClr val="993366"/>
              </a:buClr>
              <a:buNone/>
            </a:pPr>
            <a:endParaRPr lang="zh-CN" altLang="en-US" sz="2000">
              <a:ea typeface="MingLiU_HKSCS-ExtB" panose="02020500000000000000" charset="-120"/>
            </a:endParaRPr>
          </a:p>
          <a:p>
            <a:pPr marL="355600" indent="-355600">
              <a:buClr>
                <a:srgbClr val="993366"/>
              </a:buClr>
              <a:buNone/>
            </a:pPr>
            <a:r>
              <a:rPr lang="en-US" altLang="zh-CN" sz="2000">
                <a:ea typeface="MingLiU_HKSCS-ExtB" panose="02020500000000000000" charset="-120"/>
              </a:rPr>
              <a:t>[</a:t>
            </a:r>
            <a:r>
              <a:rPr lang="zh-CN" altLang="en-US" sz="2000">
                <a:ea typeface="MingLiU_HKSCS-ExtB" panose="02020500000000000000" charset="-120"/>
              </a:rPr>
              <a:t>例</a:t>
            </a:r>
            <a:r>
              <a:rPr lang="en-US" altLang="zh-CN" sz="2000">
                <a:ea typeface="MingLiU_HKSCS-ExtB" panose="02020500000000000000" charset="-120"/>
              </a:rPr>
              <a:t>4.1.1]  </a:t>
            </a:r>
            <a:r>
              <a:rPr lang="zh-CN" altLang="en-US" sz="2000">
                <a:ea typeface="MingLiU_HKSCS-ExtB" panose="02020500000000000000" charset="-120"/>
              </a:rPr>
              <a:t>二元信源                  ，相应的失真矩阵                      ， </a:t>
            </a:r>
          </a:p>
          <a:p>
            <a:pPr marL="355600" indent="-355600">
              <a:buClr>
                <a:srgbClr val="993366"/>
              </a:buClr>
              <a:buNone/>
            </a:pPr>
            <a:r>
              <a:rPr lang="zh-CN" altLang="en-US" sz="2000">
                <a:ea typeface="MingLiU_HKSCS-ExtB" panose="02020500000000000000" charset="-120"/>
              </a:rPr>
              <a:t>                计算 </a:t>
            </a:r>
            <a:r>
              <a:rPr lang="en-US" altLang="zh-CN" sz="2000" i="1">
                <a:ea typeface="MingLiU_HKSCS-ExtB" panose="02020500000000000000" charset="-120"/>
              </a:rPr>
              <a:t>D</a:t>
            </a:r>
            <a:r>
              <a:rPr lang="en-US" altLang="zh-CN" sz="2000" baseline="-25000">
                <a:ea typeface="MingLiU_HKSCS-ExtB" panose="02020500000000000000" charset="-120"/>
              </a:rPr>
              <a:t>max</a:t>
            </a:r>
            <a:r>
              <a:rPr lang="en-US" altLang="zh-CN" sz="2000">
                <a:ea typeface="MingLiU_HKSCS-ExtB" panose="02020500000000000000" charset="-120"/>
              </a:rPr>
              <a:t> </a:t>
            </a:r>
            <a:r>
              <a:rPr lang="zh-CN" altLang="en-US" sz="2000">
                <a:ea typeface="MingLiU_HKSCS-ExtB" panose="02020500000000000000" charset="-120"/>
              </a:rPr>
              <a:t>。</a:t>
            </a:r>
          </a:p>
          <a:p>
            <a:pPr marL="355600" indent="-355600">
              <a:buClr>
                <a:schemeClr val="folHlink"/>
              </a:buClr>
              <a:buFont typeface="Wingdings" panose="05000000000000000000" pitchFamily="2" charset="2"/>
              <a:buChar char="]"/>
            </a:pPr>
            <a:r>
              <a:rPr lang="zh-CN" altLang="en-US" sz="2000">
                <a:ea typeface="MingLiU_HKSCS-ExtB" panose="02020500000000000000" charset="-120"/>
              </a:rPr>
              <a:t>先计算 </a:t>
            </a:r>
            <a:r>
              <a:rPr lang="en-US" altLang="zh-CN" sz="2000" i="1">
                <a:ea typeface="MingLiU_HKSCS-ExtB" panose="02020500000000000000" charset="-120"/>
              </a:rPr>
              <a:t>D</a:t>
            </a:r>
            <a:r>
              <a:rPr lang="en-US" altLang="zh-CN" sz="2000" i="1" baseline="-25000">
                <a:ea typeface="MingLiU_HKSCS-ExtB" panose="02020500000000000000" charset="-120"/>
              </a:rPr>
              <a:t>j</a:t>
            </a:r>
            <a:r>
              <a:rPr lang="en-US" altLang="zh-CN" sz="2000">
                <a:ea typeface="MingLiU_HKSCS-ExtB" panose="02020500000000000000" charset="-120"/>
              </a:rPr>
              <a:t> </a:t>
            </a:r>
            <a:r>
              <a:rPr lang="zh-CN" altLang="en-US" sz="2000">
                <a:ea typeface="MingLiU_HKSCS-ExtB" panose="02020500000000000000" charset="-120"/>
              </a:rPr>
              <a:t>：</a:t>
            </a:r>
          </a:p>
          <a:p>
            <a:pPr marL="355600" indent="-355600">
              <a:buClr>
                <a:srgbClr val="993366"/>
              </a:buClr>
              <a:buNone/>
            </a:pPr>
            <a:r>
              <a:rPr lang="zh-CN" altLang="en-US" sz="2000">
                <a:ea typeface="MingLiU_HKSCS-ExtB" panose="02020500000000000000" charset="-120"/>
              </a:rPr>
              <a:t>                        </a:t>
            </a:r>
          </a:p>
          <a:p>
            <a:pPr marL="355600" indent="-355600">
              <a:buClr>
                <a:srgbClr val="993366"/>
              </a:buClr>
              <a:buNone/>
            </a:pPr>
            <a:endParaRPr lang="zh-CN" altLang="en-US" sz="2000">
              <a:ea typeface="MingLiU_HKSCS-ExtB" panose="02020500000000000000" charset="-120"/>
            </a:endParaRPr>
          </a:p>
          <a:p>
            <a:pPr marL="355600" indent="-355600">
              <a:buClr>
                <a:srgbClr val="993366"/>
              </a:buClr>
              <a:buNone/>
            </a:pPr>
            <a:endParaRPr lang="zh-CN" altLang="en-US" sz="2000">
              <a:ea typeface="MingLiU_HKSCS-ExtB" panose="02020500000000000000" charset="-120"/>
            </a:endParaRPr>
          </a:p>
          <a:p>
            <a:pPr marL="355600" indent="-355600">
              <a:buClr>
                <a:schemeClr val="folHlink"/>
              </a:buClr>
              <a:buFont typeface="Wingdings" panose="05000000000000000000" pitchFamily="2" charset="2"/>
              <a:buChar char="]"/>
            </a:pPr>
            <a:r>
              <a:rPr lang="zh-CN" altLang="en-US" sz="2000">
                <a:ea typeface="MingLiU_HKSCS-ExtB" panose="02020500000000000000" charset="-120"/>
              </a:rPr>
              <a:t>根据概率的完备性：</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baseline="-25000">
                <a:ea typeface="MingLiU_HKSCS-ExtB" panose="02020500000000000000" charset="-120"/>
              </a:rPr>
              <a:t>1</a:t>
            </a:r>
            <a:r>
              <a:rPr lang="en-US" altLang="zh-CN" sz="2000">
                <a:ea typeface="MingLiU_HKSCS-ExtB" panose="02020500000000000000" charset="-120"/>
              </a:rPr>
              <a:t>)+</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baseline="-25000">
                <a:ea typeface="MingLiU_HKSCS-ExtB" panose="02020500000000000000" charset="-120"/>
              </a:rPr>
              <a:t>2</a:t>
            </a:r>
            <a:r>
              <a:rPr lang="en-US" altLang="zh-CN" sz="2000">
                <a:ea typeface="MingLiU_HKSCS-ExtB" panose="02020500000000000000" charset="-120"/>
              </a:rPr>
              <a:t>)=1</a:t>
            </a:r>
            <a:endParaRPr lang="en-US" altLang="zh-CN" sz="2000" i="1">
              <a:ea typeface="MingLiU_HKSCS-ExtB" panose="02020500000000000000" charset="-120"/>
            </a:endParaRPr>
          </a:p>
        </p:txBody>
      </p:sp>
      <p:graphicFrame>
        <p:nvGraphicFramePr>
          <p:cNvPr id="2354" name="对象 2353"/>
          <p:cNvGraphicFramePr/>
          <p:nvPr/>
        </p:nvGraphicFramePr>
        <p:xfrm>
          <a:off x="2962275" y="1795463"/>
          <a:ext cx="901700" cy="965200"/>
        </p:xfrm>
        <a:graphic>
          <a:graphicData uri="http://schemas.openxmlformats.org/presentationml/2006/ole">
            <mc:AlternateContent xmlns:mc="http://schemas.openxmlformats.org/markup-compatibility/2006">
              <mc:Choice xmlns:v="urn:schemas-microsoft-com:vml" Requires="v">
                <p:oleObj spid="_x0000_s30727" r:id="rId3" imgW="647700" imgH="389890" progId="Equation.3">
                  <p:embed/>
                </p:oleObj>
              </mc:Choice>
              <mc:Fallback>
                <p:oleObj r:id="rId3" imgW="647700" imgH="389890" progId="Equation.3">
                  <p:embed/>
                  <p:pic>
                    <p:nvPicPr>
                      <p:cNvPr id="0" name="图片 3157"/>
                      <p:cNvPicPr/>
                      <p:nvPr/>
                    </p:nvPicPr>
                    <p:blipFill>
                      <a:blip r:embed="rId4"/>
                      <a:stretch>
                        <a:fillRect/>
                      </a:stretch>
                    </p:blipFill>
                    <p:spPr>
                      <a:xfrm>
                        <a:off x="2962275" y="1795463"/>
                        <a:ext cx="901700" cy="965200"/>
                      </a:xfrm>
                      <a:prstGeom prst="rect">
                        <a:avLst/>
                      </a:prstGeom>
                      <a:noFill/>
                      <a:ln w="38100">
                        <a:noFill/>
                        <a:miter/>
                      </a:ln>
                    </p:spPr>
                  </p:pic>
                </p:oleObj>
              </mc:Fallback>
            </mc:AlternateContent>
          </a:graphicData>
        </a:graphic>
      </p:graphicFrame>
      <p:graphicFrame>
        <p:nvGraphicFramePr>
          <p:cNvPr id="2355" name="对象 2354"/>
          <p:cNvGraphicFramePr/>
          <p:nvPr/>
        </p:nvGraphicFramePr>
        <p:xfrm>
          <a:off x="6137275" y="1638300"/>
          <a:ext cx="955675" cy="1095375"/>
        </p:xfrm>
        <a:graphic>
          <a:graphicData uri="http://schemas.openxmlformats.org/presentationml/2006/ole">
            <mc:AlternateContent xmlns:mc="http://schemas.openxmlformats.org/markup-compatibility/2006">
              <mc:Choice xmlns:v="urn:schemas-microsoft-com:vml" Requires="v">
                <p:oleObj spid="_x0000_s30728" r:id="rId5" imgW="698500" imgH="440055" progId="Equation.3">
                  <p:embed/>
                </p:oleObj>
              </mc:Choice>
              <mc:Fallback>
                <p:oleObj r:id="rId5" imgW="698500" imgH="440055" progId="Equation.3">
                  <p:embed/>
                  <p:pic>
                    <p:nvPicPr>
                      <p:cNvPr id="0" name="图片 3159"/>
                      <p:cNvPicPr/>
                      <p:nvPr/>
                    </p:nvPicPr>
                    <p:blipFill>
                      <a:blip r:embed="rId6"/>
                      <a:stretch>
                        <a:fillRect/>
                      </a:stretch>
                    </p:blipFill>
                    <p:spPr>
                      <a:xfrm>
                        <a:off x="6137275" y="1638300"/>
                        <a:ext cx="955675" cy="1095375"/>
                      </a:xfrm>
                      <a:prstGeom prst="rect">
                        <a:avLst/>
                      </a:prstGeom>
                      <a:noFill/>
                      <a:ln w="38100">
                        <a:noFill/>
                        <a:miter/>
                      </a:ln>
                    </p:spPr>
                  </p:pic>
                </p:oleObj>
              </mc:Fallback>
            </mc:AlternateContent>
          </a:graphicData>
        </a:graphic>
      </p:graphicFrame>
      <p:graphicFrame>
        <p:nvGraphicFramePr>
          <p:cNvPr id="2356" name="对象 2355"/>
          <p:cNvGraphicFramePr/>
          <p:nvPr/>
        </p:nvGraphicFramePr>
        <p:xfrm>
          <a:off x="2511425" y="3213100"/>
          <a:ext cx="2760663" cy="822325"/>
        </p:xfrm>
        <a:graphic>
          <a:graphicData uri="http://schemas.openxmlformats.org/presentationml/2006/ole">
            <mc:AlternateContent xmlns:mc="http://schemas.openxmlformats.org/markup-compatibility/2006">
              <mc:Choice xmlns:v="urn:schemas-microsoft-com:vml" Requires="v">
                <p:oleObj spid="_x0000_s30729" r:id="rId7" imgW="824865" imgH="431800" progId="Equation.3">
                  <p:embed/>
                </p:oleObj>
              </mc:Choice>
              <mc:Fallback>
                <p:oleObj r:id="rId7" imgW="824865" imgH="431800" progId="Equation.3">
                  <p:embed/>
                  <p:pic>
                    <p:nvPicPr>
                      <p:cNvPr id="0" name="图片 3153"/>
                      <p:cNvPicPr/>
                      <p:nvPr/>
                    </p:nvPicPr>
                    <p:blipFill>
                      <a:blip r:embed="rId8"/>
                      <a:stretch>
                        <a:fillRect/>
                      </a:stretch>
                    </p:blipFill>
                    <p:spPr>
                      <a:xfrm>
                        <a:off x="2511425" y="3213100"/>
                        <a:ext cx="2760663" cy="822325"/>
                      </a:xfrm>
                      <a:prstGeom prst="rect">
                        <a:avLst/>
                      </a:prstGeom>
                      <a:noFill/>
                      <a:ln w="38100">
                        <a:noFill/>
                        <a:miter/>
                      </a:ln>
                    </p:spPr>
                  </p:pic>
                </p:oleObj>
              </mc:Fallback>
            </mc:AlternateContent>
          </a:graphicData>
        </a:graphic>
      </p:graphicFrame>
      <p:graphicFrame>
        <p:nvGraphicFramePr>
          <p:cNvPr id="2357" name="对象 2356"/>
          <p:cNvGraphicFramePr/>
          <p:nvPr/>
        </p:nvGraphicFramePr>
        <p:xfrm>
          <a:off x="1471613" y="4210050"/>
          <a:ext cx="2489200" cy="744538"/>
        </p:xfrm>
        <a:graphic>
          <a:graphicData uri="http://schemas.openxmlformats.org/presentationml/2006/ole">
            <mc:AlternateContent xmlns:mc="http://schemas.openxmlformats.org/markup-compatibility/2006">
              <mc:Choice xmlns:v="urn:schemas-microsoft-com:vml" Requires="v">
                <p:oleObj spid="_x0000_s30730" r:id="rId9" imgW="856615" imgH="443865" progId="Equation.3">
                  <p:embed/>
                </p:oleObj>
              </mc:Choice>
              <mc:Fallback>
                <p:oleObj r:id="rId9" imgW="856615" imgH="443865" progId="Equation.3">
                  <p:embed/>
                  <p:pic>
                    <p:nvPicPr>
                      <p:cNvPr id="0" name="图片 3158"/>
                      <p:cNvPicPr/>
                      <p:nvPr/>
                    </p:nvPicPr>
                    <p:blipFill>
                      <a:blip r:embed="rId10"/>
                      <a:stretch>
                        <a:fillRect/>
                      </a:stretch>
                    </p:blipFill>
                    <p:spPr>
                      <a:xfrm>
                        <a:off x="1471613" y="4210050"/>
                        <a:ext cx="2489200" cy="744538"/>
                      </a:xfrm>
                      <a:prstGeom prst="rect">
                        <a:avLst/>
                      </a:prstGeom>
                      <a:noFill/>
                      <a:ln w="38100">
                        <a:noFill/>
                        <a:miter/>
                      </a:ln>
                    </p:spPr>
                  </p:pic>
                </p:oleObj>
              </mc:Fallback>
            </mc:AlternateContent>
          </a:graphicData>
        </a:graphic>
      </p:graphicFrame>
      <p:graphicFrame>
        <p:nvGraphicFramePr>
          <p:cNvPr id="2358" name="对象 2357"/>
          <p:cNvGraphicFramePr/>
          <p:nvPr/>
        </p:nvGraphicFramePr>
        <p:xfrm>
          <a:off x="4456113" y="4210050"/>
          <a:ext cx="2359025" cy="757238"/>
        </p:xfrm>
        <a:graphic>
          <a:graphicData uri="http://schemas.openxmlformats.org/presentationml/2006/ole">
            <mc:AlternateContent xmlns:mc="http://schemas.openxmlformats.org/markup-compatibility/2006">
              <mc:Choice xmlns:v="urn:schemas-microsoft-com:vml" Requires="v">
                <p:oleObj spid="_x0000_s30731" r:id="rId11" imgW="854710" imgH="443865" progId="Equation.3">
                  <p:embed/>
                </p:oleObj>
              </mc:Choice>
              <mc:Fallback>
                <p:oleObj r:id="rId11" imgW="854710" imgH="443865" progId="Equation.3">
                  <p:embed/>
                  <p:pic>
                    <p:nvPicPr>
                      <p:cNvPr id="0" name="图片 3151"/>
                      <p:cNvPicPr/>
                      <p:nvPr/>
                    </p:nvPicPr>
                    <p:blipFill>
                      <a:blip r:embed="rId12"/>
                      <a:stretch>
                        <a:fillRect/>
                      </a:stretch>
                    </p:blipFill>
                    <p:spPr>
                      <a:xfrm>
                        <a:off x="4456113" y="4210050"/>
                        <a:ext cx="2359025" cy="757238"/>
                      </a:xfrm>
                      <a:prstGeom prst="rect">
                        <a:avLst/>
                      </a:prstGeom>
                      <a:noFill/>
                      <a:ln w="38100">
                        <a:noFill/>
                        <a:miter/>
                      </a:ln>
                    </p:spPr>
                  </p:pic>
                </p:oleObj>
              </mc:Fallback>
            </mc:AlternateContent>
          </a:graphicData>
        </a:graphic>
      </p:graphicFrame>
      <p:graphicFrame>
        <p:nvGraphicFramePr>
          <p:cNvPr id="2359" name="对象 2358"/>
          <p:cNvGraphicFramePr/>
          <p:nvPr/>
        </p:nvGraphicFramePr>
        <p:xfrm>
          <a:off x="1247775" y="5661025"/>
          <a:ext cx="6699250" cy="806450"/>
        </p:xfrm>
        <a:graphic>
          <a:graphicData uri="http://schemas.openxmlformats.org/presentationml/2006/ole">
            <mc:AlternateContent xmlns:mc="http://schemas.openxmlformats.org/markup-compatibility/2006">
              <mc:Choice xmlns:v="urn:schemas-microsoft-com:vml" Requires="v">
                <p:oleObj spid="_x0000_s30732" r:id="rId13" imgW="909320" imgH="443865" progId="Equation.3">
                  <p:embed/>
                </p:oleObj>
              </mc:Choice>
              <mc:Fallback>
                <p:oleObj r:id="rId13" imgW="909320" imgH="443865" progId="Equation.3">
                  <p:embed/>
                  <p:pic>
                    <p:nvPicPr>
                      <p:cNvPr id="0" name="图片 3154"/>
                      <p:cNvPicPr/>
                      <p:nvPr/>
                    </p:nvPicPr>
                    <p:blipFill>
                      <a:blip r:embed="rId14"/>
                      <a:stretch>
                        <a:fillRect/>
                      </a:stretch>
                    </p:blipFill>
                    <p:spPr>
                      <a:xfrm>
                        <a:off x="1247775" y="5661025"/>
                        <a:ext cx="6699250" cy="806450"/>
                      </a:xfrm>
                      <a:prstGeom prst="rect">
                        <a:avLst/>
                      </a:prstGeom>
                      <a:noFill/>
                      <a:ln w="38100">
                        <a:noFill/>
                        <a:miter/>
                      </a:ln>
                    </p:spPr>
                  </p:pic>
                </p:oleObj>
              </mc:Fallback>
            </mc:AlternateContent>
          </a:graphicData>
        </a:graphic>
      </p:graphicFrame>
      <p:sp>
        <p:nvSpPr>
          <p:cNvPr id="2360" name="矩形 2359"/>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356"/>
                                        </p:tgtEl>
                                        <p:attrNameLst>
                                          <p:attrName>style.visibility</p:attrName>
                                        </p:attrNameLst>
                                      </p:cBhvr>
                                      <p:to>
                                        <p:strVal val="visible"/>
                                      </p:to>
                                    </p:set>
                                    <p:anim calcmode="lin" valueType="num">
                                      <p:cBhvr additive="base">
                                        <p:cTn id="7" dur="1000" fill="hold"/>
                                        <p:tgtEl>
                                          <p:spTgt spid="2356"/>
                                        </p:tgtEl>
                                        <p:attrNameLst>
                                          <p:attrName>ppt_x</p:attrName>
                                        </p:attrNameLst>
                                      </p:cBhvr>
                                      <p:tavLst>
                                        <p:tav tm="0">
                                          <p:val>
                                            <p:strVal val="#ppt_x-.2"/>
                                          </p:val>
                                        </p:tav>
                                        <p:tav tm="100000">
                                          <p:val>
                                            <p:strVal val="#ppt_x"/>
                                          </p:val>
                                        </p:tav>
                                      </p:tavLst>
                                    </p:anim>
                                    <p:anim calcmode="lin" valueType="num">
                                      <p:cBhvr additive="base">
                                        <p:cTn id="8" dur="1000" fill="hold"/>
                                        <p:tgtEl>
                                          <p:spTgt spid="2356"/>
                                        </p:tgtEl>
                                        <p:attrNameLst>
                                          <p:attrName>ppt_y</p:attrName>
                                        </p:attrNameLst>
                                      </p:cBhvr>
                                      <p:tavLst>
                                        <p:tav tm="0">
                                          <p:val>
                                            <p:strVal val="#ppt_y"/>
                                          </p:val>
                                        </p:tav>
                                        <p:tav tm="100000">
                                          <p:val>
                                            <p:strVal val="#ppt_y"/>
                                          </p:val>
                                        </p:tav>
                                      </p:tavLst>
                                    </p:anim>
                                    <p:animEffect transition="in" filter="wipe(right)">
                                      <p:cBhvr additive="base">
                                        <p:cTn id="9" dur="1000"/>
                                        <p:tgtEl>
                                          <p:spTgt spid="2356"/>
                                        </p:tgtEl>
                                      </p:cBhvr>
                                    </p:animEffect>
                                  </p:childTnLst>
                                </p:cTn>
                              </p:par>
                              <p:par>
                                <p:cTn id="10" presetID="29" presetClass="entr" presetSubtype="0" fill="hold" nodeType="withEffect">
                                  <p:childTnLst>
                                    <p:set>
                                      <p:cBhvr additive="base">
                                        <p:cTn id="11" dur="1" fill="hold">
                                          <p:stCondLst>
                                            <p:cond delay="0"/>
                                          </p:stCondLst>
                                        </p:cTn>
                                        <p:tgtEl>
                                          <p:spTgt spid="2354"/>
                                        </p:tgtEl>
                                        <p:attrNameLst>
                                          <p:attrName>style.visibility</p:attrName>
                                        </p:attrNameLst>
                                      </p:cBhvr>
                                      <p:to>
                                        <p:strVal val="visible"/>
                                      </p:to>
                                    </p:set>
                                    <p:anim calcmode="lin" valueType="num">
                                      <p:cBhvr additive="base">
                                        <p:cTn id="12" dur="1000" fill="hold"/>
                                        <p:tgtEl>
                                          <p:spTgt spid="2354"/>
                                        </p:tgtEl>
                                        <p:attrNameLst>
                                          <p:attrName>ppt_x</p:attrName>
                                        </p:attrNameLst>
                                      </p:cBhvr>
                                      <p:tavLst>
                                        <p:tav tm="0">
                                          <p:val>
                                            <p:strVal val="#ppt_x-.2"/>
                                          </p:val>
                                        </p:tav>
                                        <p:tav tm="100000">
                                          <p:val>
                                            <p:strVal val="#ppt_x"/>
                                          </p:val>
                                        </p:tav>
                                      </p:tavLst>
                                    </p:anim>
                                    <p:anim calcmode="lin" valueType="num">
                                      <p:cBhvr additive="base">
                                        <p:cTn id="13" dur="1000" fill="hold"/>
                                        <p:tgtEl>
                                          <p:spTgt spid="2354"/>
                                        </p:tgtEl>
                                        <p:attrNameLst>
                                          <p:attrName>ppt_y</p:attrName>
                                        </p:attrNameLst>
                                      </p:cBhvr>
                                      <p:tavLst>
                                        <p:tav tm="0">
                                          <p:val>
                                            <p:strVal val="#ppt_y"/>
                                          </p:val>
                                        </p:tav>
                                        <p:tav tm="100000">
                                          <p:val>
                                            <p:strVal val="#ppt_y"/>
                                          </p:val>
                                        </p:tav>
                                      </p:tavLst>
                                    </p:anim>
                                    <p:animEffect transition="in" filter="wipe(right)">
                                      <p:cBhvr additive="base">
                                        <p:cTn id="14" dur="1000"/>
                                        <p:tgtEl>
                                          <p:spTgt spid="2354"/>
                                        </p:tgtEl>
                                      </p:cBhvr>
                                    </p:animEffect>
                                  </p:childTnLst>
                                </p:cTn>
                              </p:par>
                              <p:par>
                                <p:cTn id="15" presetID="29" presetClass="entr" presetSubtype="0" fill="hold" nodeType="withEffect">
                                  <p:childTnLst>
                                    <p:set>
                                      <p:cBhvr additive="base">
                                        <p:cTn id="16" dur="1" fill="hold">
                                          <p:stCondLst>
                                            <p:cond delay="0"/>
                                          </p:stCondLst>
                                        </p:cTn>
                                        <p:tgtEl>
                                          <p:spTgt spid="2355"/>
                                        </p:tgtEl>
                                        <p:attrNameLst>
                                          <p:attrName>style.visibility</p:attrName>
                                        </p:attrNameLst>
                                      </p:cBhvr>
                                      <p:to>
                                        <p:strVal val="visible"/>
                                      </p:to>
                                    </p:set>
                                    <p:anim calcmode="lin" valueType="num">
                                      <p:cBhvr additive="base">
                                        <p:cTn id="17" dur="1000" fill="hold"/>
                                        <p:tgtEl>
                                          <p:spTgt spid="2355"/>
                                        </p:tgtEl>
                                        <p:attrNameLst>
                                          <p:attrName>ppt_x</p:attrName>
                                        </p:attrNameLst>
                                      </p:cBhvr>
                                      <p:tavLst>
                                        <p:tav tm="0">
                                          <p:val>
                                            <p:strVal val="#ppt_x-.2"/>
                                          </p:val>
                                        </p:tav>
                                        <p:tav tm="100000">
                                          <p:val>
                                            <p:strVal val="#ppt_x"/>
                                          </p:val>
                                        </p:tav>
                                      </p:tavLst>
                                    </p:anim>
                                    <p:anim calcmode="lin" valueType="num">
                                      <p:cBhvr additive="base">
                                        <p:cTn id="18" dur="1000" fill="hold"/>
                                        <p:tgtEl>
                                          <p:spTgt spid="2355"/>
                                        </p:tgtEl>
                                        <p:attrNameLst>
                                          <p:attrName>ppt_y</p:attrName>
                                        </p:attrNameLst>
                                      </p:cBhvr>
                                      <p:tavLst>
                                        <p:tav tm="0">
                                          <p:val>
                                            <p:strVal val="#ppt_y"/>
                                          </p:val>
                                        </p:tav>
                                        <p:tav tm="100000">
                                          <p:val>
                                            <p:strVal val="#ppt_y"/>
                                          </p:val>
                                        </p:tav>
                                      </p:tavLst>
                                    </p:anim>
                                    <p:animEffect transition="in" filter="wipe(right)">
                                      <p:cBhvr additive="base">
                                        <p:cTn id="19" dur="1000"/>
                                        <p:tgtEl>
                                          <p:spTgt spid="2355"/>
                                        </p:tgtEl>
                                      </p:cBhvr>
                                    </p:animEffect>
                                  </p:childTnLst>
                                </p:cTn>
                              </p:par>
                              <p:par>
                                <p:cTn id="20" presetID="29" presetClass="entr" presetSubtype="0" fill="hold" nodeType="withEffect">
                                  <p:childTnLst>
                                    <p:set>
                                      <p:cBhvr additive="base">
                                        <p:cTn id="21" dur="1" fill="hold">
                                          <p:stCondLst>
                                            <p:cond delay="0"/>
                                          </p:stCondLst>
                                        </p:cTn>
                                        <p:tgtEl>
                                          <p:spTgt spid="2357"/>
                                        </p:tgtEl>
                                        <p:attrNameLst>
                                          <p:attrName>style.visibility</p:attrName>
                                        </p:attrNameLst>
                                      </p:cBhvr>
                                      <p:to>
                                        <p:strVal val="visible"/>
                                      </p:to>
                                    </p:set>
                                    <p:anim calcmode="lin" valueType="num">
                                      <p:cBhvr additive="base">
                                        <p:cTn id="22" dur="1000" fill="hold"/>
                                        <p:tgtEl>
                                          <p:spTgt spid="2357"/>
                                        </p:tgtEl>
                                        <p:attrNameLst>
                                          <p:attrName>ppt_x</p:attrName>
                                        </p:attrNameLst>
                                      </p:cBhvr>
                                      <p:tavLst>
                                        <p:tav tm="0">
                                          <p:val>
                                            <p:strVal val="#ppt_x-.2"/>
                                          </p:val>
                                        </p:tav>
                                        <p:tav tm="100000">
                                          <p:val>
                                            <p:strVal val="#ppt_x"/>
                                          </p:val>
                                        </p:tav>
                                      </p:tavLst>
                                    </p:anim>
                                    <p:anim calcmode="lin" valueType="num">
                                      <p:cBhvr additive="base">
                                        <p:cTn id="23" dur="1000" fill="hold"/>
                                        <p:tgtEl>
                                          <p:spTgt spid="2357"/>
                                        </p:tgtEl>
                                        <p:attrNameLst>
                                          <p:attrName>ppt_y</p:attrName>
                                        </p:attrNameLst>
                                      </p:cBhvr>
                                      <p:tavLst>
                                        <p:tav tm="0">
                                          <p:val>
                                            <p:strVal val="#ppt_y"/>
                                          </p:val>
                                        </p:tav>
                                        <p:tav tm="100000">
                                          <p:val>
                                            <p:strVal val="#ppt_y"/>
                                          </p:val>
                                        </p:tav>
                                      </p:tavLst>
                                    </p:anim>
                                    <p:animEffect transition="in" filter="wipe(right)">
                                      <p:cBhvr additive="base">
                                        <p:cTn id="24" dur="1000"/>
                                        <p:tgtEl>
                                          <p:spTgt spid="2357"/>
                                        </p:tgtEl>
                                      </p:cBhvr>
                                    </p:animEffect>
                                  </p:childTnLst>
                                </p:cTn>
                              </p:par>
                              <p:par>
                                <p:cTn id="25" presetID="29" presetClass="entr" presetSubtype="0" fill="hold" nodeType="withEffect">
                                  <p:childTnLst>
                                    <p:set>
                                      <p:cBhvr additive="base">
                                        <p:cTn id="26" dur="1" fill="hold">
                                          <p:stCondLst>
                                            <p:cond delay="0"/>
                                          </p:stCondLst>
                                        </p:cTn>
                                        <p:tgtEl>
                                          <p:spTgt spid="2358"/>
                                        </p:tgtEl>
                                        <p:attrNameLst>
                                          <p:attrName>style.visibility</p:attrName>
                                        </p:attrNameLst>
                                      </p:cBhvr>
                                      <p:to>
                                        <p:strVal val="visible"/>
                                      </p:to>
                                    </p:set>
                                    <p:anim calcmode="lin" valueType="num">
                                      <p:cBhvr additive="base">
                                        <p:cTn id="27" dur="1000" fill="hold"/>
                                        <p:tgtEl>
                                          <p:spTgt spid="2358"/>
                                        </p:tgtEl>
                                        <p:attrNameLst>
                                          <p:attrName>ppt_x</p:attrName>
                                        </p:attrNameLst>
                                      </p:cBhvr>
                                      <p:tavLst>
                                        <p:tav tm="0">
                                          <p:val>
                                            <p:strVal val="#ppt_x-.2"/>
                                          </p:val>
                                        </p:tav>
                                        <p:tav tm="100000">
                                          <p:val>
                                            <p:strVal val="#ppt_x"/>
                                          </p:val>
                                        </p:tav>
                                      </p:tavLst>
                                    </p:anim>
                                    <p:anim calcmode="lin" valueType="num">
                                      <p:cBhvr additive="base">
                                        <p:cTn id="28" dur="1000" fill="hold"/>
                                        <p:tgtEl>
                                          <p:spTgt spid="2358"/>
                                        </p:tgtEl>
                                        <p:attrNameLst>
                                          <p:attrName>ppt_y</p:attrName>
                                        </p:attrNameLst>
                                      </p:cBhvr>
                                      <p:tavLst>
                                        <p:tav tm="0">
                                          <p:val>
                                            <p:strVal val="#ppt_y"/>
                                          </p:val>
                                        </p:tav>
                                        <p:tav tm="100000">
                                          <p:val>
                                            <p:strVal val="#ppt_y"/>
                                          </p:val>
                                        </p:tav>
                                      </p:tavLst>
                                    </p:anim>
                                    <p:animEffect transition="in" filter="wipe(right)">
                                      <p:cBhvr additive="base">
                                        <p:cTn id="29" dur="1000"/>
                                        <p:tgtEl>
                                          <p:spTgt spid="2358"/>
                                        </p:tgtEl>
                                      </p:cBhvr>
                                    </p:animEffect>
                                  </p:childTnLst>
                                </p:cTn>
                              </p:par>
                              <p:par>
                                <p:cTn id="30" presetID="29" presetClass="entr" presetSubtype="0" fill="hold" nodeType="withEffect">
                                  <p:childTnLst>
                                    <p:set>
                                      <p:cBhvr additive="base">
                                        <p:cTn id="31" dur="1" fill="hold">
                                          <p:stCondLst>
                                            <p:cond delay="0"/>
                                          </p:stCondLst>
                                        </p:cTn>
                                        <p:tgtEl>
                                          <p:spTgt spid="2359"/>
                                        </p:tgtEl>
                                        <p:attrNameLst>
                                          <p:attrName>style.visibility</p:attrName>
                                        </p:attrNameLst>
                                      </p:cBhvr>
                                      <p:to>
                                        <p:strVal val="visible"/>
                                      </p:to>
                                    </p:set>
                                    <p:anim calcmode="lin" valueType="num">
                                      <p:cBhvr additive="base">
                                        <p:cTn id="32" dur="1000" fill="hold"/>
                                        <p:tgtEl>
                                          <p:spTgt spid="2359"/>
                                        </p:tgtEl>
                                        <p:attrNameLst>
                                          <p:attrName>ppt_x</p:attrName>
                                        </p:attrNameLst>
                                      </p:cBhvr>
                                      <p:tavLst>
                                        <p:tav tm="0">
                                          <p:val>
                                            <p:strVal val="#ppt_x-.2"/>
                                          </p:val>
                                        </p:tav>
                                        <p:tav tm="100000">
                                          <p:val>
                                            <p:strVal val="#ppt_x"/>
                                          </p:val>
                                        </p:tav>
                                      </p:tavLst>
                                    </p:anim>
                                    <p:anim calcmode="lin" valueType="num">
                                      <p:cBhvr additive="base">
                                        <p:cTn id="33" dur="1000" fill="hold"/>
                                        <p:tgtEl>
                                          <p:spTgt spid="2359"/>
                                        </p:tgtEl>
                                        <p:attrNameLst>
                                          <p:attrName>ppt_y</p:attrName>
                                        </p:attrNameLst>
                                      </p:cBhvr>
                                      <p:tavLst>
                                        <p:tav tm="0">
                                          <p:val>
                                            <p:strVal val="#ppt_y"/>
                                          </p:val>
                                        </p:tav>
                                        <p:tav tm="100000">
                                          <p:val>
                                            <p:strVal val="#ppt_y"/>
                                          </p:val>
                                        </p:tav>
                                      </p:tavLst>
                                    </p:anim>
                                    <p:animEffect transition="in" filter="wipe(right)">
                                      <p:cBhvr additive="base">
                                        <p:cTn id="34" dur="1000"/>
                                        <p:tgtEl>
                                          <p:spTgt spid="2359"/>
                                        </p:tgtEl>
                                      </p:cBhvr>
                                    </p:animEffect>
                                  </p:childTnLst>
                                </p:cTn>
                              </p:par>
                              <p:par>
                                <p:cTn id="35" presetID="29" presetClass="entr" presetSubtype="0" fill="hold" nodeType="withEffect">
                                  <p:childTnLst>
                                    <p:set>
                                      <p:cBhvr additive="base">
                                        <p:cTn id="36" dur="1" fill="hold">
                                          <p:stCondLst>
                                            <p:cond delay="0"/>
                                          </p:stCondLst>
                                        </p:cTn>
                                        <p:tgtEl>
                                          <p:spTgt spid="2353">
                                            <p:txEl>
                                              <p:pRg st="2" end="2"/>
                                            </p:txEl>
                                          </p:spTgt>
                                        </p:tgtEl>
                                        <p:attrNameLst>
                                          <p:attrName>style.visibility</p:attrName>
                                        </p:attrNameLst>
                                      </p:cBhvr>
                                      <p:to>
                                        <p:strVal val="visible"/>
                                      </p:to>
                                    </p:set>
                                    <p:anim calcmode="lin" valueType="num">
                                      <p:cBhvr additive="base">
                                        <p:cTn id="37" dur="1000" fill="hold"/>
                                        <p:tgtEl>
                                          <p:spTgt spid="2353">
                                            <p:txEl>
                                              <p:pRg st="2" end="2"/>
                                            </p:txEl>
                                          </p:spTgt>
                                        </p:tgtEl>
                                        <p:attrNameLst>
                                          <p:attrName>ppt_x</p:attrName>
                                        </p:attrNameLst>
                                      </p:cBhvr>
                                      <p:tavLst>
                                        <p:tav tm="0">
                                          <p:val>
                                            <p:strVal val="#ppt_x-.2"/>
                                          </p:val>
                                        </p:tav>
                                        <p:tav tm="100000">
                                          <p:val>
                                            <p:strVal val="#ppt_x"/>
                                          </p:val>
                                        </p:tav>
                                      </p:tavLst>
                                    </p:anim>
                                    <p:anim calcmode="lin" valueType="num">
                                      <p:cBhvr additive="base">
                                        <p:cTn id="38" dur="1000" fill="hold"/>
                                        <p:tgtEl>
                                          <p:spTgt spid="2353">
                                            <p:txEl>
                                              <p:pRg st="2" end="2"/>
                                            </p:txEl>
                                          </p:spTgt>
                                        </p:tgtEl>
                                        <p:attrNameLst>
                                          <p:attrName>ppt_y</p:attrName>
                                        </p:attrNameLst>
                                      </p:cBhvr>
                                      <p:tavLst>
                                        <p:tav tm="0">
                                          <p:val>
                                            <p:strVal val="#ppt_y"/>
                                          </p:val>
                                        </p:tav>
                                        <p:tav tm="100000">
                                          <p:val>
                                            <p:strVal val="#ppt_y"/>
                                          </p:val>
                                        </p:tav>
                                      </p:tavLst>
                                    </p:anim>
                                    <p:animEffect transition="in" filter="wipe(right)">
                                      <p:cBhvr additive="base">
                                        <p:cTn id="39" dur="1000"/>
                                        <p:tgtEl>
                                          <p:spTgt spid="2353">
                                            <p:txEl>
                                              <p:pRg st="2" end="2"/>
                                            </p:txEl>
                                          </p:spTgt>
                                        </p:tgtEl>
                                      </p:cBhvr>
                                    </p:animEffect>
                                  </p:childTnLst>
                                </p:cTn>
                              </p:par>
                              <p:par>
                                <p:cTn id="40" presetID="29" presetClass="entr" presetSubtype="0" fill="hold" nodeType="withEffect">
                                  <p:childTnLst>
                                    <p:set>
                                      <p:cBhvr additive="base">
                                        <p:cTn id="41" dur="1" fill="hold">
                                          <p:stCondLst>
                                            <p:cond delay="0"/>
                                          </p:stCondLst>
                                        </p:cTn>
                                        <p:tgtEl>
                                          <p:spTgt spid="2353">
                                            <p:txEl>
                                              <p:pRg st="3" end="3"/>
                                            </p:txEl>
                                          </p:spTgt>
                                        </p:tgtEl>
                                        <p:attrNameLst>
                                          <p:attrName>style.visibility</p:attrName>
                                        </p:attrNameLst>
                                      </p:cBhvr>
                                      <p:to>
                                        <p:strVal val="visible"/>
                                      </p:to>
                                    </p:set>
                                    <p:anim calcmode="lin" valueType="num">
                                      <p:cBhvr additive="base">
                                        <p:cTn id="42" dur="1000" fill="hold"/>
                                        <p:tgtEl>
                                          <p:spTgt spid="2353">
                                            <p:txEl>
                                              <p:pRg st="3" end="3"/>
                                            </p:txEl>
                                          </p:spTgt>
                                        </p:tgtEl>
                                        <p:attrNameLst>
                                          <p:attrName>ppt_x</p:attrName>
                                        </p:attrNameLst>
                                      </p:cBhvr>
                                      <p:tavLst>
                                        <p:tav tm="0">
                                          <p:val>
                                            <p:strVal val="#ppt_x-.2"/>
                                          </p:val>
                                        </p:tav>
                                        <p:tav tm="100000">
                                          <p:val>
                                            <p:strVal val="#ppt_x"/>
                                          </p:val>
                                        </p:tav>
                                      </p:tavLst>
                                    </p:anim>
                                    <p:anim calcmode="lin" valueType="num">
                                      <p:cBhvr additive="base">
                                        <p:cTn id="43" dur="1000" fill="hold"/>
                                        <p:tgtEl>
                                          <p:spTgt spid="2353">
                                            <p:txEl>
                                              <p:pRg st="3" end="3"/>
                                            </p:txEl>
                                          </p:spTgt>
                                        </p:tgtEl>
                                        <p:attrNameLst>
                                          <p:attrName>ppt_y</p:attrName>
                                        </p:attrNameLst>
                                      </p:cBhvr>
                                      <p:tavLst>
                                        <p:tav tm="0">
                                          <p:val>
                                            <p:strVal val="#ppt_y"/>
                                          </p:val>
                                        </p:tav>
                                        <p:tav tm="100000">
                                          <p:val>
                                            <p:strVal val="#ppt_y"/>
                                          </p:val>
                                        </p:tav>
                                      </p:tavLst>
                                    </p:anim>
                                    <p:animEffect transition="in" filter="wipe(right)">
                                      <p:cBhvr additive="base">
                                        <p:cTn id="44" dur="1000"/>
                                        <p:tgtEl>
                                          <p:spTgt spid="2353">
                                            <p:txEl>
                                              <p:pRg st="3" end="3"/>
                                            </p:txEl>
                                          </p:spTgt>
                                        </p:tgtEl>
                                      </p:cBhvr>
                                    </p:animEffect>
                                  </p:childTnLst>
                                </p:cTn>
                              </p:par>
                              <p:par>
                                <p:cTn id="45" presetID="29" presetClass="entr" presetSubtype="0" fill="hold" nodeType="withEffect">
                                  <p:childTnLst>
                                    <p:set>
                                      <p:cBhvr additive="base">
                                        <p:cTn id="46" dur="1" fill="hold">
                                          <p:stCondLst>
                                            <p:cond delay="0"/>
                                          </p:stCondLst>
                                        </p:cTn>
                                        <p:tgtEl>
                                          <p:spTgt spid="2353">
                                            <p:txEl>
                                              <p:pRg st="4" end="4"/>
                                            </p:txEl>
                                          </p:spTgt>
                                        </p:tgtEl>
                                        <p:attrNameLst>
                                          <p:attrName>style.visibility</p:attrName>
                                        </p:attrNameLst>
                                      </p:cBhvr>
                                      <p:to>
                                        <p:strVal val="visible"/>
                                      </p:to>
                                    </p:set>
                                    <p:anim calcmode="lin" valueType="num">
                                      <p:cBhvr additive="base">
                                        <p:cTn id="47" dur="1000" fill="hold"/>
                                        <p:tgtEl>
                                          <p:spTgt spid="2353">
                                            <p:txEl>
                                              <p:pRg st="4" end="4"/>
                                            </p:txEl>
                                          </p:spTgt>
                                        </p:tgtEl>
                                        <p:attrNameLst>
                                          <p:attrName>ppt_x</p:attrName>
                                        </p:attrNameLst>
                                      </p:cBhvr>
                                      <p:tavLst>
                                        <p:tav tm="0">
                                          <p:val>
                                            <p:strVal val="#ppt_x-.2"/>
                                          </p:val>
                                        </p:tav>
                                        <p:tav tm="100000">
                                          <p:val>
                                            <p:strVal val="#ppt_x"/>
                                          </p:val>
                                        </p:tav>
                                      </p:tavLst>
                                    </p:anim>
                                    <p:anim calcmode="lin" valueType="num">
                                      <p:cBhvr additive="base">
                                        <p:cTn id="48" dur="1000" fill="hold"/>
                                        <p:tgtEl>
                                          <p:spTgt spid="2353">
                                            <p:txEl>
                                              <p:pRg st="4" end="4"/>
                                            </p:txEl>
                                          </p:spTgt>
                                        </p:tgtEl>
                                        <p:attrNameLst>
                                          <p:attrName>ppt_y</p:attrName>
                                        </p:attrNameLst>
                                      </p:cBhvr>
                                      <p:tavLst>
                                        <p:tav tm="0">
                                          <p:val>
                                            <p:strVal val="#ppt_y"/>
                                          </p:val>
                                        </p:tav>
                                        <p:tav tm="100000">
                                          <p:val>
                                            <p:strVal val="#ppt_y"/>
                                          </p:val>
                                        </p:tav>
                                      </p:tavLst>
                                    </p:anim>
                                    <p:animEffect transition="in" filter="wipe(right)">
                                      <p:cBhvr additive="base">
                                        <p:cTn id="49" dur="1000"/>
                                        <p:tgtEl>
                                          <p:spTgt spid="2353">
                                            <p:txEl>
                                              <p:pRg st="4" end="4"/>
                                            </p:txEl>
                                          </p:spTgt>
                                        </p:tgtEl>
                                      </p:cBhvr>
                                    </p:animEffect>
                                  </p:childTnLst>
                                </p:cTn>
                              </p:par>
                              <p:par>
                                <p:cTn id="50" presetID="29" presetClass="entr" presetSubtype="0" fill="hold" nodeType="withEffect">
                                  <p:childTnLst>
                                    <p:set>
                                      <p:cBhvr additive="base">
                                        <p:cTn id="51" dur="1" fill="hold">
                                          <p:stCondLst>
                                            <p:cond delay="0"/>
                                          </p:stCondLst>
                                        </p:cTn>
                                        <p:tgtEl>
                                          <p:spTgt spid="2353">
                                            <p:txEl>
                                              <p:pRg st="5" end="5"/>
                                            </p:txEl>
                                          </p:spTgt>
                                        </p:tgtEl>
                                        <p:attrNameLst>
                                          <p:attrName>style.visibility</p:attrName>
                                        </p:attrNameLst>
                                      </p:cBhvr>
                                      <p:to>
                                        <p:strVal val="visible"/>
                                      </p:to>
                                    </p:set>
                                    <p:anim calcmode="lin" valueType="num">
                                      <p:cBhvr additive="base">
                                        <p:cTn id="52" dur="1000" fill="hold"/>
                                        <p:tgtEl>
                                          <p:spTgt spid="2353">
                                            <p:txEl>
                                              <p:pRg st="5" end="5"/>
                                            </p:txEl>
                                          </p:spTgt>
                                        </p:tgtEl>
                                        <p:attrNameLst>
                                          <p:attrName>ppt_x</p:attrName>
                                        </p:attrNameLst>
                                      </p:cBhvr>
                                      <p:tavLst>
                                        <p:tav tm="0">
                                          <p:val>
                                            <p:strVal val="#ppt_x-.2"/>
                                          </p:val>
                                        </p:tav>
                                        <p:tav tm="100000">
                                          <p:val>
                                            <p:strVal val="#ppt_x"/>
                                          </p:val>
                                        </p:tav>
                                      </p:tavLst>
                                    </p:anim>
                                    <p:anim calcmode="lin" valueType="num">
                                      <p:cBhvr additive="base">
                                        <p:cTn id="53" dur="1000" fill="hold"/>
                                        <p:tgtEl>
                                          <p:spTgt spid="2353">
                                            <p:txEl>
                                              <p:pRg st="5" end="5"/>
                                            </p:txEl>
                                          </p:spTgt>
                                        </p:tgtEl>
                                        <p:attrNameLst>
                                          <p:attrName>ppt_y</p:attrName>
                                        </p:attrNameLst>
                                      </p:cBhvr>
                                      <p:tavLst>
                                        <p:tav tm="0">
                                          <p:val>
                                            <p:strVal val="#ppt_y"/>
                                          </p:val>
                                        </p:tav>
                                        <p:tav tm="100000">
                                          <p:val>
                                            <p:strVal val="#ppt_y"/>
                                          </p:val>
                                        </p:tav>
                                      </p:tavLst>
                                    </p:anim>
                                    <p:animEffect transition="in" filter="wipe(right)">
                                      <p:cBhvr additive="base">
                                        <p:cTn id="54" dur="1000"/>
                                        <p:tgtEl>
                                          <p:spTgt spid="2353">
                                            <p:txEl>
                                              <p:pRg st="5" end="5"/>
                                            </p:txEl>
                                          </p:spTgt>
                                        </p:tgtEl>
                                      </p:cBhvr>
                                    </p:animEffect>
                                  </p:childTnLst>
                                </p:cTn>
                              </p:par>
                              <p:par>
                                <p:cTn id="55" presetID="29" presetClass="entr" presetSubtype="0" fill="hold" nodeType="withEffect">
                                  <p:childTnLst>
                                    <p:set>
                                      <p:cBhvr additive="base">
                                        <p:cTn id="56" dur="1" fill="hold">
                                          <p:stCondLst>
                                            <p:cond delay="0"/>
                                          </p:stCondLst>
                                        </p:cTn>
                                        <p:tgtEl>
                                          <p:spTgt spid="2353">
                                            <p:txEl>
                                              <p:pRg st="8" end="8"/>
                                            </p:txEl>
                                          </p:spTgt>
                                        </p:tgtEl>
                                        <p:attrNameLst>
                                          <p:attrName>style.visibility</p:attrName>
                                        </p:attrNameLst>
                                      </p:cBhvr>
                                      <p:to>
                                        <p:strVal val="visible"/>
                                      </p:to>
                                    </p:set>
                                    <p:anim calcmode="lin" valueType="num">
                                      <p:cBhvr additive="base">
                                        <p:cTn id="57" dur="1000" fill="hold"/>
                                        <p:tgtEl>
                                          <p:spTgt spid="2353">
                                            <p:txEl>
                                              <p:pRg st="8" end="8"/>
                                            </p:txEl>
                                          </p:spTgt>
                                        </p:tgtEl>
                                        <p:attrNameLst>
                                          <p:attrName>ppt_x</p:attrName>
                                        </p:attrNameLst>
                                      </p:cBhvr>
                                      <p:tavLst>
                                        <p:tav tm="0">
                                          <p:val>
                                            <p:strVal val="#ppt_x-.2"/>
                                          </p:val>
                                        </p:tav>
                                        <p:tav tm="100000">
                                          <p:val>
                                            <p:strVal val="#ppt_x"/>
                                          </p:val>
                                        </p:tav>
                                      </p:tavLst>
                                    </p:anim>
                                    <p:anim calcmode="lin" valueType="num">
                                      <p:cBhvr additive="base">
                                        <p:cTn id="58" dur="1000" fill="hold"/>
                                        <p:tgtEl>
                                          <p:spTgt spid="2353">
                                            <p:txEl>
                                              <p:pRg st="8" end="8"/>
                                            </p:txEl>
                                          </p:spTgt>
                                        </p:tgtEl>
                                        <p:attrNameLst>
                                          <p:attrName>ppt_y</p:attrName>
                                        </p:attrNameLst>
                                      </p:cBhvr>
                                      <p:tavLst>
                                        <p:tav tm="0">
                                          <p:val>
                                            <p:strVal val="#ppt_y"/>
                                          </p:val>
                                        </p:tav>
                                        <p:tav tm="100000">
                                          <p:val>
                                            <p:strVal val="#ppt_y"/>
                                          </p:val>
                                        </p:tav>
                                      </p:tavLst>
                                    </p:anim>
                                    <p:animEffect transition="in" filter="wipe(right)">
                                      <p:cBhvr additive="base">
                                        <p:cTn id="59" dur="1000"/>
                                        <p:tgtEl>
                                          <p:spTgt spid="235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48</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63" name="标题 2362"/>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64" name="文本占位符 2363"/>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率失真函数的定义域</a:t>
            </a:r>
          </a:p>
          <a:p>
            <a:pPr marL="355600" indent="-355600">
              <a:buClr>
                <a:srgbClr val="993366"/>
              </a:buClr>
              <a:buNone/>
            </a:pPr>
            <a:endParaRPr lang="zh-CN" altLang="en-US" sz="2000">
              <a:ea typeface="MingLiU_HKSCS-ExtB" panose="02020500000000000000" charset="-120"/>
            </a:endParaRPr>
          </a:p>
          <a:p>
            <a:pPr marL="355600" indent="-355600">
              <a:buClr>
                <a:srgbClr val="993366"/>
              </a:buClr>
              <a:buNone/>
            </a:pPr>
            <a:r>
              <a:rPr lang="en-US" altLang="zh-CN" sz="2000">
                <a:ea typeface="MingLiU_HKSCS-ExtB" panose="02020500000000000000" charset="-120"/>
              </a:rPr>
              <a:t>[</a:t>
            </a:r>
            <a:r>
              <a:rPr lang="zh-CN" altLang="en-US" sz="2000">
                <a:ea typeface="MingLiU_HKSCS-ExtB" panose="02020500000000000000" charset="-120"/>
              </a:rPr>
              <a:t>例</a:t>
            </a:r>
            <a:r>
              <a:rPr lang="en-US" altLang="zh-CN" sz="2000">
                <a:ea typeface="MingLiU_HKSCS-ExtB" panose="02020500000000000000" charset="-120"/>
              </a:rPr>
              <a:t>4.1.1]  </a:t>
            </a:r>
            <a:r>
              <a:rPr lang="zh-CN" altLang="en-US" sz="2000">
                <a:ea typeface="MingLiU_HKSCS-ExtB" panose="02020500000000000000" charset="-120"/>
              </a:rPr>
              <a:t>二元信源                  ，相应的失真矩阵                      ， </a:t>
            </a:r>
          </a:p>
          <a:p>
            <a:pPr marL="355600" indent="-355600">
              <a:buClr>
                <a:srgbClr val="993366"/>
              </a:buClr>
              <a:buNone/>
            </a:pPr>
            <a:r>
              <a:rPr lang="zh-CN" altLang="en-US" sz="2000">
                <a:ea typeface="MingLiU_HKSCS-ExtB" panose="02020500000000000000" charset="-120"/>
              </a:rPr>
              <a:t>                计算 </a:t>
            </a:r>
            <a:r>
              <a:rPr lang="en-US" altLang="zh-CN" sz="2000" i="1">
                <a:ea typeface="MingLiU_HKSCS-ExtB" panose="02020500000000000000" charset="-120"/>
              </a:rPr>
              <a:t>D</a:t>
            </a:r>
            <a:r>
              <a:rPr lang="en-US" altLang="zh-CN" sz="2000" baseline="-25000">
                <a:ea typeface="MingLiU_HKSCS-ExtB" panose="02020500000000000000" charset="-120"/>
              </a:rPr>
              <a:t>max</a:t>
            </a:r>
            <a:r>
              <a:rPr lang="en-US" altLang="zh-CN" sz="2000">
                <a:ea typeface="MingLiU_HKSCS-ExtB" panose="02020500000000000000" charset="-120"/>
              </a:rPr>
              <a:t> </a:t>
            </a:r>
            <a:r>
              <a:rPr lang="zh-CN" altLang="en-US" sz="2000">
                <a:ea typeface="MingLiU_HKSCS-ExtB" panose="02020500000000000000" charset="-120"/>
              </a:rPr>
              <a:t>。</a:t>
            </a:r>
          </a:p>
          <a:p>
            <a:pPr marL="355600" indent="-355600">
              <a:buClr>
                <a:schemeClr val="folHlink"/>
              </a:buClr>
              <a:buFont typeface="Wingdings" panose="05000000000000000000" pitchFamily="2" charset="2"/>
              <a:buChar char="]"/>
            </a:pPr>
            <a:r>
              <a:rPr lang="zh-CN" altLang="en-US" sz="2000">
                <a:ea typeface="MingLiU_HKSCS-ExtB" panose="02020500000000000000" charset="-120"/>
              </a:rPr>
              <a:t>当 </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baseline="-25000">
                <a:ea typeface="MingLiU_HKSCS-ExtB" panose="02020500000000000000" charset="-120"/>
              </a:rPr>
              <a:t>1</a:t>
            </a:r>
            <a:r>
              <a:rPr lang="en-US" altLang="zh-CN" sz="2000">
                <a:ea typeface="MingLiU_HKSCS-ExtB" panose="02020500000000000000" charset="-120"/>
              </a:rPr>
              <a:t>)=0</a:t>
            </a:r>
            <a:r>
              <a:rPr lang="zh-CN" altLang="en-US" sz="2000">
                <a:ea typeface="MingLiU_HKSCS-ExtB" panose="02020500000000000000" charset="-120"/>
              </a:rPr>
              <a:t>，</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baseline="-25000">
                <a:ea typeface="MingLiU_HKSCS-ExtB" panose="02020500000000000000" charset="-120"/>
              </a:rPr>
              <a:t>2</a:t>
            </a:r>
            <a:r>
              <a:rPr lang="en-US" altLang="zh-CN" sz="2000">
                <a:ea typeface="MingLiU_HKSCS-ExtB" panose="02020500000000000000" charset="-120"/>
              </a:rPr>
              <a:t>)=1 </a:t>
            </a:r>
            <a:r>
              <a:rPr lang="zh-CN" altLang="en-US" sz="2000">
                <a:ea typeface="MingLiU_HKSCS-ExtB" panose="02020500000000000000" charset="-120"/>
              </a:rPr>
              <a:t>时，得到最小值：</a:t>
            </a:r>
          </a:p>
        </p:txBody>
      </p:sp>
      <p:graphicFrame>
        <p:nvGraphicFramePr>
          <p:cNvPr id="2365" name="对象 2364"/>
          <p:cNvGraphicFramePr/>
          <p:nvPr/>
        </p:nvGraphicFramePr>
        <p:xfrm>
          <a:off x="2962275" y="1795463"/>
          <a:ext cx="901700" cy="965200"/>
        </p:xfrm>
        <a:graphic>
          <a:graphicData uri="http://schemas.openxmlformats.org/presentationml/2006/ole">
            <mc:AlternateContent xmlns:mc="http://schemas.openxmlformats.org/markup-compatibility/2006">
              <mc:Choice xmlns:v="urn:schemas-microsoft-com:vml" Requires="v">
                <p:oleObj spid="_x0000_s31748" r:id="rId3" imgW="647700" imgH="389890" progId="Equation.3">
                  <p:embed/>
                </p:oleObj>
              </mc:Choice>
              <mc:Fallback>
                <p:oleObj r:id="rId3" imgW="647700" imgH="389890" progId="Equation.3">
                  <p:embed/>
                  <p:pic>
                    <p:nvPicPr>
                      <p:cNvPr id="0" name="图片 3161"/>
                      <p:cNvPicPr/>
                      <p:nvPr/>
                    </p:nvPicPr>
                    <p:blipFill>
                      <a:blip r:embed="rId4"/>
                      <a:stretch>
                        <a:fillRect/>
                      </a:stretch>
                    </p:blipFill>
                    <p:spPr>
                      <a:xfrm>
                        <a:off x="2962275" y="1795463"/>
                        <a:ext cx="901700" cy="965200"/>
                      </a:xfrm>
                      <a:prstGeom prst="rect">
                        <a:avLst/>
                      </a:prstGeom>
                      <a:noFill/>
                      <a:ln w="38100">
                        <a:noFill/>
                        <a:miter/>
                      </a:ln>
                    </p:spPr>
                  </p:pic>
                </p:oleObj>
              </mc:Fallback>
            </mc:AlternateContent>
          </a:graphicData>
        </a:graphic>
      </p:graphicFrame>
      <p:graphicFrame>
        <p:nvGraphicFramePr>
          <p:cNvPr id="2366" name="对象 2365"/>
          <p:cNvGraphicFramePr/>
          <p:nvPr/>
        </p:nvGraphicFramePr>
        <p:xfrm>
          <a:off x="5953125" y="1638300"/>
          <a:ext cx="955675" cy="1095375"/>
        </p:xfrm>
        <a:graphic>
          <a:graphicData uri="http://schemas.openxmlformats.org/presentationml/2006/ole">
            <mc:AlternateContent xmlns:mc="http://schemas.openxmlformats.org/markup-compatibility/2006">
              <mc:Choice xmlns:v="urn:schemas-microsoft-com:vml" Requires="v">
                <p:oleObj spid="_x0000_s31749" r:id="rId5" imgW="698500" imgH="440055" progId="Equation.3">
                  <p:embed/>
                </p:oleObj>
              </mc:Choice>
              <mc:Fallback>
                <p:oleObj r:id="rId5" imgW="698500" imgH="440055" progId="Equation.3">
                  <p:embed/>
                  <p:pic>
                    <p:nvPicPr>
                      <p:cNvPr id="0" name="图片 3160"/>
                      <p:cNvPicPr/>
                      <p:nvPr/>
                    </p:nvPicPr>
                    <p:blipFill>
                      <a:blip r:embed="rId6"/>
                      <a:stretch>
                        <a:fillRect/>
                      </a:stretch>
                    </p:blipFill>
                    <p:spPr>
                      <a:xfrm>
                        <a:off x="5953125" y="1638300"/>
                        <a:ext cx="955675" cy="1095375"/>
                      </a:xfrm>
                      <a:prstGeom prst="rect">
                        <a:avLst/>
                      </a:prstGeom>
                      <a:noFill/>
                      <a:ln w="38100">
                        <a:noFill/>
                        <a:miter/>
                      </a:ln>
                    </p:spPr>
                  </p:pic>
                </p:oleObj>
              </mc:Fallback>
            </mc:AlternateContent>
          </a:graphicData>
        </a:graphic>
      </p:graphicFrame>
      <p:graphicFrame>
        <p:nvGraphicFramePr>
          <p:cNvPr id="2367" name="对象 2366"/>
          <p:cNvGraphicFramePr/>
          <p:nvPr/>
        </p:nvGraphicFramePr>
        <p:xfrm>
          <a:off x="2409825" y="3778250"/>
          <a:ext cx="4116388" cy="808038"/>
        </p:xfrm>
        <a:graphic>
          <a:graphicData uri="http://schemas.openxmlformats.org/presentationml/2006/ole">
            <mc:AlternateContent xmlns:mc="http://schemas.openxmlformats.org/markup-compatibility/2006">
              <mc:Choice xmlns:v="urn:schemas-microsoft-com:vml" Requires="v">
                <p:oleObj spid="_x0000_s31750" r:id="rId7" imgW="888365" imgH="443865" progId="Equation.3">
                  <p:embed/>
                </p:oleObj>
              </mc:Choice>
              <mc:Fallback>
                <p:oleObj r:id="rId7" imgW="888365" imgH="443865" progId="Equation.3">
                  <p:embed/>
                  <p:pic>
                    <p:nvPicPr>
                      <p:cNvPr id="0" name="图片 3162"/>
                      <p:cNvPicPr/>
                      <p:nvPr/>
                    </p:nvPicPr>
                    <p:blipFill>
                      <a:blip r:embed="rId8"/>
                      <a:stretch>
                        <a:fillRect/>
                      </a:stretch>
                    </p:blipFill>
                    <p:spPr>
                      <a:xfrm>
                        <a:off x="2409825" y="3778250"/>
                        <a:ext cx="4116388" cy="808038"/>
                      </a:xfrm>
                      <a:prstGeom prst="rect">
                        <a:avLst/>
                      </a:prstGeom>
                      <a:noFill/>
                      <a:ln w="38100">
                        <a:noFill/>
                        <a:miter/>
                      </a:ln>
                    </p:spPr>
                  </p:pic>
                </p:oleObj>
              </mc:Fallback>
            </mc:AlternateContent>
          </a:graphicData>
        </a:graphic>
      </p:graphicFrame>
      <p:sp>
        <p:nvSpPr>
          <p:cNvPr id="2368" name="矩形 2367"/>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367"/>
                                        </p:tgtEl>
                                        <p:attrNameLst>
                                          <p:attrName>style.visibility</p:attrName>
                                        </p:attrNameLst>
                                      </p:cBhvr>
                                      <p:to>
                                        <p:strVal val="visible"/>
                                      </p:to>
                                    </p:set>
                                    <p:anim calcmode="lin" valueType="num">
                                      <p:cBhvr additive="base">
                                        <p:cTn id="7" dur="1000" fill="hold"/>
                                        <p:tgtEl>
                                          <p:spTgt spid="2367"/>
                                        </p:tgtEl>
                                        <p:attrNameLst>
                                          <p:attrName>ppt_x</p:attrName>
                                        </p:attrNameLst>
                                      </p:cBhvr>
                                      <p:tavLst>
                                        <p:tav tm="0">
                                          <p:val>
                                            <p:strVal val="#ppt_x-.2"/>
                                          </p:val>
                                        </p:tav>
                                        <p:tav tm="100000">
                                          <p:val>
                                            <p:strVal val="#ppt_x"/>
                                          </p:val>
                                        </p:tav>
                                      </p:tavLst>
                                    </p:anim>
                                    <p:anim calcmode="lin" valueType="num">
                                      <p:cBhvr additive="base">
                                        <p:cTn id="8" dur="1000" fill="hold"/>
                                        <p:tgtEl>
                                          <p:spTgt spid="2367"/>
                                        </p:tgtEl>
                                        <p:attrNameLst>
                                          <p:attrName>ppt_y</p:attrName>
                                        </p:attrNameLst>
                                      </p:cBhvr>
                                      <p:tavLst>
                                        <p:tav tm="0">
                                          <p:val>
                                            <p:strVal val="#ppt_y"/>
                                          </p:val>
                                        </p:tav>
                                        <p:tav tm="100000">
                                          <p:val>
                                            <p:strVal val="#ppt_y"/>
                                          </p:val>
                                        </p:tav>
                                      </p:tavLst>
                                    </p:anim>
                                    <p:animEffect transition="in" filter="wipe(right)">
                                      <p:cBhvr additive="base">
                                        <p:cTn id="9" dur="1000"/>
                                        <p:tgtEl>
                                          <p:spTgt spid="2367"/>
                                        </p:tgtEl>
                                      </p:cBhvr>
                                    </p:animEffect>
                                  </p:childTnLst>
                                </p:cTn>
                              </p:par>
                              <p:par>
                                <p:cTn id="10" presetID="29" presetClass="entr" presetSubtype="0" fill="hold" nodeType="withEffect">
                                  <p:childTnLst>
                                    <p:set>
                                      <p:cBhvr additive="base">
                                        <p:cTn id="11" dur="1" fill="hold">
                                          <p:stCondLst>
                                            <p:cond delay="0"/>
                                          </p:stCondLst>
                                        </p:cTn>
                                        <p:tgtEl>
                                          <p:spTgt spid="2364">
                                            <p:txEl>
                                              <p:pRg st="4" end="4"/>
                                            </p:txEl>
                                          </p:spTgt>
                                        </p:tgtEl>
                                        <p:attrNameLst>
                                          <p:attrName>style.visibility</p:attrName>
                                        </p:attrNameLst>
                                      </p:cBhvr>
                                      <p:to>
                                        <p:strVal val="visible"/>
                                      </p:to>
                                    </p:set>
                                    <p:anim calcmode="lin" valueType="num">
                                      <p:cBhvr additive="base">
                                        <p:cTn id="12" dur="1000" fill="hold"/>
                                        <p:tgtEl>
                                          <p:spTgt spid="2364">
                                            <p:txEl>
                                              <p:pRg st="4" end="4"/>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364">
                                            <p:txEl>
                                              <p:pRg st="4" end="4"/>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36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49</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71" name="标题 2370"/>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72" name="文本占位符 2371"/>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(1) </a:t>
            </a:r>
            <a:r>
              <a:rPr lang="zh-CN" altLang="en-US">
                <a:ea typeface="MingLiU_HKSCS-ExtB" panose="02020500000000000000" charset="-120"/>
              </a:rPr>
              <a:t>率失真函数的定义域</a:t>
            </a:r>
          </a:p>
          <a:p>
            <a:pPr>
              <a:buClr>
                <a:srgbClr val="993366"/>
              </a:buClr>
            </a:pPr>
            <a:r>
              <a:rPr lang="zh-CN" altLang="en-US" sz="2400">
                <a:ea typeface="MingLiU_HKSCS-ExtB" panose="02020500000000000000" charset="-120"/>
              </a:rPr>
              <a:t> </a:t>
            </a:r>
            <a:r>
              <a:rPr lang="zh-CN" altLang="en-US" sz="2400" u="sng">
                <a:ea typeface="MingLiU_HKSCS-ExtB" panose="02020500000000000000" charset="-120"/>
              </a:rPr>
              <a:t>结论</a:t>
            </a:r>
          </a:p>
          <a:p>
            <a:pPr marL="355600" lvl="1">
              <a:buClr>
                <a:srgbClr val="993366"/>
              </a:buClr>
            </a:pPr>
            <a:r>
              <a:rPr lang="zh-CN" altLang="en-US" i="1">
                <a:ea typeface="MingLiU_HKSCS-ExtB" panose="02020500000000000000" charset="-120"/>
              </a:rPr>
              <a:t> </a:t>
            </a:r>
            <a:r>
              <a:rPr lang="en-US" altLang="zh-CN" i="1">
                <a:ea typeface="MingLiU_HKSCS-ExtB" panose="02020500000000000000" charset="-120"/>
              </a:rPr>
              <a:t>R</a:t>
            </a:r>
            <a:r>
              <a:rPr lang="en-US" altLang="zh-CN">
                <a:ea typeface="MingLiU_HKSCS-ExtB" panose="02020500000000000000" charset="-120"/>
              </a:rPr>
              <a:t>(</a:t>
            </a:r>
            <a:r>
              <a:rPr lang="en-US" altLang="zh-CN" i="1">
                <a:ea typeface="MingLiU_HKSCS-ExtB" panose="02020500000000000000" charset="-120"/>
              </a:rPr>
              <a:t>D</a:t>
            </a:r>
            <a:r>
              <a:rPr lang="en-US" altLang="zh-CN">
                <a:ea typeface="MingLiU_HKSCS-ExtB" panose="02020500000000000000" charset="-120"/>
              </a:rPr>
              <a:t>) </a:t>
            </a:r>
            <a:r>
              <a:rPr lang="zh-CN" altLang="en-US">
                <a:ea typeface="MingLiU_HKSCS-ExtB" panose="02020500000000000000" charset="-120"/>
              </a:rPr>
              <a:t>的定义域为：</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D</a:t>
            </a:r>
            <a:r>
              <a:rPr lang="en-US" altLang="zh-CN" baseline="-25000">
                <a:solidFill>
                  <a:srgbClr val="FF0000"/>
                </a:solidFill>
                <a:ea typeface="MingLiU_HKSCS-ExtB" panose="02020500000000000000" charset="-120"/>
              </a:rPr>
              <a:t>min</a:t>
            </a:r>
            <a:r>
              <a:rPr lang="en-US" altLang="zh-CN">
                <a:solidFill>
                  <a:srgbClr val="FF0000"/>
                </a:solidFill>
                <a:ea typeface="MingLiU_HKSCS-ExtB" panose="02020500000000000000" charset="-120"/>
              </a:rPr>
              <a:t>, </a:t>
            </a:r>
            <a:r>
              <a:rPr lang="en-US" altLang="zh-CN" i="1">
                <a:solidFill>
                  <a:srgbClr val="FF0000"/>
                </a:solidFill>
                <a:ea typeface="MingLiU_HKSCS-ExtB" panose="02020500000000000000" charset="-120"/>
              </a:rPr>
              <a:t>D</a:t>
            </a:r>
            <a:r>
              <a:rPr lang="en-US" altLang="zh-CN" baseline="-25000">
                <a:solidFill>
                  <a:srgbClr val="FF0000"/>
                </a:solidFill>
                <a:ea typeface="MingLiU_HKSCS-ExtB" panose="02020500000000000000" charset="-120"/>
              </a:rPr>
              <a:t>max</a:t>
            </a:r>
            <a:r>
              <a:rPr lang="en-US" altLang="zh-CN">
                <a:solidFill>
                  <a:srgbClr val="FF0000"/>
                </a:solidFill>
                <a:ea typeface="MingLiU_HKSCS-ExtB" panose="02020500000000000000" charset="-120"/>
              </a:rPr>
              <a:t>)</a:t>
            </a:r>
            <a:endParaRPr lang="en-US" altLang="zh-CN">
              <a:ea typeface="MingLiU_HKSCS-ExtB" panose="02020500000000000000" charset="-120"/>
            </a:endParaRPr>
          </a:p>
          <a:p>
            <a:pPr marL="355600" lvl="1">
              <a:buClr>
                <a:srgbClr val="993366"/>
              </a:buClr>
            </a:pPr>
            <a:r>
              <a:rPr lang="en-US" altLang="zh-CN">
                <a:ea typeface="MingLiU_HKSCS-ExtB" panose="02020500000000000000" charset="-120"/>
              </a:rPr>
              <a:t> </a:t>
            </a:r>
            <a:r>
              <a:rPr lang="zh-CN" altLang="en-US">
                <a:ea typeface="MingLiU_HKSCS-ExtB" panose="02020500000000000000" charset="-120"/>
              </a:rPr>
              <a:t>一般情况下：</a:t>
            </a:r>
            <a:r>
              <a:rPr lang="en-US" altLang="zh-CN" i="1">
                <a:solidFill>
                  <a:srgbClr val="FF0000"/>
                </a:solidFill>
                <a:ea typeface="MingLiU_HKSCS-ExtB" panose="02020500000000000000" charset="-120"/>
              </a:rPr>
              <a:t>D</a:t>
            </a:r>
            <a:r>
              <a:rPr lang="en-US" altLang="zh-CN" baseline="-25000">
                <a:solidFill>
                  <a:srgbClr val="FF0000"/>
                </a:solidFill>
                <a:ea typeface="MingLiU_HKSCS-ExtB" panose="02020500000000000000" charset="-120"/>
              </a:rPr>
              <a:t>min</a:t>
            </a:r>
            <a:r>
              <a:rPr lang="en-US" altLang="zh-CN">
                <a:solidFill>
                  <a:srgbClr val="FF0000"/>
                </a:solidFill>
                <a:ea typeface="MingLiU_HKSCS-ExtB" panose="02020500000000000000" charset="-120"/>
              </a:rPr>
              <a:t> =0</a:t>
            </a:r>
            <a:r>
              <a:rPr lang="zh-CN" altLang="en-US">
                <a:solidFill>
                  <a:srgbClr val="FF0000"/>
                </a:solidFill>
                <a:ea typeface="MingLiU_HKSCS-ExtB" panose="02020500000000000000" charset="-120"/>
              </a:rPr>
              <a:t>， </a:t>
            </a:r>
            <a:r>
              <a:rPr lang="en-US" altLang="zh-CN" i="1">
                <a:solidFill>
                  <a:srgbClr val="FF0000"/>
                </a:solidFill>
                <a:ea typeface="MingLiU_HKSCS-ExtB" panose="02020500000000000000" charset="-120"/>
              </a:rPr>
              <a:t>R</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D</a:t>
            </a:r>
            <a:r>
              <a:rPr lang="en-US" altLang="zh-CN" baseline="-25000">
                <a:solidFill>
                  <a:srgbClr val="FF0000"/>
                </a:solidFill>
                <a:ea typeface="MingLiU_HKSCS-ExtB" panose="02020500000000000000" charset="-120"/>
              </a:rPr>
              <a:t>min</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H</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X</a:t>
            </a:r>
            <a:r>
              <a:rPr lang="en-US" altLang="zh-CN">
                <a:solidFill>
                  <a:srgbClr val="FF0000"/>
                </a:solidFill>
                <a:ea typeface="MingLiU_HKSCS-ExtB" panose="02020500000000000000" charset="-120"/>
              </a:rPr>
              <a:t>)</a:t>
            </a:r>
            <a:endParaRPr lang="en-US" altLang="zh-CN">
              <a:ea typeface="MingLiU_HKSCS-ExtB" panose="02020500000000000000" charset="-120"/>
            </a:endParaRPr>
          </a:p>
          <a:p>
            <a:pPr marL="355600" lvl="1">
              <a:buClr>
                <a:srgbClr val="993366"/>
              </a:buClr>
            </a:pPr>
            <a:r>
              <a:rPr lang="en-US" altLang="zh-CN">
                <a:ea typeface="MingLiU_HKSCS-ExtB" panose="02020500000000000000" charset="-120"/>
              </a:rPr>
              <a:t> </a:t>
            </a:r>
            <a:r>
              <a:rPr lang="zh-CN" altLang="en-US">
                <a:ea typeface="MingLiU_HKSCS-ExtB" panose="02020500000000000000" charset="-120"/>
              </a:rPr>
              <a:t>当 </a:t>
            </a:r>
            <a:r>
              <a:rPr lang="en-US" altLang="zh-CN" i="1">
                <a:ea typeface="MingLiU_HKSCS-ExtB" panose="02020500000000000000" charset="-120"/>
              </a:rPr>
              <a:t>D</a:t>
            </a:r>
            <a:r>
              <a:rPr lang="en-US" altLang="zh-CN">
                <a:ea typeface="MingLiU_HKSCS-ExtB" panose="02020500000000000000" charset="-120"/>
              </a:rPr>
              <a:t>≥</a:t>
            </a:r>
            <a:r>
              <a:rPr lang="en-US" altLang="zh-CN" i="1">
                <a:ea typeface="MingLiU_HKSCS-ExtB" panose="02020500000000000000" charset="-120"/>
              </a:rPr>
              <a:t>D</a:t>
            </a:r>
            <a:r>
              <a:rPr lang="en-US" altLang="zh-CN" baseline="-25000">
                <a:ea typeface="MingLiU_HKSCS-ExtB" panose="02020500000000000000" charset="-120"/>
              </a:rPr>
              <a:t>max  </a:t>
            </a:r>
            <a:r>
              <a:rPr lang="zh-CN" altLang="en-US">
                <a:ea typeface="MingLiU_HKSCS-ExtB" panose="02020500000000000000" charset="-120"/>
              </a:rPr>
              <a:t>时：</a:t>
            </a:r>
            <a:r>
              <a:rPr lang="en-US" altLang="zh-CN" i="1">
                <a:solidFill>
                  <a:srgbClr val="FF0000"/>
                </a:solidFill>
                <a:ea typeface="MingLiU_HKSCS-ExtB" panose="02020500000000000000" charset="-120"/>
              </a:rPr>
              <a:t>R</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D</a:t>
            </a:r>
            <a:r>
              <a:rPr lang="en-US" altLang="zh-CN">
                <a:solidFill>
                  <a:srgbClr val="FF0000"/>
                </a:solidFill>
                <a:ea typeface="MingLiU_HKSCS-ExtB" panose="02020500000000000000" charset="-120"/>
              </a:rPr>
              <a:t>)=0</a:t>
            </a:r>
          </a:p>
          <a:p>
            <a:pPr marL="355600" lvl="1">
              <a:buClr>
                <a:srgbClr val="993366"/>
              </a:buClr>
            </a:pPr>
            <a:r>
              <a:rPr lang="en-US" altLang="zh-CN">
                <a:ea typeface="MingLiU_HKSCS-ExtB" panose="02020500000000000000" charset="-120"/>
              </a:rPr>
              <a:t> </a:t>
            </a:r>
            <a:r>
              <a:rPr lang="zh-CN" altLang="en-US">
                <a:ea typeface="MingLiU_HKSCS-ExtB" panose="02020500000000000000" charset="-120"/>
              </a:rPr>
              <a:t>当 </a:t>
            </a:r>
            <a:r>
              <a:rPr lang="en-US" altLang="zh-CN" i="1">
                <a:ea typeface="MingLiU_HKSCS-ExtB" panose="02020500000000000000" charset="-120"/>
              </a:rPr>
              <a:t>D</a:t>
            </a:r>
            <a:r>
              <a:rPr lang="en-US" altLang="zh-CN" baseline="-25000">
                <a:ea typeface="MingLiU_HKSCS-ExtB" panose="02020500000000000000" charset="-120"/>
              </a:rPr>
              <a:t>min</a:t>
            </a:r>
            <a:r>
              <a:rPr lang="en-US" altLang="zh-CN">
                <a:ea typeface="MingLiU_HKSCS-ExtB" panose="02020500000000000000" charset="-120"/>
              </a:rPr>
              <a:t>&lt;</a:t>
            </a:r>
            <a:r>
              <a:rPr lang="en-US" altLang="zh-CN" i="1">
                <a:ea typeface="MingLiU_HKSCS-ExtB" panose="02020500000000000000" charset="-120"/>
              </a:rPr>
              <a:t>D</a:t>
            </a:r>
            <a:r>
              <a:rPr lang="en-US" altLang="zh-CN">
                <a:ea typeface="MingLiU_HKSCS-ExtB" panose="02020500000000000000" charset="-120"/>
              </a:rPr>
              <a:t>&lt;</a:t>
            </a:r>
            <a:r>
              <a:rPr lang="en-US" altLang="zh-CN" i="1">
                <a:ea typeface="MingLiU_HKSCS-ExtB" panose="02020500000000000000" charset="-120"/>
              </a:rPr>
              <a:t>D</a:t>
            </a:r>
            <a:r>
              <a:rPr lang="en-US" altLang="zh-CN" baseline="-25000">
                <a:ea typeface="MingLiU_HKSCS-ExtB" panose="02020500000000000000" charset="-120"/>
              </a:rPr>
              <a:t>max  </a:t>
            </a:r>
            <a:r>
              <a:rPr lang="zh-CN" altLang="en-US">
                <a:ea typeface="MingLiU_HKSCS-ExtB" panose="02020500000000000000" charset="-120"/>
              </a:rPr>
              <a:t>时：</a:t>
            </a:r>
            <a:r>
              <a:rPr lang="en-US" altLang="zh-CN">
                <a:solidFill>
                  <a:srgbClr val="FF0000"/>
                </a:solidFill>
                <a:ea typeface="MingLiU_HKSCS-ExtB" panose="02020500000000000000" charset="-120"/>
              </a:rPr>
              <a:t>0&lt;</a:t>
            </a:r>
            <a:r>
              <a:rPr lang="en-US" altLang="zh-CN" i="1">
                <a:solidFill>
                  <a:srgbClr val="FF0000"/>
                </a:solidFill>
                <a:ea typeface="MingLiU_HKSCS-ExtB" panose="02020500000000000000" charset="-120"/>
              </a:rPr>
              <a:t>R</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D</a:t>
            </a:r>
            <a:r>
              <a:rPr lang="en-US" altLang="zh-CN">
                <a:solidFill>
                  <a:srgbClr val="FF0000"/>
                </a:solidFill>
                <a:ea typeface="MingLiU_HKSCS-ExtB" panose="02020500000000000000" charset="-120"/>
              </a:rPr>
              <a:t>)&lt;</a:t>
            </a:r>
            <a:r>
              <a:rPr lang="en-US" altLang="zh-CN" i="1">
                <a:solidFill>
                  <a:srgbClr val="FF0000"/>
                </a:solidFill>
                <a:ea typeface="MingLiU_HKSCS-ExtB" panose="02020500000000000000" charset="-120"/>
              </a:rPr>
              <a:t>H</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X</a:t>
            </a:r>
            <a:r>
              <a:rPr lang="en-US" altLang="zh-CN">
                <a:solidFill>
                  <a:srgbClr val="FF0000"/>
                </a:solidFill>
                <a:ea typeface="MingLiU_HKSCS-ExtB" panose="02020500000000000000" charset="-120"/>
              </a:rPr>
              <a:t>)</a:t>
            </a:r>
            <a:endParaRPr lang="en-US" altLang="zh-CN">
              <a:ea typeface="MingLiU_HKSCS-ExtB" panose="02020500000000000000" charset="-120"/>
            </a:endParaRPr>
          </a:p>
        </p:txBody>
      </p:sp>
      <p:sp>
        <p:nvSpPr>
          <p:cNvPr id="2373" name="矩形 2372"/>
          <p:cNvSpPr/>
          <p:nvPr/>
        </p:nvSpPr>
        <p:spPr>
          <a:xfrm>
            <a:off x="8029575" y="5948363"/>
            <a:ext cx="796925" cy="360362"/>
          </a:xfrm>
          <a:solidFill>
            <a:srgbClr val="BBE0E3"/>
          </a:solidFill>
          <a:ln w="12700">
            <a:noFill/>
          </a:ln>
        </p:spPr>
        <p:txBody>
          <a:bodyPr/>
          <a:lstStyle/>
          <a:p>
            <a:endParaRPr lang="zh-CN" altLang="en-US"/>
          </a:p>
        </p:txBody>
      </p:sp>
      <p:sp>
        <p:nvSpPr>
          <p:cNvPr id="2374" name="矩形 2373"/>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372">
                                            <p:txEl>
                                              <p:pRg st="1" end="1"/>
                                            </p:txEl>
                                          </p:spTgt>
                                        </p:tgtEl>
                                        <p:attrNameLst>
                                          <p:attrName>style.visibility</p:attrName>
                                        </p:attrNameLst>
                                      </p:cBhvr>
                                      <p:to>
                                        <p:strVal val="visible"/>
                                      </p:to>
                                    </p:set>
                                    <p:anim calcmode="lin" valueType="num">
                                      <p:cBhvr additive="base">
                                        <p:cTn id="7" dur="1000" fill="hold"/>
                                        <p:tgtEl>
                                          <p:spTgt spid="2372">
                                            <p:txEl>
                                              <p:pRg st="1" end="1"/>
                                            </p:txEl>
                                          </p:spTgt>
                                        </p:tgtEl>
                                        <p:attrNameLst>
                                          <p:attrName>ppt_x</p:attrName>
                                        </p:attrNameLst>
                                      </p:cBhvr>
                                      <p:tavLst>
                                        <p:tav tm="0">
                                          <p:val>
                                            <p:strVal val="#ppt_x-.2"/>
                                          </p:val>
                                        </p:tav>
                                        <p:tav tm="100000">
                                          <p:val>
                                            <p:strVal val="#ppt_x"/>
                                          </p:val>
                                        </p:tav>
                                      </p:tavLst>
                                    </p:anim>
                                    <p:anim calcmode="lin" valueType="num">
                                      <p:cBhvr additive="base">
                                        <p:cTn id="8" dur="1000" fill="hold"/>
                                        <p:tgtEl>
                                          <p:spTgt spid="2372">
                                            <p:txEl>
                                              <p:pRg st="1" end="1"/>
                                            </p:txEl>
                                          </p:spTgt>
                                        </p:tgtEl>
                                        <p:attrNameLst>
                                          <p:attrName>ppt_y</p:attrName>
                                        </p:attrNameLst>
                                      </p:cBhvr>
                                      <p:tavLst>
                                        <p:tav tm="0">
                                          <p:val>
                                            <p:strVal val="#ppt_y"/>
                                          </p:val>
                                        </p:tav>
                                        <p:tav tm="100000">
                                          <p:val>
                                            <p:strVal val="#ppt_y"/>
                                          </p:val>
                                        </p:tav>
                                      </p:tavLst>
                                    </p:anim>
                                    <p:animEffect transition="in" filter="wipe(right)">
                                      <p:cBhvr additive="base">
                                        <p:cTn id="9" dur="1000"/>
                                        <p:tgtEl>
                                          <p:spTgt spid="2372">
                                            <p:txEl>
                                              <p:pRg st="1" end="1"/>
                                            </p:txEl>
                                          </p:spTgt>
                                        </p:tgtEl>
                                      </p:cBhvr>
                                    </p:animEffect>
                                  </p:childTnLst>
                                </p:cTn>
                              </p:par>
                              <p:par>
                                <p:cTn id="10" presetID="29" presetClass="entr" presetSubtype="0" fill="hold" nodeType="withEffect">
                                  <p:childTnLst>
                                    <p:set>
                                      <p:cBhvr additive="base">
                                        <p:cTn id="11" dur="1" fill="hold">
                                          <p:stCondLst>
                                            <p:cond delay="0"/>
                                          </p:stCondLst>
                                        </p:cTn>
                                        <p:tgtEl>
                                          <p:spTgt spid="2372">
                                            <p:txEl>
                                              <p:pRg st="2" end="2"/>
                                            </p:txEl>
                                          </p:spTgt>
                                        </p:tgtEl>
                                        <p:attrNameLst>
                                          <p:attrName>style.visibility</p:attrName>
                                        </p:attrNameLst>
                                      </p:cBhvr>
                                      <p:to>
                                        <p:strVal val="visible"/>
                                      </p:to>
                                    </p:set>
                                    <p:anim calcmode="lin" valueType="num">
                                      <p:cBhvr additive="base">
                                        <p:cTn id="12" dur="1000" fill="hold"/>
                                        <p:tgtEl>
                                          <p:spTgt spid="2372">
                                            <p:txEl>
                                              <p:pRg st="2" end="2"/>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372">
                                            <p:txEl>
                                              <p:pRg st="2" end="2"/>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372">
                                            <p:txEl>
                                              <p:pRg st="2" end="2"/>
                                            </p:txEl>
                                          </p:spTgt>
                                        </p:tgtEl>
                                      </p:cBhvr>
                                    </p:animEffect>
                                  </p:childTnLst>
                                </p:cTn>
                              </p:par>
                              <p:par>
                                <p:cTn id="15" presetID="29" presetClass="entr" presetSubtype="0" fill="hold" nodeType="withEffect">
                                  <p:childTnLst>
                                    <p:set>
                                      <p:cBhvr additive="base">
                                        <p:cTn id="16" dur="1" fill="hold">
                                          <p:stCondLst>
                                            <p:cond delay="0"/>
                                          </p:stCondLst>
                                        </p:cTn>
                                        <p:tgtEl>
                                          <p:spTgt spid="2372">
                                            <p:txEl>
                                              <p:pRg st="3" end="3"/>
                                            </p:txEl>
                                          </p:spTgt>
                                        </p:tgtEl>
                                        <p:attrNameLst>
                                          <p:attrName>style.visibility</p:attrName>
                                        </p:attrNameLst>
                                      </p:cBhvr>
                                      <p:to>
                                        <p:strVal val="visible"/>
                                      </p:to>
                                    </p:set>
                                    <p:anim calcmode="lin" valueType="num">
                                      <p:cBhvr additive="base">
                                        <p:cTn id="17" dur="1000" fill="hold"/>
                                        <p:tgtEl>
                                          <p:spTgt spid="2372">
                                            <p:txEl>
                                              <p:pRg st="3" end="3"/>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372">
                                            <p:txEl>
                                              <p:pRg st="3" end="3"/>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372">
                                            <p:txEl>
                                              <p:pRg st="3" end="3"/>
                                            </p:txEl>
                                          </p:spTgt>
                                        </p:tgtEl>
                                      </p:cBhvr>
                                    </p:animEffect>
                                  </p:childTnLst>
                                </p:cTn>
                              </p:par>
                              <p:par>
                                <p:cTn id="20" presetID="29" presetClass="entr" presetSubtype="0" fill="hold" nodeType="withEffect">
                                  <p:childTnLst>
                                    <p:set>
                                      <p:cBhvr additive="base">
                                        <p:cTn id="21" dur="1" fill="hold">
                                          <p:stCondLst>
                                            <p:cond delay="0"/>
                                          </p:stCondLst>
                                        </p:cTn>
                                        <p:tgtEl>
                                          <p:spTgt spid="2372">
                                            <p:txEl>
                                              <p:pRg st="4" end="4"/>
                                            </p:txEl>
                                          </p:spTgt>
                                        </p:tgtEl>
                                        <p:attrNameLst>
                                          <p:attrName>style.visibility</p:attrName>
                                        </p:attrNameLst>
                                      </p:cBhvr>
                                      <p:to>
                                        <p:strVal val="visible"/>
                                      </p:to>
                                    </p:set>
                                    <p:anim calcmode="lin" valueType="num">
                                      <p:cBhvr additive="base">
                                        <p:cTn id="22" dur="1000" fill="hold"/>
                                        <p:tgtEl>
                                          <p:spTgt spid="2372">
                                            <p:txEl>
                                              <p:pRg st="4" end="4"/>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372">
                                            <p:txEl>
                                              <p:pRg st="4" end="4"/>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372">
                                            <p:txEl>
                                              <p:pRg st="4" end="4"/>
                                            </p:txEl>
                                          </p:spTgt>
                                        </p:tgtEl>
                                      </p:cBhvr>
                                    </p:animEffect>
                                  </p:childTnLst>
                                </p:cTn>
                              </p:par>
                              <p:par>
                                <p:cTn id="25" presetID="29" presetClass="entr" presetSubtype="0" fill="hold" nodeType="withEffect">
                                  <p:childTnLst>
                                    <p:set>
                                      <p:cBhvr additive="base">
                                        <p:cTn id="26" dur="1" fill="hold">
                                          <p:stCondLst>
                                            <p:cond delay="0"/>
                                          </p:stCondLst>
                                        </p:cTn>
                                        <p:tgtEl>
                                          <p:spTgt spid="2372">
                                            <p:txEl>
                                              <p:pRg st="5" end="5"/>
                                            </p:txEl>
                                          </p:spTgt>
                                        </p:tgtEl>
                                        <p:attrNameLst>
                                          <p:attrName>style.visibility</p:attrName>
                                        </p:attrNameLst>
                                      </p:cBhvr>
                                      <p:to>
                                        <p:strVal val="visible"/>
                                      </p:to>
                                    </p:set>
                                    <p:anim calcmode="lin" valueType="num">
                                      <p:cBhvr additive="base">
                                        <p:cTn id="27" dur="1000" fill="hold"/>
                                        <p:tgtEl>
                                          <p:spTgt spid="2372">
                                            <p:txEl>
                                              <p:pRg st="5" end="5"/>
                                            </p:txEl>
                                          </p:spTgt>
                                        </p:tgtEl>
                                        <p:attrNameLst>
                                          <p:attrName>ppt_x</p:attrName>
                                        </p:attrNameLst>
                                      </p:cBhvr>
                                      <p:tavLst>
                                        <p:tav tm="0">
                                          <p:val>
                                            <p:strVal val="#ppt_x-.2"/>
                                          </p:val>
                                        </p:tav>
                                        <p:tav tm="100000">
                                          <p:val>
                                            <p:strVal val="#ppt_x"/>
                                          </p:val>
                                        </p:tav>
                                      </p:tavLst>
                                    </p:anim>
                                    <p:anim calcmode="lin" valueType="num">
                                      <p:cBhvr additive="base">
                                        <p:cTn id="28" dur="1000" fill="hold"/>
                                        <p:tgtEl>
                                          <p:spTgt spid="2372">
                                            <p:txEl>
                                              <p:pRg st="5" end="5"/>
                                            </p:txEl>
                                          </p:spTgt>
                                        </p:tgtEl>
                                        <p:attrNameLst>
                                          <p:attrName>ppt_y</p:attrName>
                                        </p:attrNameLst>
                                      </p:cBhvr>
                                      <p:tavLst>
                                        <p:tav tm="0">
                                          <p:val>
                                            <p:strVal val="#ppt_y"/>
                                          </p:val>
                                        </p:tav>
                                        <p:tav tm="100000">
                                          <p:val>
                                            <p:strVal val="#ppt_y"/>
                                          </p:val>
                                        </p:tav>
                                      </p:tavLst>
                                    </p:anim>
                                    <p:animEffect transition="in" filter="wipe(right)">
                                      <p:cBhvr additive="base">
                                        <p:cTn id="29" dur="1000"/>
                                        <p:tgtEl>
                                          <p:spTgt spid="237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50</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77" name="标题 2376"/>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78" name="文本占位符 2377"/>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率失真函数对允许平均失真度的下凸性</a:t>
            </a:r>
          </a:p>
          <a:p>
            <a:pPr marL="355600" indent="-355600">
              <a:buClr>
                <a:srgbClr val="993366"/>
              </a:buClr>
              <a:buNone/>
            </a:pPr>
            <a:r>
              <a:rPr lang="zh-CN" altLang="en-US" sz="2400">
                <a:ea typeface="MingLiU_HKSCS-ExtB" panose="02020500000000000000" charset="-120"/>
              </a:rPr>
              <a:t>      对任一 </a:t>
            </a:r>
            <a:r>
              <a:rPr lang="en-US" altLang="zh-CN" sz="2400">
                <a:solidFill>
                  <a:srgbClr val="FF0000"/>
                </a:solidFill>
                <a:ea typeface="MingLiU_HKSCS-ExtB" panose="02020500000000000000" charset="-120"/>
              </a:rPr>
              <a:t>0≤</a:t>
            </a:r>
            <a:r>
              <a:rPr lang="en-US" altLang="zh-CN" sz="2400" i="1">
                <a:solidFill>
                  <a:srgbClr val="FF0000"/>
                </a:solidFill>
                <a:ea typeface="MingLiU_HKSCS-ExtB" panose="02020500000000000000" charset="-120"/>
              </a:rPr>
              <a:t>θ</a:t>
            </a:r>
            <a:r>
              <a:rPr lang="en-US" altLang="zh-CN" sz="2400">
                <a:solidFill>
                  <a:srgbClr val="FF0000"/>
                </a:solidFill>
                <a:ea typeface="MingLiU_HKSCS-ExtB" panose="02020500000000000000" charset="-120"/>
              </a:rPr>
              <a:t>≤1</a:t>
            </a:r>
            <a:r>
              <a:rPr lang="en-US" altLang="zh-CN" sz="2400">
                <a:solidFill>
                  <a:srgbClr val="FFFF00"/>
                </a:solidFill>
                <a:ea typeface="MingLiU_HKSCS-ExtB" panose="02020500000000000000" charset="-120"/>
              </a:rPr>
              <a:t> </a:t>
            </a:r>
            <a:r>
              <a:rPr lang="zh-CN" altLang="en-US" sz="2400">
                <a:ea typeface="MingLiU_HKSCS-ExtB" panose="02020500000000000000" charset="-120"/>
              </a:rPr>
              <a:t>和任意平均失真度 </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zh-CN" altLang="en-US" sz="2400">
                <a:ea typeface="MingLiU_HKSCS-ExtB" panose="02020500000000000000" charset="-120"/>
              </a:rPr>
              <a:t>，</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D</a:t>
            </a:r>
            <a:r>
              <a:rPr lang="en-US" altLang="zh-CN" sz="2400" baseline="-25000">
                <a:solidFill>
                  <a:srgbClr val="FF0000"/>
                </a:solidFill>
                <a:ea typeface="MingLiU_HKSCS-ExtB" panose="02020500000000000000" charset="-120"/>
              </a:rPr>
              <a:t>max</a:t>
            </a:r>
            <a:r>
              <a:rPr lang="zh-CN" altLang="en-US" sz="2400">
                <a:ea typeface="MingLiU_HKSCS-ExtB" panose="02020500000000000000" charset="-120"/>
              </a:rPr>
              <a:t>，</a:t>
            </a:r>
          </a:p>
          <a:p>
            <a:pPr marL="355600" indent="-355600">
              <a:buClr>
                <a:srgbClr val="993366"/>
              </a:buClr>
              <a:buNone/>
            </a:pPr>
            <a:r>
              <a:rPr lang="zh-CN" altLang="en-US" sz="2400">
                <a:ea typeface="MingLiU_HKSCS-ExtB" panose="02020500000000000000" charset="-120"/>
              </a:rPr>
              <a:t>       </a:t>
            </a:r>
            <a:r>
              <a:rPr lang="en-US" altLang="zh-CN" sz="2400" i="1">
                <a:solidFill>
                  <a:srgbClr val="FF0000"/>
                </a:solidFill>
                <a:ea typeface="MingLiU_HKSCS-ExtB" panose="02020500000000000000" charset="-120"/>
              </a:rPr>
              <a:t>R</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θD</a:t>
            </a:r>
            <a:r>
              <a:rPr lang="en-US" altLang="zh-CN" sz="2400">
                <a:solidFill>
                  <a:srgbClr val="FF0000"/>
                </a:solidFill>
                <a:ea typeface="MingLiU_HKSCS-ExtB" panose="02020500000000000000" charset="-120"/>
              </a:rPr>
              <a:t>’+(1</a:t>
            </a:r>
            <a:r>
              <a:rPr lang="zh-CN" altLang="en-US"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θ</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θR</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’)+(1</a:t>
            </a:r>
            <a:r>
              <a:rPr lang="zh-CN" altLang="en-US"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θ</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R</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zh-CN" altLang="en-US" sz="2400">
                <a:solidFill>
                  <a:srgbClr val="FF0000"/>
                </a:solidFill>
                <a:ea typeface="MingLiU_HKSCS-ExtB" panose="02020500000000000000" charset="-120"/>
              </a:rPr>
              <a:t>。</a:t>
            </a:r>
          </a:p>
        </p:txBody>
      </p:sp>
      <p:sp>
        <p:nvSpPr>
          <p:cNvPr id="2379" name="矩形 2378"/>
          <p:cNvSpPr/>
          <p:nvPr/>
        </p:nvSpPr>
        <p:spPr>
          <a:xfrm>
            <a:off x="8029575" y="5948363"/>
            <a:ext cx="796925" cy="360362"/>
          </a:xfrm>
          <a:solidFill>
            <a:srgbClr val="BBE0E3"/>
          </a:solidFill>
          <a:ln w="12700">
            <a:noFill/>
          </a:ln>
        </p:spPr>
        <p:txBody>
          <a:bodyPr/>
          <a:lstStyle/>
          <a:p>
            <a:endParaRPr lang="zh-CN" altLang="en-US"/>
          </a:p>
        </p:txBody>
      </p:sp>
      <p:sp>
        <p:nvSpPr>
          <p:cNvPr id="2380" name="矩形 2379"/>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51</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83" name="标题 2382"/>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84" name="文本占位符 2383"/>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(3) </a:t>
            </a:r>
            <a:r>
              <a:rPr lang="zh-CN" altLang="en-US">
                <a:ea typeface="MingLiU_HKSCS-ExtB" panose="02020500000000000000" charset="-120"/>
              </a:rPr>
              <a:t>率失真函数的单调递减和连续</a:t>
            </a:r>
            <a:r>
              <a:rPr lang="zh-CN" altLang="en-GB">
                <a:ea typeface="MingLiU_HKSCS-ExtB" panose="02020500000000000000" charset="-120"/>
              </a:rPr>
              <a:t>性</a:t>
            </a:r>
          </a:p>
          <a:p>
            <a:pPr marL="355600" indent="-355600">
              <a:buClr>
                <a:srgbClr val="993366"/>
              </a:buClr>
            </a:pPr>
            <a:r>
              <a:rPr lang="en-US" altLang="zh-CN" sz="2400" i="1" u="sng">
                <a:solidFill>
                  <a:srgbClr val="0000CC"/>
                </a:solidFill>
                <a:ea typeface="MingLiU_HKSCS-ExtB" panose="02020500000000000000" charset="-120"/>
              </a:rPr>
              <a:t>R</a:t>
            </a:r>
            <a:r>
              <a:rPr lang="en-US" altLang="zh-CN" sz="2400" u="sng">
                <a:solidFill>
                  <a:srgbClr val="0000CC"/>
                </a:solidFill>
                <a:ea typeface="MingLiU_HKSCS-ExtB" panose="02020500000000000000" charset="-120"/>
              </a:rPr>
              <a:t>(</a:t>
            </a:r>
            <a:r>
              <a:rPr lang="en-US" altLang="zh-CN" sz="2400" i="1" u="sng">
                <a:solidFill>
                  <a:srgbClr val="0000CC"/>
                </a:solidFill>
                <a:ea typeface="MingLiU_HKSCS-ExtB" panose="02020500000000000000" charset="-120"/>
              </a:rPr>
              <a:t>D</a:t>
            </a:r>
            <a:r>
              <a:rPr lang="en-US" altLang="zh-CN" sz="2400" u="sng">
                <a:solidFill>
                  <a:srgbClr val="0000CC"/>
                </a:solidFill>
                <a:ea typeface="MingLiU_HKSCS-ExtB" panose="02020500000000000000" charset="-120"/>
              </a:rPr>
              <a:t>) </a:t>
            </a:r>
            <a:r>
              <a:rPr lang="zh-CN" altLang="en-US" sz="2400" u="sng">
                <a:solidFill>
                  <a:srgbClr val="0000CC"/>
                </a:solidFill>
                <a:ea typeface="MingLiU_HKSCS-ExtB" panose="02020500000000000000" charset="-120"/>
              </a:rPr>
              <a:t>的连续性</a:t>
            </a:r>
            <a:r>
              <a:rPr lang="zh-CN" altLang="en-US" sz="2400">
                <a:solidFill>
                  <a:srgbClr val="0000CC"/>
                </a:solidFill>
                <a:ea typeface="MingLiU_HKSCS-ExtB" panose="02020500000000000000" charset="-120"/>
              </a:rPr>
              <a:t>：</a:t>
            </a:r>
            <a:r>
              <a:rPr lang="zh-CN" altLang="en-US" sz="2400">
                <a:ea typeface="MingLiU_HKSCS-ExtB" panose="02020500000000000000" charset="-120"/>
              </a:rPr>
              <a:t>可由平均互信息 </a:t>
            </a:r>
            <a:r>
              <a:rPr lang="en-US" altLang="zh-CN" sz="2400" i="1">
                <a:ea typeface="MingLiU_HKSCS-ExtB" panose="02020500000000000000" charset="-120"/>
              </a:rPr>
              <a:t>I</a:t>
            </a:r>
            <a:r>
              <a:rPr lang="en-US" altLang="zh-CN" sz="2400">
                <a:ea typeface="MingLiU_HKSCS-ExtB" panose="02020500000000000000" charset="-120"/>
              </a:rPr>
              <a:t>(</a:t>
            </a:r>
            <a:r>
              <a:rPr lang="en-US" altLang="zh-CN" sz="2400" i="1">
                <a:ea typeface="MingLiU_HKSCS-ExtB" panose="02020500000000000000" charset="-120"/>
              </a:rPr>
              <a:t>X</a:t>
            </a:r>
            <a:r>
              <a:rPr lang="en-US" altLang="zh-CN" sz="2400">
                <a:ea typeface="MingLiU_HKSCS-ExtB" panose="02020500000000000000" charset="-120"/>
              </a:rPr>
              <a:t>;</a:t>
            </a:r>
            <a:r>
              <a:rPr lang="en-US" altLang="zh-CN" sz="2400" i="1">
                <a:ea typeface="MingLiU_HKSCS-ExtB" panose="02020500000000000000" charset="-120"/>
              </a:rPr>
              <a:t>Y</a:t>
            </a:r>
            <a:r>
              <a:rPr lang="en-US" altLang="zh-CN" sz="2400">
                <a:ea typeface="MingLiU_HKSCS-ExtB" panose="02020500000000000000" charset="-120"/>
              </a:rPr>
              <a:t>) </a:t>
            </a:r>
            <a:r>
              <a:rPr lang="zh-CN" altLang="en-US" sz="2400">
                <a:ea typeface="MingLiU_HKSCS-ExtB" panose="02020500000000000000" charset="-120"/>
              </a:rPr>
              <a:t>是信道传递概率</a:t>
            </a:r>
            <a:r>
              <a:rPr lang="en-US" altLang="zh-CN" sz="2400" i="1">
                <a:ea typeface="MingLiU_HKSCS-ExtB" panose="02020500000000000000" charset="-120"/>
              </a:rPr>
              <a:t>p</a:t>
            </a:r>
            <a:r>
              <a:rPr lang="en-US" altLang="zh-CN" sz="2400">
                <a:ea typeface="MingLiU_HKSCS-ExtB" panose="02020500000000000000" charset="-120"/>
              </a:rPr>
              <a:t>(</a:t>
            </a:r>
            <a:r>
              <a:rPr lang="en-US" altLang="zh-CN" sz="2400" i="1">
                <a:ea typeface="MingLiU_HKSCS-ExtB" panose="02020500000000000000" charset="-120"/>
              </a:rPr>
              <a:t>y</a:t>
            </a:r>
            <a:r>
              <a:rPr lang="en-US" altLang="zh-CN" sz="2400" i="1" baseline="-25000">
                <a:ea typeface="MingLiU_HKSCS-ExtB" panose="02020500000000000000" charset="-120"/>
              </a:rPr>
              <a:t>j</a:t>
            </a:r>
            <a:r>
              <a:rPr lang="en-US" altLang="zh-CN" sz="2400">
                <a:ea typeface="MingLiU_HKSCS-ExtB" panose="02020500000000000000" charset="-120"/>
              </a:rPr>
              <a:t>/</a:t>
            </a:r>
            <a:r>
              <a:rPr lang="en-US" altLang="zh-CN" sz="2400" i="1">
                <a:ea typeface="MingLiU_HKSCS-ExtB" panose="02020500000000000000" charset="-120"/>
              </a:rPr>
              <a:t>x</a:t>
            </a:r>
            <a:r>
              <a:rPr lang="en-US" altLang="zh-CN" sz="2400" i="1" baseline="-25000">
                <a:ea typeface="MingLiU_HKSCS-ExtB" panose="02020500000000000000" charset="-120"/>
              </a:rPr>
              <a:t>i</a:t>
            </a:r>
            <a:r>
              <a:rPr lang="en-US" altLang="zh-CN" sz="2400">
                <a:ea typeface="MingLiU_HKSCS-ExtB" panose="02020500000000000000" charset="-120"/>
              </a:rPr>
              <a:t>)</a:t>
            </a:r>
            <a:r>
              <a:rPr lang="zh-CN" altLang="en-US" sz="2400">
                <a:ea typeface="MingLiU_HKSCS-ExtB" panose="02020500000000000000" charset="-120"/>
              </a:rPr>
              <a:t>的连续性来证明。</a:t>
            </a:r>
          </a:p>
          <a:p>
            <a:pPr marL="355600" indent="-355600">
              <a:buClr>
                <a:srgbClr val="993366"/>
              </a:buClr>
            </a:pPr>
            <a:r>
              <a:rPr lang="en-US" altLang="zh-CN" sz="2400" i="1" u="sng">
                <a:solidFill>
                  <a:srgbClr val="0000CC"/>
                </a:solidFill>
                <a:ea typeface="MingLiU_HKSCS-ExtB" panose="02020500000000000000" charset="-120"/>
              </a:rPr>
              <a:t>R</a:t>
            </a:r>
            <a:r>
              <a:rPr lang="en-US" altLang="zh-CN" sz="2400" u="sng">
                <a:solidFill>
                  <a:srgbClr val="0000CC"/>
                </a:solidFill>
                <a:ea typeface="MingLiU_HKSCS-ExtB" panose="02020500000000000000" charset="-120"/>
              </a:rPr>
              <a:t>(</a:t>
            </a:r>
            <a:r>
              <a:rPr lang="en-US" altLang="zh-CN" sz="2400" i="1" u="sng">
                <a:solidFill>
                  <a:srgbClr val="0000CC"/>
                </a:solidFill>
                <a:ea typeface="MingLiU_HKSCS-ExtB" panose="02020500000000000000" charset="-120"/>
              </a:rPr>
              <a:t>D</a:t>
            </a:r>
            <a:r>
              <a:rPr lang="en-US" altLang="zh-CN" sz="2400" u="sng">
                <a:solidFill>
                  <a:srgbClr val="0000CC"/>
                </a:solidFill>
                <a:ea typeface="MingLiU_HKSCS-ExtB" panose="02020500000000000000" charset="-120"/>
              </a:rPr>
              <a:t>) </a:t>
            </a:r>
            <a:r>
              <a:rPr lang="zh-CN" altLang="en-US" sz="2400" u="sng">
                <a:solidFill>
                  <a:srgbClr val="0000CC"/>
                </a:solidFill>
                <a:ea typeface="MingLiU_HKSCS-ExtB" panose="02020500000000000000" charset="-120"/>
              </a:rPr>
              <a:t>单调递减性</a:t>
            </a:r>
            <a:r>
              <a:rPr lang="zh-CN" altLang="en-US" sz="2400">
                <a:solidFill>
                  <a:srgbClr val="0000CC"/>
                </a:solidFill>
                <a:ea typeface="MingLiU_HKSCS-ExtB" panose="02020500000000000000" charset="-120"/>
              </a:rPr>
              <a:t>：</a:t>
            </a:r>
            <a:r>
              <a:rPr lang="zh-CN" altLang="en-US" sz="2400">
                <a:ea typeface="MingLiU_HKSCS-ExtB" panose="02020500000000000000" charset="-120"/>
              </a:rPr>
              <a:t>可以证明，在 </a:t>
            </a:r>
            <a:r>
              <a:rPr lang="en-US" altLang="zh-CN" sz="2400" i="1">
                <a:ea typeface="MingLiU_HKSCS-ExtB" panose="02020500000000000000" charset="-120"/>
              </a:rPr>
              <a:t>D</a:t>
            </a:r>
            <a:r>
              <a:rPr lang="en-US" altLang="zh-CN" sz="2400" baseline="-25000">
                <a:ea typeface="MingLiU_HKSCS-ExtB" panose="02020500000000000000" charset="-120"/>
              </a:rPr>
              <a:t>min</a:t>
            </a:r>
            <a:r>
              <a:rPr lang="en-US" altLang="zh-CN" sz="2400">
                <a:ea typeface="MingLiU_HKSCS-ExtB" panose="02020500000000000000" charset="-120"/>
              </a:rPr>
              <a:t>&lt;</a:t>
            </a:r>
            <a:r>
              <a:rPr lang="en-US" altLang="zh-CN" sz="2400" i="1">
                <a:ea typeface="MingLiU_HKSCS-ExtB" panose="02020500000000000000" charset="-120"/>
              </a:rPr>
              <a:t>D</a:t>
            </a:r>
            <a:r>
              <a:rPr lang="en-US" altLang="zh-CN" sz="2400">
                <a:ea typeface="MingLiU_HKSCS-ExtB" panose="02020500000000000000" charset="-120"/>
              </a:rPr>
              <a:t>&lt;</a:t>
            </a:r>
            <a:r>
              <a:rPr lang="en-US" altLang="zh-CN" sz="2400" i="1">
                <a:ea typeface="MingLiU_HKSCS-ExtB" panose="02020500000000000000" charset="-120"/>
              </a:rPr>
              <a:t>D</a:t>
            </a:r>
            <a:r>
              <a:rPr lang="en-US" altLang="zh-CN" sz="2400" baseline="-25000">
                <a:ea typeface="MingLiU_HKSCS-ExtB" panose="02020500000000000000" charset="-120"/>
              </a:rPr>
              <a:t>max  </a:t>
            </a:r>
            <a:r>
              <a:rPr lang="zh-CN" altLang="en-US" sz="2400">
                <a:ea typeface="MingLiU_HKSCS-ExtB" panose="02020500000000000000" charset="-120"/>
              </a:rPr>
              <a:t>范围内 </a:t>
            </a:r>
            <a:r>
              <a:rPr lang="en-US" altLang="zh-CN" sz="2400" i="1">
                <a:solidFill>
                  <a:srgbClr val="FF0000"/>
                </a:solidFill>
                <a:ea typeface="MingLiU_HKSCS-ExtB" panose="02020500000000000000" charset="-120"/>
              </a:rPr>
              <a:t>R</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单调递减。</a:t>
            </a:r>
          </a:p>
        </p:txBody>
      </p:sp>
      <p:sp>
        <p:nvSpPr>
          <p:cNvPr id="2385" name="矩形 2384"/>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spd="med">
    <p:spli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52</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88" name="标题 2387"/>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4.1.4 </a:t>
            </a:r>
            <a:r>
              <a:rPr lang="zh-CN" altLang="en-US">
                <a:ea typeface="MingLiU_HKSCS-ExtB" panose="02020500000000000000" charset="-120"/>
              </a:rPr>
              <a:t>信息率失真函数的性质</a:t>
            </a:r>
          </a:p>
        </p:txBody>
      </p:sp>
      <p:sp>
        <p:nvSpPr>
          <p:cNvPr id="2389" name="文本占位符 2388"/>
          <p:cNvSpPr>
            <a:spLocks noGrp="1"/>
          </p:cNvSpPr>
          <p:nvPr>
            <p:ph type="body" idx="4294967295"/>
          </p:nvPr>
        </p:nvSpPr>
        <p:spPr>
          <a:xfrm>
            <a:off x="590550" y="981075"/>
            <a:ext cx="8229600" cy="5327650"/>
          </a:xfrm>
        </p:spPr>
        <p:txBody>
          <a:bodyPr/>
          <a:lstStyle/>
          <a:p>
            <a:pPr>
              <a:buClr>
                <a:srgbClr val="993366"/>
              </a:buClr>
              <a:buNone/>
            </a:pPr>
            <a:r>
              <a:rPr lang="en-US" altLang="zh-CN">
                <a:ea typeface="MingLiU_HKSCS-ExtB" panose="02020500000000000000" charset="-120"/>
              </a:rPr>
              <a:t>(3) </a:t>
            </a:r>
            <a:r>
              <a:rPr lang="zh-CN" altLang="en-US">
                <a:ea typeface="MingLiU_HKSCS-ExtB" panose="02020500000000000000" charset="-120"/>
              </a:rPr>
              <a:t>率失真函数的单调递减和连续</a:t>
            </a:r>
            <a:r>
              <a:rPr lang="zh-CN" altLang="en-GB">
                <a:ea typeface="MingLiU_HKSCS-ExtB" panose="02020500000000000000" charset="-120"/>
              </a:rPr>
              <a:t>性</a:t>
            </a:r>
          </a:p>
          <a:p>
            <a:pPr>
              <a:buClr>
                <a:srgbClr val="993366"/>
              </a:buClr>
            </a:pPr>
            <a:r>
              <a:rPr lang="zh-CN" altLang="en-US" sz="2400">
                <a:ea typeface="MingLiU_HKSCS-ExtB" panose="02020500000000000000" charset="-120"/>
              </a:rPr>
              <a:t> 率失真函数曲线图说明</a:t>
            </a:r>
          </a:p>
          <a:p>
            <a:pPr marL="355600" lvl="1">
              <a:buClr>
                <a:srgbClr val="993366"/>
              </a:buClr>
            </a:pPr>
            <a:r>
              <a:rPr lang="zh-CN" altLang="en-US" sz="2000" i="1">
                <a:solidFill>
                  <a:srgbClr val="FF0000"/>
                </a:solidFill>
                <a:ea typeface="MingLiU_HKSCS-ExtB" panose="02020500000000000000" charset="-120"/>
              </a:rPr>
              <a:t> </a:t>
            </a:r>
            <a:r>
              <a:rPr lang="en-US" altLang="zh-CN" sz="2000" i="1">
                <a:solidFill>
                  <a:srgbClr val="FF0000"/>
                </a:solidFill>
                <a:ea typeface="MingLiU_HKSCS-ExtB" panose="02020500000000000000" charset="-120"/>
              </a:rPr>
              <a:t>R</a:t>
            </a:r>
            <a:r>
              <a:rPr lang="en-US" altLang="zh-CN" sz="2000">
                <a:solidFill>
                  <a:srgbClr val="FF0000"/>
                </a:solidFill>
                <a:ea typeface="MingLiU_HKSCS-ExtB" panose="02020500000000000000" charset="-120"/>
              </a:rPr>
              <a:t>(0) = </a:t>
            </a:r>
            <a:r>
              <a:rPr lang="en-US" altLang="zh-CN" sz="2000" i="1">
                <a:solidFill>
                  <a:srgbClr val="FF0000"/>
                </a:solidFill>
                <a:ea typeface="MingLiU_HKSCS-ExtB" panose="02020500000000000000" charset="-120"/>
              </a:rPr>
              <a:t>H</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X</a:t>
            </a:r>
            <a:r>
              <a:rPr lang="en-US" altLang="zh-CN" sz="2000">
                <a:solidFill>
                  <a:srgbClr val="FF0000"/>
                </a:solidFill>
                <a:ea typeface="MingLiU_HKSCS-ExtB" panose="02020500000000000000" charset="-120"/>
              </a:rPr>
              <a:t>)</a:t>
            </a:r>
            <a:r>
              <a:rPr lang="en-US" altLang="zh-CN" sz="2000">
                <a:ea typeface="MingLiU_HKSCS-ExtB" panose="02020500000000000000" charset="-120"/>
              </a:rPr>
              <a:t> </a:t>
            </a:r>
            <a:r>
              <a:rPr lang="zh-CN" altLang="en-US" sz="2000">
                <a:ea typeface="MingLiU_HKSCS-ExtB" panose="02020500000000000000" charset="-120"/>
              </a:rPr>
              <a:t>， </a:t>
            </a:r>
            <a:r>
              <a:rPr lang="en-US" altLang="zh-CN" sz="2000" i="1">
                <a:solidFill>
                  <a:srgbClr val="FF0000"/>
                </a:solidFill>
                <a:ea typeface="MingLiU_HKSCS-ExtB" panose="02020500000000000000" charset="-120"/>
              </a:rPr>
              <a:t>R</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D</a:t>
            </a:r>
            <a:r>
              <a:rPr lang="en-US" altLang="zh-CN" sz="2000" baseline="-25000">
                <a:solidFill>
                  <a:srgbClr val="FF0000"/>
                </a:solidFill>
                <a:ea typeface="MingLiU_HKSCS-ExtB" panose="02020500000000000000" charset="-120"/>
              </a:rPr>
              <a:t>max</a:t>
            </a:r>
            <a:r>
              <a:rPr lang="en-US" altLang="zh-CN" sz="2000">
                <a:solidFill>
                  <a:srgbClr val="FF0000"/>
                </a:solidFill>
                <a:ea typeface="MingLiU_HKSCS-ExtB" panose="02020500000000000000" charset="-120"/>
              </a:rPr>
              <a:t>) =0</a:t>
            </a:r>
            <a:r>
              <a:rPr lang="zh-CN" altLang="en-US" sz="2000">
                <a:ea typeface="MingLiU_HKSCS-ExtB" panose="02020500000000000000" charset="-120"/>
              </a:rPr>
              <a:t>，</a:t>
            </a:r>
          </a:p>
          <a:p>
            <a:pPr marL="355600" lvl="1">
              <a:buClr>
                <a:srgbClr val="993366"/>
              </a:buClr>
              <a:buNone/>
            </a:pPr>
            <a:r>
              <a:rPr lang="zh-CN" altLang="en-US" sz="2000">
                <a:ea typeface="MingLiU_HKSCS-ExtB" panose="02020500000000000000" charset="-120"/>
              </a:rPr>
              <a:t>    决定了曲线边缘上的两个点；</a:t>
            </a:r>
          </a:p>
          <a:p>
            <a:pPr marL="355600" lvl="1">
              <a:buClr>
                <a:srgbClr val="993366"/>
              </a:buClr>
            </a:pPr>
            <a:r>
              <a:rPr lang="zh-CN" altLang="en-US" sz="2000">
                <a:ea typeface="MingLiU_HKSCS-ExtB" panose="02020500000000000000" charset="-120"/>
              </a:rPr>
              <a:t> 在</a:t>
            </a:r>
            <a:r>
              <a:rPr lang="zh-CN" altLang="en-US" sz="2000">
                <a:solidFill>
                  <a:srgbClr val="FF0000"/>
                </a:solidFill>
                <a:ea typeface="MingLiU_HKSCS-ExtB" panose="02020500000000000000" charset="-120"/>
              </a:rPr>
              <a:t> </a:t>
            </a:r>
            <a:r>
              <a:rPr lang="en-US" altLang="zh-CN" sz="2000">
                <a:solidFill>
                  <a:srgbClr val="FF0000"/>
                </a:solidFill>
                <a:ea typeface="MingLiU_HKSCS-ExtB" panose="02020500000000000000" charset="-120"/>
              </a:rPr>
              <a:t>0</a:t>
            </a:r>
            <a:r>
              <a:rPr lang="en-US" altLang="zh-CN" sz="2000">
                <a:ea typeface="MingLiU_HKSCS-ExtB" panose="02020500000000000000" charset="-120"/>
              </a:rPr>
              <a:t> </a:t>
            </a:r>
            <a:r>
              <a:rPr lang="zh-CN" altLang="en-US" sz="2000">
                <a:ea typeface="MingLiU_HKSCS-ExtB" panose="02020500000000000000" charset="-120"/>
              </a:rPr>
              <a:t>和</a:t>
            </a:r>
            <a:r>
              <a:rPr lang="zh-CN" altLang="en-US" sz="2000">
                <a:solidFill>
                  <a:srgbClr val="FF0000"/>
                </a:solidFill>
                <a:ea typeface="MingLiU_HKSCS-ExtB" panose="02020500000000000000" charset="-120"/>
              </a:rPr>
              <a:t> </a:t>
            </a:r>
            <a:r>
              <a:rPr lang="en-US" altLang="zh-CN" sz="2000" i="1">
                <a:solidFill>
                  <a:srgbClr val="FF0000"/>
                </a:solidFill>
                <a:ea typeface="MingLiU_HKSCS-ExtB" panose="02020500000000000000" charset="-120"/>
              </a:rPr>
              <a:t>D</a:t>
            </a:r>
            <a:r>
              <a:rPr lang="en-US" altLang="zh-CN" sz="2000" baseline="-25000">
                <a:solidFill>
                  <a:srgbClr val="FF0000"/>
                </a:solidFill>
                <a:ea typeface="MingLiU_HKSCS-ExtB" panose="02020500000000000000" charset="-120"/>
              </a:rPr>
              <a:t>max  </a:t>
            </a:r>
            <a:r>
              <a:rPr lang="zh-CN" altLang="en-US" sz="2000">
                <a:ea typeface="MingLiU_HKSCS-ExtB" panose="02020500000000000000" charset="-120"/>
              </a:rPr>
              <a:t>之间， </a:t>
            </a:r>
            <a:r>
              <a:rPr lang="en-US" altLang="zh-CN" sz="2000" i="1">
                <a:solidFill>
                  <a:srgbClr val="FF0000"/>
                </a:solidFill>
                <a:ea typeface="MingLiU_HKSCS-ExtB" panose="02020500000000000000" charset="-120"/>
              </a:rPr>
              <a:t>R</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D</a:t>
            </a:r>
            <a:r>
              <a:rPr lang="en-US" altLang="zh-CN" sz="2000">
                <a:solidFill>
                  <a:srgbClr val="FF0000"/>
                </a:solidFill>
                <a:ea typeface="MingLiU_HKSCS-ExtB" panose="02020500000000000000" charset="-120"/>
              </a:rPr>
              <a:t>)</a:t>
            </a:r>
            <a:r>
              <a:rPr lang="en-US" altLang="zh-CN" sz="2000">
                <a:solidFill>
                  <a:srgbClr val="FFFF00"/>
                </a:solidFill>
                <a:ea typeface="MingLiU_HKSCS-ExtB" panose="02020500000000000000" charset="-120"/>
              </a:rPr>
              <a:t> </a:t>
            </a:r>
            <a:r>
              <a:rPr lang="zh-CN" altLang="en-US" sz="2000">
                <a:ea typeface="MingLiU_HKSCS-ExtB" panose="02020500000000000000" charset="-120"/>
              </a:rPr>
              <a:t>是</a:t>
            </a:r>
          </a:p>
          <a:p>
            <a:pPr marL="355600" lvl="1">
              <a:buClr>
                <a:srgbClr val="993366"/>
              </a:buClr>
              <a:buNone/>
            </a:pPr>
            <a:r>
              <a:rPr lang="zh-CN" altLang="en-US" sz="2000">
                <a:ea typeface="MingLiU_HKSCS-ExtB" panose="02020500000000000000" charset="-120"/>
              </a:rPr>
              <a:t>    单调递减的下凸函数；</a:t>
            </a:r>
          </a:p>
          <a:p>
            <a:pPr marL="355600" lvl="1">
              <a:buClr>
                <a:srgbClr val="993366"/>
              </a:buClr>
            </a:pPr>
            <a:r>
              <a:rPr lang="zh-CN" altLang="en-US" sz="2000">
                <a:ea typeface="MingLiU_HKSCS-ExtB" panose="02020500000000000000" charset="-120"/>
              </a:rPr>
              <a:t> 在连续信源时，当 </a:t>
            </a:r>
            <a:r>
              <a:rPr lang="en-US" altLang="zh-CN" sz="2000" i="1">
                <a:solidFill>
                  <a:srgbClr val="FF0000"/>
                </a:solidFill>
                <a:ea typeface="MingLiU_HKSCS-ExtB" panose="02020500000000000000" charset="-120"/>
              </a:rPr>
              <a:t>D→</a:t>
            </a:r>
            <a:r>
              <a:rPr lang="en-US" altLang="zh-CN" sz="2000">
                <a:solidFill>
                  <a:srgbClr val="FF0000"/>
                </a:solidFill>
                <a:ea typeface="MingLiU_HKSCS-ExtB" panose="02020500000000000000" charset="-120"/>
              </a:rPr>
              <a:t>0</a:t>
            </a:r>
            <a:r>
              <a:rPr lang="en-US" altLang="zh-CN" sz="2000">
                <a:solidFill>
                  <a:srgbClr val="FFFF00"/>
                </a:solidFill>
                <a:ea typeface="MingLiU_HKSCS-ExtB" panose="02020500000000000000" charset="-120"/>
              </a:rPr>
              <a:t> </a:t>
            </a:r>
            <a:r>
              <a:rPr lang="zh-CN" altLang="en-US" sz="2000">
                <a:ea typeface="MingLiU_HKSCS-ExtB" panose="02020500000000000000" charset="-120"/>
              </a:rPr>
              <a:t>时，</a:t>
            </a:r>
          </a:p>
          <a:p>
            <a:pPr>
              <a:buClr>
                <a:srgbClr val="993366"/>
              </a:buClr>
              <a:buFontTx/>
              <a:buNone/>
            </a:pPr>
            <a:r>
              <a:rPr lang="zh-CN" altLang="en-US" sz="2000" i="1">
                <a:solidFill>
                  <a:srgbClr val="FFFF00"/>
                </a:solidFill>
                <a:ea typeface="MingLiU_HKSCS-ExtB" panose="02020500000000000000" charset="-120"/>
              </a:rPr>
              <a:t>          </a:t>
            </a:r>
            <a:r>
              <a:rPr lang="en-US" altLang="zh-CN" sz="2000" i="1">
                <a:solidFill>
                  <a:srgbClr val="FF0000"/>
                </a:solidFill>
                <a:ea typeface="MingLiU_HKSCS-ExtB" panose="02020500000000000000" charset="-120"/>
              </a:rPr>
              <a:t>R</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D</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a:t>
            </a:r>
            <a:r>
              <a:rPr lang="en-US" altLang="zh-CN" sz="2000">
                <a:solidFill>
                  <a:srgbClr val="FF0000"/>
                </a:solidFill>
                <a:ea typeface="MingLiU_HKSCS-ExtB" panose="02020500000000000000" charset="-120"/>
              </a:rPr>
              <a:t>∞</a:t>
            </a:r>
            <a:r>
              <a:rPr lang="en-US" altLang="zh-CN" sz="2000">
                <a:ea typeface="MingLiU_HKSCS-ExtB" panose="02020500000000000000" charset="-120"/>
              </a:rPr>
              <a:t> </a:t>
            </a:r>
            <a:r>
              <a:rPr lang="zh-CN" altLang="en-US" sz="2000">
                <a:ea typeface="MingLiU_HKSCS-ExtB" panose="02020500000000000000" charset="-120"/>
              </a:rPr>
              <a:t>，曲线将不与 </a:t>
            </a:r>
            <a:r>
              <a:rPr lang="en-US" altLang="zh-CN" sz="2000" i="1">
                <a:solidFill>
                  <a:srgbClr val="FF0000"/>
                </a:solidFill>
                <a:ea typeface="MingLiU_HKSCS-ExtB" panose="02020500000000000000" charset="-120"/>
              </a:rPr>
              <a:t>R</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D</a:t>
            </a:r>
            <a:r>
              <a:rPr lang="en-US" altLang="zh-CN" sz="2000">
                <a:solidFill>
                  <a:srgbClr val="FF0000"/>
                </a:solidFill>
                <a:ea typeface="MingLiU_HKSCS-ExtB" panose="02020500000000000000" charset="-120"/>
              </a:rPr>
              <a:t>)</a:t>
            </a:r>
          </a:p>
          <a:p>
            <a:pPr>
              <a:buClr>
                <a:srgbClr val="993366"/>
              </a:buClr>
              <a:buFontTx/>
              <a:buNone/>
            </a:pPr>
            <a:r>
              <a:rPr lang="en-US" altLang="zh-CN" sz="2000">
                <a:solidFill>
                  <a:srgbClr val="FFFF00"/>
                </a:solidFill>
                <a:ea typeface="MingLiU_HKSCS-ExtB" panose="02020500000000000000" charset="-120"/>
              </a:rPr>
              <a:t>          </a:t>
            </a:r>
            <a:r>
              <a:rPr lang="zh-CN" altLang="en-US" sz="2000">
                <a:ea typeface="MingLiU_HKSCS-ExtB" panose="02020500000000000000" charset="-120"/>
              </a:rPr>
              <a:t>轴相交。</a:t>
            </a:r>
            <a:endParaRPr lang="zh-CN" altLang="en-US" sz="2000">
              <a:solidFill>
                <a:srgbClr val="FF0000"/>
              </a:solidFill>
              <a:ea typeface="MingLiU_HKSCS-ExtB" panose="02020500000000000000" charset="-120"/>
            </a:endParaRPr>
          </a:p>
        </p:txBody>
      </p:sp>
      <p:graphicFrame>
        <p:nvGraphicFramePr>
          <p:cNvPr id="2390" name="对象 2389"/>
          <p:cNvGraphicFramePr/>
          <p:nvPr/>
        </p:nvGraphicFramePr>
        <p:xfrm>
          <a:off x="5170488" y="1989138"/>
          <a:ext cx="3400425" cy="3743325"/>
        </p:xfrm>
        <a:graphic>
          <a:graphicData uri="http://schemas.openxmlformats.org/presentationml/2006/ole">
            <mc:AlternateContent xmlns:mc="http://schemas.openxmlformats.org/markup-compatibility/2006">
              <mc:Choice xmlns:v="urn:schemas-microsoft-com:vml" Requires="v">
                <p:oleObj spid="_x0000_s32770" r:id="rId3" imgW="3667125" imgH="4038600" progId="Visio.Drawing.11">
                  <p:embed/>
                </p:oleObj>
              </mc:Choice>
              <mc:Fallback>
                <p:oleObj r:id="rId3" imgW="3667125" imgH="4038600" progId="Visio.Drawing.11">
                  <p:embed/>
                  <p:pic>
                    <p:nvPicPr>
                      <p:cNvPr id="0" name="图片 3163"/>
                      <p:cNvPicPr/>
                      <p:nvPr/>
                    </p:nvPicPr>
                    <p:blipFill>
                      <a:blip r:embed="rId4"/>
                      <a:stretch>
                        <a:fillRect/>
                      </a:stretch>
                    </p:blipFill>
                    <p:spPr>
                      <a:xfrm>
                        <a:off x="5170488" y="1989138"/>
                        <a:ext cx="3400425" cy="3743325"/>
                      </a:xfrm>
                      <a:prstGeom prst="rect">
                        <a:avLst/>
                      </a:prstGeom>
                      <a:noFill/>
                      <a:ln w="38100">
                        <a:noFill/>
                        <a:miter/>
                      </a:ln>
                    </p:spPr>
                  </p:pic>
                </p:oleObj>
              </mc:Fallback>
            </mc:AlternateContent>
          </a:graphicData>
        </a:graphic>
      </p:graphicFrame>
      <p:sp>
        <p:nvSpPr>
          <p:cNvPr id="2391" name="矩形 2390"/>
          <p:cNvSpPr/>
          <p:nvPr/>
        </p:nvSpPr>
        <p:spPr>
          <a:xfrm>
            <a:off x="33338" y="1270000"/>
            <a:ext cx="501650" cy="1465263"/>
          </a:xfrm>
          <a:prstGeom prst="rect">
            <a:avLst/>
          </a:prstGeom>
          <a:noFill/>
          <a:ln w="9525">
            <a:noFill/>
          </a:ln>
        </p:spPr>
        <p:txBody>
          <a:bodyPr wrap="none" anchor="t" anchorCtr="0">
            <a:spAutoFit/>
          </a:bodyPr>
          <a:lstStyle/>
          <a:p>
            <a:pPr algn="ctr" eaLnBrk="0" hangingPunct="0">
              <a:lnSpc>
                <a:spcPct val="90000"/>
              </a:lnSpc>
            </a:pPr>
            <a:r>
              <a:rPr lang="en-US" altLang="zh-CN" sz="2000">
                <a:solidFill>
                  <a:schemeClr val="bg2"/>
                </a:solidFill>
                <a:latin typeface="Times New Roman" panose="02020603050405020304" pitchFamily="18" charset="0"/>
                <a:ea typeface="MingLiU_HKSCS-ExtB" panose="02020500000000000000" charset="-120"/>
              </a:rPr>
              <a:t>4.1</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基</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本</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概</a:t>
            </a:r>
          </a:p>
          <a:p>
            <a:pPr algn="ctr" eaLnBrk="0" hangingPunct="0">
              <a:lnSpc>
                <a:spcPct val="90000"/>
              </a:lnSpc>
            </a:pPr>
            <a:r>
              <a:rPr lang="zh-CN" altLang="en-US" sz="2000">
                <a:solidFill>
                  <a:schemeClr val="bg2"/>
                </a:solidFill>
                <a:latin typeface="Times New Roman" panose="02020603050405020304" pitchFamily="18" charset="0"/>
                <a:ea typeface="MingLiU_HKSCS-ExtB" panose="02020500000000000000" charset="-120"/>
              </a:rPr>
              <a:t>念</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389">
                                            <p:txEl>
                                              <p:pRg st="1" end="1"/>
                                            </p:txEl>
                                          </p:spTgt>
                                        </p:tgtEl>
                                        <p:attrNameLst>
                                          <p:attrName>style.visibility</p:attrName>
                                        </p:attrNameLst>
                                      </p:cBhvr>
                                      <p:to>
                                        <p:strVal val="visible"/>
                                      </p:to>
                                    </p:set>
                                    <p:anim calcmode="lin" valueType="num">
                                      <p:cBhvr additive="base">
                                        <p:cTn id="7" dur="1000" fill="hold"/>
                                        <p:tgtEl>
                                          <p:spTgt spid="2389">
                                            <p:txEl>
                                              <p:pRg st="1" end="1"/>
                                            </p:txEl>
                                          </p:spTgt>
                                        </p:tgtEl>
                                        <p:attrNameLst>
                                          <p:attrName>ppt_x</p:attrName>
                                        </p:attrNameLst>
                                      </p:cBhvr>
                                      <p:tavLst>
                                        <p:tav tm="0">
                                          <p:val>
                                            <p:strVal val="#ppt_x-.2"/>
                                          </p:val>
                                        </p:tav>
                                        <p:tav tm="100000">
                                          <p:val>
                                            <p:strVal val="#ppt_x"/>
                                          </p:val>
                                        </p:tav>
                                      </p:tavLst>
                                    </p:anim>
                                    <p:anim calcmode="lin" valueType="num">
                                      <p:cBhvr additive="base">
                                        <p:cTn id="8" dur="1000" fill="hold"/>
                                        <p:tgtEl>
                                          <p:spTgt spid="2389">
                                            <p:txEl>
                                              <p:pRg st="1" end="1"/>
                                            </p:txEl>
                                          </p:spTgt>
                                        </p:tgtEl>
                                        <p:attrNameLst>
                                          <p:attrName>ppt_y</p:attrName>
                                        </p:attrNameLst>
                                      </p:cBhvr>
                                      <p:tavLst>
                                        <p:tav tm="0">
                                          <p:val>
                                            <p:strVal val="#ppt_y"/>
                                          </p:val>
                                        </p:tav>
                                        <p:tav tm="100000">
                                          <p:val>
                                            <p:strVal val="#ppt_y"/>
                                          </p:val>
                                        </p:tav>
                                      </p:tavLst>
                                    </p:anim>
                                    <p:animEffect transition="in" filter="wipe(right)">
                                      <p:cBhvr additive="base">
                                        <p:cTn id="9" dur="1000"/>
                                        <p:tgtEl>
                                          <p:spTgt spid="2389">
                                            <p:txEl>
                                              <p:pRg st="1" end="1"/>
                                            </p:txEl>
                                          </p:spTgt>
                                        </p:tgtEl>
                                      </p:cBhvr>
                                    </p:animEffect>
                                  </p:childTnLst>
                                </p:cTn>
                              </p:par>
                              <p:par>
                                <p:cTn id="10" presetID="29" presetClass="entr" presetSubtype="0" fill="hold" nodeType="withEffect">
                                  <p:childTnLst>
                                    <p:set>
                                      <p:cBhvr additive="base">
                                        <p:cTn id="11" dur="1" fill="hold">
                                          <p:stCondLst>
                                            <p:cond delay="0"/>
                                          </p:stCondLst>
                                        </p:cTn>
                                        <p:tgtEl>
                                          <p:spTgt spid="2389">
                                            <p:txEl>
                                              <p:pRg st="2" end="2"/>
                                            </p:txEl>
                                          </p:spTgt>
                                        </p:tgtEl>
                                        <p:attrNameLst>
                                          <p:attrName>style.visibility</p:attrName>
                                        </p:attrNameLst>
                                      </p:cBhvr>
                                      <p:to>
                                        <p:strVal val="visible"/>
                                      </p:to>
                                    </p:set>
                                    <p:anim calcmode="lin" valueType="num">
                                      <p:cBhvr additive="base">
                                        <p:cTn id="12" dur="1000" fill="hold"/>
                                        <p:tgtEl>
                                          <p:spTgt spid="2389">
                                            <p:txEl>
                                              <p:pRg st="2" end="2"/>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389">
                                            <p:txEl>
                                              <p:pRg st="2" end="2"/>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389">
                                            <p:txEl>
                                              <p:pRg st="2" end="2"/>
                                            </p:txEl>
                                          </p:spTgt>
                                        </p:tgtEl>
                                      </p:cBhvr>
                                    </p:animEffect>
                                  </p:childTnLst>
                                </p:cTn>
                              </p:par>
                              <p:par>
                                <p:cTn id="15" presetID="29" presetClass="entr" presetSubtype="0" fill="hold" nodeType="withEffect">
                                  <p:childTnLst>
                                    <p:set>
                                      <p:cBhvr additive="base">
                                        <p:cTn id="16" dur="1" fill="hold">
                                          <p:stCondLst>
                                            <p:cond delay="0"/>
                                          </p:stCondLst>
                                        </p:cTn>
                                        <p:tgtEl>
                                          <p:spTgt spid="2389">
                                            <p:txEl>
                                              <p:pRg st="3" end="3"/>
                                            </p:txEl>
                                          </p:spTgt>
                                        </p:tgtEl>
                                        <p:attrNameLst>
                                          <p:attrName>style.visibility</p:attrName>
                                        </p:attrNameLst>
                                      </p:cBhvr>
                                      <p:to>
                                        <p:strVal val="visible"/>
                                      </p:to>
                                    </p:set>
                                    <p:anim calcmode="lin" valueType="num">
                                      <p:cBhvr additive="base">
                                        <p:cTn id="17" dur="1000" fill="hold"/>
                                        <p:tgtEl>
                                          <p:spTgt spid="2389">
                                            <p:txEl>
                                              <p:pRg st="3" end="3"/>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389">
                                            <p:txEl>
                                              <p:pRg st="3" end="3"/>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389">
                                            <p:txEl>
                                              <p:pRg st="3" end="3"/>
                                            </p:txEl>
                                          </p:spTgt>
                                        </p:tgtEl>
                                      </p:cBhvr>
                                    </p:animEffect>
                                  </p:childTnLst>
                                </p:cTn>
                              </p:par>
                              <p:par>
                                <p:cTn id="20" presetID="29" presetClass="entr" presetSubtype="0" fill="hold" nodeType="withEffect">
                                  <p:childTnLst>
                                    <p:set>
                                      <p:cBhvr additive="base">
                                        <p:cTn id="21" dur="1" fill="hold">
                                          <p:stCondLst>
                                            <p:cond delay="0"/>
                                          </p:stCondLst>
                                        </p:cTn>
                                        <p:tgtEl>
                                          <p:spTgt spid="2389">
                                            <p:txEl>
                                              <p:pRg st="4" end="4"/>
                                            </p:txEl>
                                          </p:spTgt>
                                        </p:tgtEl>
                                        <p:attrNameLst>
                                          <p:attrName>style.visibility</p:attrName>
                                        </p:attrNameLst>
                                      </p:cBhvr>
                                      <p:to>
                                        <p:strVal val="visible"/>
                                      </p:to>
                                    </p:set>
                                    <p:anim calcmode="lin" valueType="num">
                                      <p:cBhvr additive="base">
                                        <p:cTn id="22" dur="1000" fill="hold"/>
                                        <p:tgtEl>
                                          <p:spTgt spid="2389">
                                            <p:txEl>
                                              <p:pRg st="4" end="4"/>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389">
                                            <p:txEl>
                                              <p:pRg st="4" end="4"/>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389">
                                            <p:txEl>
                                              <p:pRg st="4" end="4"/>
                                            </p:txEl>
                                          </p:spTgt>
                                        </p:tgtEl>
                                      </p:cBhvr>
                                    </p:animEffect>
                                  </p:childTnLst>
                                </p:cTn>
                              </p:par>
                              <p:par>
                                <p:cTn id="25" presetID="29" presetClass="entr" presetSubtype="0" fill="hold" nodeType="withEffect">
                                  <p:childTnLst>
                                    <p:set>
                                      <p:cBhvr additive="base">
                                        <p:cTn id="26" dur="1" fill="hold">
                                          <p:stCondLst>
                                            <p:cond delay="0"/>
                                          </p:stCondLst>
                                        </p:cTn>
                                        <p:tgtEl>
                                          <p:spTgt spid="2389">
                                            <p:txEl>
                                              <p:pRg st="5" end="5"/>
                                            </p:txEl>
                                          </p:spTgt>
                                        </p:tgtEl>
                                        <p:attrNameLst>
                                          <p:attrName>style.visibility</p:attrName>
                                        </p:attrNameLst>
                                      </p:cBhvr>
                                      <p:to>
                                        <p:strVal val="visible"/>
                                      </p:to>
                                    </p:set>
                                    <p:anim calcmode="lin" valueType="num">
                                      <p:cBhvr additive="base">
                                        <p:cTn id="27" dur="1000" fill="hold"/>
                                        <p:tgtEl>
                                          <p:spTgt spid="2389">
                                            <p:txEl>
                                              <p:pRg st="5" end="5"/>
                                            </p:txEl>
                                          </p:spTgt>
                                        </p:tgtEl>
                                        <p:attrNameLst>
                                          <p:attrName>ppt_x</p:attrName>
                                        </p:attrNameLst>
                                      </p:cBhvr>
                                      <p:tavLst>
                                        <p:tav tm="0">
                                          <p:val>
                                            <p:strVal val="#ppt_x-.2"/>
                                          </p:val>
                                        </p:tav>
                                        <p:tav tm="100000">
                                          <p:val>
                                            <p:strVal val="#ppt_x"/>
                                          </p:val>
                                        </p:tav>
                                      </p:tavLst>
                                    </p:anim>
                                    <p:anim calcmode="lin" valueType="num">
                                      <p:cBhvr additive="base">
                                        <p:cTn id="28" dur="1000" fill="hold"/>
                                        <p:tgtEl>
                                          <p:spTgt spid="2389">
                                            <p:txEl>
                                              <p:pRg st="5" end="5"/>
                                            </p:txEl>
                                          </p:spTgt>
                                        </p:tgtEl>
                                        <p:attrNameLst>
                                          <p:attrName>ppt_y</p:attrName>
                                        </p:attrNameLst>
                                      </p:cBhvr>
                                      <p:tavLst>
                                        <p:tav tm="0">
                                          <p:val>
                                            <p:strVal val="#ppt_y"/>
                                          </p:val>
                                        </p:tav>
                                        <p:tav tm="100000">
                                          <p:val>
                                            <p:strVal val="#ppt_y"/>
                                          </p:val>
                                        </p:tav>
                                      </p:tavLst>
                                    </p:anim>
                                    <p:animEffect transition="in" filter="wipe(right)">
                                      <p:cBhvr additive="base">
                                        <p:cTn id="29" dur="1000"/>
                                        <p:tgtEl>
                                          <p:spTgt spid="2389">
                                            <p:txEl>
                                              <p:pRg st="5" end="5"/>
                                            </p:txEl>
                                          </p:spTgt>
                                        </p:tgtEl>
                                      </p:cBhvr>
                                    </p:animEffect>
                                  </p:childTnLst>
                                </p:cTn>
                              </p:par>
                              <p:par>
                                <p:cTn id="30" presetID="29" presetClass="entr" presetSubtype="0" fill="hold" nodeType="withEffect">
                                  <p:childTnLst>
                                    <p:set>
                                      <p:cBhvr additive="base">
                                        <p:cTn id="31" dur="1" fill="hold">
                                          <p:stCondLst>
                                            <p:cond delay="0"/>
                                          </p:stCondLst>
                                        </p:cTn>
                                        <p:tgtEl>
                                          <p:spTgt spid="2389">
                                            <p:txEl>
                                              <p:pRg st="6" end="6"/>
                                            </p:txEl>
                                          </p:spTgt>
                                        </p:tgtEl>
                                        <p:attrNameLst>
                                          <p:attrName>style.visibility</p:attrName>
                                        </p:attrNameLst>
                                      </p:cBhvr>
                                      <p:to>
                                        <p:strVal val="visible"/>
                                      </p:to>
                                    </p:set>
                                    <p:anim calcmode="lin" valueType="num">
                                      <p:cBhvr additive="base">
                                        <p:cTn id="32" dur="1000" fill="hold"/>
                                        <p:tgtEl>
                                          <p:spTgt spid="2389">
                                            <p:txEl>
                                              <p:pRg st="6" end="6"/>
                                            </p:txEl>
                                          </p:spTgt>
                                        </p:tgtEl>
                                        <p:attrNameLst>
                                          <p:attrName>ppt_x</p:attrName>
                                        </p:attrNameLst>
                                      </p:cBhvr>
                                      <p:tavLst>
                                        <p:tav tm="0">
                                          <p:val>
                                            <p:strVal val="#ppt_x-.2"/>
                                          </p:val>
                                        </p:tav>
                                        <p:tav tm="100000">
                                          <p:val>
                                            <p:strVal val="#ppt_x"/>
                                          </p:val>
                                        </p:tav>
                                      </p:tavLst>
                                    </p:anim>
                                    <p:anim calcmode="lin" valueType="num">
                                      <p:cBhvr additive="base">
                                        <p:cTn id="33" dur="1000" fill="hold"/>
                                        <p:tgtEl>
                                          <p:spTgt spid="2389">
                                            <p:txEl>
                                              <p:pRg st="6" end="6"/>
                                            </p:txEl>
                                          </p:spTgt>
                                        </p:tgtEl>
                                        <p:attrNameLst>
                                          <p:attrName>ppt_y</p:attrName>
                                        </p:attrNameLst>
                                      </p:cBhvr>
                                      <p:tavLst>
                                        <p:tav tm="0">
                                          <p:val>
                                            <p:strVal val="#ppt_y"/>
                                          </p:val>
                                        </p:tav>
                                        <p:tav tm="100000">
                                          <p:val>
                                            <p:strVal val="#ppt_y"/>
                                          </p:val>
                                        </p:tav>
                                      </p:tavLst>
                                    </p:anim>
                                    <p:animEffect transition="in" filter="wipe(right)">
                                      <p:cBhvr additive="base">
                                        <p:cTn id="34" dur="1000"/>
                                        <p:tgtEl>
                                          <p:spTgt spid="2389">
                                            <p:txEl>
                                              <p:pRg st="6" end="6"/>
                                            </p:txEl>
                                          </p:spTgt>
                                        </p:tgtEl>
                                      </p:cBhvr>
                                    </p:animEffect>
                                  </p:childTnLst>
                                </p:cTn>
                              </p:par>
                              <p:par>
                                <p:cTn id="35" presetID="29" presetClass="entr" presetSubtype="0" fill="hold" nodeType="withEffect">
                                  <p:childTnLst>
                                    <p:set>
                                      <p:cBhvr additive="base">
                                        <p:cTn id="36" dur="1" fill="hold">
                                          <p:stCondLst>
                                            <p:cond delay="0"/>
                                          </p:stCondLst>
                                        </p:cTn>
                                        <p:tgtEl>
                                          <p:spTgt spid="2389">
                                            <p:txEl>
                                              <p:pRg st="7" end="7"/>
                                            </p:txEl>
                                          </p:spTgt>
                                        </p:tgtEl>
                                        <p:attrNameLst>
                                          <p:attrName>style.visibility</p:attrName>
                                        </p:attrNameLst>
                                      </p:cBhvr>
                                      <p:to>
                                        <p:strVal val="visible"/>
                                      </p:to>
                                    </p:set>
                                    <p:anim calcmode="lin" valueType="num">
                                      <p:cBhvr additive="base">
                                        <p:cTn id="37" dur="1000" fill="hold"/>
                                        <p:tgtEl>
                                          <p:spTgt spid="2389">
                                            <p:txEl>
                                              <p:pRg st="7" end="7"/>
                                            </p:txEl>
                                          </p:spTgt>
                                        </p:tgtEl>
                                        <p:attrNameLst>
                                          <p:attrName>ppt_x</p:attrName>
                                        </p:attrNameLst>
                                      </p:cBhvr>
                                      <p:tavLst>
                                        <p:tav tm="0">
                                          <p:val>
                                            <p:strVal val="#ppt_x-.2"/>
                                          </p:val>
                                        </p:tav>
                                        <p:tav tm="100000">
                                          <p:val>
                                            <p:strVal val="#ppt_x"/>
                                          </p:val>
                                        </p:tav>
                                      </p:tavLst>
                                    </p:anim>
                                    <p:anim calcmode="lin" valueType="num">
                                      <p:cBhvr additive="base">
                                        <p:cTn id="38" dur="1000" fill="hold"/>
                                        <p:tgtEl>
                                          <p:spTgt spid="2389">
                                            <p:txEl>
                                              <p:pRg st="7" end="7"/>
                                            </p:txEl>
                                          </p:spTgt>
                                        </p:tgtEl>
                                        <p:attrNameLst>
                                          <p:attrName>ppt_y</p:attrName>
                                        </p:attrNameLst>
                                      </p:cBhvr>
                                      <p:tavLst>
                                        <p:tav tm="0">
                                          <p:val>
                                            <p:strVal val="#ppt_y"/>
                                          </p:val>
                                        </p:tav>
                                        <p:tav tm="100000">
                                          <p:val>
                                            <p:strVal val="#ppt_y"/>
                                          </p:val>
                                        </p:tav>
                                      </p:tavLst>
                                    </p:anim>
                                    <p:animEffect transition="in" filter="wipe(right)">
                                      <p:cBhvr additive="base">
                                        <p:cTn id="39" dur="1000"/>
                                        <p:tgtEl>
                                          <p:spTgt spid="2389">
                                            <p:txEl>
                                              <p:pRg st="7" end="7"/>
                                            </p:txEl>
                                          </p:spTgt>
                                        </p:tgtEl>
                                      </p:cBhvr>
                                    </p:animEffect>
                                  </p:childTnLst>
                                </p:cTn>
                              </p:par>
                              <p:par>
                                <p:cTn id="40" presetID="29" presetClass="entr" presetSubtype="0" fill="hold" nodeType="withEffect">
                                  <p:childTnLst>
                                    <p:set>
                                      <p:cBhvr additive="base">
                                        <p:cTn id="41" dur="1" fill="hold">
                                          <p:stCondLst>
                                            <p:cond delay="0"/>
                                          </p:stCondLst>
                                        </p:cTn>
                                        <p:tgtEl>
                                          <p:spTgt spid="2389">
                                            <p:txEl>
                                              <p:pRg st="8" end="8"/>
                                            </p:txEl>
                                          </p:spTgt>
                                        </p:tgtEl>
                                        <p:attrNameLst>
                                          <p:attrName>style.visibility</p:attrName>
                                        </p:attrNameLst>
                                      </p:cBhvr>
                                      <p:to>
                                        <p:strVal val="visible"/>
                                      </p:to>
                                    </p:set>
                                    <p:anim calcmode="lin" valueType="num">
                                      <p:cBhvr additive="base">
                                        <p:cTn id="42" dur="1000" fill="hold"/>
                                        <p:tgtEl>
                                          <p:spTgt spid="2389">
                                            <p:txEl>
                                              <p:pRg st="8" end="8"/>
                                            </p:txEl>
                                          </p:spTgt>
                                        </p:tgtEl>
                                        <p:attrNameLst>
                                          <p:attrName>ppt_x</p:attrName>
                                        </p:attrNameLst>
                                      </p:cBhvr>
                                      <p:tavLst>
                                        <p:tav tm="0">
                                          <p:val>
                                            <p:strVal val="#ppt_x-.2"/>
                                          </p:val>
                                        </p:tav>
                                        <p:tav tm="100000">
                                          <p:val>
                                            <p:strVal val="#ppt_x"/>
                                          </p:val>
                                        </p:tav>
                                      </p:tavLst>
                                    </p:anim>
                                    <p:anim calcmode="lin" valueType="num">
                                      <p:cBhvr additive="base">
                                        <p:cTn id="43" dur="1000" fill="hold"/>
                                        <p:tgtEl>
                                          <p:spTgt spid="2389">
                                            <p:txEl>
                                              <p:pRg st="8" end="8"/>
                                            </p:txEl>
                                          </p:spTgt>
                                        </p:tgtEl>
                                        <p:attrNameLst>
                                          <p:attrName>ppt_y</p:attrName>
                                        </p:attrNameLst>
                                      </p:cBhvr>
                                      <p:tavLst>
                                        <p:tav tm="0">
                                          <p:val>
                                            <p:strVal val="#ppt_y"/>
                                          </p:val>
                                        </p:tav>
                                        <p:tav tm="100000">
                                          <p:val>
                                            <p:strVal val="#ppt_y"/>
                                          </p:val>
                                        </p:tav>
                                      </p:tavLst>
                                    </p:anim>
                                    <p:animEffect transition="in" filter="wipe(right)">
                                      <p:cBhvr additive="base">
                                        <p:cTn id="44" dur="1000"/>
                                        <p:tgtEl>
                                          <p:spTgt spid="2389">
                                            <p:txEl>
                                              <p:pRg st="8" end="8"/>
                                            </p:txEl>
                                          </p:spTgt>
                                        </p:tgtEl>
                                      </p:cBhvr>
                                    </p:animEffect>
                                  </p:childTnLst>
                                </p:cTn>
                              </p:par>
                              <p:par>
                                <p:cTn id="45" presetID="29" presetClass="entr" presetSubtype="0" fill="hold" nodeType="withEffect">
                                  <p:childTnLst>
                                    <p:set>
                                      <p:cBhvr additive="base">
                                        <p:cTn id="46" dur="1" fill="hold">
                                          <p:stCondLst>
                                            <p:cond delay="0"/>
                                          </p:stCondLst>
                                        </p:cTn>
                                        <p:tgtEl>
                                          <p:spTgt spid="2390"/>
                                        </p:tgtEl>
                                        <p:attrNameLst>
                                          <p:attrName>style.visibility</p:attrName>
                                        </p:attrNameLst>
                                      </p:cBhvr>
                                      <p:to>
                                        <p:strVal val="visible"/>
                                      </p:to>
                                    </p:set>
                                    <p:anim calcmode="lin" valueType="num">
                                      <p:cBhvr additive="base">
                                        <p:cTn id="47" dur="1000" fill="hold"/>
                                        <p:tgtEl>
                                          <p:spTgt spid="2390"/>
                                        </p:tgtEl>
                                        <p:attrNameLst>
                                          <p:attrName>ppt_x</p:attrName>
                                        </p:attrNameLst>
                                      </p:cBhvr>
                                      <p:tavLst>
                                        <p:tav tm="0">
                                          <p:val>
                                            <p:strVal val="#ppt_x-.2"/>
                                          </p:val>
                                        </p:tav>
                                        <p:tav tm="100000">
                                          <p:val>
                                            <p:strVal val="#ppt_x"/>
                                          </p:val>
                                        </p:tav>
                                      </p:tavLst>
                                    </p:anim>
                                    <p:anim calcmode="lin" valueType="num">
                                      <p:cBhvr additive="base">
                                        <p:cTn id="48" dur="1000" fill="hold"/>
                                        <p:tgtEl>
                                          <p:spTgt spid="2390"/>
                                        </p:tgtEl>
                                        <p:attrNameLst>
                                          <p:attrName>ppt_y</p:attrName>
                                        </p:attrNameLst>
                                      </p:cBhvr>
                                      <p:tavLst>
                                        <p:tav tm="0">
                                          <p:val>
                                            <p:strVal val="#ppt_y"/>
                                          </p:val>
                                        </p:tav>
                                        <p:tav tm="100000">
                                          <p:val>
                                            <p:strVal val="#ppt_y"/>
                                          </p:val>
                                        </p:tav>
                                      </p:tavLst>
                                    </p:anim>
                                    <p:animEffect transition="in" filter="wipe(right)">
                                      <p:cBhvr additive="base">
                                        <p:cTn id="49" dur="1000"/>
                                        <p:tgtEl>
                                          <p:spTgt spid="2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53</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94" name="标题 2393"/>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4.2 </a:t>
            </a:r>
            <a:r>
              <a:rPr lang="zh-CN" altLang="en-US">
                <a:ea typeface="MingLiU_HKSCS-ExtB" panose="02020500000000000000" charset="-120"/>
              </a:rPr>
              <a:t>离散信源的信息率失真函数</a:t>
            </a:r>
          </a:p>
        </p:txBody>
      </p:sp>
      <p:sp>
        <p:nvSpPr>
          <p:cNvPr id="2395" name="文本占位符 2394"/>
          <p:cNvSpPr>
            <a:spLocks noGrp="1"/>
          </p:cNvSpPr>
          <p:nvPr>
            <p:ph type="body" idx="4294967295"/>
          </p:nvPr>
        </p:nvSpPr>
        <p:spPr/>
        <p:txBody>
          <a:bodyPr/>
          <a:lstStyle/>
          <a:p>
            <a:pPr marL="355600" indent="-355600">
              <a:buClr>
                <a:schemeClr val="folHlink"/>
              </a:buClr>
              <a:buFont typeface="Wingdings" panose="05000000000000000000" pitchFamily="2" charset="2"/>
              <a:buChar char="]"/>
            </a:pPr>
            <a:r>
              <a:rPr lang="zh-CN" altLang="en-US" sz="2400">
                <a:ea typeface="MingLiU_HKSCS-ExtB" panose="02020500000000000000" charset="-120"/>
              </a:rPr>
              <a:t>对离散信源，求 </a:t>
            </a:r>
            <a:r>
              <a:rPr lang="en-US" altLang="zh-CN" sz="2400" i="1">
                <a:ea typeface="MingLiU_HKSCS-ExtB" panose="02020500000000000000" charset="-120"/>
              </a:rPr>
              <a:t>R</a:t>
            </a:r>
            <a:r>
              <a:rPr lang="en-US" altLang="zh-CN" sz="2400">
                <a:ea typeface="MingLiU_HKSCS-ExtB" panose="02020500000000000000" charset="-120"/>
              </a:rPr>
              <a:t>(</a:t>
            </a:r>
            <a:r>
              <a:rPr lang="en-US" altLang="zh-CN" sz="2400" i="1">
                <a:ea typeface="MingLiU_HKSCS-ExtB" panose="02020500000000000000" charset="-120"/>
              </a:rPr>
              <a:t>D</a:t>
            </a:r>
            <a:r>
              <a:rPr lang="en-US" altLang="zh-CN" sz="2400">
                <a:ea typeface="MingLiU_HKSCS-ExtB" panose="02020500000000000000" charset="-120"/>
              </a:rPr>
              <a:t>) </a:t>
            </a:r>
            <a:r>
              <a:rPr lang="zh-CN" altLang="en-US" sz="2400">
                <a:ea typeface="MingLiU_HKSCS-ExtB" panose="02020500000000000000" charset="-120"/>
              </a:rPr>
              <a:t>与求 </a:t>
            </a:r>
            <a:r>
              <a:rPr lang="en-US" altLang="zh-CN" sz="2400" i="1">
                <a:ea typeface="MingLiU_HKSCS-ExtB" panose="02020500000000000000" charset="-120"/>
              </a:rPr>
              <a:t>C </a:t>
            </a:r>
            <a:r>
              <a:rPr lang="zh-CN" altLang="en-US" sz="2400">
                <a:ea typeface="MingLiU_HKSCS-ExtB" panose="02020500000000000000" charset="-120"/>
              </a:rPr>
              <a:t>类似，是一个在有约束条件下求平均互信息极值问题，只是约束条件不同；</a:t>
            </a:r>
          </a:p>
          <a:p>
            <a:pPr marL="355600" indent="-355600">
              <a:buClr>
                <a:schemeClr val="folHlink"/>
              </a:buClr>
              <a:buFont typeface="Wingdings" panose="05000000000000000000" pitchFamily="2" charset="2"/>
              <a:buChar char="]"/>
            </a:pPr>
            <a:r>
              <a:rPr lang="en-US" altLang="zh-CN" sz="2400" i="1">
                <a:ea typeface="MingLiU_HKSCS-ExtB" panose="02020500000000000000" charset="-120"/>
              </a:rPr>
              <a:t>C </a:t>
            </a:r>
            <a:r>
              <a:rPr lang="zh-CN" altLang="en-US" sz="2400">
                <a:ea typeface="MingLiU_HKSCS-ExtB" panose="02020500000000000000" charset="-120"/>
              </a:rPr>
              <a:t>是求平均互信息的条件极大值， </a:t>
            </a:r>
            <a:r>
              <a:rPr lang="en-US" altLang="zh-CN" sz="2400" i="1">
                <a:ea typeface="MingLiU_HKSCS-ExtB" panose="02020500000000000000" charset="-120"/>
              </a:rPr>
              <a:t>R</a:t>
            </a:r>
            <a:r>
              <a:rPr lang="en-US" altLang="zh-CN" sz="2400">
                <a:ea typeface="MingLiU_HKSCS-ExtB" panose="02020500000000000000" charset="-120"/>
              </a:rPr>
              <a:t>(</a:t>
            </a:r>
            <a:r>
              <a:rPr lang="en-US" altLang="zh-CN" sz="2400" i="1">
                <a:ea typeface="MingLiU_HKSCS-ExtB" panose="02020500000000000000" charset="-120"/>
              </a:rPr>
              <a:t>D</a:t>
            </a:r>
            <a:r>
              <a:rPr lang="en-US" altLang="zh-CN" sz="2400">
                <a:ea typeface="MingLiU_HKSCS-ExtB" panose="02020500000000000000" charset="-120"/>
              </a:rPr>
              <a:t>) </a:t>
            </a:r>
            <a:r>
              <a:rPr lang="zh-CN" altLang="en-US" sz="2400">
                <a:ea typeface="MingLiU_HKSCS-ExtB" panose="02020500000000000000" charset="-120"/>
              </a:rPr>
              <a:t>是求平均互信息的</a:t>
            </a:r>
            <a:r>
              <a:rPr lang="zh-CN" altLang="en-US" sz="2400" u="sng">
                <a:solidFill>
                  <a:srgbClr val="FF0000"/>
                </a:solidFill>
                <a:effectLst>
                  <a:outerShdw blurRad="38100" dist="38100" dir="2700000">
                    <a:srgbClr val="C0C0C0"/>
                  </a:outerShdw>
                </a:effectLst>
                <a:ea typeface="MingLiU_HKSCS-ExtB" panose="02020500000000000000" charset="-120"/>
              </a:rPr>
              <a:t>条件极小值</a:t>
            </a:r>
            <a:r>
              <a:rPr lang="zh-CN" altLang="en-US" sz="2400">
                <a:solidFill>
                  <a:srgbClr val="FF0000"/>
                </a:solidFill>
                <a:ea typeface="MingLiU_HKSCS-ExtB" panose="02020500000000000000" charset="-120"/>
              </a:rPr>
              <a:t>。</a:t>
            </a:r>
          </a:p>
          <a:p>
            <a:pPr marL="355600" indent="-355600">
              <a:buClr>
                <a:srgbClr val="993366"/>
              </a:buClr>
              <a:buFont typeface="Wingdings" panose="05000000000000000000" pitchFamily="2" charset="2"/>
              <a:buChar char="ÿ"/>
            </a:pPr>
            <a:endParaRPr lang="zh-CN" altLang="en-US" sz="1000">
              <a:solidFill>
                <a:schemeClr val="bg1"/>
              </a:solidFill>
              <a:ea typeface="MingLiU_HKSCS-ExtB" panose="02020500000000000000" charset="-120"/>
            </a:endParaRPr>
          </a:p>
          <a:p>
            <a:pPr marL="355600" indent="-355600">
              <a:buClr>
                <a:srgbClr val="993366"/>
              </a:buClr>
              <a:buNone/>
            </a:pPr>
            <a:r>
              <a:rPr lang="en-US" altLang="zh-CN">
                <a:ea typeface="MingLiU_HKSCS-ExtB" panose="02020500000000000000" charset="-120"/>
              </a:rPr>
              <a:t>4.2.1  </a:t>
            </a:r>
            <a:r>
              <a:rPr lang="zh-CN" altLang="en-US">
                <a:ea typeface="MingLiU_HKSCS-ExtB" panose="02020500000000000000" charset="-120"/>
                <a:hlinkClick r:id="" action="ppaction://hlinkshowjump?jump=nextslide" tooltip="下一页"/>
              </a:rPr>
              <a:t>离散信源信息率失真函数的参量表达式</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4.2.2  </a:t>
            </a:r>
            <a:r>
              <a:rPr lang="zh-CN" altLang="en-US">
                <a:ea typeface="MingLiU_HKSCS-ExtB" panose="02020500000000000000" charset="-120"/>
              </a:rPr>
              <a:t>二元及等概率离散信源的信息率失真函数</a:t>
            </a:r>
          </a:p>
        </p:txBody>
      </p:sp>
    </p:spTree>
  </p:cSld>
  <p:clrMapOvr>
    <a:masterClrMapping/>
  </p:clrMapOvr>
  <p:transition spd="med">
    <p:spli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54</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398" name="标题 2397"/>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399" name="文本占位符 2398"/>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hlinkClick r:id="" action="ppaction://hlinkshowjump?jump=nextslide" tooltip="下一页"/>
              </a:rPr>
              <a:t>求极小值方法</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离散信源的信息率失真函数</a:t>
            </a:r>
          </a:p>
          <a:p>
            <a:pPr marL="355600" indent="-355600">
              <a:buClr>
                <a:srgbClr val="993366"/>
              </a:buClr>
              <a:buNone/>
            </a:pPr>
            <a:r>
              <a:rPr lang="en-US" altLang="zh-CN">
                <a:ea typeface="MingLiU_HKSCS-ExtB" panose="02020500000000000000" charset="-120"/>
              </a:rPr>
              <a:t>(3)</a:t>
            </a:r>
            <a:r>
              <a:rPr lang="en-US" altLang="zh-CN" i="1">
                <a:ea typeface="MingLiU_HKSCS-ExtB" panose="02020500000000000000" charset="-120"/>
              </a:rPr>
              <a:t> </a:t>
            </a:r>
            <a:r>
              <a:rPr lang="zh-CN" altLang="en-US">
                <a:ea typeface="MingLiU_HKSCS-ExtB" panose="02020500000000000000" charset="-120"/>
              </a:rPr>
              <a:t>参量 </a:t>
            </a:r>
            <a:r>
              <a:rPr lang="en-US" altLang="zh-CN" i="1">
                <a:ea typeface="MingLiU_HKSCS-ExtB" panose="02020500000000000000" charset="-120"/>
              </a:rPr>
              <a:t>S</a:t>
            </a:r>
            <a:r>
              <a:rPr lang="en-US" altLang="zh-CN">
                <a:ea typeface="MingLiU_HKSCS-ExtB" panose="02020500000000000000" charset="-120"/>
              </a:rPr>
              <a:t> </a:t>
            </a:r>
            <a:r>
              <a:rPr lang="zh-CN" altLang="en-US">
                <a:ea typeface="MingLiU_HKSCS-ExtB" panose="02020500000000000000" charset="-120"/>
              </a:rPr>
              <a:t>的说明</a:t>
            </a:r>
          </a:p>
        </p:txBody>
      </p:sp>
      <p:sp>
        <p:nvSpPr>
          <p:cNvPr id="2400" name="矩形 2399"/>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spd="med">
    <p:spli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55</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03" name="标题 2402"/>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04" name="文本占位符 2403"/>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求极小值方法</a:t>
            </a:r>
          </a:p>
          <a:p>
            <a:pPr marL="355600" indent="-355600">
              <a:buClr>
                <a:srgbClr val="993366"/>
              </a:buClr>
            </a:pPr>
            <a:r>
              <a:rPr lang="zh-CN" altLang="en-US" sz="2400">
                <a:ea typeface="MingLiU_HKSCS-ExtB" panose="02020500000000000000" charset="-120"/>
              </a:rPr>
              <a:t>用拉各朗日乘子法原则上可以求出最小值，但是要得到它的显式一般是很困难的，通常只能求出信息率失真函数的参量表达式。</a:t>
            </a:r>
          </a:p>
        </p:txBody>
      </p:sp>
      <p:sp>
        <p:nvSpPr>
          <p:cNvPr id="2405" name="矩形 2404"/>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spd="med">
    <p:spli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56</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08" name="标题 2407"/>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09" name="文本占位符 2408"/>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求极小值方法</a:t>
            </a:r>
          </a:p>
          <a:p>
            <a:pPr marL="355600" indent="-355600">
              <a:buClr>
                <a:srgbClr val="993366"/>
              </a:buClr>
            </a:pPr>
            <a:r>
              <a:rPr lang="zh-CN" altLang="en-US" sz="2400">
                <a:ea typeface="MingLiU_HKSCS-ExtB" panose="02020500000000000000" charset="-120"/>
              </a:rPr>
              <a:t>已知信源概率分布函数</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p</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i="1" baseline="-25000">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和失真度</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i="1" baseline="-25000">
                <a:solidFill>
                  <a:srgbClr val="FF0000"/>
                </a:solidFill>
                <a:ea typeface="MingLiU_HKSCS-ExtB" panose="02020500000000000000" charset="-120"/>
              </a:rPr>
              <a:t>i </a:t>
            </a:r>
            <a:r>
              <a:rPr lang="en-US" altLang="zh-CN" sz="2400">
                <a:solidFill>
                  <a:srgbClr val="FF0000"/>
                </a:solidFill>
                <a:ea typeface="MingLiU_HKSCS-ExtB" panose="02020500000000000000" charset="-120"/>
              </a:rPr>
              <a:t>, </a:t>
            </a:r>
            <a:r>
              <a:rPr lang="en-US" altLang="zh-CN" sz="2400" i="1">
                <a:solidFill>
                  <a:srgbClr val="FF0000"/>
                </a:solidFill>
                <a:ea typeface="MingLiU_HKSCS-ExtB" panose="02020500000000000000" charset="-120"/>
              </a:rPr>
              <a:t>y</a:t>
            </a:r>
            <a:r>
              <a:rPr lang="en-US" altLang="zh-CN" sz="2400" i="1" baseline="-25000">
                <a:solidFill>
                  <a:srgbClr val="FF0000"/>
                </a:solidFill>
                <a:ea typeface="MingLiU_HKSCS-ExtB" panose="02020500000000000000" charset="-120"/>
              </a:rPr>
              <a:t>j</a:t>
            </a:r>
            <a:r>
              <a:rPr lang="en-US" altLang="zh-CN" sz="2400">
                <a:solidFill>
                  <a:srgbClr val="FF0000"/>
                </a:solidFill>
                <a:ea typeface="MingLiU_HKSCS-ExtB" panose="02020500000000000000" charset="-120"/>
              </a:rPr>
              <a:t>)</a:t>
            </a:r>
            <a:r>
              <a:rPr lang="zh-CN" altLang="en-US" sz="2400">
                <a:ea typeface="MingLiU_HKSCS-ExtB" panose="02020500000000000000" charset="-120"/>
              </a:rPr>
              <a:t>，在满足保真度准则              的条件下，在试验信道集合</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P</a:t>
            </a:r>
            <a:r>
              <a:rPr lang="en-US" altLang="zh-CN" sz="2400" i="1" baseline="-25000">
                <a:solidFill>
                  <a:srgbClr val="FF0000"/>
                </a:solidFill>
                <a:ea typeface="MingLiU_HKSCS-ExtB" panose="02020500000000000000" charset="-120"/>
              </a:rPr>
              <a:t>D</a:t>
            </a:r>
            <a:r>
              <a:rPr lang="en-US" altLang="zh-CN" sz="2400" i="1" baseline="-25000">
                <a:solidFill>
                  <a:srgbClr val="FFFF00"/>
                </a:solidFill>
                <a:ea typeface="MingLiU_HKSCS-ExtB" panose="02020500000000000000" charset="-120"/>
              </a:rPr>
              <a:t> </a:t>
            </a:r>
            <a:r>
              <a:rPr lang="zh-CN" altLang="en-US" sz="2400">
                <a:ea typeface="MingLiU_HKSCS-ExtB" panose="02020500000000000000" charset="-120"/>
              </a:rPr>
              <a:t>当中选择</a:t>
            </a:r>
          </a:p>
          <a:p>
            <a:pPr marL="355600" indent="-355600">
              <a:buClr>
                <a:srgbClr val="993366"/>
              </a:buClr>
              <a:buNone/>
            </a:pPr>
            <a:r>
              <a:rPr lang="zh-CN" altLang="en-US" sz="2400" i="1">
                <a:solidFill>
                  <a:srgbClr val="FF0000"/>
                </a:solidFill>
                <a:ea typeface="MingLiU_HKSCS-ExtB" panose="02020500000000000000" charset="-120"/>
              </a:rPr>
              <a:t>     </a:t>
            </a:r>
            <a:r>
              <a:rPr lang="en-US" altLang="zh-CN" sz="2400" i="1">
                <a:solidFill>
                  <a:srgbClr val="FF0000"/>
                </a:solidFill>
                <a:ea typeface="MingLiU_HKSCS-ExtB" panose="02020500000000000000" charset="-120"/>
              </a:rPr>
              <a:t>p</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y</a:t>
            </a:r>
            <a:r>
              <a:rPr lang="en-US" altLang="zh-CN" sz="2400" i="1" baseline="-25000">
                <a:solidFill>
                  <a:srgbClr val="FF0000"/>
                </a:solidFill>
                <a:ea typeface="MingLiU_HKSCS-ExtB" panose="02020500000000000000" charset="-120"/>
              </a:rPr>
              <a:t>j </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i="1" baseline="-25000">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zh-CN" altLang="en-US" sz="2400">
                <a:ea typeface="MingLiU_HKSCS-ExtB" panose="02020500000000000000" charset="-120"/>
              </a:rPr>
              <a:t>，使平均互信息：</a:t>
            </a:r>
          </a:p>
        </p:txBody>
      </p:sp>
      <p:graphicFrame>
        <p:nvGraphicFramePr>
          <p:cNvPr id="2410" name="对象 2409"/>
          <p:cNvGraphicFramePr/>
          <p:nvPr/>
        </p:nvGraphicFramePr>
        <p:xfrm>
          <a:off x="2244725" y="2276475"/>
          <a:ext cx="731838" cy="392113"/>
        </p:xfrm>
        <a:graphic>
          <a:graphicData uri="http://schemas.openxmlformats.org/presentationml/2006/ole">
            <mc:AlternateContent xmlns:mc="http://schemas.openxmlformats.org/markup-compatibility/2006">
              <mc:Choice xmlns:v="urn:schemas-microsoft-com:vml" Requires="v">
                <p:oleObj spid="_x0000_s33797" r:id="rId3" imgW="370840" imgH="203200" progId="Equation.3">
                  <p:embed/>
                </p:oleObj>
              </mc:Choice>
              <mc:Fallback>
                <p:oleObj r:id="rId3" imgW="370840" imgH="203200" progId="Equation.3">
                  <p:embed/>
                  <p:pic>
                    <p:nvPicPr>
                      <p:cNvPr id="0" name="图片 3165"/>
                      <p:cNvPicPr/>
                      <p:nvPr/>
                    </p:nvPicPr>
                    <p:blipFill>
                      <a:blip r:embed="rId4"/>
                      <a:stretch>
                        <a:fillRect/>
                      </a:stretch>
                    </p:blipFill>
                    <p:spPr>
                      <a:xfrm>
                        <a:off x="2244725" y="2276475"/>
                        <a:ext cx="731838" cy="392113"/>
                      </a:xfrm>
                      <a:prstGeom prst="rect">
                        <a:avLst/>
                      </a:prstGeom>
                      <a:noFill/>
                      <a:ln w="38100">
                        <a:noFill/>
                        <a:miter/>
                      </a:ln>
                    </p:spPr>
                  </p:pic>
                </p:oleObj>
              </mc:Fallback>
            </mc:AlternateContent>
          </a:graphicData>
        </a:graphic>
      </p:graphicFrame>
      <p:sp>
        <p:nvSpPr>
          <p:cNvPr id="2411" name="矩形 2410"/>
          <p:cNvSpPr/>
          <p:nvPr/>
        </p:nvSpPr>
        <p:spPr>
          <a:xfrm>
            <a:off x="8029575" y="5948363"/>
            <a:ext cx="796925" cy="360362"/>
          </a:xfrm>
          <a:solidFill>
            <a:srgbClr val="BBE0E3"/>
          </a:solidFill>
          <a:ln w="12700">
            <a:noFill/>
          </a:ln>
        </p:spPr>
        <p:txBody>
          <a:bodyPr/>
          <a:lstStyle/>
          <a:p>
            <a:endParaRPr lang="zh-CN" altLang="en-US"/>
          </a:p>
        </p:txBody>
      </p:sp>
      <p:sp>
        <p:nvSpPr>
          <p:cNvPr id="2412" name="矩形 2411"/>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graphicFrame>
        <p:nvGraphicFramePr>
          <p:cNvPr id="2413" name="对象 2412"/>
          <p:cNvGraphicFramePr/>
          <p:nvPr/>
        </p:nvGraphicFramePr>
        <p:xfrm>
          <a:off x="1314450" y="3573463"/>
          <a:ext cx="4648200" cy="820737"/>
        </p:xfrm>
        <a:graphic>
          <a:graphicData uri="http://schemas.openxmlformats.org/presentationml/2006/ole">
            <mc:AlternateContent xmlns:mc="http://schemas.openxmlformats.org/markup-compatibility/2006">
              <mc:Choice xmlns:v="urn:schemas-microsoft-com:vml" Requires="v">
                <p:oleObj spid="_x0000_s33798" r:id="rId5" imgW="915670" imgH="469900" progId="Equation.3">
                  <p:embed/>
                </p:oleObj>
              </mc:Choice>
              <mc:Fallback>
                <p:oleObj r:id="rId5" imgW="915670" imgH="469900" progId="Equation.3">
                  <p:embed/>
                  <p:pic>
                    <p:nvPicPr>
                      <p:cNvPr id="0" name="图片 3167"/>
                      <p:cNvPicPr/>
                      <p:nvPr/>
                    </p:nvPicPr>
                    <p:blipFill>
                      <a:blip r:embed="rId6"/>
                      <a:stretch>
                        <a:fillRect/>
                      </a:stretch>
                    </p:blipFill>
                    <p:spPr>
                      <a:xfrm>
                        <a:off x="1314450" y="3573463"/>
                        <a:ext cx="4648200" cy="820737"/>
                      </a:xfrm>
                      <a:prstGeom prst="rect">
                        <a:avLst/>
                      </a:prstGeom>
                      <a:noFill/>
                      <a:ln w="38100">
                        <a:noFill/>
                        <a:miter/>
                      </a:ln>
                    </p:spPr>
                  </p:pic>
                </p:oleObj>
              </mc:Fallback>
            </mc:AlternateContent>
          </a:graphicData>
        </a:graphic>
      </p:graphicFrame>
      <p:graphicFrame>
        <p:nvGraphicFramePr>
          <p:cNvPr id="2414" name="对象 2413"/>
          <p:cNvGraphicFramePr/>
          <p:nvPr/>
        </p:nvGraphicFramePr>
        <p:xfrm>
          <a:off x="4837113" y="4868863"/>
          <a:ext cx="3663950" cy="769937"/>
        </p:xfrm>
        <a:graphic>
          <a:graphicData uri="http://schemas.openxmlformats.org/presentationml/2006/ole">
            <mc:AlternateContent xmlns:mc="http://schemas.openxmlformats.org/markup-compatibility/2006">
              <mc:Choice xmlns:v="urn:schemas-microsoft-com:vml" Requires="v">
                <p:oleObj spid="_x0000_s33799" r:id="rId7" imgW="883285" imgH="444500" progId="Equation.3">
                  <p:embed/>
                </p:oleObj>
              </mc:Choice>
              <mc:Fallback>
                <p:oleObj r:id="rId7" imgW="883285" imgH="444500" progId="Equation.3">
                  <p:embed/>
                  <p:pic>
                    <p:nvPicPr>
                      <p:cNvPr id="0" name="图片 3164"/>
                      <p:cNvPicPr/>
                      <p:nvPr/>
                    </p:nvPicPr>
                    <p:blipFill>
                      <a:blip r:embed="rId8"/>
                      <a:stretch>
                        <a:fillRect/>
                      </a:stretch>
                    </p:blipFill>
                    <p:spPr>
                      <a:xfrm>
                        <a:off x="4837113" y="4868863"/>
                        <a:ext cx="3663950" cy="769937"/>
                      </a:xfrm>
                      <a:prstGeom prst="rect">
                        <a:avLst/>
                      </a:prstGeom>
                      <a:noFill/>
                      <a:ln w="38100">
                        <a:noFill/>
                        <a:miter/>
                      </a:ln>
                    </p:spPr>
                  </p:pic>
                </p:oleObj>
              </mc:Fallback>
            </mc:AlternateContent>
          </a:graphicData>
        </a:graphic>
      </p:graphicFrame>
      <p:graphicFrame>
        <p:nvGraphicFramePr>
          <p:cNvPr id="2415" name="对象 2414"/>
          <p:cNvGraphicFramePr/>
          <p:nvPr/>
        </p:nvGraphicFramePr>
        <p:xfrm>
          <a:off x="1314450" y="4868863"/>
          <a:ext cx="3324225" cy="765175"/>
        </p:xfrm>
        <a:graphic>
          <a:graphicData uri="http://schemas.openxmlformats.org/presentationml/2006/ole">
            <mc:AlternateContent xmlns:mc="http://schemas.openxmlformats.org/markup-compatibility/2006">
              <mc:Choice xmlns:v="urn:schemas-microsoft-com:vml" Requires="v">
                <p:oleObj spid="_x0000_s33800" r:id="rId9" imgW="802640" imgH="431800" progId="Equation.3">
                  <p:embed/>
                </p:oleObj>
              </mc:Choice>
              <mc:Fallback>
                <p:oleObj r:id="rId9" imgW="802640" imgH="431800" progId="Equation.3">
                  <p:embed/>
                  <p:pic>
                    <p:nvPicPr>
                      <p:cNvPr id="0" name="图片 3166"/>
                      <p:cNvPicPr/>
                      <p:nvPr/>
                    </p:nvPicPr>
                    <p:blipFill>
                      <a:blip r:embed="rId10"/>
                      <a:stretch>
                        <a:fillRect/>
                      </a:stretch>
                    </p:blipFill>
                    <p:spPr>
                      <a:xfrm>
                        <a:off x="1314450" y="4868863"/>
                        <a:ext cx="3324225" cy="765175"/>
                      </a:xfrm>
                      <a:prstGeom prst="rect">
                        <a:avLst/>
                      </a:prstGeom>
                      <a:noFill/>
                      <a:ln w="38100">
                        <a:noFill/>
                        <a:miter/>
                      </a:ln>
                    </p:spPr>
                  </p:pic>
                </p:oleObj>
              </mc:Fallback>
            </mc:AlternateContent>
          </a:graphicData>
        </a:graphic>
      </p:graphicFrame>
      <p:sp>
        <p:nvSpPr>
          <p:cNvPr id="2416" name="矩形 2415"/>
          <p:cNvSpPr/>
          <p:nvPr/>
        </p:nvSpPr>
        <p:spPr>
          <a:xfrm>
            <a:off x="6234113" y="3716338"/>
            <a:ext cx="793750" cy="420687"/>
          </a:xfrm>
          <a:prstGeom prst="rect">
            <a:avLst/>
          </a:prstGeom>
          <a:noFill/>
          <a:ln w="12700">
            <a:noFill/>
          </a:ln>
        </p:spPr>
        <p:txBody>
          <a:bodyPr wrap="none" anchor="t" anchorCtr="0">
            <a:spAutoFit/>
          </a:bodyPr>
          <a:lstStyle/>
          <a:p>
            <a:pPr eaLnBrk="0" hangingPunct="0">
              <a:lnSpc>
                <a:spcPct val="90000"/>
              </a:lnSpc>
            </a:pPr>
            <a:r>
              <a:rPr lang="zh-CN" altLang="en-US" sz="2400" b="1">
                <a:latin typeface="Times New Roman" panose="02020603050405020304" pitchFamily="18" charset="0"/>
                <a:ea typeface="MingLiU_HKSCS-ExtB" panose="02020500000000000000" charset="-120"/>
              </a:rPr>
              <a:t>最小</a:t>
            </a:r>
          </a:p>
        </p:txBody>
      </p:sp>
    </p:spTree>
  </p:cSld>
  <p:clrMapOvr>
    <a:masterClrMapping/>
  </p:clrMapOvr>
  <p:transition spd="med">
    <p:spli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57</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19" name="标题 2418"/>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20" name="文本占位符 2419"/>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离散信源的</a:t>
            </a:r>
            <a:r>
              <a:rPr lang="zh-CN" altLang="en-US">
                <a:solidFill>
                  <a:srgbClr val="FF0000"/>
                </a:solidFill>
                <a:ea typeface="MingLiU_HKSCS-ExtB" panose="02020500000000000000" charset="-120"/>
              </a:rPr>
              <a:t>信息率失真函数</a:t>
            </a:r>
          </a:p>
          <a:p>
            <a:pPr marL="355600" indent="-355600">
              <a:buClr>
                <a:srgbClr val="993366"/>
              </a:buClr>
              <a:buNone/>
            </a:pPr>
            <a:r>
              <a:rPr lang="zh-CN" altLang="en-US" sz="2000">
                <a:ea typeface="MingLiU_HKSCS-ExtB" panose="02020500000000000000" charset="-120"/>
              </a:rPr>
              <a:t>      已知平均互信息在</a:t>
            </a:r>
            <a:r>
              <a:rPr lang="en-US" altLang="zh-CN" sz="2000">
                <a:ea typeface="MingLiU_HKSCS-ExtB" panose="02020500000000000000" charset="-120"/>
              </a:rPr>
              <a:t>(4.2.5)</a:t>
            </a:r>
            <a:r>
              <a:rPr lang="zh-CN" altLang="en-US" sz="2000">
                <a:ea typeface="MingLiU_HKSCS-ExtB" panose="02020500000000000000" charset="-120"/>
              </a:rPr>
              <a:t>的</a:t>
            </a:r>
            <a:r>
              <a:rPr lang="zh-CN" altLang="en-US" sz="2000">
                <a:solidFill>
                  <a:schemeClr val="bg1"/>
                </a:solidFill>
                <a:ea typeface="MingLiU_HKSCS-ExtB" panose="02020500000000000000" charset="-120"/>
              </a:rPr>
              <a:t> </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n</a:t>
            </a:r>
            <a:r>
              <a:rPr lang="en-US" altLang="zh-CN" sz="2000">
                <a:solidFill>
                  <a:srgbClr val="FF0000"/>
                </a:solidFill>
                <a:ea typeface="MingLiU_HKSCS-ExtB" panose="02020500000000000000" charset="-120"/>
              </a:rPr>
              <a:t>+1)</a:t>
            </a:r>
            <a:r>
              <a:rPr lang="en-US" altLang="zh-CN" sz="2000">
                <a:solidFill>
                  <a:srgbClr val="FFFF00"/>
                </a:solidFill>
                <a:ea typeface="MingLiU_HKSCS-ExtB" panose="02020500000000000000" charset="-120"/>
              </a:rPr>
              <a:t> </a:t>
            </a:r>
            <a:r>
              <a:rPr lang="zh-CN" altLang="en-US" sz="2000">
                <a:ea typeface="MingLiU_HKSCS-ExtB" panose="02020500000000000000" charset="-120"/>
              </a:rPr>
              <a:t>个条件限制下求</a:t>
            </a:r>
            <a:r>
              <a:rPr lang="zh-CN" altLang="en-US" sz="2000">
                <a:solidFill>
                  <a:schemeClr val="bg1"/>
                </a:solidFill>
                <a:ea typeface="MingLiU_HKSCS-ExtB" panose="02020500000000000000" charset="-120"/>
              </a:rPr>
              <a:t> </a:t>
            </a:r>
            <a:r>
              <a:rPr lang="en-US" altLang="zh-CN" sz="2000" i="1">
                <a:solidFill>
                  <a:srgbClr val="FF0000"/>
                </a:solidFill>
                <a:ea typeface="MingLiU_HKSCS-ExtB" panose="02020500000000000000" charset="-120"/>
              </a:rPr>
              <a:t>I</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X</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Y</a:t>
            </a:r>
            <a:r>
              <a:rPr lang="en-US" altLang="zh-CN" sz="2000">
                <a:solidFill>
                  <a:srgbClr val="FF0000"/>
                </a:solidFill>
                <a:ea typeface="MingLiU_HKSCS-ExtB" panose="02020500000000000000" charset="-120"/>
              </a:rPr>
              <a:t>)</a:t>
            </a:r>
            <a:r>
              <a:rPr lang="zh-CN" altLang="en-US" sz="2000">
                <a:ea typeface="MingLiU_HKSCS-ExtB" panose="02020500000000000000" charset="-120"/>
              </a:rPr>
              <a:t>的极值，引入拉各朗日乘子</a:t>
            </a:r>
            <a:r>
              <a:rPr lang="zh-CN" altLang="en-US" sz="2000">
                <a:solidFill>
                  <a:schemeClr val="bg1"/>
                </a:solidFill>
                <a:ea typeface="MingLiU_HKSCS-ExtB" panose="02020500000000000000" charset="-120"/>
              </a:rPr>
              <a:t> </a:t>
            </a:r>
            <a:r>
              <a:rPr lang="en-US" altLang="zh-CN" sz="2000" i="1">
                <a:solidFill>
                  <a:srgbClr val="FF0000"/>
                </a:solidFill>
                <a:ea typeface="MingLiU_HKSCS-ExtB" panose="02020500000000000000" charset="-120"/>
              </a:rPr>
              <a:t>S</a:t>
            </a:r>
            <a:r>
              <a:rPr lang="en-US" altLang="zh-CN" sz="2000" i="1">
                <a:solidFill>
                  <a:srgbClr val="FFFF00"/>
                </a:solidFill>
                <a:ea typeface="MingLiU_HKSCS-ExtB" panose="02020500000000000000" charset="-120"/>
              </a:rPr>
              <a:t> </a:t>
            </a:r>
            <a:r>
              <a:rPr lang="zh-CN" altLang="en-US" sz="2000">
                <a:ea typeface="MingLiU_HKSCS-ExtB" panose="02020500000000000000" charset="-120"/>
              </a:rPr>
              <a:t>和</a:t>
            </a:r>
            <a:r>
              <a:rPr lang="en-US" altLang="zh-CN" sz="2000" i="1">
                <a:solidFill>
                  <a:srgbClr val="FF0000"/>
                </a:solidFill>
                <a:ea typeface="MingLiU_HKSCS-ExtB" panose="02020500000000000000" charset="-120"/>
              </a:rPr>
              <a:t>μ</a:t>
            </a:r>
            <a:r>
              <a:rPr lang="en-US" altLang="zh-CN" sz="2000" i="1" baseline="-25000">
                <a:solidFill>
                  <a:srgbClr val="FF0000"/>
                </a:solidFill>
                <a:ea typeface="MingLiU_HKSCS-ExtB" panose="02020500000000000000" charset="-120"/>
              </a:rPr>
              <a:t>i </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i</a:t>
            </a:r>
            <a:r>
              <a:rPr lang="en-US" altLang="zh-CN" sz="2000">
                <a:solidFill>
                  <a:srgbClr val="FF0000"/>
                </a:solidFill>
                <a:ea typeface="MingLiU_HKSCS-ExtB" panose="02020500000000000000" charset="-120"/>
              </a:rPr>
              <a:t>=1,2,…,</a:t>
            </a:r>
            <a:r>
              <a:rPr lang="en-US" altLang="zh-CN" sz="2000" i="1">
                <a:solidFill>
                  <a:srgbClr val="FF0000"/>
                </a:solidFill>
                <a:ea typeface="MingLiU_HKSCS-ExtB" panose="02020500000000000000" charset="-120"/>
              </a:rPr>
              <a:t>n</a:t>
            </a:r>
            <a:r>
              <a:rPr lang="en-US" altLang="zh-CN" sz="2000">
                <a:solidFill>
                  <a:srgbClr val="FF0000"/>
                </a:solidFill>
                <a:ea typeface="MingLiU_HKSCS-ExtB" panose="02020500000000000000" charset="-120"/>
              </a:rPr>
              <a:t>)</a:t>
            </a:r>
            <a:r>
              <a:rPr lang="zh-CN" altLang="en-US" sz="2000">
                <a:solidFill>
                  <a:srgbClr val="FF0000"/>
                </a:solidFill>
                <a:ea typeface="MingLiU_HKSCS-ExtB" panose="02020500000000000000" charset="-120"/>
              </a:rPr>
              <a:t>，</a:t>
            </a:r>
            <a:r>
              <a:rPr lang="zh-CN" altLang="en-US" sz="2000">
                <a:ea typeface="MingLiU_HKSCS-ExtB" panose="02020500000000000000" charset="-120"/>
              </a:rPr>
              <a:t>构造一个新函数：</a:t>
            </a:r>
          </a:p>
        </p:txBody>
      </p:sp>
      <p:sp>
        <p:nvSpPr>
          <p:cNvPr id="2421" name="矩形 2420"/>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graphicFrame>
        <p:nvGraphicFramePr>
          <p:cNvPr id="2422" name="对象 2421"/>
          <p:cNvGraphicFramePr/>
          <p:nvPr/>
        </p:nvGraphicFramePr>
        <p:xfrm>
          <a:off x="1846263" y="2781300"/>
          <a:ext cx="6145212" cy="879475"/>
        </p:xfrm>
        <a:graphic>
          <a:graphicData uri="http://schemas.openxmlformats.org/presentationml/2006/ole">
            <mc:AlternateContent xmlns:mc="http://schemas.openxmlformats.org/markup-compatibility/2006">
              <mc:Choice xmlns:v="urn:schemas-microsoft-com:vml" Requires="v">
                <p:oleObj spid="_x0000_s34820" r:id="rId3" imgW="963295" imgH="469900" progId="Equation.3">
                  <p:embed/>
                </p:oleObj>
              </mc:Choice>
              <mc:Fallback>
                <p:oleObj r:id="rId3" imgW="963295" imgH="469900" progId="Equation.3">
                  <p:embed/>
                  <p:pic>
                    <p:nvPicPr>
                      <p:cNvPr id="0" name="图片 3170"/>
                      <p:cNvPicPr/>
                      <p:nvPr/>
                    </p:nvPicPr>
                    <p:blipFill>
                      <a:blip r:embed="rId4"/>
                      <a:stretch>
                        <a:fillRect/>
                      </a:stretch>
                    </p:blipFill>
                    <p:spPr>
                      <a:xfrm>
                        <a:off x="1846263" y="2781300"/>
                        <a:ext cx="6145212" cy="879475"/>
                      </a:xfrm>
                      <a:prstGeom prst="rect">
                        <a:avLst/>
                      </a:prstGeom>
                      <a:noFill/>
                      <a:ln w="38100">
                        <a:noFill/>
                        <a:miter/>
                      </a:ln>
                    </p:spPr>
                  </p:pic>
                </p:oleObj>
              </mc:Fallback>
            </mc:AlternateContent>
          </a:graphicData>
        </a:graphic>
      </p:graphicFrame>
      <p:graphicFrame>
        <p:nvGraphicFramePr>
          <p:cNvPr id="2423" name="对象 2422"/>
          <p:cNvGraphicFramePr/>
          <p:nvPr/>
        </p:nvGraphicFramePr>
        <p:xfrm>
          <a:off x="1868488" y="3789363"/>
          <a:ext cx="5961062" cy="1574800"/>
        </p:xfrm>
        <a:graphic>
          <a:graphicData uri="http://schemas.openxmlformats.org/presentationml/2006/ole">
            <mc:AlternateContent xmlns:mc="http://schemas.openxmlformats.org/markup-compatibility/2006">
              <mc:Choice xmlns:v="urn:schemas-microsoft-com:vml" Requires="v">
                <p:oleObj spid="_x0000_s34821" r:id="rId5" imgW="1661795" imgH="901700" progId="Equation.3">
                  <p:embed/>
                </p:oleObj>
              </mc:Choice>
              <mc:Fallback>
                <p:oleObj r:id="rId5" imgW="1661795" imgH="901700" progId="Equation.3">
                  <p:embed/>
                  <p:pic>
                    <p:nvPicPr>
                      <p:cNvPr id="0" name="图片 3174"/>
                      <p:cNvPicPr/>
                      <p:nvPr/>
                    </p:nvPicPr>
                    <p:blipFill>
                      <a:blip r:embed="rId6"/>
                      <a:stretch>
                        <a:fillRect/>
                      </a:stretch>
                    </p:blipFill>
                    <p:spPr>
                      <a:xfrm>
                        <a:off x="1868488" y="3789363"/>
                        <a:ext cx="5961062" cy="1574800"/>
                      </a:xfrm>
                      <a:prstGeom prst="rect">
                        <a:avLst/>
                      </a:prstGeom>
                      <a:noFill/>
                      <a:ln w="38100">
                        <a:noFill/>
                        <a:miter/>
                      </a:ln>
                    </p:spPr>
                  </p:pic>
                </p:oleObj>
              </mc:Fallback>
            </mc:AlternateContent>
          </a:graphicData>
        </a:graphic>
      </p:graphicFrame>
      <p:graphicFrame>
        <p:nvGraphicFramePr>
          <p:cNvPr id="2424" name="对象 2423"/>
          <p:cNvGraphicFramePr/>
          <p:nvPr/>
        </p:nvGraphicFramePr>
        <p:xfrm>
          <a:off x="1114425" y="5445125"/>
          <a:ext cx="3282950" cy="715963"/>
        </p:xfrm>
        <a:graphic>
          <a:graphicData uri="http://schemas.openxmlformats.org/presentationml/2006/ole">
            <mc:AlternateContent xmlns:mc="http://schemas.openxmlformats.org/markup-compatibility/2006">
              <mc:Choice xmlns:v="urn:schemas-microsoft-com:vml" Requires="v">
                <p:oleObj spid="_x0000_s34822" r:id="rId7" imgW="833755" imgH="431800" progId="Equation.3">
                  <p:embed/>
                </p:oleObj>
              </mc:Choice>
              <mc:Fallback>
                <p:oleObj r:id="rId7" imgW="833755" imgH="431800" progId="Equation.3">
                  <p:embed/>
                  <p:pic>
                    <p:nvPicPr>
                      <p:cNvPr id="0" name="图片 3172"/>
                      <p:cNvPicPr/>
                      <p:nvPr/>
                    </p:nvPicPr>
                    <p:blipFill>
                      <a:blip r:embed="rId8"/>
                      <a:stretch>
                        <a:fillRect/>
                      </a:stretch>
                    </p:blipFill>
                    <p:spPr>
                      <a:xfrm>
                        <a:off x="1114425" y="5445125"/>
                        <a:ext cx="3282950" cy="715963"/>
                      </a:xfrm>
                      <a:prstGeom prst="rect">
                        <a:avLst/>
                      </a:prstGeom>
                      <a:noFill/>
                      <a:ln w="38100">
                        <a:noFill/>
                        <a:miter/>
                      </a:ln>
                    </p:spPr>
                  </p:pic>
                </p:oleObj>
              </mc:Fallback>
            </mc:AlternateContent>
          </a:graphicData>
        </a:graphic>
      </p:graphicFrame>
    </p:spTree>
  </p:cSld>
  <p:clrMapOvr>
    <a:masterClrMapping/>
  </p:clrMapOvr>
  <p:transition spd="med">
    <p:spli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58</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27" name="标题 2426"/>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28" name="文本占位符 2427"/>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离散信源的</a:t>
            </a:r>
            <a:r>
              <a:rPr lang="zh-CN" altLang="en-US">
                <a:solidFill>
                  <a:srgbClr val="FF0000"/>
                </a:solidFill>
                <a:ea typeface="MingLiU_HKSCS-ExtB" panose="02020500000000000000" charset="-120"/>
              </a:rPr>
              <a:t>信息率失真函数</a:t>
            </a:r>
            <a:endParaRPr lang="zh-CN" altLang="en-US">
              <a:ea typeface="MingLiU_HKSCS-ExtB" panose="02020500000000000000" charset="-120"/>
            </a:endParaRPr>
          </a:p>
        </p:txBody>
      </p:sp>
      <p:graphicFrame>
        <p:nvGraphicFramePr>
          <p:cNvPr id="2429" name="对象 2428"/>
          <p:cNvGraphicFramePr/>
          <p:nvPr/>
        </p:nvGraphicFramePr>
        <p:xfrm>
          <a:off x="2394585" y="3230880"/>
          <a:ext cx="4621213" cy="1139825"/>
        </p:xfrm>
        <a:graphic>
          <a:graphicData uri="http://schemas.openxmlformats.org/presentationml/2006/ole">
            <mc:AlternateContent xmlns:mc="http://schemas.openxmlformats.org/markup-compatibility/2006">
              <mc:Choice xmlns:v="urn:schemas-microsoft-com:vml" Requires="v">
                <p:oleObj spid="_x0000_s35844" r:id="rId3" imgW="2920365" imgH="711200" progId="Equation.3">
                  <p:embed/>
                </p:oleObj>
              </mc:Choice>
              <mc:Fallback>
                <p:oleObj r:id="rId3" imgW="2920365" imgH="711200" progId="Equation.3">
                  <p:embed/>
                  <p:pic>
                    <p:nvPicPr>
                      <p:cNvPr id="0" name="图片 3168"/>
                      <p:cNvPicPr/>
                      <p:nvPr/>
                    </p:nvPicPr>
                    <p:blipFill>
                      <a:blip r:embed="rId4"/>
                      <a:stretch>
                        <a:fillRect/>
                      </a:stretch>
                    </p:blipFill>
                    <p:spPr>
                      <a:xfrm>
                        <a:off x="2394585" y="3230880"/>
                        <a:ext cx="4621213" cy="1139825"/>
                      </a:xfrm>
                      <a:prstGeom prst="rect">
                        <a:avLst/>
                      </a:prstGeom>
                      <a:noFill/>
                      <a:ln w="38100">
                        <a:noFill/>
                        <a:miter/>
                      </a:ln>
                    </p:spPr>
                  </p:pic>
                </p:oleObj>
              </mc:Fallback>
            </mc:AlternateContent>
          </a:graphicData>
        </a:graphic>
      </p:graphicFrame>
      <p:graphicFrame>
        <p:nvGraphicFramePr>
          <p:cNvPr id="2430" name="对象 2429"/>
          <p:cNvGraphicFramePr/>
          <p:nvPr/>
        </p:nvGraphicFramePr>
        <p:xfrm>
          <a:off x="1255713" y="1925638"/>
          <a:ext cx="7570787" cy="806450"/>
        </p:xfrm>
        <a:graphic>
          <a:graphicData uri="http://schemas.openxmlformats.org/presentationml/2006/ole">
            <mc:AlternateContent xmlns:mc="http://schemas.openxmlformats.org/markup-compatibility/2006">
              <mc:Choice xmlns:v="urn:schemas-microsoft-com:vml" Requires="v">
                <p:oleObj spid="_x0000_s35845" r:id="rId5" imgW="977900" imgH="494665" progId="Equation.3">
                  <p:embed/>
                </p:oleObj>
              </mc:Choice>
              <mc:Fallback>
                <p:oleObj r:id="rId5" imgW="977900" imgH="494665" progId="Equation.3">
                  <p:embed/>
                  <p:pic>
                    <p:nvPicPr>
                      <p:cNvPr id="0" name="图片 3169"/>
                      <p:cNvPicPr/>
                      <p:nvPr/>
                    </p:nvPicPr>
                    <p:blipFill>
                      <a:blip r:embed="rId6"/>
                      <a:stretch>
                        <a:fillRect/>
                      </a:stretch>
                    </p:blipFill>
                    <p:spPr>
                      <a:xfrm>
                        <a:off x="1255713" y="1925638"/>
                        <a:ext cx="7570787" cy="806450"/>
                      </a:xfrm>
                      <a:prstGeom prst="rect">
                        <a:avLst/>
                      </a:prstGeom>
                      <a:noFill/>
                      <a:ln w="38100">
                        <a:noFill/>
                        <a:miter/>
                      </a:ln>
                    </p:spPr>
                  </p:pic>
                </p:oleObj>
              </mc:Fallback>
            </mc:AlternateContent>
          </a:graphicData>
        </a:graphic>
      </p:graphicFrame>
      <p:graphicFrame>
        <p:nvGraphicFramePr>
          <p:cNvPr id="2431" name="对象 2430"/>
          <p:cNvGraphicFramePr/>
          <p:nvPr/>
        </p:nvGraphicFramePr>
        <p:xfrm>
          <a:off x="1295400" y="4797425"/>
          <a:ext cx="5802313" cy="1122363"/>
        </p:xfrm>
        <a:graphic>
          <a:graphicData uri="http://schemas.openxmlformats.org/presentationml/2006/ole">
            <mc:AlternateContent xmlns:mc="http://schemas.openxmlformats.org/markup-compatibility/2006">
              <mc:Choice xmlns:v="urn:schemas-microsoft-com:vml" Requires="v">
                <p:oleObj spid="_x0000_s35846" r:id="rId7" imgW="1395730" imgH="711200" progId="Equation.3">
                  <p:embed/>
                </p:oleObj>
              </mc:Choice>
              <mc:Fallback>
                <p:oleObj r:id="rId7" imgW="1395730" imgH="711200" progId="Equation.3">
                  <p:embed/>
                  <p:pic>
                    <p:nvPicPr>
                      <p:cNvPr id="0" name="图片 3173"/>
                      <p:cNvPicPr/>
                      <p:nvPr/>
                    </p:nvPicPr>
                    <p:blipFill>
                      <a:blip r:embed="rId8"/>
                      <a:stretch>
                        <a:fillRect/>
                      </a:stretch>
                    </p:blipFill>
                    <p:spPr>
                      <a:xfrm>
                        <a:off x="1295400" y="4797425"/>
                        <a:ext cx="5802313" cy="1122363"/>
                      </a:xfrm>
                      <a:prstGeom prst="rect">
                        <a:avLst/>
                      </a:prstGeom>
                      <a:noFill/>
                      <a:ln w="38100">
                        <a:noFill/>
                        <a:miter/>
                      </a:ln>
                    </p:spPr>
                  </p:pic>
                </p:oleObj>
              </mc:Fallback>
            </mc:AlternateContent>
          </a:graphicData>
        </a:graphic>
      </p:graphicFrame>
      <p:sp>
        <p:nvSpPr>
          <p:cNvPr id="2432" name="矩形 2431"/>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430"/>
                                        </p:tgtEl>
                                        <p:attrNameLst>
                                          <p:attrName>style.visibility</p:attrName>
                                        </p:attrNameLst>
                                      </p:cBhvr>
                                      <p:to>
                                        <p:strVal val="visible"/>
                                      </p:to>
                                    </p:set>
                                    <p:anim calcmode="lin" valueType="num">
                                      <p:cBhvr additive="base">
                                        <p:cTn id="7" dur="1000" fill="hold"/>
                                        <p:tgtEl>
                                          <p:spTgt spid="2430"/>
                                        </p:tgtEl>
                                        <p:attrNameLst>
                                          <p:attrName>ppt_x</p:attrName>
                                        </p:attrNameLst>
                                      </p:cBhvr>
                                      <p:tavLst>
                                        <p:tav tm="0">
                                          <p:val>
                                            <p:strVal val="#ppt_x-.2"/>
                                          </p:val>
                                        </p:tav>
                                        <p:tav tm="100000">
                                          <p:val>
                                            <p:strVal val="#ppt_x"/>
                                          </p:val>
                                        </p:tav>
                                      </p:tavLst>
                                    </p:anim>
                                    <p:anim calcmode="lin" valueType="num">
                                      <p:cBhvr additive="base">
                                        <p:cTn id="8" dur="1000" fill="hold"/>
                                        <p:tgtEl>
                                          <p:spTgt spid="2430"/>
                                        </p:tgtEl>
                                        <p:attrNameLst>
                                          <p:attrName>ppt_y</p:attrName>
                                        </p:attrNameLst>
                                      </p:cBhvr>
                                      <p:tavLst>
                                        <p:tav tm="0">
                                          <p:val>
                                            <p:strVal val="#ppt_y"/>
                                          </p:val>
                                        </p:tav>
                                        <p:tav tm="100000">
                                          <p:val>
                                            <p:strVal val="#ppt_y"/>
                                          </p:val>
                                        </p:tav>
                                      </p:tavLst>
                                    </p:anim>
                                    <p:animEffect transition="in" filter="wipe(right)">
                                      <p:cBhvr additive="base">
                                        <p:cTn id="9" dur="1000"/>
                                        <p:tgtEl>
                                          <p:spTgt spid="2430"/>
                                        </p:tgtEl>
                                      </p:cBhvr>
                                    </p:animEffect>
                                  </p:childTnLst>
                                </p:cTn>
                              </p:par>
                              <p:par>
                                <p:cTn id="10" presetID="29" presetClass="entr" presetSubtype="0" fill="hold" nodeType="withEffect">
                                  <p:childTnLst>
                                    <p:set>
                                      <p:cBhvr additive="base">
                                        <p:cTn id="11" dur="1" fill="hold">
                                          <p:stCondLst>
                                            <p:cond delay="0"/>
                                          </p:stCondLst>
                                        </p:cTn>
                                        <p:tgtEl>
                                          <p:spTgt spid="2429"/>
                                        </p:tgtEl>
                                        <p:attrNameLst>
                                          <p:attrName>style.visibility</p:attrName>
                                        </p:attrNameLst>
                                      </p:cBhvr>
                                      <p:to>
                                        <p:strVal val="visible"/>
                                      </p:to>
                                    </p:set>
                                    <p:anim calcmode="lin" valueType="num">
                                      <p:cBhvr additive="base">
                                        <p:cTn id="12" dur="1000" fill="hold"/>
                                        <p:tgtEl>
                                          <p:spTgt spid="2429"/>
                                        </p:tgtEl>
                                        <p:attrNameLst>
                                          <p:attrName>ppt_x</p:attrName>
                                        </p:attrNameLst>
                                      </p:cBhvr>
                                      <p:tavLst>
                                        <p:tav tm="0">
                                          <p:val>
                                            <p:strVal val="#ppt_x-.2"/>
                                          </p:val>
                                        </p:tav>
                                        <p:tav tm="100000">
                                          <p:val>
                                            <p:strVal val="#ppt_x"/>
                                          </p:val>
                                        </p:tav>
                                      </p:tavLst>
                                    </p:anim>
                                    <p:anim calcmode="lin" valueType="num">
                                      <p:cBhvr additive="base">
                                        <p:cTn id="13" dur="1000" fill="hold"/>
                                        <p:tgtEl>
                                          <p:spTgt spid="2429"/>
                                        </p:tgtEl>
                                        <p:attrNameLst>
                                          <p:attrName>ppt_y</p:attrName>
                                        </p:attrNameLst>
                                      </p:cBhvr>
                                      <p:tavLst>
                                        <p:tav tm="0">
                                          <p:val>
                                            <p:strVal val="#ppt_y"/>
                                          </p:val>
                                        </p:tav>
                                        <p:tav tm="100000">
                                          <p:val>
                                            <p:strVal val="#ppt_y"/>
                                          </p:val>
                                        </p:tav>
                                      </p:tavLst>
                                    </p:anim>
                                    <p:animEffect transition="in" filter="wipe(right)">
                                      <p:cBhvr additive="base">
                                        <p:cTn id="14" dur="1000"/>
                                        <p:tgtEl>
                                          <p:spTgt spid="2429"/>
                                        </p:tgtEl>
                                      </p:cBhvr>
                                    </p:animEffect>
                                  </p:childTnLst>
                                </p:cTn>
                              </p:par>
                              <p:par>
                                <p:cTn id="15" presetID="29" presetClass="entr" presetSubtype="0" fill="hold" nodeType="withEffect">
                                  <p:childTnLst>
                                    <p:set>
                                      <p:cBhvr additive="base">
                                        <p:cTn id="16" dur="1" fill="hold">
                                          <p:stCondLst>
                                            <p:cond delay="0"/>
                                          </p:stCondLst>
                                        </p:cTn>
                                        <p:tgtEl>
                                          <p:spTgt spid="2431"/>
                                        </p:tgtEl>
                                        <p:attrNameLst>
                                          <p:attrName>style.visibility</p:attrName>
                                        </p:attrNameLst>
                                      </p:cBhvr>
                                      <p:to>
                                        <p:strVal val="visible"/>
                                      </p:to>
                                    </p:set>
                                    <p:anim calcmode="lin" valueType="num">
                                      <p:cBhvr additive="base">
                                        <p:cTn id="17" dur="1000" fill="hold"/>
                                        <p:tgtEl>
                                          <p:spTgt spid="2431"/>
                                        </p:tgtEl>
                                        <p:attrNameLst>
                                          <p:attrName>ppt_x</p:attrName>
                                        </p:attrNameLst>
                                      </p:cBhvr>
                                      <p:tavLst>
                                        <p:tav tm="0">
                                          <p:val>
                                            <p:strVal val="#ppt_x-.2"/>
                                          </p:val>
                                        </p:tav>
                                        <p:tav tm="100000">
                                          <p:val>
                                            <p:strVal val="#ppt_x"/>
                                          </p:val>
                                        </p:tav>
                                      </p:tavLst>
                                    </p:anim>
                                    <p:anim calcmode="lin" valueType="num">
                                      <p:cBhvr additive="base">
                                        <p:cTn id="18" dur="1000" fill="hold"/>
                                        <p:tgtEl>
                                          <p:spTgt spid="2431"/>
                                        </p:tgtEl>
                                        <p:attrNameLst>
                                          <p:attrName>ppt_y</p:attrName>
                                        </p:attrNameLst>
                                      </p:cBhvr>
                                      <p:tavLst>
                                        <p:tav tm="0">
                                          <p:val>
                                            <p:strVal val="#ppt_y"/>
                                          </p:val>
                                        </p:tav>
                                        <p:tav tm="100000">
                                          <p:val>
                                            <p:strVal val="#ppt_y"/>
                                          </p:val>
                                        </p:tav>
                                      </p:tavLst>
                                    </p:anim>
                                    <p:animEffect transition="in" filter="wipe(right)">
                                      <p:cBhvr additive="base">
                                        <p:cTn id="19" dur="1000"/>
                                        <p:tgtEl>
                                          <p:spTgt spid="2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59</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35" name="标题 2434"/>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36" name="文本占位符 2435"/>
          <p:cNvSpPr>
            <a:spLocks noGrp="1"/>
          </p:cNvSpPr>
          <p:nvPr>
            <p:ph type="body" idx="4294967295"/>
          </p:nvPr>
        </p:nvSpPr>
        <p:spPr>
          <a:xfrm>
            <a:off x="590550" y="981075"/>
            <a:ext cx="8229600" cy="5327650"/>
          </a:xfrm>
        </p:spPr>
        <p:txBody>
          <a:bodyPr/>
          <a:lstStyle/>
          <a:p>
            <a:pPr marL="457200" indent="-457200">
              <a:buClr>
                <a:srgbClr val="993366"/>
              </a:buClr>
              <a:buNone/>
            </a:pPr>
            <a:r>
              <a:rPr lang="en-US" altLang="zh-CN">
                <a:ea typeface="MingLiU_HKSCS-ExtB" panose="02020500000000000000" charset="-120"/>
              </a:rPr>
              <a:t>(2) </a:t>
            </a:r>
            <a:r>
              <a:rPr lang="zh-CN" altLang="en-US">
                <a:ea typeface="MingLiU_HKSCS-ExtB" panose="02020500000000000000" charset="-120"/>
              </a:rPr>
              <a:t>离散信源的</a:t>
            </a:r>
            <a:r>
              <a:rPr lang="zh-CN" altLang="en-US">
                <a:solidFill>
                  <a:srgbClr val="FF0000"/>
                </a:solidFill>
                <a:ea typeface="MingLiU_HKSCS-ExtB" panose="02020500000000000000" charset="-120"/>
              </a:rPr>
              <a:t>信息率失真函数</a:t>
            </a:r>
          </a:p>
          <a:p>
            <a:pPr marL="457200" indent="-457200">
              <a:buClr>
                <a:srgbClr val="993366"/>
              </a:buClr>
              <a:buNone/>
            </a:pPr>
            <a:r>
              <a:rPr lang="zh-CN" altLang="en-US" sz="2400">
                <a:ea typeface="MingLiU_HKSCS-ExtB" panose="02020500000000000000" charset="-120"/>
              </a:rPr>
              <a:t>其中：</a:t>
            </a:r>
          </a:p>
        </p:txBody>
      </p:sp>
      <p:sp>
        <p:nvSpPr>
          <p:cNvPr id="2437" name="矩形 2436"/>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graphicFrame>
        <p:nvGraphicFramePr>
          <p:cNvPr id="2438" name="对象 2437"/>
          <p:cNvGraphicFramePr/>
          <p:nvPr/>
        </p:nvGraphicFramePr>
        <p:xfrm>
          <a:off x="982663" y="2439988"/>
          <a:ext cx="7777162" cy="3294062"/>
        </p:xfrm>
        <a:graphic>
          <a:graphicData uri="http://schemas.openxmlformats.org/presentationml/2006/ole">
            <mc:AlternateContent xmlns:mc="http://schemas.openxmlformats.org/markup-compatibility/2006">
              <mc:Choice xmlns:v="urn:schemas-microsoft-com:vml" Requires="v">
                <p:oleObj spid="_x0000_s36866" r:id="rId3" imgW="3421380" imgH="1891665" progId="Equation.3">
                  <p:embed/>
                </p:oleObj>
              </mc:Choice>
              <mc:Fallback>
                <p:oleObj r:id="rId3" imgW="3421380" imgH="1891665" progId="Equation.3">
                  <p:embed/>
                  <p:pic>
                    <p:nvPicPr>
                      <p:cNvPr id="0" name="图片 3171"/>
                      <p:cNvPicPr/>
                      <p:nvPr/>
                    </p:nvPicPr>
                    <p:blipFill>
                      <a:blip r:embed="rId4"/>
                      <a:stretch>
                        <a:fillRect/>
                      </a:stretch>
                    </p:blipFill>
                    <p:spPr>
                      <a:xfrm>
                        <a:off x="982663" y="2439988"/>
                        <a:ext cx="7777162" cy="3294062"/>
                      </a:xfrm>
                      <a:prstGeom prst="rect">
                        <a:avLst/>
                      </a:prstGeom>
                      <a:noFill/>
                      <a:ln w="38100">
                        <a:noFill/>
                        <a:miter/>
                      </a:ln>
                    </p:spPr>
                  </p:pic>
                </p:oleObj>
              </mc:Fallback>
            </mc:AlternateContent>
          </a:graphicData>
        </a:graphic>
      </p:graphicFrame>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438"/>
                                        </p:tgtEl>
                                        <p:attrNameLst>
                                          <p:attrName>style.visibility</p:attrName>
                                        </p:attrNameLst>
                                      </p:cBhvr>
                                      <p:to>
                                        <p:strVal val="visible"/>
                                      </p:to>
                                    </p:set>
                                    <p:anim calcmode="lin" valueType="num">
                                      <p:cBhvr additive="base">
                                        <p:cTn id="7" dur="1000" fill="hold"/>
                                        <p:tgtEl>
                                          <p:spTgt spid="2438"/>
                                        </p:tgtEl>
                                        <p:attrNameLst>
                                          <p:attrName>ppt_x</p:attrName>
                                        </p:attrNameLst>
                                      </p:cBhvr>
                                      <p:tavLst>
                                        <p:tav tm="0">
                                          <p:val>
                                            <p:strVal val="#ppt_x-.2"/>
                                          </p:val>
                                        </p:tav>
                                        <p:tav tm="100000">
                                          <p:val>
                                            <p:strVal val="#ppt_x"/>
                                          </p:val>
                                        </p:tav>
                                      </p:tavLst>
                                    </p:anim>
                                    <p:anim calcmode="lin" valueType="num">
                                      <p:cBhvr additive="base">
                                        <p:cTn id="8" dur="1000" fill="hold"/>
                                        <p:tgtEl>
                                          <p:spTgt spid="2438"/>
                                        </p:tgtEl>
                                        <p:attrNameLst>
                                          <p:attrName>ppt_y</p:attrName>
                                        </p:attrNameLst>
                                      </p:cBhvr>
                                      <p:tavLst>
                                        <p:tav tm="0">
                                          <p:val>
                                            <p:strVal val="#ppt_y"/>
                                          </p:val>
                                        </p:tav>
                                        <p:tav tm="100000">
                                          <p:val>
                                            <p:strVal val="#ppt_y"/>
                                          </p:val>
                                        </p:tav>
                                      </p:tavLst>
                                    </p:anim>
                                    <p:animEffect transition="in" filter="wipe(right)">
                                      <p:cBhvr additive="base">
                                        <p:cTn id="9" dur="1000"/>
                                        <p:tgtEl>
                                          <p:spTgt spid="2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60</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41" name="标题 2440"/>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42" name="文本占位符 2441"/>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离散信源的</a:t>
            </a:r>
            <a:r>
              <a:rPr lang="zh-CN" altLang="en-US">
                <a:solidFill>
                  <a:srgbClr val="FF0000"/>
                </a:solidFill>
                <a:ea typeface="MingLiU_HKSCS-ExtB" panose="02020500000000000000" charset="-120"/>
              </a:rPr>
              <a:t>信息率失真函数</a:t>
            </a:r>
            <a:endParaRPr lang="zh-CN" altLang="en-US">
              <a:ea typeface="MingLiU_HKSCS-ExtB" panose="02020500000000000000" charset="-120"/>
            </a:endParaRPr>
          </a:p>
        </p:txBody>
      </p:sp>
      <p:sp>
        <p:nvSpPr>
          <p:cNvPr id="2443" name="矩形 2442"/>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graphicFrame>
        <p:nvGraphicFramePr>
          <p:cNvPr id="2444" name="对象 2443"/>
          <p:cNvGraphicFramePr/>
          <p:nvPr/>
        </p:nvGraphicFramePr>
        <p:xfrm>
          <a:off x="1249363" y="2133600"/>
          <a:ext cx="7312025" cy="1744663"/>
        </p:xfrm>
        <a:graphic>
          <a:graphicData uri="http://schemas.openxmlformats.org/presentationml/2006/ole">
            <mc:AlternateContent xmlns:mc="http://schemas.openxmlformats.org/markup-compatibility/2006">
              <mc:Choice xmlns:v="urn:schemas-microsoft-com:vml" Requires="v">
                <p:oleObj spid="_x0000_s37890" r:id="rId3" imgW="1745615" imgH="939165" progId="Equation.3">
                  <p:embed/>
                </p:oleObj>
              </mc:Choice>
              <mc:Fallback>
                <p:oleObj r:id="rId3" imgW="1745615" imgH="939165" progId="Equation.3">
                  <p:embed/>
                  <p:pic>
                    <p:nvPicPr>
                      <p:cNvPr id="0" name="图片 3178"/>
                      <p:cNvPicPr/>
                      <p:nvPr/>
                    </p:nvPicPr>
                    <p:blipFill>
                      <a:blip r:embed="rId4"/>
                      <a:stretch>
                        <a:fillRect/>
                      </a:stretch>
                    </p:blipFill>
                    <p:spPr>
                      <a:xfrm>
                        <a:off x="1249363" y="2133600"/>
                        <a:ext cx="7312025" cy="1744663"/>
                      </a:xfrm>
                      <a:prstGeom prst="rect">
                        <a:avLst/>
                      </a:prstGeom>
                      <a:noFill/>
                      <a:ln w="38100">
                        <a:noFill/>
                        <a:miter/>
                      </a:ln>
                    </p:spPr>
                  </p:pic>
                </p:oleObj>
              </mc:Fallback>
            </mc:AlternateContent>
          </a:graphicData>
        </a:graphic>
      </p:graphicFrame>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444"/>
                                        </p:tgtEl>
                                        <p:attrNameLst>
                                          <p:attrName>style.visibility</p:attrName>
                                        </p:attrNameLst>
                                      </p:cBhvr>
                                      <p:to>
                                        <p:strVal val="visible"/>
                                      </p:to>
                                    </p:set>
                                    <p:anim calcmode="lin" valueType="num">
                                      <p:cBhvr additive="base">
                                        <p:cTn id="7" dur="1000" fill="hold"/>
                                        <p:tgtEl>
                                          <p:spTgt spid="2444"/>
                                        </p:tgtEl>
                                        <p:attrNameLst>
                                          <p:attrName>ppt_x</p:attrName>
                                        </p:attrNameLst>
                                      </p:cBhvr>
                                      <p:tavLst>
                                        <p:tav tm="0">
                                          <p:val>
                                            <p:strVal val="#ppt_x-.2"/>
                                          </p:val>
                                        </p:tav>
                                        <p:tav tm="100000">
                                          <p:val>
                                            <p:strVal val="#ppt_x"/>
                                          </p:val>
                                        </p:tav>
                                      </p:tavLst>
                                    </p:anim>
                                    <p:anim calcmode="lin" valueType="num">
                                      <p:cBhvr additive="base">
                                        <p:cTn id="8" dur="1000" fill="hold"/>
                                        <p:tgtEl>
                                          <p:spTgt spid="2444"/>
                                        </p:tgtEl>
                                        <p:attrNameLst>
                                          <p:attrName>ppt_y</p:attrName>
                                        </p:attrNameLst>
                                      </p:cBhvr>
                                      <p:tavLst>
                                        <p:tav tm="0">
                                          <p:val>
                                            <p:strVal val="#ppt_y"/>
                                          </p:val>
                                        </p:tav>
                                        <p:tav tm="100000">
                                          <p:val>
                                            <p:strVal val="#ppt_y"/>
                                          </p:val>
                                        </p:tav>
                                      </p:tavLst>
                                    </p:anim>
                                    <p:animEffect transition="in" filter="wipe(right)">
                                      <p:cBhvr additive="base">
                                        <p:cTn id="9" dur="1000"/>
                                        <p:tgtEl>
                                          <p:spTgt spid="2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61</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47" name="标题 2446"/>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48" name="文本占位符 2447"/>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离散信源的</a:t>
            </a:r>
            <a:r>
              <a:rPr lang="zh-CN" altLang="en-US">
                <a:solidFill>
                  <a:srgbClr val="FF0000"/>
                </a:solidFill>
                <a:ea typeface="MingLiU_HKSCS-ExtB" panose="02020500000000000000" charset="-120"/>
              </a:rPr>
              <a:t>信息率失真函数</a:t>
            </a:r>
            <a:endParaRPr lang="zh-CN" altLang="en-US">
              <a:ea typeface="MingLiU_HKSCS-ExtB" panose="02020500000000000000" charset="-120"/>
            </a:endParaRPr>
          </a:p>
        </p:txBody>
      </p:sp>
      <p:graphicFrame>
        <p:nvGraphicFramePr>
          <p:cNvPr id="2449" name="对象 2448"/>
          <p:cNvGraphicFramePr/>
          <p:nvPr/>
        </p:nvGraphicFramePr>
        <p:xfrm>
          <a:off x="1116013" y="1855788"/>
          <a:ext cx="7312025" cy="4237037"/>
        </p:xfrm>
        <a:graphic>
          <a:graphicData uri="http://schemas.openxmlformats.org/presentationml/2006/ole">
            <mc:AlternateContent xmlns:mc="http://schemas.openxmlformats.org/markup-compatibility/2006">
              <mc:Choice xmlns:v="urn:schemas-microsoft-com:vml" Requires="v">
                <p:oleObj spid="_x0000_s38915" r:id="rId3" imgW="4059555" imgH="2281555" progId="Equation.3">
                  <p:embed/>
                </p:oleObj>
              </mc:Choice>
              <mc:Fallback>
                <p:oleObj r:id="rId3" imgW="4059555" imgH="2281555" progId="Equation.3">
                  <p:embed/>
                  <p:pic>
                    <p:nvPicPr>
                      <p:cNvPr id="0" name="图片 3175"/>
                      <p:cNvPicPr/>
                      <p:nvPr/>
                    </p:nvPicPr>
                    <p:blipFill>
                      <a:blip r:embed="rId4"/>
                      <a:stretch>
                        <a:fillRect/>
                      </a:stretch>
                    </p:blipFill>
                    <p:spPr>
                      <a:xfrm>
                        <a:off x="1116013" y="1855788"/>
                        <a:ext cx="7312025" cy="4237037"/>
                      </a:xfrm>
                      <a:prstGeom prst="rect">
                        <a:avLst/>
                      </a:prstGeom>
                      <a:noFill/>
                      <a:ln w="38100">
                        <a:noFill/>
                        <a:miter/>
                      </a:ln>
                    </p:spPr>
                  </p:pic>
                </p:oleObj>
              </mc:Fallback>
            </mc:AlternateContent>
          </a:graphicData>
        </a:graphic>
      </p:graphicFrame>
      <p:graphicFrame>
        <p:nvGraphicFramePr>
          <p:cNvPr id="2450" name="对象 2449"/>
          <p:cNvGraphicFramePr/>
          <p:nvPr/>
        </p:nvGraphicFramePr>
        <p:xfrm>
          <a:off x="4931728" y="692468"/>
          <a:ext cx="3968750" cy="1065212"/>
        </p:xfrm>
        <a:graphic>
          <a:graphicData uri="http://schemas.openxmlformats.org/presentationml/2006/ole">
            <mc:AlternateContent xmlns:mc="http://schemas.openxmlformats.org/markup-compatibility/2006">
              <mc:Choice xmlns:v="urn:schemas-microsoft-com:vml" Requires="v">
                <p:oleObj spid="_x0000_s38916" r:id="rId5" imgW="1340485" imgH="698500" progId="Equation.3">
                  <p:embed/>
                </p:oleObj>
              </mc:Choice>
              <mc:Fallback>
                <p:oleObj r:id="rId5" imgW="1340485" imgH="698500" progId="Equation.3">
                  <p:embed/>
                  <p:pic>
                    <p:nvPicPr>
                      <p:cNvPr id="0" name="图片 3176"/>
                      <p:cNvPicPr/>
                      <p:nvPr/>
                    </p:nvPicPr>
                    <p:blipFill>
                      <a:blip r:embed="rId6"/>
                      <a:stretch>
                        <a:fillRect/>
                      </a:stretch>
                    </p:blipFill>
                    <p:spPr>
                      <a:xfrm>
                        <a:off x="4931728" y="692468"/>
                        <a:ext cx="3968750" cy="1065212"/>
                      </a:xfrm>
                      <a:prstGeom prst="rect">
                        <a:avLst/>
                      </a:prstGeom>
                      <a:noFill/>
                      <a:ln w="38100">
                        <a:noFill/>
                        <a:miter/>
                      </a:ln>
                    </p:spPr>
                  </p:pic>
                </p:oleObj>
              </mc:Fallback>
            </mc:AlternateContent>
          </a:graphicData>
        </a:graphic>
      </p:graphicFrame>
      <p:sp>
        <p:nvSpPr>
          <p:cNvPr id="2451" name="矩形 2450"/>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
        <p:nvSpPr>
          <p:cNvPr id="2452" name="矩形 2451"/>
          <p:cNvSpPr/>
          <p:nvPr/>
        </p:nvSpPr>
        <p:spPr>
          <a:xfrm>
            <a:off x="1114425" y="5589588"/>
            <a:ext cx="3192463" cy="503237"/>
          </a:xfrm>
          <a:prstGeom prst="rect">
            <a:avLst/>
          </a:prstGeom>
          <a:noFill/>
          <a:ln w="12700" cap="flat" cmpd="sng">
            <a:solidFill>
              <a:srgbClr val="FF0000"/>
            </a:solidFill>
            <a:prstDash val="solid"/>
            <a:miter/>
            <a:headEnd type="none" w="med" len="med"/>
            <a:tailEnd type="none" w="med" len="med"/>
          </a:ln>
        </p:spPr>
        <p:txBody>
          <a:bodyPr/>
          <a:lstStyle/>
          <a:p>
            <a:endParaRPr lang="zh-CN" altLang="en-US"/>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449"/>
                                        </p:tgtEl>
                                        <p:attrNameLst>
                                          <p:attrName>style.visibility</p:attrName>
                                        </p:attrNameLst>
                                      </p:cBhvr>
                                      <p:to>
                                        <p:strVal val="visible"/>
                                      </p:to>
                                    </p:set>
                                    <p:anim calcmode="lin" valueType="num">
                                      <p:cBhvr additive="base">
                                        <p:cTn id="7" dur="1000" fill="hold"/>
                                        <p:tgtEl>
                                          <p:spTgt spid="2449"/>
                                        </p:tgtEl>
                                        <p:attrNameLst>
                                          <p:attrName>ppt_x</p:attrName>
                                        </p:attrNameLst>
                                      </p:cBhvr>
                                      <p:tavLst>
                                        <p:tav tm="0">
                                          <p:val>
                                            <p:strVal val="#ppt_x-.2"/>
                                          </p:val>
                                        </p:tav>
                                        <p:tav tm="100000">
                                          <p:val>
                                            <p:strVal val="#ppt_x"/>
                                          </p:val>
                                        </p:tav>
                                      </p:tavLst>
                                    </p:anim>
                                    <p:anim calcmode="lin" valueType="num">
                                      <p:cBhvr additive="base">
                                        <p:cTn id="8" dur="1000" fill="hold"/>
                                        <p:tgtEl>
                                          <p:spTgt spid="2449"/>
                                        </p:tgtEl>
                                        <p:attrNameLst>
                                          <p:attrName>ppt_y</p:attrName>
                                        </p:attrNameLst>
                                      </p:cBhvr>
                                      <p:tavLst>
                                        <p:tav tm="0">
                                          <p:val>
                                            <p:strVal val="#ppt_y"/>
                                          </p:val>
                                        </p:tav>
                                        <p:tav tm="100000">
                                          <p:val>
                                            <p:strVal val="#ppt_y"/>
                                          </p:val>
                                        </p:tav>
                                      </p:tavLst>
                                    </p:anim>
                                    <p:animEffect transition="in" filter="wipe(right)">
                                      <p:cBhvr additive="base">
                                        <p:cTn id="9" dur="1000"/>
                                        <p:tgtEl>
                                          <p:spTgt spid="2449"/>
                                        </p:tgtEl>
                                      </p:cBhvr>
                                    </p:animEffect>
                                  </p:childTnLst>
                                </p:cTn>
                              </p:par>
                              <p:par>
                                <p:cTn id="10" presetID="29" presetClass="entr" presetSubtype="0" fill="hold" nodeType="withEffect">
                                  <p:childTnLst>
                                    <p:set>
                                      <p:cBhvr additive="base">
                                        <p:cTn id="11" dur="1" fill="hold">
                                          <p:stCondLst>
                                            <p:cond delay="0"/>
                                          </p:stCondLst>
                                        </p:cTn>
                                        <p:tgtEl>
                                          <p:spTgt spid="2450"/>
                                        </p:tgtEl>
                                        <p:attrNameLst>
                                          <p:attrName>style.visibility</p:attrName>
                                        </p:attrNameLst>
                                      </p:cBhvr>
                                      <p:to>
                                        <p:strVal val="visible"/>
                                      </p:to>
                                    </p:set>
                                    <p:anim calcmode="lin" valueType="num">
                                      <p:cBhvr additive="base">
                                        <p:cTn id="12" dur="1000" fill="hold"/>
                                        <p:tgtEl>
                                          <p:spTgt spid="2450"/>
                                        </p:tgtEl>
                                        <p:attrNameLst>
                                          <p:attrName>ppt_x</p:attrName>
                                        </p:attrNameLst>
                                      </p:cBhvr>
                                      <p:tavLst>
                                        <p:tav tm="0">
                                          <p:val>
                                            <p:strVal val="#ppt_x-.2"/>
                                          </p:val>
                                        </p:tav>
                                        <p:tav tm="100000">
                                          <p:val>
                                            <p:strVal val="#ppt_x"/>
                                          </p:val>
                                        </p:tav>
                                      </p:tavLst>
                                    </p:anim>
                                    <p:anim calcmode="lin" valueType="num">
                                      <p:cBhvr additive="base">
                                        <p:cTn id="13" dur="1000" fill="hold"/>
                                        <p:tgtEl>
                                          <p:spTgt spid="2450"/>
                                        </p:tgtEl>
                                        <p:attrNameLst>
                                          <p:attrName>ppt_y</p:attrName>
                                        </p:attrNameLst>
                                      </p:cBhvr>
                                      <p:tavLst>
                                        <p:tav tm="0">
                                          <p:val>
                                            <p:strVal val="#ppt_y"/>
                                          </p:val>
                                        </p:tav>
                                        <p:tav tm="100000">
                                          <p:val>
                                            <p:strVal val="#ppt_y"/>
                                          </p:val>
                                        </p:tav>
                                      </p:tavLst>
                                    </p:anim>
                                    <p:animEffect transition="in" filter="wipe(right)">
                                      <p:cBhvr additive="base">
                                        <p:cTn id="14" dur="1000"/>
                                        <p:tgtEl>
                                          <p:spTgt spid="2450"/>
                                        </p:tgtEl>
                                      </p:cBhvr>
                                    </p:animEffect>
                                  </p:childTnLst>
                                </p:cTn>
                              </p:par>
                              <p:par>
                                <p:cTn id="15" presetID="29" presetClass="entr" presetSubtype="0" fill="hold" nodeType="withEffect">
                                  <p:childTnLst>
                                    <p:set>
                                      <p:cBhvr additive="base">
                                        <p:cTn id="16" dur="1" fill="hold">
                                          <p:stCondLst>
                                            <p:cond delay="0"/>
                                          </p:stCondLst>
                                        </p:cTn>
                                        <p:tgtEl>
                                          <p:spTgt spid="2452"/>
                                        </p:tgtEl>
                                        <p:attrNameLst>
                                          <p:attrName>style.visibility</p:attrName>
                                        </p:attrNameLst>
                                      </p:cBhvr>
                                      <p:to>
                                        <p:strVal val="visible"/>
                                      </p:to>
                                    </p:set>
                                    <p:anim calcmode="lin" valueType="num">
                                      <p:cBhvr additive="base">
                                        <p:cTn id="17" dur="1000" fill="hold"/>
                                        <p:tgtEl>
                                          <p:spTgt spid="2452"/>
                                        </p:tgtEl>
                                        <p:attrNameLst>
                                          <p:attrName>ppt_x</p:attrName>
                                        </p:attrNameLst>
                                      </p:cBhvr>
                                      <p:tavLst>
                                        <p:tav tm="0">
                                          <p:val>
                                            <p:strVal val="#ppt_x-.2"/>
                                          </p:val>
                                        </p:tav>
                                        <p:tav tm="100000">
                                          <p:val>
                                            <p:strVal val="#ppt_x"/>
                                          </p:val>
                                        </p:tav>
                                      </p:tavLst>
                                    </p:anim>
                                    <p:anim calcmode="lin" valueType="num">
                                      <p:cBhvr additive="base">
                                        <p:cTn id="18" dur="1000" fill="hold"/>
                                        <p:tgtEl>
                                          <p:spTgt spid="2452"/>
                                        </p:tgtEl>
                                        <p:attrNameLst>
                                          <p:attrName>ppt_y</p:attrName>
                                        </p:attrNameLst>
                                      </p:cBhvr>
                                      <p:tavLst>
                                        <p:tav tm="0">
                                          <p:val>
                                            <p:strVal val="#ppt_y"/>
                                          </p:val>
                                        </p:tav>
                                        <p:tav tm="100000">
                                          <p:val>
                                            <p:strVal val="#ppt_y"/>
                                          </p:val>
                                        </p:tav>
                                      </p:tavLst>
                                    </p:anim>
                                    <p:animEffect transition="in" filter="wipe(right)">
                                      <p:cBhvr additive="base">
                                        <p:cTn id="19" dur="1000"/>
                                        <p:tgtEl>
                                          <p:spTgt spid="2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62</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55" name="标题 2454"/>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56" name="文本占位符 2455"/>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离散信源的</a:t>
            </a:r>
            <a:r>
              <a:rPr lang="zh-CN" altLang="en-US">
                <a:solidFill>
                  <a:srgbClr val="FF0000"/>
                </a:solidFill>
                <a:ea typeface="MingLiU_HKSCS-ExtB" panose="02020500000000000000" charset="-120"/>
              </a:rPr>
              <a:t>信息率失真函数</a:t>
            </a:r>
          </a:p>
          <a:p>
            <a:pPr marL="355600" indent="-355600">
              <a:buClr>
                <a:srgbClr val="993366"/>
              </a:buClr>
              <a:buNone/>
            </a:pPr>
            <a:r>
              <a:rPr lang="zh-CN" altLang="en-US" sz="2400">
                <a:solidFill>
                  <a:srgbClr val="0000CC"/>
                </a:solidFill>
                <a:ea typeface="MingLiU_HKSCS-ExtB" panose="02020500000000000000" charset="-120"/>
              </a:rPr>
              <a:t>第一步：</a:t>
            </a:r>
            <a:r>
              <a:rPr lang="zh-CN" altLang="en-US" sz="2400">
                <a:ea typeface="MingLiU_HKSCS-ExtB" panose="02020500000000000000" charset="-120"/>
              </a:rPr>
              <a:t>求</a:t>
            </a:r>
            <a:r>
              <a:rPr lang="en-US" altLang="zh-CN" sz="2400" i="1">
                <a:ea typeface="MingLiU_HKSCS-ExtB" panose="02020500000000000000" charset="-120"/>
              </a:rPr>
              <a:t>λ</a:t>
            </a:r>
            <a:r>
              <a:rPr lang="en-US" altLang="zh-CN" sz="2400" i="1" baseline="-25000">
                <a:ea typeface="MingLiU_HKSCS-ExtB" panose="02020500000000000000" charset="-120"/>
              </a:rPr>
              <a:t>i</a:t>
            </a:r>
            <a:endParaRPr lang="en-US" altLang="zh-CN">
              <a:ea typeface="MingLiU_HKSCS-ExtB" panose="02020500000000000000" charset="-120"/>
            </a:endParaRPr>
          </a:p>
        </p:txBody>
      </p:sp>
      <p:graphicFrame>
        <p:nvGraphicFramePr>
          <p:cNvPr id="2457" name="对象 2456"/>
          <p:cNvGraphicFramePr/>
          <p:nvPr/>
        </p:nvGraphicFramePr>
        <p:xfrm>
          <a:off x="4040188" y="5084763"/>
          <a:ext cx="4522787" cy="508000"/>
        </p:xfrm>
        <a:graphic>
          <a:graphicData uri="http://schemas.openxmlformats.org/presentationml/2006/ole">
            <mc:AlternateContent xmlns:mc="http://schemas.openxmlformats.org/markup-compatibility/2006">
              <mc:Choice xmlns:v="urn:schemas-microsoft-com:vml" Requires="v">
                <p:oleObj spid="_x0000_s39940" r:id="rId3" imgW="772795" imgH="279400" progId="Equation.3">
                  <p:embed/>
                </p:oleObj>
              </mc:Choice>
              <mc:Fallback>
                <p:oleObj r:id="rId3" imgW="772795" imgH="279400" progId="Equation.3">
                  <p:embed/>
                  <p:pic>
                    <p:nvPicPr>
                      <p:cNvPr id="0" name="图片 3177"/>
                      <p:cNvPicPr/>
                      <p:nvPr/>
                    </p:nvPicPr>
                    <p:blipFill>
                      <a:blip r:embed="rId4"/>
                      <a:stretch>
                        <a:fillRect/>
                      </a:stretch>
                    </p:blipFill>
                    <p:spPr>
                      <a:xfrm>
                        <a:off x="4040188" y="5084763"/>
                        <a:ext cx="4522787" cy="508000"/>
                      </a:xfrm>
                      <a:prstGeom prst="rect">
                        <a:avLst/>
                      </a:prstGeom>
                      <a:noFill/>
                      <a:ln w="38100">
                        <a:noFill/>
                        <a:miter/>
                      </a:ln>
                    </p:spPr>
                  </p:pic>
                </p:oleObj>
              </mc:Fallback>
            </mc:AlternateContent>
          </a:graphicData>
        </a:graphic>
      </p:graphicFrame>
      <p:graphicFrame>
        <p:nvGraphicFramePr>
          <p:cNvPr id="2458" name="对象 2457"/>
          <p:cNvGraphicFramePr/>
          <p:nvPr/>
        </p:nvGraphicFramePr>
        <p:xfrm>
          <a:off x="1314450" y="2492375"/>
          <a:ext cx="4813300" cy="1235075"/>
        </p:xfrm>
        <a:graphic>
          <a:graphicData uri="http://schemas.openxmlformats.org/presentationml/2006/ole">
            <mc:AlternateContent xmlns:mc="http://schemas.openxmlformats.org/markup-compatibility/2006">
              <mc:Choice xmlns:v="urn:schemas-microsoft-com:vml" Requires="v">
                <p:oleObj spid="_x0000_s39941" r:id="rId5" imgW="1605915" imgH="673100" progId="Equation.3">
                  <p:embed/>
                </p:oleObj>
              </mc:Choice>
              <mc:Fallback>
                <p:oleObj r:id="rId5" imgW="1605915" imgH="673100" progId="Equation.3">
                  <p:embed/>
                  <p:pic>
                    <p:nvPicPr>
                      <p:cNvPr id="0" name="图片 3179"/>
                      <p:cNvPicPr/>
                      <p:nvPr/>
                    </p:nvPicPr>
                    <p:blipFill>
                      <a:blip r:embed="rId6"/>
                      <a:stretch>
                        <a:fillRect/>
                      </a:stretch>
                    </p:blipFill>
                    <p:spPr>
                      <a:xfrm>
                        <a:off x="1314450" y="2492375"/>
                        <a:ext cx="4813300" cy="1235075"/>
                      </a:xfrm>
                      <a:prstGeom prst="rect">
                        <a:avLst/>
                      </a:prstGeom>
                      <a:noFill/>
                      <a:ln w="38100">
                        <a:noFill/>
                        <a:miter/>
                      </a:ln>
                    </p:spPr>
                  </p:pic>
                </p:oleObj>
              </mc:Fallback>
            </mc:AlternateContent>
          </a:graphicData>
        </a:graphic>
      </p:graphicFrame>
      <p:sp>
        <p:nvSpPr>
          <p:cNvPr id="2459" name="矩形 2458"/>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graphicFrame>
        <p:nvGraphicFramePr>
          <p:cNvPr id="2460" name="对象 2459"/>
          <p:cNvGraphicFramePr/>
          <p:nvPr/>
        </p:nvGraphicFramePr>
        <p:xfrm>
          <a:off x="1381125" y="3860800"/>
          <a:ext cx="7085013" cy="800100"/>
        </p:xfrm>
        <a:graphic>
          <a:graphicData uri="http://schemas.openxmlformats.org/presentationml/2006/ole">
            <mc:AlternateContent xmlns:mc="http://schemas.openxmlformats.org/markup-compatibility/2006">
              <mc:Choice xmlns:v="urn:schemas-microsoft-com:vml" Requires="v">
                <p:oleObj spid="_x0000_s39942" r:id="rId7" imgW="932180" imgH="431800" progId="Equation.3">
                  <p:embed/>
                </p:oleObj>
              </mc:Choice>
              <mc:Fallback>
                <p:oleObj r:id="rId7" imgW="932180" imgH="431800" progId="Equation.3">
                  <p:embed/>
                  <p:pic>
                    <p:nvPicPr>
                      <p:cNvPr id="0" name="图片 3180"/>
                      <p:cNvPicPr/>
                      <p:nvPr/>
                    </p:nvPicPr>
                    <p:blipFill>
                      <a:blip r:embed="rId8"/>
                      <a:stretch>
                        <a:fillRect/>
                      </a:stretch>
                    </p:blipFill>
                    <p:spPr>
                      <a:xfrm>
                        <a:off x="1381125" y="3860800"/>
                        <a:ext cx="7085013" cy="800100"/>
                      </a:xfrm>
                      <a:prstGeom prst="rect">
                        <a:avLst/>
                      </a:prstGeom>
                      <a:noFill/>
                      <a:ln w="38100">
                        <a:noFill/>
                        <a:miter/>
                      </a:ln>
                    </p:spPr>
                  </p:pic>
                </p:oleObj>
              </mc:Fallback>
            </mc:AlternateContent>
          </a:graphicData>
        </a:graphic>
      </p:graphicFrame>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457"/>
                                        </p:tgtEl>
                                        <p:attrNameLst>
                                          <p:attrName>style.visibility</p:attrName>
                                        </p:attrNameLst>
                                      </p:cBhvr>
                                      <p:to>
                                        <p:strVal val="visible"/>
                                      </p:to>
                                    </p:set>
                                    <p:anim calcmode="lin" valueType="num">
                                      <p:cBhvr additive="base">
                                        <p:cTn id="7" dur="1000" fill="hold"/>
                                        <p:tgtEl>
                                          <p:spTgt spid="2457"/>
                                        </p:tgtEl>
                                        <p:attrNameLst>
                                          <p:attrName>ppt_x</p:attrName>
                                        </p:attrNameLst>
                                      </p:cBhvr>
                                      <p:tavLst>
                                        <p:tav tm="0">
                                          <p:val>
                                            <p:strVal val="#ppt_x-.2"/>
                                          </p:val>
                                        </p:tav>
                                        <p:tav tm="100000">
                                          <p:val>
                                            <p:strVal val="#ppt_x"/>
                                          </p:val>
                                        </p:tav>
                                      </p:tavLst>
                                    </p:anim>
                                    <p:anim calcmode="lin" valueType="num">
                                      <p:cBhvr additive="base">
                                        <p:cTn id="8" dur="1000" fill="hold"/>
                                        <p:tgtEl>
                                          <p:spTgt spid="2457"/>
                                        </p:tgtEl>
                                        <p:attrNameLst>
                                          <p:attrName>ppt_y</p:attrName>
                                        </p:attrNameLst>
                                      </p:cBhvr>
                                      <p:tavLst>
                                        <p:tav tm="0">
                                          <p:val>
                                            <p:strVal val="#ppt_y"/>
                                          </p:val>
                                        </p:tav>
                                        <p:tav tm="100000">
                                          <p:val>
                                            <p:strVal val="#ppt_y"/>
                                          </p:val>
                                        </p:tav>
                                      </p:tavLst>
                                    </p:anim>
                                    <p:animEffect transition="in" filter="wipe(right)">
                                      <p:cBhvr additive="base">
                                        <p:cTn id="9" dur="1000"/>
                                        <p:tgtEl>
                                          <p:spTgt spid="2457"/>
                                        </p:tgtEl>
                                      </p:cBhvr>
                                    </p:animEffect>
                                  </p:childTnLst>
                                </p:cTn>
                              </p:par>
                              <p:par>
                                <p:cTn id="10" presetID="29" presetClass="entr" presetSubtype="0" fill="hold" nodeType="withEffect">
                                  <p:childTnLst>
                                    <p:set>
                                      <p:cBhvr additive="base">
                                        <p:cTn id="11" dur="1" fill="hold">
                                          <p:stCondLst>
                                            <p:cond delay="0"/>
                                          </p:stCondLst>
                                        </p:cTn>
                                        <p:tgtEl>
                                          <p:spTgt spid="2458"/>
                                        </p:tgtEl>
                                        <p:attrNameLst>
                                          <p:attrName>style.visibility</p:attrName>
                                        </p:attrNameLst>
                                      </p:cBhvr>
                                      <p:to>
                                        <p:strVal val="visible"/>
                                      </p:to>
                                    </p:set>
                                    <p:anim calcmode="lin" valueType="num">
                                      <p:cBhvr additive="base">
                                        <p:cTn id="12" dur="1000" fill="hold"/>
                                        <p:tgtEl>
                                          <p:spTgt spid="2458"/>
                                        </p:tgtEl>
                                        <p:attrNameLst>
                                          <p:attrName>ppt_x</p:attrName>
                                        </p:attrNameLst>
                                      </p:cBhvr>
                                      <p:tavLst>
                                        <p:tav tm="0">
                                          <p:val>
                                            <p:strVal val="#ppt_x-.2"/>
                                          </p:val>
                                        </p:tav>
                                        <p:tav tm="100000">
                                          <p:val>
                                            <p:strVal val="#ppt_x"/>
                                          </p:val>
                                        </p:tav>
                                      </p:tavLst>
                                    </p:anim>
                                    <p:anim calcmode="lin" valueType="num">
                                      <p:cBhvr additive="base">
                                        <p:cTn id="13" dur="1000" fill="hold"/>
                                        <p:tgtEl>
                                          <p:spTgt spid="2458"/>
                                        </p:tgtEl>
                                        <p:attrNameLst>
                                          <p:attrName>ppt_y</p:attrName>
                                        </p:attrNameLst>
                                      </p:cBhvr>
                                      <p:tavLst>
                                        <p:tav tm="0">
                                          <p:val>
                                            <p:strVal val="#ppt_y"/>
                                          </p:val>
                                        </p:tav>
                                        <p:tav tm="100000">
                                          <p:val>
                                            <p:strVal val="#ppt_y"/>
                                          </p:val>
                                        </p:tav>
                                      </p:tavLst>
                                    </p:anim>
                                    <p:animEffect transition="in" filter="wipe(right)">
                                      <p:cBhvr additive="base">
                                        <p:cTn id="14" dur="1000"/>
                                        <p:tgtEl>
                                          <p:spTgt spid="2458"/>
                                        </p:tgtEl>
                                      </p:cBhvr>
                                    </p:animEffect>
                                  </p:childTnLst>
                                </p:cTn>
                              </p:par>
                              <p:par>
                                <p:cTn id="15" presetID="29" presetClass="entr" presetSubtype="0" fill="hold" nodeType="withEffect">
                                  <p:childTnLst>
                                    <p:set>
                                      <p:cBhvr additive="base">
                                        <p:cTn id="16" dur="1" fill="hold">
                                          <p:stCondLst>
                                            <p:cond delay="0"/>
                                          </p:stCondLst>
                                        </p:cTn>
                                        <p:tgtEl>
                                          <p:spTgt spid="2456">
                                            <p:txEl>
                                              <p:pRg st="1" end="1"/>
                                            </p:txEl>
                                          </p:spTgt>
                                        </p:tgtEl>
                                        <p:attrNameLst>
                                          <p:attrName>style.visibility</p:attrName>
                                        </p:attrNameLst>
                                      </p:cBhvr>
                                      <p:to>
                                        <p:strVal val="visible"/>
                                      </p:to>
                                    </p:set>
                                    <p:anim calcmode="lin" valueType="num">
                                      <p:cBhvr additive="base">
                                        <p:cTn id="17" dur="1000" fill="hold"/>
                                        <p:tgtEl>
                                          <p:spTgt spid="2456">
                                            <p:txEl>
                                              <p:pRg st="1" end="1"/>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456">
                                            <p:txEl>
                                              <p:pRg st="1" end="1"/>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456">
                                            <p:txEl>
                                              <p:pRg st="1" end="1"/>
                                            </p:txEl>
                                          </p:spTgt>
                                        </p:tgtEl>
                                      </p:cBhvr>
                                    </p:animEffect>
                                  </p:childTnLst>
                                </p:cTn>
                              </p:par>
                              <p:par>
                                <p:cTn id="20" presetID="29" presetClass="entr" presetSubtype="0" fill="hold" nodeType="withEffect">
                                  <p:childTnLst>
                                    <p:set>
                                      <p:cBhvr additive="base">
                                        <p:cTn id="21" dur="1" fill="hold">
                                          <p:stCondLst>
                                            <p:cond delay="0"/>
                                          </p:stCondLst>
                                        </p:cTn>
                                        <p:tgtEl>
                                          <p:spTgt spid="2460"/>
                                        </p:tgtEl>
                                        <p:attrNameLst>
                                          <p:attrName>style.visibility</p:attrName>
                                        </p:attrNameLst>
                                      </p:cBhvr>
                                      <p:to>
                                        <p:strVal val="visible"/>
                                      </p:to>
                                    </p:set>
                                    <p:anim calcmode="lin" valueType="num">
                                      <p:cBhvr additive="base">
                                        <p:cTn id="22" dur="1000" fill="hold"/>
                                        <p:tgtEl>
                                          <p:spTgt spid="2460"/>
                                        </p:tgtEl>
                                        <p:attrNameLst>
                                          <p:attrName>ppt_x</p:attrName>
                                        </p:attrNameLst>
                                      </p:cBhvr>
                                      <p:tavLst>
                                        <p:tav tm="0">
                                          <p:val>
                                            <p:strVal val="#ppt_x-.2"/>
                                          </p:val>
                                        </p:tav>
                                        <p:tav tm="100000">
                                          <p:val>
                                            <p:strVal val="#ppt_x"/>
                                          </p:val>
                                        </p:tav>
                                      </p:tavLst>
                                    </p:anim>
                                    <p:anim calcmode="lin" valueType="num">
                                      <p:cBhvr additive="base">
                                        <p:cTn id="23" dur="1000" fill="hold"/>
                                        <p:tgtEl>
                                          <p:spTgt spid="2460"/>
                                        </p:tgtEl>
                                        <p:attrNameLst>
                                          <p:attrName>ppt_y</p:attrName>
                                        </p:attrNameLst>
                                      </p:cBhvr>
                                      <p:tavLst>
                                        <p:tav tm="0">
                                          <p:val>
                                            <p:strVal val="#ppt_y"/>
                                          </p:val>
                                        </p:tav>
                                        <p:tav tm="100000">
                                          <p:val>
                                            <p:strVal val="#ppt_y"/>
                                          </p:val>
                                        </p:tav>
                                      </p:tavLst>
                                    </p:anim>
                                    <p:animEffect transition="in" filter="wipe(right)">
                                      <p:cBhvr additive="base">
                                        <p:cTn id="24" dur="1000"/>
                                        <p:tgtEl>
                                          <p:spTgt spid="2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63</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63" name="标题 2462"/>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64" name="文本占位符 2463"/>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离散信源的</a:t>
            </a:r>
            <a:r>
              <a:rPr lang="zh-CN" altLang="en-US">
                <a:solidFill>
                  <a:srgbClr val="FF0000"/>
                </a:solidFill>
                <a:ea typeface="MingLiU_HKSCS-ExtB" panose="02020500000000000000" charset="-120"/>
              </a:rPr>
              <a:t>信息率失真函数</a:t>
            </a:r>
          </a:p>
          <a:p>
            <a:pPr marL="355600" indent="-355600">
              <a:buClr>
                <a:srgbClr val="993366"/>
              </a:buClr>
              <a:buNone/>
            </a:pPr>
            <a:r>
              <a:rPr lang="zh-CN" altLang="en-US" sz="2400">
                <a:solidFill>
                  <a:srgbClr val="0000CC"/>
                </a:solidFill>
                <a:ea typeface="MingLiU_HKSCS-ExtB" panose="02020500000000000000" charset="-120"/>
              </a:rPr>
              <a:t>第二步：</a:t>
            </a:r>
            <a:r>
              <a:rPr lang="zh-CN" altLang="en-US" sz="2400">
                <a:ea typeface="MingLiU_HKSCS-ExtB" panose="02020500000000000000" charset="-120"/>
              </a:rPr>
              <a:t>求 </a:t>
            </a:r>
            <a:r>
              <a:rPr lang="en-US" altLang="zh-CN" sz="2400" i="1">
                <a:ea typeface="MingLiU_HKSCS-ExtB" panose="02020500000000000000" charset="-120"/>
              </a:rPr>
              <a:t>p</a:t>
            </a:r>
            <a:r>
              <a:rPr lang="en-US" altLang="zh-CN" sz="2400">
                <a:ea typeface="MingLiU_HKSCS-ExtB" panose="02020500000000000000" charset="-120"/>
              </a:rPr>
              <a:t>(</a:t>
            </a:r>
            <a:r>
              <a:rPr lang="en-US" altLang="zh-CN" sz="2400" i="1">
                <a:ea typeface="MingLiU_HKSCS-ExtB" panose="02020500000000000000" charset="-120"/>
              </a:rPr>
              <a:t>y</a:t>
            </a:r>
            <a:r>
              <a:rPr lang="en-US" altLang="zh-CN" sz="2400" i="1" baseline="-25000">
                <a:ea typeface="MingLiU_HKSCS-ExtB" panose="02020500000000000000" charset="-120"/>
              </a:rPr>
              <a:t>j</a:t>
            </a:r>
            <a:r>
              <a:rPr lang="en-US" altLang="zh-CN" sz="2400">
                <a:ea typeface="MingLiU_HKSCS-ExtB" panose="02020500000000000000" charset="-120"/>
              </a:rPr>
              <a:t>)</a:t>
            </a:r>
          </a:p>
        </p:txBody>
      </p:sp>
      <p:graphicFrame>
        <p:nvGraphicFramePr>
          <p:cNvPr id="2465" name="对象 2464"/>
          <p:cNvGraphicFramePr/>
          <p:nvPr/>
        </p:nvGraphicFramePr>
        <p:xfrm>
          <a:off x="1182688" y="4116388"/>
          <a:ext cx="6248400" cy="1971675"/>
        </p:xfrm>
        <a:graphic>
          <a:graphicData uri="http://schemas.openxmlformats.org/presentationml/2006/ole">
            <mc:AlternateContent xmlns:mc="http://schemas.openxmlformats.org/markup-compatibility/2006">
              <mc:Choice xmlns:v="urn:schemas-microsoft-com:vml" Requires="v">
                <p:oleObj spid="_x0000_s40965" r:id="rId3" imgW="2593340" imgH="1180465" progId="Equation.3">
                  <p:embed/>
                </p:oleObj>
              </mc:Choice>
              <mc:Fallback>
                <p:oleObj r:id="rId3" imgW="2593340" imgH="1180465" progId="Equation.3">
                  <p:embed/>
                  <p:pic>
                    <p:nvPicPr>
                      <p:cNvPr id="0" name="图片 3185"/>
                      <p:cNvPicPr/>
                      <p:nvPr/>
                    </p:nvPicPr>
                    <p:blipFill>
                      <a:blip r:embed="rId4"/>
                      <a:stretch>
                        <a:fillRect/>
                      </a:stretch>
                    </p:blipFill>
                    <p:spPr>
                      <a:xfrm>
                        <a:off x="1182688" y="4116388"/>
                        <a:ext cx="6248400" cy="1971675"/>
                      </a:xfrm>
                      <a:prstGeom prst="rect">
                        <a:avLst/>
                      </a:prstGeom>
                      <a:noFill/>
                      <a:ln w="38100">
                        <a:noFill/>
                        <a:miter/>
                      </a:ln>
                    </p:spPr>
                  </p:pic>
                </p:oleObj>
              </mc:Fallback>
            </mc:AlternateContent>
          </a:graphicData>
        </a:graphic>
      </p:graphicFrame>
      <p:graphicFrame>
        <p:nvGraphicFramePr>
          <p:cNvPr id="2466" name="对象 2465"/>
          <p:cNvGraphicFramePr/>
          <p:nvPr/>
        </p:nvGraphicFramePr>
        <p:xfrm>
          <a:off x="5170488" y="5273675"/>
          <a:ext cx="3656012" cy="747713"/>
        </p:xfrm>
        <a:graphic>
          <a:graphicData uri="http://schemas.openxmlformats.org/presentationml/2006/ole">
            <mc:AlternateContent xmlns:mc="http://schemas.openxmlformats.org/markup-compatibility/2006">
              <mc:Choice xmlns:v="urn:schemas-microsoft-com:vml" Requires="v">
                <p:oleObj spid="_x0000_s40966" r:id="rId5" imgW="895350" imgH="431800" progId="Equation.3">
                  <p:embed/>
                </p:oleObj>
              </mc:Choice>
              <mc:Fallback>
                <p:oleObj r:id="rId5" imgW="895350" imgH="431800" progId="Equation.3">
                  <p:embed/>
                  <p:pic>
                    <p:nvPicPr>
                      <p:cNvPr id="0" name="图片 3184"/>
                      <p:cNvPicPr/>
                      <p:nvPr/>
                    </p:nvPicPr>
                    <p:blipFill>
                      <a:blip r:embed="rId6"/>
                      <a:stretch>
                        <a:fillRect/>
                      </a:stretch>
                    </p:blipFill>
                    <p:spPr>
                      <a:xfrm>
                        <a:off x="5170488" y="5273675"/>
                        <a:ext cx="3656012" cy="747713"/>
                      </a:xfrm>
                      <a:prstGeom prst="rect">
                        <a:avLst/>
                      </a:prstGeom>
                      <a:noFill/>
                      <a:ln w="38100">
                        <a:noFill/>
                        <a:miter/>
                      </a:ln>
                    </p:spPr>
                  </p:pic>
                </p:oleObj>
              </mc:Fallback>
            </mc:AlternateContent>
          </a:graphicData>
        </a:graphic>
      </p:graphicFrame>
      <p:sp>
        <p:nvSpPr>
          <p:cNvPr id="2467" name="矩形 2466"/>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graphicFrame>
        <p:nvGraphicFramePr>
          <p:cNvPr id="2468" name="对象 2467"/>
          <p:cNvGraphicFramePr/>
          <p:nvPr/>
        </p:nvGraphicFramePr>
        <p:xfrm>
          <a:off x="1141413" y="2174875"/>
          <a:ext cx="6697662" cy="1884363"/>
        </p:xfrm>
        <a:graphic>
          <a:graphicData uri="http://schemas.openxmlformats.org/presentationml/2006/ole">
            <mc:AlternateContent xmlns:mc="http://schemas.openxmlformats.org/markup-compatibility/2006">
              <mc:Choice xmlns:v="urn:schemas-microsoft-com:vml" Requires="v">
                <p:oleObj spid="_x0000_s40967" r:id="rId7" imgW="2103755" imgH="1117600" progId="Equation.3">
                  <p:embed/>
                </p:oleObj>
              </mc:Choice>
              <mc:Fallback>
                <p:oleObj r:id="rId7" imgW="2103755" imgH="1117600" progId="Equation.3">
                  <p:embed/>
                  <p:pic>
                    <p:nvPicPr>
                      <p:cNvPr id="0" name="图片 3186"/>
                      <p:cNvPicPr/>
                      <p:nvPr/>
                    </p:nvPicPr>
                    <p:blipFill>
                      <a:blip r:embed="rId8"/>
                      <a:stretch>
                        <a:fillRect/>
                      </a:stretch>
                    </p:blipFill>
                    <p:spPr>
                      <a:xfrm>
                        <a:off x="1141413" y="2174875"/>
                        <a:ext cx="6697662" cy="1884363"/>
                      </a:xfrm>
                      <a:prstGeom prst="rect">
                        <a:avLst/>
                      </a:prstGeom>
                      <a:noFill/>
                      <a:ln w="38100">
                        <a:noFill/>
                        <a:miter/>
                      </a:ln>
                    </p:spPr>
                  </p:pic>
                </p:oleObj>
              </mc:Fallback>
            </mc:AlternateContent>
          </a:graphicData>
        </a:graphic>
      </p:graphicFrame>
      <p:graphicFrame>
        <p:nvGraphicFramePr>
          <p:cNvPr id="2469" name="对象 2468"/>
          <p:cNvGraphicFramePr/>
          <p:nvPr/>
        </p:nvGraphicFramePr>
        <p:xfrm>
          <a:off x="4371975" y="1628775"/>
          <a:ext cx="4524375" cy="508000"/>
        </p:xfrm>
        <a:graphic>
          <a:graphicData uri="http://schemas.openxmlformats.org/presentationml/2006/ole">
            <mc:AlternateContent xmlns:mc="http://schemas.openxmlformats.org/markup-compatibility/2006">
              <mc:Choice xmlns:v="urn:schemas-microsoft-com:vml" Requires="v">
                <p:oleObj spid="_x0000_s40968" r:id="rId9" imgW="772795" imgH="279400" progId="Equation.3">
                  <p:embed/>
                </p:oleObj>
              </mc:Choice>
              <mc:Fallback>
                <p:oleObj r:id="rId9" imgW="772795" imgH="279400" progId="Equation.3">
                  <p:embed/>
                  <p:pic>
                    <p:nvPicPr>
                      <p:cNvPr id="0" name="图片 3187"/>
                      <p:cNvPicPr/>
                      <p:nvPr/>
                    </p:nvPicPr>
                    <p:blipFill>
                      <a:blip r:embed="rId10"/>
                      <a:stretch>
                        <a:fillRect/>
                      </a:stretch>
                    </p:blipFill>
                    <p:spPr>
                      <a:xfrm>
                        <a:off x="4371975" y="1628775"/>
                        <a:ext cx="4524375" cy="508000"/>
                      </a:xfrm>
                      <a:prstGeom prst="rect">
                        <a:avLst/>
                      </a:prstGeom>
                      <a:noFill/>
                      <a:ln w="38100">
                        <a:noFill/>
                        <a:miter/>
                      </a:ln>
                    </p:spPr>
                  </p:pic>
                </p:oleObj>
              </mc:Fallback>
            </mc:AlternateContent>
          </a:graphicData>
        </a:graphic>
      </p:graphicFrame>
      <p:sp>
        <p:nvSpPr>
          <p:cNvPr id="2470" name="矩形 2469"/>
          <p:cNvSpPr/>
          <p:nvPr/>
        </p:nvSpPr>
        <p:spPr>
          <a:xfrm>
            <a:off x="1114425" y="4508500"/>
            <a:ext cx="2725738" cy="1152525"/>
          </a:xfrm>
          <a:prstGeom prst="rect">
            <a:avLst/>
          </a:prstGeom>
          <a:noFill/>
          <a:ln w="12700" cap="flat" cmpd="sng">
            <a:solidFill>
              <a:srgbClr val="FF0000"/>
            </a:solidFill>
            <a:prstDash val="solid"/>
            <a:miter/>
            <a:headEnd type="none" w="med" len="med"/>
            <a:tailEnd type="none" w="med" len="med"/>
          </a:ln>
        </p:spPr>
        <p:txBody>
          <a:bodyPr/>
          <a:lstStyle/>
          <a:p>
            <a:endParaRPr lang="zh-CN" altLang="en-US"/>
          </a:p>
        </p:txBody>
      </p:sp>
      <p:cxnSp>
        <p:nvCxnSpPr>
          <p:cNvPr id="2471" name="直接连接符 2470"/>
          <p:cNvCxnSpPr/>
          <p:nvPr/>
        </p:nvCxnSpPr>
        <p:spPr>
          <a:xfrm>
            <a:off x="915988" y="4076700"/>
            <a:ext cx="7910512" cy="0"/>
          </a:xfrm>
          <a:prstGeom prst="line">
            <a:avLst/>
          </a:prstGeom>
          <a:ln w="12700" cap="flat" cmpd="sng">
            <a:solidFill>
              <a:srgbClr val="0000FF"/>
            </a:solidFill>
            <a:prstDash val="solid"/>
            <a:headEnd type="none" w="med" len="med"/>
            <a:tailEnd type="none" w="med" len="med"/>
          </a:ln>
        </p:spPr>
      </p:cxn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465"/>
                                        </p:tgtEl>
                                        <p:attrNameLst>
                                          <p:attrName>style.visibility</p:attrName>
                                        </p:attrNameLst>
                                      </p:cBhvr>
                                      <p:to>
                                        <p:strVal val="visible"/>
                                      </p:to>
                                    </p:set>
                                    <p:anim calcmode="lin" valueType="num">
                                      <p:cBhvr additive="base">
                                        <p:cTn id="7" dur="1000" fill="hold"/>
                                        <p:tgtEl>
                                          <p:spTgt spid="2465"/>
                                        </p:tgtEl>
                                        <p:attrNameLst>
                                          <p:attrName>ppt_x</p:attrName>
                                        </p:attrNameLst>
                                      </p:cBhvr>
                                      <p:tavLst>
                                        <p:tav tm="0">
                                          <p:val>
                                            <p:strVal val="#ppt_x-.2"/>
                                          </p:val>
                                        </p:tav>
                                        <p:tav tm="100000">
                                          <p:val>
                                            <p:strVal val="#ppt_x"/>
                                          </p:val>
                                        </p:tav>
                                      </p:tavLst>
                                    </p:anim>
                                    <p:anim calcmode="lin" valueType="num">
                                      <p:cBhvr additive="base">
                                        <p:cTn id="8" dur="1000" fill="hold"/>
                                        <p:tgtEl>
                                          <p:spTgt spid="2465"/>
                                        </p:tgtEl>
                                        <p:attrNameLst>
                                          <p:attrName>ppt_y</p:attrName>
                                        </p:attrNameLst>
                                      </p:cBhvr>
                                      <p:tavLst>
                                        <p:tav tm="0">
                                          <p:val>
                                            <p:strVal val="#ppt_y"/>
                                          </p:val>
                                        </p:tav>
                                        <p:tav tm="100000">
                                          <p:val>
                                            <p:strVal val="#ppt_y"/>
                                          </p:val>
                                        </p:tav>
                                      </p:tavLst>
                                    </p:anim>
                                    <p:animEffect transition="in" filter="wipe(right)">
                                      <p:cBhvr additive="base">
                                        <p:cTn id="9" dur="1000"/>
                                        <p:tgtEl>
                                          <p:spTgt spid="2465"/>
                                        </p:tgtEl>
                                      </p:cBhvr>
                                    </p:animEffect>
                                  </p:childTnLst>
                                </p:cTn>
                              </p:par>
                              <p:par>
                                <p:cTn id="10" presetID="29" presetClass="entr" presetSubtype="0" fill="hold" nodeType="withEffect">
                                  <p:childTnLst>
                                    <p:set>
                                      <p:cBhvr additive="base">
                                        <p:cTn id="11" dur="1" fill="hold">
                                          <p:stCondLst>
                                            <p:cond delay="0"/>
                                          </p:stCondLst>
                                        </p:cTn>
                                        <p:tgtEl>
                                          <p:spTgt spid="2464">
                                            <p:txEl>
                                              <p:pRg st="1" end="1"/>
                                            </p:txEl>
                                          </p:spTgt>
                                        </p:tgtEl>
                                        <p:attrNameLst>
                                          <p:attrName>style.visibility</p:attrName>
                                        </p:attrNameLst>
                                      </p:cBhvr>
                                      <p:to>
                                        <p:strVal val="visible"/>
                                      </p:to>
                                    </p:set>
                                    <p:anim calcmode="lin" valueType="num">
                                      <p:cBhvr additive="base">
                                        <p:cTn id="12" dur="1000" fill="hold"/>
                                        <p:tgtEl>
                                          <p:spTgt spid="2464">
                                            <p:txEl>
                                              <p:pRg st="1" end="1"/>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464">
                                            <p:txEl>
                                              <p:pRg st="1" end="1"/>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464">
                                            <p:txEl>
                                              <p:pRg st="1" end="1"/>
                                            </p:txEl>
                                          </p:spTgt>
                                        </p:tgtEl>
                                      </p:cBhvr>
                                    </p:animEffect>
                                  </p:childTnLst>
                                </p:cTn>
                              </p:par>
                              <p:par>
                                <p:cTn id="15" presetID="29" presetClass="entr" presetSubtype="0" fill="hold" nodeType="withEffect">
                                  <p:childTnLst>
                                    <p:set>
                                      <p:cBhvr additive="base">
                                        <p:cTn id="16" dur="1" fill="hold">
                                          <p:stCondLst>
                                            <p:cond delay="0"/>
                                          </p:stCondLst>
                                        </p:cTn>
                                        <p:tgtEl>
                                          <p:spTgt spid="2466"/>
                                        </p:tgtEl>
                                        <p:attrNameLst>
                                          <p:attrName>style.visibility</p:attrName>
                                        </p:attrNameLst>
                                      </p:cBhvr>
                                      <p:to>
                                        <p:strVal val="visible"/>
                                      </p:to>
                                    </p:set>
                                    <p:anim calcmode="lin" valueType="num">
                                      <p:cBhvr additive="base">
                                        <p:cTn id="17" dur="1000" fill="hold"/>
                                        <p:tgtEl>
                                          <p:spTgt spid="2466"/>
                                        </p:tgtEl>
                                        <p:attrNameLst>
                                          <p:attrName>ppt_x</p:attrName>
                                        </p:attrNameLst>
                                      </p:cBhvr>
                                      <p:tavLst>
                                        <p:tav tm="0">
                                          <p:val>
                                            <p:strVal val="#ppt_x-.2"/>
                                          </p:val>
                                        </p:tav>
                                        <p:tav tm="100000">
                                          <p:val>
                                            <p:strVal val="#ppt_x"/>
                                          </p:val>
                                        </p:tav>
                                      </p:tavLst>
                                    </p:anim>
                                    <p:anim calcmode="lin" valueType="num">
                                      <p:cBhvr additive="base">
                                        <p:cTn id="18" dur="1000" fill="hold"/>
                                        <p:tgtEl>
                                          <p:spTgt spid="2466"/>
                                        </p:tgtEl>
                                        <p:attrNameLst>
                                          <p:attrName>ppt_y</p:attrName>
                                        </p:attrNameLst>
                                      </p:cBhvr>
                                      <p:tavLst>
                                        <p:tav tm="0">
                                          <p:val>
                                            <p:strVal val="#ppt_y"/>
                                          </p:val>
                                        </p:tav>
                                        <p:tav tm="100000">
                                          <p:val>
                                            <p:strVal val="#ppt_y"/>
                                          </p:val>
                                        </p:tav>
                                      </p:tavLst>
                                    </p:anim>
                                    <p:animEffect transition="in" filter="wipe(right)">
                                      <p:cBhvr additive="base">
                                        <p:cTn id="19" dur="1000"/>
                                        <p:tgtEl>
                                          <p:spTgt spid="2466"/>
                                        </p:tgtEl>
                                      </p:cBhvr>
                                    </p:animEffect>
                                  </p:childTnLst>
                                </p:cTn>
                              </p:par>
                              <p:par>
                                <p:cTn id="20" presetID="29" presetClass="entr" presetSubtype="0" fill="hold" nodeType="withEffect">
                                  <p:childTnLst>
                                    <p:set>
                                      <p:cBhvr additive="base">
                                        <p:cTn id="21" dur="1" fill="hold">
                                          <p:stCondLst>
                                            <p:cond delay="0"/>
                                          </p:stCondLst>
                                        </p:cTn>
                                        <p:tgtEl>
                                          <p:spTgt spid="2468"/>
                                        </p:tgtEl>
                                        <p:attrNameLst>
                                          <p:attrName>style.visibility</p:attrName>
                                        </p:attrNameLst>
                                      </p:cBhvr>
                                      <p:to>
                                        <p:strVal val="visible"/>
                                      </p:to>
                                    </p:set>
                                    <p:anim calcmode="lin" valueType="num">
                                      <p:cBhvr additive="base">
                                        <p:cTn id="22" dur="1000" fill="hold"/>
                                        <p:tgtEl>
                                          <p:spTgt spid="2468"/>
                                        </p:tgtEl>
                                        <p:attrNameLst>
                                          <p:attrName>ppt_x</p:attrName>
                                        </p:attrNameLst>
                                      </p:cBhvr>
                                      <p:tavLst>
                                        <p:tav tm="0">
                                          <p:val>
                                            <p:strVal val="#ppt_x-.2"/>
                                          </p:val>
                                        </p:tav>
                                        <p:tav tm="100000">
                                          <p:val>
                                            <p:strVal val="#ppt_x"/>
                                          </p:val>
                                        </p:tav>
                                      </p:tavLst>
                                    </p:anim>
                                    <p:anim calcmode="lin" valueType="num">
                                      <p:cBhvr additive="base">
                                        <p:cTn id="23" dur="1000" fill="hold"/>
                                        <p:tgtEl>
                                          <p:spTgt spid="2468"/>
                                        </p:tgtEl>
                                        <p:attrNameLst>
                                          <p:attrName>ppt_y</p:attrName>
                                        </p:attrNameLst>
                                      </p:cBhvr>
                                      <p:tavLst>
                                        <p:tav tm="0">
                                          <p:val>
                                            <p:strVal val="#ppt_y"/>
                                          </p:val>
                                        </p:tav>
                                        <p:tav tm="100000">
                                          <p:val>
                                            <p:strVal val="#ppt_y"/>
                                          </p:val>
                                        </p:tav>
                                      </p:tavLst>
                                    </p:anim>
                                    <p:animEffect transition="in" filter="wipe(right)">
                                      <p:cBhvr additive="base">
                                        <p:cTn id="24" dur="1000"/>
                                        <p:tgtEl>
                                          <p:spTgt spid="2468"/>
                                        </p:tgtEl>
                                      </p:cBhvr>
                                    </p:animEffect>
                                  </p:childTnLst>
                                </p:cTn>
                              </p:par>
                              <p:par>
                                <p:cTn id="25" presetID="29" presetClass="entr" presetSubtype="0" fill="hold" nodeType="withEffect">
                                  <p:childTnLst>
                                    <p:set>
                                      <p:cBhvr additive="base">
                                        <p:cTn id="26" dur="1" fill="hold">
                                          <p:stCondLst>
                                            <p:cond delay="0"/>
                                          </p:stCondLst>
                                        </p:cTn>
                                        <p:tgtEl>
                                          <p:spTgt spid="2469"/>
                                        </p:tgtEl>
                                        <p:attrNameLst>
                                          <p:attrName>style.visibility</p:attrName>
                                        </p:attrNameLst>
                                      </p:cBhvr>
                                      <p:to>
                                        <p:strVal val="visible"/>
                                      </p:to>
                                    </p:set>
                                    <p:anim calcmode="lin" valueType="num">
                                      <p:cBhvr additive="base">
                                        <p:cTn id="27" dur="1000" fill="hold"/>
                                        <p:tgtEl>
                                          <p:spTgt spid="2469"/>
                                        </p:tgtEl>
                                        <p:attrNameLst>
                                          <p:attrName>ppt_x</p:attrName>
                                        </p:attrNameLst>
                                      </p:cBhvr>
                                      <p:tavLst>
                                        <p:tav tm="0">
                                          <p:val>
                                            <p:strVal val="#ppt_x-.2"/>
                                          </p:val>
                                        </p:tav>
                                        <p:tav tm="100000">
                                          <p:val>
                                            <p:strVal val="#ppt_x"/>
                                          </p:val>
                                        </p:tav>
                                      </p:tavLst>
                                    </p:anim>
                                    <p:anim calcmode="lin" valueType="num">
                                      <p:cBhvr additive="base">
                                        <p:cTn id="28" dur="1000" fill="hold"/>
                                        <p:tgtEl>
                                          <p:spTgt spid="2469"/>
                                        </p:tgtEl>
                                        <p:attrNameLst>
                                          <p:attrName>ppt_y</p:attrName>
                                        </p:attrNameLst>
                                      </p:cBhvr>
                                      <p:tavLst>
                                        <p:tav tm="0">
                                          <p:val>
                                            <p:strVal val="#ppt_y"/>
                                          </p:val>
                                        </p:tav>
                                        <p:tav tm="100000">
                                          <p:val>
                                            <p:strVal val="#ppt_y"/>
                                          </p:val>
                                        </p:tav>
                                      </p:tavLst>
                                    </p:anim>
                                    <p:animEffect transition="in" filter="wipe(right)">
                                      <p:cBhvr additive="base">
                                        <p:cTn id="29" dur="1000"/>
                                        <p:tgtEl>
                                          <p:spTgt spid="2469"/>
                                        </p:tgtEl>
                                      </p:cBhvr>
                                    </p:animEffect>
                                  </p:childTnLst>
                                </p:cTn>
                              </p:par>
                              <p:par>
                                <p:cTn id="30" presetID="29" presetClass="entr" presetSubtype="0" fill="hold" nodeType="withEffect">
                                  <p:childTnLst>
                                    <p:set>
                                      <p:cBhvr additive="base">
                                        <p:cTn id="31" dur="1" fill="hold">
                                          <p:stCondLst>
                                            <p:cond delay="0"/>
                                          </p:stCondLst>
                                        </p:cTn>
                                        <p:tgtEl>
                                          <p:spTgt spid="2470"/>
                                        </p:tgtEl>
                                        <p:attrNameLst>
                                          <p:attrName>style.visibility</p:attrName>
                                        </p:attrNameLst>
                                      </p:cBhvr>
                                      <p:to>
                                        <p:strVal val="visible"/>
                                      </p:to>
                                    </p:set>
                                    <p:anim calcmode="lin" valueType="num">
                                      <p:cBhvr additive="base">
                                        <p:cTn id="32" dur="1000" fill="hold"/>
                                        <p:tgtEl>
                                          <p:spTgt spid="2470"/>
                                        </p:tgtEl>
                                        <p:attrNameLst>
                                          <p:attrName>ppt_x</p:attrName>
                                        </p:attrNameLst>
                                      </p:cBhvr>
                                      <p:tavLst>
                                        <p:tav tm="0">
                                          <p:val>
                                            <p:strVal val="#ppt_x-.2"/>
                                          </p:val>
                                        </p:tav>
                                        <p:tav tm="100000">
                                          <p:val>
                                            <p:strVal val="#ppt_x"/>
                                          </p:val>
                                        </p:tav>
                                      </p:tavLst>
                                    </p:anim>
                                    <p:anim calcmode="lin" valueType="num">
                                      <p:cBhvr additive="base">
                                        <p:cTn id="33" dur="1000" fill="hold"/>
                                        <p:tgtEl>
                                          <p:spTgt spid="2470"/>
                                        </p:tgtEl>
                                        <p:attrNameLst>
                                          <p:attrName>ppt_y</p:attrName>
                                        </p:attrNameLst>
                                      </p:cBhvr>
                                      <p:tavLst>
                                        <p:tav tm="0">
                                          <p:val>
                                            <p:strVal val="#ppt_y"/>
                                          </p:val>
                                        </p:tav>
                                        <p:tav tm="100000">
                                          <p:val>
                                            <p:strVal val="#ppt_y"/>
                                          </p:val>
                                        </p:tav>
                                      </p:tavLst>
                                    </p:anim>
                                    <p:animEffect transition="in" filter="wipe(right)">
                                      <p:cBhvr additive="base">
                                        <p:cTn id="34" dur="1000"/>
                                        <p:tgtEl>
                                          <p:spTgt spid="2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64</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74" name="标题 2473"/>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75" name="文本占位符 2474"/>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离散信源的</a:t>
            </a:r>
            <a:r>
              <a:rPr lang="zh-CN" altLang="en-US">
                <a:solidFill>
                  <a:srgbClr val="FF0000"/>
                </a:solidFill>
                <a:ea typeface="MingLiU_HKSCS-ExtB" panose="02020500000000000000" charset="-120"/>
              </a:rPr>
              <a:t>信息率失真函数</a:t>
            </a:r>
          </a:p>
          <a:p>
            <a:pPr marL="355600" indent="-355600">
              <a:buClr>
                <a:srgbClr val="993366"/>
              </a:buClr>
              <a:buNone/>
            </a:pPr>
            <a:r>
              <a:rPr lang="zh-CN" altLang="en-US" sz="2400">
                <a:solidFill>
                  <a:srgbClr val="0000CC"/>
                </a:solidFill>
                <a:ea typeface="MingLiU_HKSCS-ExtB" panose="02020500000000000000" charset="-120"/>
              </a:rPr>
              <a:t>第三步：</a:t>
            </a:r>
            <a:r>
              <a:rPr lang="zh-CN" altLang="en-US" sz="2400">
                <a:ea typeface="MingLiU_HKSCS-ExtB" panose="02020500000000000000" charset="-120"/>
              </a:rPr>
              <a:t>求 </a:t>
            </a:r>
            <a:r>
              <a:rPr lang="en-US" altLang="zh-CN" sz="2400" i="1">
                <a:ea typeface="MingLiU_HKSCS-ExtB" panose="02020500000000000000" charset="-120"/>
              </a:rPr>
              <a:t>p</a:t>
            </a:r>
            <a:r>
              <a:rPr lang="en-US" altLang="zh-CN" sz="2400">
                <a:ea typeface="MingLiU_HKSCS-ExtB" panose="02020500000000000000" charset="-120"/>
              </a:rPr>
              <a:t>(</a:t>
            </a:r>
            <a:r>
              <a:rPr lang="en-US" altLang="zh-CN" sz="2400" i="1">
                <a:ea typeface="MingLiU_HKSCS-ExtB" panose="02020500000000000000" charset="-120"/>
              </a:rPr>
              <a:t>y</a:t>
            </a:r>
            <a:r>
              <a:rPr lang="en-US" altLang="zh-CN" sz="2400" i="1" baseline="-25000">
                <a:ea typeface="MingLiU_HKSCS-ExtB" panose="02020500000000000000" charset="-120"/>
              </a:rPr>
              <a:t>j</a:t>
            </a:r>
            <a:r>
              <a:rPr lang="en-US" altLang="zh-CN" sz="2400">
                <a:ea typeface="MingLiU_HKSCS-ExtB" panose="02020500000000000000" charset="-120"/>
              </a:rPr>
              <a:t>/</a:t>
            </a:r>
            <a:r>
              <a:rPr lang="en-US" altLang="zh-CN" sz="2400" i="1">
                <a:ea typeface="MingLiU_HKSCS-ExtB" panose="02020500000000000000" charset="-120"/>
              </a:rPr>
              <a:t>x</a:t>
            </a:r>
            <a:r>
              <a:rPr lang="en-US" altLang="zh-CN" sz="2400" i="1" baseline="-25000">
                <a:ea typeface="MingLiU_HKSCS-ExtB" panose="02020500000000000000" charset="-120"/>
              </a:rPr>
              <a:t>i</a:t>
            </a:r>
            <a:r>
              <a:rPr lang="en-US" altLang="zh-CN" sz="2400">
                <a:ea typeface="MingLiU_HKSCS-ExtB" panose="02020500000000000000" charset="-120"/>
              </a:rPr>
              <a:t>)</a:t>
            </a:r>
          </a:p>
          <a:p>
            <a:pPr marL="355600" indent="-355600">
              <a:buClr>
                <a:srgbClr val="993366"/>
              </a:buClr>
              <a:buNone/>
            </a:pPr>
            <a:r>
              <a:rPr lang="en-US" altLang="zh-CN" sz="2400">
                <a:ea typeface="MingLiU_HKSCS-ExtB" panose="02020500000000000000" charset="-120"/>
              </a:rPr>
              <a:t>     </a:t>
            </a:r>
            <a:r>
              <a:rPr lang="zh-CN" altLang="en-US" sz="2400">
                <a:ea typeface="MingLiU_HKSCS-ExtB" panose="02020500000000000000" charset="-120"/>
              </a:rPr>
              <a:t>将解出的 </a:t>
            </a:r>
            <a:r>
              <a:rPr lang="en-US" altLang="zh-CN" sz="2400">
                <a:ea typeface="MingLiU_HKSCS-ExtB" panose="02020500000000000000" charset="-120"/>
              </a:rPr>
              <a:t>λ</a:t>
            </a:r>
            <a:r>
              <a:rPr lang="en-US" altLang="zh-CN" sz="2400" i="1" baseline="-25000">
                <a:ea typeface="MingLiU_HKSCS-ExtB" panose="02020500000000000000" charset="-120"/>
              </a:rPr>
              <a:t>i </a:t>
            </a:r>
            <a:r>
              <a:rPr lang="zh-CN" altLang="en-US" sz="2400">
                <a:ea typeface="MingLiU_HKSCS-ExtB" panose="02020500000000000000" charset="-120"/>
              </a:rPr>
              <a:t>和求 </a:t>
            </a:r>
            <a:r>
              <a:rPr lang="en-US" altLang="zh-CN" sz="2400" i="1">
                <a:ea typeface="MingLiU_HKSCS-ExtB" panose="02020500000000000000" charset="-120"/>
              </a:rPr>
              <a:t>p</a:t>
            </a:r>
            <a:r>
              <a:rPr lang="en-US" altLang="zh-CN" sz="2400">
                <a:ea typeface="MingLiU_HKSCS-ExtB" panose="02020500000000000000" charset="-120"/>
              </a:rPr>
              <a:t>(</a:t>
            </a:r>
            <a:r>
              <a:rPr lang="en-US" altLang="zh-CN" sz="2400" i="1">
                <a:ea typeface="MingLiU_HKSCS-ExtB" panose="02020500000000000000" charset="-120"/>
              </a:rPr>
              <a:t>y</a:t>
            </a:r>
            <a:r>
              <a:rPr lang="en-US" altLang="zh-CN" sz="2400" i="1" baseline="-25000">
                <a:ea typeface="MingLiU_HKSCS-ExtB" panose="02020500000000000000" charset="-120"/>
              </a:rPr>
              <a:t>j</a:t>
            </a:r>
            <a:r>
              <a:rPr lang="en-US" altLang="zh-CN" sz="2400">
                <a:ea typeface="MingLiU_HKSCS-ExtB" panose="02020500000000000000" charset="-120"/>
              </a:rPr>
              <a:t>) </a:t>
            </a:r>
            <a:r>
              <a:rPr lang="zh-CN" altLang="en-US" sz="2400">
                <a:ea typeface="MingLiU_HKSCS-ExtB" panose="02020500000000000000" charset="-120"/>
              </a:rPr>
              <a:t>代入式 </a:t>
            </a:r>
            <a:r>
              <a:rPr lang="en-US" altLang="zh-CN" sz="2400">
                <a:ea typeface="MingLiU_HKSCS-ExtB" panose="02020500000000000000" charset="-120"/>
              </a:rPr>
              <a:t>(4.2.10)</a:t>
            </a:r>
            <a:r>
              <a:rPr lang="zh-CN" altLang="en-US" sz="2400">
                <a:ea typeface="MingLiU_HKSCS-ExtB" panose="02020500000000000000" charset="-120"/>
              </a:rPr>
              <a:t>，可求得 </a:t>
            </a:r>
            <a:r>
              <a:rPr lang="en-US" altLang="zh-CN" sz="2400" i="1">
                <a:ea typeface="MingLiU_HKSCS-ExtB" panose="02020500000000000000" charset="-120"/>
              </a:rPr>
              <a:t>m</a:t>
            </a:r>
            <a:r>
              <a:rPr lang="en-US" altLang="zh-CN" sz="2400">
                <a:ea typeface="MingLiU_HKSCS-ExtB" panose="02020500000000000000" charset="-120"/>
              </a:rPr>
              <a:t>·</a:t>
            </a:r>
            <a:r>
              <a:rPr lang="en-US" altLang="zh-CN" sz="2400" i="1">
                <a:ea typeface="MingLiU_HKSCS-ExtB" panose="02020500000000000000" charset="-120"/>
              </a:rPr>
              <a:t>n </a:t>
            </a:r>
            <a:r>
              <a:rPr lang="zh-CN" altLang="en-US" sz="2400">
                <a:ea typeface="MingLiU_HKSCS-ExtB" panose="02020500000000000000" charset="-120"/>
              </a:rPr>
              <a:t>个以 </a:t>
            </a:r>
            <a:r>
              <a:rPr lang="en-US" altLang="zh-CN" sz="2400" i="1">
                <a:ea typeface="MingLiU_HKSCS-ExtB" panose="02020500000000000000" charset="-120"/>
              </a:rPr>
              <a:t>S </a:t>
            </a:r>
            <a:r>
              <a:rPr lang="zh-CN" altLang="en-US" sz="2400">
                <a:ea typeface="MingLiU_HKSCS-ExtB" panose="02020500000000000000" charset="-120"/>
              </a:rPr>
              <a:t>为参量的 </a:t>
            </a:r>
            <a:r>
              <a:rPr lang="en-US" altLang="zh-CN" sz="2400" i="1">
                <a:ea typeface="MingLiU_HKSCS-ExtB" panose="02020500000000000000" charset="-120"/>
              </a:rPr>
              <a:t>p</a:t>
            </a:r>
            <a:r>
              <a:rPr lang="en-US" altLang="zh-CN" sz="2400">
                <a:ea typeface="MingLiU_HKSCS-ExtB" panose="02020500000000000000" charset="-120"/>
              </a:rPr>
              <a:t>(</a:t>
            </a:r>
            <a:r>
              <a:rPr lang="en-US" altLang="zh-CN" sz="2400" i="1">
                <a:ea typeface="MingLiU_HKSCS-ExtB" panose="02020500000000000000" charset="-120"/>
              </a:rPr>
              <a:t>y</a:t>
            </a:r>
            <a:r>
              <a:rPr lang="en-US" altLang="zh-CN" sz="2400" i="1" baseline="-25000">
                <a:ea typeface="MingLiU_HKSCS-ExtB" panose="02020500000000000000" charset="-120"/>
              </a:rPr>
              <a:t>j</a:t>
            </a:r>
            <a:r>
              <a:rPr lang="en-US" altLang="zh-CN" sz="2400">
                <a:ea typeface="MingLiU_HKSCS-ExtB" panose="02020500000000000000" charset="-120"/>
              </a:rPr>
              <a:t>/</a:t>
            </a:r>
            <a:r>
              <a:rPr lang="en-US" altLang="zh-CN" sz="2400" i="1">
                <a:ea typeface="MingLiU_HKSCS-ExtB" panose="02020500000000000000" charset="-120"/>
              </a:rPr>
              <a:t>x</a:t>
            </a:r>
            <a:r>
              <a:rPr lang="en-US" altLang="zh-CN" sz="2400" i="1" baseline="-25000">
                <a:ea typeface="MingLiU_HKSCS-ExtB" panose="02020500000000000000" charset="-120"/>
              </a:rPr>
              <a:t>i</a:t>
            </a:r>
            <a:r>
              <a:rPr lang="en-US" altLang="zh-CN" sz="2400">
                <a:ea typeface="MingLiU_HKSCS-ExtB" panose="02020500000000000000" charset="-120"/>
              </a:rPr>
              <a:t>)</a:t>
            </a:r>
            <a:r>
              <a:rPr lang="zh-CN" altLang="en-US" sz="2400">
                <a:ea typeface="MingLiU_HKSCS-ExtB" panose="02020500000000000000" charset="-120"/>
              </a:rPr>
              <a:t>。</a:t>
            </a:r>
            <a:endParaRPr lang="zh-CN" altLang="en-US" sz="2400">
              <a:solidFill>
                <a:schemeClr val="bg1"/>
              </a:solidFill>
              <a:ea typeface="MingLiU_HKSCS-ExtB" panose="02020500000000000000" charset="-120"/>
            </a:endParaRPr>
          </a:p>
        </p:txBody>
      </p:sp>
      <p:graphicFrame>
        <p:nvGraphicFramePr>
          <p:cNvPr id="2476" name="对象 2475"/>
          <p:cNvGraphicFramePr/>
          <p:nvPr/>
        </p:nvGraphicFramePr>
        <p:xfrm>
          <a:off x="2771775" y="3933190"/>
          <a:ext cx="4057650" cy="484188"/>
        </p:xfrm>
        <a:graphic>
          <a:graphicData uri="http://schemas.openxmlformats.org/presentationml/2006/ole">
            <mc:AlternateContent xmlns:mc="http://schemas.openxmlformats.org/markup-compatibility/2006">
              <mc:Choice xmlns:v="urn:schemas-microsoft-com:vml" Requires="v">
                <p:oleObj spid="_x0000_s41986" r:id="rId3" imgW="771525" imgH="279400" progId="Equation.3">
                  <p:embed/>
                </p:oleObj>
              </mc:Choice>
              <mc:Fallback>
                <p:oleObj r:id="rId3" imgW="771525" imgH="279400" progId="Equation.3">
                  <p:embed/>
                  <p:pic>
                    <p:nvPicPr>
                      <p:cNvPr id="0" name="图片 3181"/>
                      <p:cNvPicPr/>
                      <p:nvPr/>
                    </p:nvPicPr>
                    <p:blipFill>
                      <a:blip r:embed="rId4"/>
                      <a:stretch>
                        <a:fillRect/>
                      </a:stretch>
                    </p:blipFill>
                    <p:spPr>
                      <a:xfrm>
                        <a:off x="2771775" y="3933190"/>
                        <a:ext cx="4057650" cy="484188"/>
                      </a:xfrm>
                      <a:prstGeom prst="rect">
                        <a:avLst/>
                      </a:prstGeom>
                      <a:noFill/>
                      <a:ln w="38100">
                        <a:noFill/>
                        <a:miter/>
                      </a:ln>
                    </p:spPr>
                  </p:pic>
                </p:oleObj>
              </mc:Fallback>
            </mc:AlternateContent>
          </a:graphicData>
        </a:graphic>
      </p:graphicFrame>
      <p:sp>
        <p:nvSpPr>
          <p:cNvPr id="2477" name="矩形 2476"/>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476"/>
                                        </p:tgtEl>
                                        <p:attrNameLst>
                                          <p:attrName>style.visibility</p:attrName>
                                        </p:attrNameLst>
                                      </p:cBhvr>
                                      <p:to>
                                        <p:strVal val="visible"/>
                                      </p:to>
                                    </p:set>
                                    <p:anim calcmode="lin" valueType="num">
                                      <p:cBhvr additive="base">
                                        <p:cTn id="7" dur="1000" fill="hold"/>
                                        <p:tgtEl>
                                          <p:spTgt spid="2476"/>
                                        </p:tgtEl>
                                        <p:attrNameLst>
                                          <p:attrName>ppt_x</p:attrName>
                                        </p:attrNameLst>
                                      </p:cBhvr>
                                      <p:tavLst>
                                        <p:tav tm="0">
                                          <p:val>
                                            <p:strVal val="#ppt_x-.2"/>
                                          </p:val>
                                        </p:tav>
                                        <p:tav tm="100000">
                                          <p:val>
                                            <p:strVal val="#ppt_x"/>
                                          </p:val>
                                        </p:tav>
                                      </p:tavLst>
                                    </p:anim>
                                    <p:anim calcmode="lin" valueType="num">
                                      <p:cBhvr additive="base">
                                        <p:cTn id="8" dur="1000" fill="hold"/>
                                        <p:tgtEl>
                                          <p:spTgt spid="2476"/>
                                        </p:tgtEl>
                                        <p:attrNameLst>
                                          <p:attrName>ppt_y</p:attrName>
                                        </p:attrNameLst>
                                      </p:cBhvr>
                                      <p:tavLst>
                                        <p:tav tm="0">
                                          <p:val>
                                            <p:strVal val="#ppt_y"/>
                                          </p:val>
                                        </p:tav>
                                        <p:tav tm="100000">
                                          <p:val>
                                            <p:strVal val="#ppt_y"/>
                                          </p:val>
                                        </p:tav>
                                      </p:tavLst>
                                    </p:anim>
                                    <p:animEffect transition="in" filter="wipe(right)">
                                      <p:cBhvr additive="base">
                                        <p:cTn id="9" dur="1000"/>
                                        <p:tgtEl>
                                          <p:spTgt spid="2476"/>
                                        </p:tgtEl>
                                      </p:cBhvr>
                                    </p:animEffect>
                                  </p:childTnLst>
                                </p:cTn>
                              </p:par>
                              <p:par>
                                <p:cTn id="10" presetID="29" presetClass="entr" presetSubtype="0" fill="hold" nodeType="withEffect">
                                  <p:childTnLst>
                                    <p:set>
                                      <p:cBhvr additive="base">
                                        <p:cTn id="11" dur="1" fill="hold">
                                          <p:stCondLst>
                                            <p:cond delay="0"/>
                                          </p:stCondLst>
                                        </p:cTn>
                                        <p:tgtEl>
                                          <p:spTgt spid="2475">
                                            <p:txEl>
                                              <p:pRg st="1" end="1"/>
                                            </p:txEl>
                                          </p:spTgt>
                                        </p:tgtEl>
                                        <p:attrNameLst>
                                          <p:attrName>style.visibility</p:attrName>
                                        </p:attrNameLst>
                                      </p:cBhvr>
                                      <p:to>
                                        <p:strVal val="visible"/>
                                      </p:to>
                                    </p:set>
                                    <p:anim calcmode="lin" valueType="num">
                                      <p:cBhvr additive="base">
                                        <p:cTn id="12" dur="1000" fill="hold"/>
                                        <p:tgtEl>
                                          <p:spTgt spid="2475">
                                            <p:txEl>
                                              <p:pRg st="1" end="1"/>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475">
                                            <p:txEl>
                                              <p:pRg st="1" end="1"/>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475">
                                            <p:txEl>
                                              <p:pRg st="1" end="1"/>
                                            </p:txEl>
                                          </p:spTgt>
                                        </p:tgtEl>
                                      </p:cBhvr>
                                    </p:animEffect>
                                  </p:childTnLst>
                                </p:cTn>
                              </p:par>
                              <p:par>
                                <p:cTn id="15" presetID="29" presetClass="entr" presetSubtype="0" fill="hold" nodeType="withEffect">
                                  <p:childTnLst>
                                    <p:set>
                                      <p:cBhvr additive="base">
                                        <p:cTn id="16" dur="1" fill="hold">
                                          <p:stCondLst>
                                            <p:cond delay="0"/>
                                          </p:stCondLst>
                                        </p:cTn>
                                        <p:tgtEl>
                                          <p:spTgt spid="2475">
                                            <p:txEl>
                                              <p:pRg st="2" end="2"/>
                                            </p:txEl>
                                          </p:spTgt>
                                        </p:tgtEl>
                                        <p:attrNameLst>
                                          <p:attrName>style.visibility</p:attrName>
                                        </p:attrNameLst>
                                      </p:cBhvr>
                                      <p:to>
                                        <p:strVal val="visible"/>
                                      </p:to>
                                    </p:set>
                                    <p:anim calcmode="lin" valueType="num">
                                      <p:cBhvr additive="base">
                                        <p:cTn id="17" dur="1000" fill="hold"/>
                                        <p:tgtEl>
                                          <p:spTgt spid="2475">
                                            <p:txEl>
                                              <p:pRg st="2" end="2"/>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475">
                                            <p:txEl>
                                              <p:pRg st="2" end="2"/>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4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65</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80" name="标题 2479"/>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81" name="文本占位符 2480"/>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离散信源的</a:t>
            </a:r>
            <a:r>
              <a:rPr lang="zh-CN" altLang="en-US">
                <a:solidFill>
                  <a:srgbClr val="FF0000"/>
                </a:solidFill>
                <a:ea typeface="MingLiU_HKSCS-ExtB" panose="02020500000000000000" charset="-120"/>
              </a:rPr>
              <a:t>信息率失真函数</a:t>
            </a:r>
          </a:p>
          <a:p>
            <a:pPr marL="355600" indent="-355600">
              <a:buClr>
                <a:srgbClr val="993366"/>
              </a:buClr>
              <a:buNone/>
            </a:pPr>
            <a:r>
              <a:rPr lang="zh-CN" altLang="en-US" sz="2400">
                <a:solidFill>
                  <a:srgbClr val="0000CC"/>
                </a:solidFill>
                <a:ea typeface="MingLiU_HKSCS-ExtB" panose="02020500000000000000" charset="-120"/>
              </a:rPr>
              <a:t>第四步：</a:t>
            </a:r>
            <a:r>
              <a:rPr lang="zh-CN" altLang="en-US" sz="2400">
                <a:ea typeface="MingLiU_HKSCS-ExtB" panose="02020500000000000000" charset="-120"/>
              </a:rPr>
              <a:t>求 </a:t>
            </a:r>
            <a:r>
              <a:rPr lang="en-US" altLang="zh-CN" sz="2400" i="1">
                <a:ea typeface="MingLiU_HKSCS-ExtB" panose="02020500000000000000" charset="-120"/>
              </a:rPr>
              <a:t>D</a:t>
            </a:r>
            <a:r>
              <a:rPr lang="en-US" altLang="zh-CN" sz="2400">
                <a:ea typeface="MingLiU_HKSCS-ExtB" panose="02020500000000000000" charset="-120"/>
              </a:rPr>
              <a:t>(</a:t>
            </a:r>
            <a:r>
              <a:rPr lang="en-US" altLang="zh-CN" sz="2400" i="1">
                <a:ea typeface="MingLiU_HKSCS-ExtB" panose="02020500000000000000" charset="-120"/>
              </a:rPr>
              <a:t>S</a:t>
            </a:r>
            <a:r>
              <a:rPr lang="en-US" altLang="zh-CN" sz="2400">
                <a:ea typeface="MingLiU_HKSCS-ExtB" panose="02020500000000000000" charset="-120"/>
              </a:rPr>
              <a:t>)</a:t>
            </a:r>
          </a:p>
          <a:p>
            <a:pPr marL="355600" indent="-355600">
              <a:buClr>
                <a:srgbClr val="993366"/>
              </a:buClr>
              <a:buNone/>
            </a:pPr>
            <a:r>
              <a:rPr lang="en-US" altLang="zh-CN" sz="2400">
                <a:ea typeface="MingLiU_HKSCS-ExtB" panose="02020500000000000000" charset="-120"/>
              </a:rPr>
              <a:t>     </a:t>
            </a:r>
            <a:r>
              <a:rPr lang="zh-CN" altLang="en-US" sz="2400">
                <a:ea typeface="MingLiU_HKSCS-ExtB" panose="02020500000000000000" charset="-120"/>
              </a:rPr>
              <a:t>将这</a:t>
            </a:r>
            <a:r>
              <a:rPr lang="zh-CN" altLang="en-US" sz="2400">
                <a:solidFill>
                  <a:srgbClr val="FF0000"/>
                </a:solidFill>
                <a:ea typeface="MingLiU_HKSCS-ExtB" panose="02020500000000000000" charset="-120"/>
              </a:rPr>
              <a:t> </a:t>
            </a:r>
            <a:r>
              <a:rPr lang="en-US" altLang="zh-CN" sz="2400" i="1">
                <a:solidFill>
                  <a:srgbClr val="FF0000"/>
                </a:solidFill>
                <a:ea typeface="MingLiU_HKSCS-ExtB" panose="02020500000000000000" charset="-120"/>
              </a:rPr>
              <a:t>m</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n</a:t>
            </a:r>
            <a:r>
              <a:rPr lang="en-US" altLang="zh-CN" sz="2400" i="1">
                <a:solidFill>
                  <a:srgbClr val="FFFF00"/>
                </a:solidFill>
                <a:ea typeface="MingLiU_HKSCS-ExtB" panose="02020500000000000000" charset="-120"/>
              </a:rPr>
              <a:t> </a:t>
            </a:r>
            <a:r>
              <a:rPr lang="zh-CN" altLang="en-US" sz="2400">
                <a:ea typeface="MingLiU_HKSCS-ExtB" panose="02020500000000000000" charset="-120"/>
              </a:rPr>
              <a:t>个</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p</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y</a:t>
            </a:r>
            <a:r>
              <a:rPr lang="en-US" altLang="zh-CN" sz="2400" i="1" baseline="-25000">
                <a:solidFill>
                  <a:srgbClr val="FF0000"/>
                </a:solidFill>
                <a:ea typeface="MingLiU_HKSCS-ExtB" panose="02020500000000000000" charset="-120"/>
              </a:rPr>
              <a:t>j </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i="1" baseline="-25000">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代入 </a:t>
            </a:r>
            <a:r>
              <a:rPr lang="en-US" altLang="zh-CN" sz="2400">
                <a:ea typeface="MingLiU_HKSCS-ExtB" panose="02020500000000000000" charset="-120"/>
              </a:rPr>
              <a:t>(4.2.5) </a:t>
            </a:r>
            <a:r>
              <a:rPr lang="zh-CN" altLang="en-US" sz="2400">
                <a:ea typeface="MingLiU_HKSCS-ExtB" panose="02020500000000000000" charset="-120"/>
              </a:rPr>
              <a:t>得到以 </a:t>
            </a:r>
            <a:r>
              <a:rPr lang="en-US" altLang="zh-CN" sz="2400" i="1">
                <a:ea typeface="MingLiU_HKSCS-ExtB" panose="02020500000000000000" charset="-120"/>
              </a:rPr>
              <a:t>S </a:t>
            </a:r>
            <a:r>
              <a:rPr lang="zh-CN" altLang="en-US" sz="2400">
                <a:ea typeface="MingLiU_HKSCS-ExtB" panose="02020500000000000000" charset="-120"/>
              </a:rPr>
              <a:t>为参量的允许平均失真函数</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S</a:t>
            </a:r>
            <a:r>
              <a:rPr lang="en-US" altLang="zh-CN" sz="2400">
                <a:solidFill>
                  <a:srgbClr val="FF0000"/>
                </a:solidFill>
                <a:ea typeface="MingLiU_HKSCS-ExtB" panose="02020500000000000000" charset="-120"/>
              </a:rPr>
              <a:t>)</a:t>
            </a:r>
            <a:r>
              <a:rPr lang="zh-CN" altLang="en-US" sz="2400">
                <a:solidFill>
                  <a:srgbClr val="FF0000"/>
                </a:solidFill>
                <a:ea typeface="MingLiU_HKSCS-ExtB" panose="02020500000000000000" charset="-120"/>
              </a:rPr>
              <a:t>。</a:t>
            </a:r>
          </a:p>
        </p:txBody>
      </p:sp>
      <p:graphicFrame>
        <p:nvGraphicFramePr>
          <p:cNvPr id="2482" name="对象 2481"/>
          <p:cNvGraphicFramePr/>
          <p:nvPr/>
        </p:nvGraphicFramePr>
        <p:xfrm>
          <a:off x="3575050" y="4635500"/>
          <a:ext cx="4321175" cy="2025650"/>
        </p:xfrm>
        <a:graphic>
          <a:graphicData uri="http://schemas.openxmlformats.org/presentationml/2006/ole">
            <mc:AlternateContent xmlns:mc="http://schemas.openxmlformats.org/markup-compatibility/2006">
              <mc:Choice xmlns:v="urn:schemas-microsoft-com:vml" Requires="v">
                <p:oleObj spid="_x0000_s43011" r:id="rId3" imgW="2423795" imgH="1346200" progId="Equation.3">
                  <p:embed/>
                </p:oleObj>
              </mc:Choice>
              <mc:Fallback>
                <p:oleObj r:id="rId3" imgW="2423795" imgH="1346200" progId="Equation.3">
                  <p:embed/>
                  <p:pic>
                    <p:nvPicPr>
                      <p:cNvPr id="0" name="图片 3182"/>
                      <p:cNvPicPr/>
                      <p:nvPr/>
                    </p:nvPicPr>
                    <p:blipFill>
                      <a:blip r:embed="rId4"/>
                      <a:stretch>
                        <a:fillRect/>
                      </a:stretch>
                    </p:blipFill>
                    <p:spPr>
                      <a:xfrm>
                        <a:off x="3575050" y="4635500"/>
                        <a:ext cx="4321175" cy="2025650"/>
                      </a:xfrm>
                      <a:prstGeom prst="rect">
                        <a:avLst/>
                      </a:prstGeom>
                      <a:noFill/>
                      <a:ln w="38100">
                        <a:noFill/>
                        <a:miter/>
                      </a:ln>
                    </p:spPr>
                  </p:pic>
                </p:oleObj>
              </mc:Fallback>
            </mc:AlternateContent>
          </a:graphicData>
        </a:graphic>
      </p:graphicFrame>
      <p:graphicFrame>
        <p:nvGraphicFramePr>
          <p:cNvPr id="2483" name="对象 2482"/>
          <p:cNvGraphicFramePr/>
          <p:nvPr/>
        </p:nvGraphicFramePr>
        <p:xfrm>
          <a:off x="1714500" y="3500438"/>
          <a:ext cx="6315075" cy="849312"/>
        </p:xfrm>
        <a:graphic>
          <a:graphicData uri="http://schemas.openxmlformats.org/presentationml/2006/ole">
            <mc:AlternateContent xmlns:mc="http://schemas.openxmlformats.org/markup-compatibility/2006">
              <mc:Choice xmlns:v="urn:schemas-microsoft-com:vml" Requires="v">
                <p:oleObj spid="_x0000_s43012" r:id="rId5" imgW="980440" imgH="444500" progId="Equation.3">
                  <p:embed/>
                </p:oleObj>
              </mc:Choice>
              <mc:Fallback>
                <p:oleObj r:id="rId5" imgW="980440" imgH="444500" progId="Equation.3">
                  <p:embed/>
                  <p:pic>
                    <p:nvPicPr>
                      <p:cNvPr id="0" name="图片 3183"/>
                      <p:cNvPicPr/>
                      <p:nvPr/>
                    </p:nvPicPr>
                    <p:blipFill>
                      <a:blip r:embed="rId6"/>
                      <a:stretch>
                        <a:fillRect/>
                      </a:stretch>
                    </p:blipFill>
                    <p:spPr>
                      <a:xfrm>
                        <a:off x="1714500" y="3500438"/>
                        <a:ext cx="6315075" cy="849312"/>
                      </a:xfrm>
                      <a:prstGeom prst="rect">
                        <a:avLst/>
                      </a:prstGeom>
                      <a:noFill/>
                      <a:ln w="38100">
                        <a:noFill/>
                        <a:miter/>
                      </a:ln>
                    </p:spPr>
                  </p:pic>
                </p:oleObj>
              </mc:Fallback>
            </mc:AlternateContent>
          </a:graphicData>
        </a:graphic>
      </p:graphicFrame>
      <p:sp>
        <p:nvSpPr>
          <p:cNvPr id="2484" name="矩形 2483"/>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483"/>
                                        </p:tgtEl>
                                        <p:attrNameLst>
                                          <p:attrName>style.visibility</p:attrName>
                                        </p:attrNameLst>
                                      </p:cBhvr>
                                      <p:to>
                                        <p:strVal val="visible"/>
                                      </p:to>
                                    </p:set>
                                    <p:anim calcmode="lin" valueType="num">
                                      <p:cBhvr additive="base">
                                        <p:cTn id="7" dur="1000" fill="hold"/>
                                        <p:tgtEl>
                                          <p:spTgt spid="2483"/>
                                        </p:tgtEl>
                                        <p:attrNameLst>
                                          <p:attrName>ppt_x</p:attrName>
                                        </p:attrNameLst>
                                      </p:cBhvr>
                                      <p:tavLst>
                                        <p:tav tm="0">
                                          <p:val>
                                            <p:strVal val="#ppt_x-.2"/>
                                          </p:val>
                                        </p:tav>
                                        <p:tav tm="100000">
                                          <p:val>
                                            <p:strVal val="#ppt_x"/>
                                          </p:val>
                                        </p:tav>
                                      </p:tavLst>
                                    </p:anim>
                                    <p:anim calcmode="lin" valueType="num">
                                      <p:cBhvr additive="base">
                                        <p:cTn id="8" dur="1000" fill="hold"/>
                                        <p:tgtEl>
                                          <p:spTgt spid="2483"/>
                                        </p:tgtEl>
                                        <p:attrNameLst>
                                          <p:attrName>ppt_y</p:attrName>
                                        </p:attrNameLst>
                                      </p:cBhvr>
                                      <p:tavLst>
                                        <p:tav tm="0">
                                          <p:val>
                                            <p:strVal val="#ppt_y"/>
                                          </p:val>
                                        </p:tav>
                                        <p:tav tm="100000">
                                          <p:val>
                                            <p:strVal val="#ppt_y"/>
                                          </p:val>
                                        </p:tav>
                                      </p:tavLst>
                                    </p:anim>
                                    <p:animEffect transition="in" filter="wipe(right)">
                                      <p:cBhvr additive="base">
                                        <p:cTn id="9" dur="1000"/>
                                        <p:tgtEl>
                                          <p:spTgt spid="2483"/>
                                        </p:tgtEl>
                                      </p:cBhvr>
                                    </p:animEffect>
                                  </p:childTnLst>
                                </p:cTn>
                              </p:par>
                              <p:par>
                                <p:cTn id="10" presetID="29" presetClass="entr" presetSubtype="0" fill="hold" nodeType="withEffect">
                                  <p:childTnLst>
                                    <p:set>
                                      <p:cBhvr additive="base">
                                        <p:cTn id="11" dur="1" fill="hold">
                                          <p:stCondLst>
                                            <p:cond delay="0"/>
                                          </p:stCondLst>
                                        </p:cTn>
                                        <p:tgtEl>
                                          <p:spTgt spid="2481">
                                            <p:txEl>
                                              <p:pRg st="1" end="1"/>
                                            </p:txEl>
                                          </p:spTgt>
                                        </p:tgtEl>
                                        <p:attrNameLst>
                                          <p:attrName>style.visibility</p:attrName>
                                        </p:attrNameLst>
                                      </p:cBhvr>
                                      <p:to>
                                        <p:strVal val="visible"/>
                                      </p:to>
                                    </p:set>
                                    <p:anim calcmode="lin" valueType="num">
                                      <p:cBhvr additive="base">
                                        <p:cTn id="12" dur="1000" fill="hold"/>
                                        <p:tgtEl>
                                          <p:spTgt spid="2481">
                                            <p:txEl>
                                              <p:pRg st="1" end="1"/>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481">
                                            <p:txEl>
                                              <p:pRg st="1" end="1"/>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481">
                                            <p:txEl>
                                              <p:pRg st="1" end="1"/>
                                            </p:txEl>
                                          </p:spTgt>
                                        </p:tgtEl>
                                      </p:cBhvr>
                                    </p:animEffect>
                                  </p:childTnLst>
                                </p:cTn>
                              </p:par>
                              <p:par>
                                <p:cTn id="15" presetID="29" presetClass="entr" presetSubtype="0" fill="hold" nodeType="withEffect">
                                  <p:childTnLst>
                                    <p:set>
                                      <p:cBhvr additive="base">
                                        <p:cTn id="16" dur="1" fill="hold">
                                          <p:stCondLst>
                                            <p:cond delay="0"/>
                                          </p:stCondLst>
                                        </p:cTn>
                                        <p:tgtEl>
                                          <p:spTgt spid="2481">
                                            <p:txEl>
                                              <p:pRg st="2" end="2"/>
                                            </p:txEl>
                                          </p:spTgt>
                                        </p:tgtEl>
                                        <p:attrNameLst>
                                          <p:attrName>style.visibility</p:attrName>
                                        </p:attrNameLst>
                                      </p:cBhvr>
                                      <p:to>
                                        <p:strVal val="visible"/>
                                      </p:to>
                                    </p:set>
                                    <p:anim calcmode="lin" valueType="num">
                                      <p:cBhvr additive="base">
                                        <p:cTn id="17" dur="1000" fill="hold"/>
                                        <p:tgtEl>
                                          <p:spTgt spid="2481">
                                            <p:txEl>
                                              <p:pRg st="2" end="2"/>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481">
                                            <p:txEl>
                                              <p:pRg st="2" end="2"/>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481">
                                            <p:txEl>
                                              <p:pRg st="2" end="2"/>
                                            </p:txEl>
                                          </p:spTgt>
                                        </p:tgtEl>
                                      </p:cBhvr>
                                    </p:animEffect>
                                  </p:childTnLst>
                                </p:cTn>
                              </p:par>
                              <p:par>
                                <p:cTn id="20" presetID="29" presetClass="entr" presetSubtype="0" fill="hold" nodeType="withEffect">
                                  <p:childTnLst>
                                    <p:set>
                                      <p:cBhvr additive="base">
                                        <p:cTn id="21" dur="1" fill="hold">
                                          <p:stCondLst>
                                            <p:cond delay="0"/>
                                          </p:stCondLst>
                                        </p:cTn>
                                        <p:tgtEl>
                                          <p:spTgt spid="2482"/>
                                        </p:tgtEl>
                                        <p:attrNameLst>
                                          <p:attrName>style.visibility</p:attrName>
                                        </p:attrNameLst>
                                      </p:cBhvr>
                                      <p:to>
                                        <p:strVal val="visible"/>
                                      </p:to>
                                    </p:set>
                                    <p:anim calcmode="lin" valueType="num">
                                      <p:cBhvr additive="base">
                                        <p:cTn id="22" dur="1000" fill="hold"/>
                                        <p:tgtEl>
                                          <p:spTgt spid="2482"/>
                                        </p:tgtEl>
                                        <p:attrNameLst>
                                          <p:attrName>ppt_x</p:attrName>
                                        </p:attrNameLst>
                                      </p:cBhvr>
                                      <p:tavLst>
                                        <p:tav tm="0">
                                          <p:val>
                                            <p:strVal val="#ppt_x-.2"/>
                                          </p:val>
                                        </p:tav>
                                        <p:tav tm="100000">
                                          <p:val>
                                            <p:strVal val="#ppt_x"/>
                                          </p:val>
                                        </p:tav>
                                      </p:tavLst>
                                    </p:anim>
                                    <p:anim calcmode="lin" valueType="num">
                                      <p:cBhvr additive="base">
                                        <p:cTn id="23" dur="1000" fill="hold"/>
                                        <p:tgtEl>
                                          <p:spTgt spid="2482"/>
                                        </p:tgtEl>
                                        <p:attrNameLst>
                                          <p:attrName>ppt_y</p:attrName>
                                        </p:attrNameLst>
                                      </p:cBhvr>
                                      <p:tavLst>
                                        <p:tav tm="0">
                                          <p:val>
                                            <p:strVal val="#ppt_y"/>
                                          </p:val>
                                        </p:tav>
                                        <p:tav tm="100000">
                                          <p:val>
                                            <p:strVal val="#ppt_y"/>
                                          </p:val>
                                        </p:tav>
                                      </p:tavLst>
                                    </p:anim>
                                    <p:animEffect transition="in" filter="wipe(right)">
                                      <p:cBhvr additive="base">
                                        <p:cTn id="24" dur="1000"/>
                                        <p:tgtEl>
                                          <p:spTgt spid="2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66</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87" name="标题 2486"/>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88" name="文本占位符 2487"/>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离散信源的</a:t>
            </a:r>
            <a:r>
              <a:rPr lang="zh-CN" altLang="en-US">
                <a:solidFill>
                  <a:srgbClr val="FF0000"/>
                </a:solidFill>
                <a:ea typeface="MingLiU_HKSCS-ExtB" panose="02020500000000000000" charset="-120"/>
              </a:rPr>
              <a:t>信息率失真函数</a:t>
            </a:r>
          </a:p>
          <a:p>
            <a:pPr marL="355600" indent="-355600">
              <a:buClr>
                <a:srgbClr val="993366"/>
              </a:buClr>
              <a:buNone/>
            </a:pPr>
            <a:r>
              <a:rPr lang="zh-CN" altLang="en-US" sz="2400">
                <a:solidFill>
                  <a:srgbClr val="0000CC"/>
                </a:solidFill>
                <a:ea typeface="MingLiU_HKSCS-ExtB" panose="02020500000000000000" charset="-120"/>
              </a:rPr>
              <a:t>第五步：</a:t>
            </a:r>
            <a:r>
              <a:rPr lang="zh-CN" altLang="en-US" sz="2400">
                <a:ea typeface="MingLiU_HKSCS-ExtB" panose="02020500000000000000" charset="-120"/>
              </a:rPr>
              <a:t>求 </a:t>
            </a:r>
            <a:r>
              <a:rPr lang="en-US" altLang="zh-CN" sz="2400" i="1">
                <a:ea typeface="MingLiU_HKSCS-ExtB" panose="02020500000000000000" charset="-120"/>
              </a:rPr>
              <a:t>R</a:t>
            </a:r>
            <a:r>
              <a:rPr lang="en-US" altLang="zh-CN" sz="2400">
                <a:ea typeface="MingLiU_HKSCS-ExtB" panose="02020500000000000000" charset="-120"/>
              </a:rPr>
              <a:t>(</a:t>
            </a:r>
            <a:r>
              <a:rPr lang="en-US" altLang="zh-CN" sz="2400" i="1">
                <a:ea typeface="MingLiU_HKSCS-ExtB" panose="02020500000000000000" charset="-120"/>
              </a:rPr>
              <a:t>S</a:t>
            </a:r>
            <a:r>
              <a:rPr lang="en-US" altLang="zh-CN" sz="2400">
                <a:ea typeface="MingLiU_HKSCS-ExtB" panose="02020500000000000000" charset="-120"/>
              </a:rPr>
              <a:t>)</a:t>
            </a:r>
          </a:p>
          <a:p>
            <a:pPr marL="355600" indent="-355600">
              <a:buClr>
                <a:srgbClr val="993366"/>
              </a:buClr>
              <a:buNone/>
            </a:pPr>
            <a:r>
              <a:rPr lang="en-US" altLang="zh-CN" sz="2000">
                <a:ea typeface="MingLiU_HKSCS-ExtB" panose="02020500000000000000" charset="-120"/>
              </a:rPr>
              <a:t>     </a:t>
            </a:r>
            <a:r>
              <a:rPr lang="zh-CN" altLang="en-US" sz="2000">
                <a:ea typeface="MingLiU_HKSCS-ExtB" panose="02020500000000000000" charset="-120"/>
              </a:rPr>
              <a:t>将这</a:t>
            </a:r>
            <a:r>
              <a:rPr lang="zh-CN" altLang="en-US" sz="2000">
                <a:solidFill>
                  <a:srgbClr val="FF0000"/>
                </a:solidFill>
                <a:ea typeface="MingLiU_HKSCS-ExtB" panose="02020500000000000000" charset="-120"/>
              </a:rPr>
              <a:t> </a:t>
            </a:r>
            <a:r>
              <a:rPr lang="en-US" altLang="zh-CN" sz="2000" i="1">
                <a:solidFill>
                  <a:srgbClr val="FF0000"/>
                </a:solidFill>
                <a:ea typeface="MingLiU_HKSCS-ExtB" panose="02020500000000000000" charset="-120"/>
              </a:rPr>
              <a:t>m</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n</a:t>
            </a:r>
            <a:r>
              <a:rPr lang="en-US" altLang="zh-CN" sz="2000" i="1">
                <a:solidFill>
                  <a:srgbClr val="FFFF00"/>
                </a:solidFill>
                <a:ea typeface="MingLiU_HKSCS-ExtB" panose="02020500000000000000" charset="-120"/>
              </a:rPr>
              <a:t> </a:t>
            </a:r>
            <a:r>
              <a:rPr lang="zh-CN" altLang="en-US" sz="2000">
                <a:ea typeface="MingLiU_HKSCS-ExtB" panose="02020500000000000000" charset="-120"/>
              </a:rPr>
              <a:t>个</a:t>
            </a:r>
            <a:r>
              <a:rPr lang="zh-CN" altLang="en-US" sz="2000">
                <a:solidFill>
                  <a:schemeClr val="bg1"/>
                </a:solidFill>
                <a:ea typeface="MingLiU_HKSCS-ExtB" panose="02020500000000000000" charset="-120"/>
              </a:rPr>
              <a:t> </a:t>
            </a:r>
            <a:r>
              <a:rPr lang="en-US" altLang="zh-CN" sz="2000" i="1">
                <a:solidFill>
                  <a:srgbClr val="FF0000"/>
                </a:solidFill>
                <a:ea typeface="MingLiU_HKSCS-ExtB" panose="02020500000000000000" charset="-120"/>
              </a:rPr>
              <a:t>p</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y</a:t>
            </a:r>
            <a:r>
              <a:rPr lang="en-US" altLang="zh-CN" sz="2000" i="1" baseline="-25000">
                <a:solidFill>
                  <a:srgbClr val="FF0000"/>
                </a:solidFill>
                <a:ea typeface="MingLiU_HKSCS-ExtB" panose="02020500000000000000" charset="-120"/>
              </a:rPr>
              <a:t>j </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x</a:t>
            </a:r>
            <a:r>
              <a:rPr lang="en-US" altLang="zh-CN" sz="2000" i="1" baseline="-25000">
                <a:solidFill>
                  <a:srgbClr val="FF0000"/>
                </a:solidFill>
                <a:ea typeface="MingLiU_HKSCS-ExtB" panose="02020500000000000000" charset="-120"/>
              </a:rPr>
              <a:t>i</a:t>
            </a:r>
            <a:r>
              <a:rPr lang="en-US" altLang="zh-CN" sz="2000">
                <a:solidFill>
                  <a:srgbClr val="FF0000"/>
                </a:solidFill>
                <a:ea typeface="MingLiU_HKSCS-ExtB" panose="02020500000000000000" charset="-120"/>
              </a:rPr>
              <a:t>)</a:t>
            </a:r>
            <a:r>
              <a:rPr lang="en-US" altLang="zh-CN" sz="2000">
                <a:solidFill>
                  <a:srgbClr val="FFFF00"/>
                </a:solidFill>
                <a:ea typeface="MingLiU_HKSCS-ExtB" panose="02020500000000000000" charset="-120"/>
              </a:rPr>
              <a:t> </a:t>
            </a:r>
            <a:r>
              <a:rPr lang="zh-CN" altLang="en-US" sz="2000">
                <a:ea typeface="MingLiU_HKSCS-ExtB" panose="02020500000000000000" charset="-120"/>
              </a:rPr>
              <a:t>代入 </a:t>
            </a:r>
            <a:r>
              <a:rPr lang="en-US" altLang="zh-CN" sz="2000">
                <a:ea typeface="MingLiU_HKSCS-ExtB" panose="02020500000000000000" charset="-120"/>
              </a:rPr>
              <a:t>(4.2.4) </a:t>
            </a:r>
            <a:r>
              <a:rPr lang="zh-CN" altLang="en-US" sz="2000">
                <a:ea typeface="MingLiU_HKSCS-ExtB" panose="02020500000000000000" charset="-120"/>
              </a:rPr>
              <a:t>得到以</a:t>
            </a:r>
            <a:r>
              <a:rPr lang="zh-CN" altLang="en-US" sz="2000">
                <a:solidFill>
                  <a:schemeClr val="bg1"/>
                </a:solidFill>
                <a:ea typeface="MingLiU_HKSCS-ExtB" panose="02020500000000000000" charset="-120"/>
              </a:rPr>
              <a:t> </a:t>
            </a:r>
            <a:r>
              <a:rPr lang="en-US" altLang="zh-CN" sz="2000" i="1">
                <a:solidFill>
                  <a:srgbClr val="FF0000"/>
                </a:solidFill>
                <a:ea typeface="MingLiU_HKSCS-ExtB" panose="02020500000000000000" charset="-120"/>
              </a:rPr>
              <a:t>S </a:t>
            </a:r>
            <a:r>
              <a:rPr lang="zh-CN" altLang="en-US" sz="2000">
                <a:ea typeface="MingLiU_HKSCS-ExtB" panose="02020500000000000000" charset="-120"/>
              </a:rPr>
              <a:t>为参量的率失真函数</a:t>
            </a:r>
            <a:r>
              <a:rPr lang="zh-CN" altLang="en-US" sz="2000">
                <a:solidFill>
                  <a:schemeClr val="bg1"/>
                </a:solidFill>
                <a:ea typeface="MingLiU_HKSCS-ExtB" panose="02020500000000000000" charset="-120"/>
              </a:rPr>
              <a:t> </a:t>
            </a:r>
            <a:r>
              <a:rPr lang="en-US" altLang="zh-CN" sz="2000" i="1">
                <a:solidFill>
                  <a:srgbClr val="FF0000"/>
                </a:solidFill>
                <a:ea typeface="MingLiU_HKSCS-ExtB" panose="02020500000000000000" charset="-120"/>
              </a:rPr>
              <a:t>R</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S</a:t>
            </a:r>
            <a:r>
              <a:rPr lang="en-US" altLang="zh-CN" sz="2000">
                <a:solidFill>
                  <a:srgbClr val="FF0000"/>
                </a:solidFill>
                <a:ea typeface="MingLiU_HKSCS-ExtB" panose="02020500000000000000" charset="-120"/>
              </a:rPr>
              <a:t>)</a:t>
            </a:r>
            <a:r>
              <a:rPr lang="zh-CN" altLang="en-US" sz="2000">
                <a:solidFill>
                  <a:srgbClr val="FF0000"/>
                </a:solidFill>
                <a:ea typeface="MingLiU_HKSCS-ExtB" panose="02020500000000000000" charset="-120"/>
              </a:rPr>
              <a:t>。</a:t>
            </a:r>
          </a:p>
        </p:txBody>
      </p:sp>
      <p:graphicFrame>
        <p:nvGraphicFramePr>
          <p:cNvPr id="2489" name="对象 2488"/>
          <p:cNvGraphicFramePr/>
          <p:nvPr/>
        </p:nvGraphicFramePr>
        <p:xfrm>
          <a:off x="3892550" y="1641475"/>
          <a:ext cx="4549775" cy="635000"/>
        </p:xfrm>
        <a:graphic>
          <a:graphicData uri="http://schemas.openxmlformats.org/presentationml/2006/ole">
            <mc:AlternateContent xmlns:mc="http://schemas.openxmlformats.org/markup-compatibility/2006">
              <mc:Choice xmlns:v="urn:schemas-microsoft-com:vml" Requires="v">
                <p:oleObj spid="_x0000_s44036" r:id="rId3" imgW="962660" imgH="469900" progId="Equation.3">
                  <p:embed/>
                </p:oleObj>
              </mc:Choice>
              <mc:Fallback>
                <p:oleObj r:id="rId3" imgW="962660" imgH="469900" progId="Equation.3">
                  <p:embed/>
                  <p:pic>
                    <p:nvPicPr>
                      <p:cNvPr id="0" name="图片 3188"/>
                      <p:cNvPicPr/>
                      <p:nvPr/>
                    </p:nvPicPr>
                    <p:blipFill>
                      <a:blip r:embed="rId4"/>
                      <a:stretch>
                        <a:fillRect/>
                      </a:stretch>
                    </p:blipFill>
                    <p:spPr>
                      <a:xfrm>
                        <a:off x="3892550" y="1641475"/>
                        <a:ext cx="4549775" cy="635000"/>
                      </a:xfrm>
                      <a:prstGeom prst="rect">
                        <a:avLst/>
                      </a:prstGeom>
                      <a:noFill/>
                      <a:ln w="38100">
                        <a:noFill/>
                        <a:miter/>
                      </a:ln>
                    </p:spPr>
                  </p:pic>
                </p:oleObj>
              </mc:Fallback>
            </mc:AlternateContent>
          </a:graphicData>
        </a:graphic>
      </p:graphicFrame>
      <p:graphicFrame>
        <p:nvGraphicFramePr>
          <p:cNvPr id="2490" name="对象 2489"/>
          <p:cNvGraphicFramePr/>
          <p:nvPr/>
        </p:nvGraphicFramePr>
        <p:xfrm>
          <a:off x="1314450" y="2852738"/>
          <a:ext cx="5857875" cy="2500312"/>
        </p:xfrm>
        <a:graphic>
          <a:graphicData uri="http://schemas.openxmlformats.org/presentationml/2006/ole">
            <mc:AlternateContent xmlns:mc="http://schemas.openxmlformats.org/markup-compatibility/2006">
              <mc:Choice xmlns:v="urn:schemas-microsoft-com:vml" Requires="v">
                <p:oleObj spid="_x0000_s44037" r:id="rId5" imgW="2635885" imgH="1447165" progId="Equation.3">
                  <p:embed/>
                </p:oleObj>
              </mc:Choice>
              <mc:Fallback>
                <p:oleObj r:id="rId5" imgW="2635885" imgH="1447165" progId="Equation.3">
                  <p:embed/>
                  <p:pic>
                    <p:nvPicPr>
                      <p:cNvPr id="0" name="图片 3190"/>
                      <p:cNvPicPr/>
                      <p:nvPr/>
                    </p:nvPicPr>
                    <p:blipFill>
                      <a:blip r:embed="rId6"/>
                      <a:stretch>
                        <a:fillRect/>
                      </a:stretch>
                    </p:blipFill>
                    <p:spPr>
                      <a:xfrm>
                        <a:off x="1314450" y="2852738"/>
                        <a:ext cx="5857875" cy="2500312"/>
                      </a:xfrm>
                      <a:prstGeom prst="rect">
                        <a:avLst/>
                      </a:prstGeom>
                      <a:noFill/>
                      <a:ln w="38100">
                        <a:noFill/>
                        <a:miter/>
                      </a:ln>
                    </p:spPr>
                  </p:pic>
                </p:oleObj>
              </mc:Fallback>
            </mc:AlternateContent>
          </a:graphicData>
        </a:graphic>
      </p:graphicFrame>
      <p:graphicFrame>
        <p:nvGraphicFramePr>
          <p:cNvPr id="2491" name="对象 2490"/>
          <p:cNvGraphicFramePr/>
          <p:nvPr/>
        </p:nvGraphicFramePr>
        <p:xfrm>
          <a:off x="1381125" y="5445125"/>
          <a:ext cx="5848350" cy="876300"/>
        </p:xfrm>
        <a:graphic>
          <a:graphicData uri="http://schemas.openxmlformats.org/presentationml/2006/ole">
            <mc:AlternateContent xmlns:mc="http://schemas.openxmlformats.org/markup-compatibility/2006">
              <mc:Choice xmlns:v="urn:schemas-microsoft-com:vml" Requires="v">
                <p:oleObj spid="_x0000_s44038" r:id="rId7" imgW="919480" imgH="431800" progId="Equation.3">
                  <p:embed/>
                </p:oleObj>
              </mc:Choice>
              <mc:Fallback>
                <p:oleObj r:id="rId7" imgW="919480" imgH="431800" progId="Equation.3">
                  <p:embed/>
                  <p:pic>
                    <p:nvPicPr>
                      <p:cNvPr id="0" name="图片 3189"/>
                      <p:cNvPicPr/>
                      <p:nvPr/>
                    </p:nvPicPr>
                    <p:blipFill>
                      <a:blip r:embed="rId8"/>
                      <a:stretch>
                        <a:fillRect/>
                      </a:stretch>
                    </p:blipFill>
                    <p:spPr>
                      <a:xfrm>
                        <a:off x="1381125" y="5445125"/>
                        <a:ext cx="5848350" cy="876300"/>
                      </a:xfrm>
                      <a:prstGeom prst="rect">
                        <a:avLst/>
                      </a:prstGeom>
                      <a:noFill/>
                      <a:ln w="38100">
                        <a:noFill/>
                        <a:miter/>
                      </a:ln>
                    </p:spPr>
                  </p:pic>
                </p:oleObj>
              </mc:Fallback>
            </mc:AlternateContent>
          </a:graphicData>
        </a:graphic>
      </p:graphicFrame>
      <p:sp>
        <p:nvSpPr>
          <p:cNvPr id="2492" name="矩形 2491"/>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490"/>
                                        </p:tgtEl>
                                        <p:attrNameLst>
                                          <p:attrName>style.visibility</p:attrName>
                                        </p:attrNameLst>
                                      </p:cBhvr>
                                      <p:to>
                                        <p:strVal val="visible"/>
                                      </p:to>
                                    </p:set>
                                    <p:anim calcmode="lin" valueType="num">
                                      <p:cBhvr additive="base">
                                        <p:cTn id="7" dur="1000" fill="hold"/>
                                        <p:tgtEl>
                                          <p:spTgt spid="2490"/>
                                        </p:tgtEl>
                                        <p:attrNameLst>
                                          <p:attrName>ppt_x</p:attrName>
                                        </p:attrNameLst>
                                      </p:cBhvr>
                                      <p:tavLst>
                                        <p:tav tm="0">
                                          <p:val>
                                            <p:strVal val="#ppt_x-.2"/>
                                          </p:val>
                                        </p:tav>
                                        <p:tav tm="100000">
                                          <p:val>
                                            <p:strVal val="#ppt_x"/>
                                          </p:val>
                                        </p:tav>
                                      </p:tavLst>
                                    </p:anim>
                                    <p:anim calcmode="lin" valueType="num">
                                      <p:cBhvr additive="base">
                                        <p:cTn id="8" dur="1000" fill="hold"/>
                                        <p:tgtEl>
                                          <p:spTgt spid="2490"/>
                                        </p:tgtEl>
                                        <p:attrNameLst>
                                          <p:attrName>ppt_y</p:attrName>
                                        </p:attrNameLst>
                                      </p:cBhvr>
                                      <p:tavLst>
                                        <p:tav tm="0">
                                          <p:val>
                                            <p:strVal val="#ppt_y"/>
                                          </p:val>
                                        </p:tav>
                                        <p:tav tm="100000">
                                          <p:val>
                                            <p:strVal val="#ppt_y"/>
                                          </p:val>
                                        </p:tav>
                                      </p:tavLst>
                                    </p:anim>
                                    <p:animEffect transition="in" filter="wipe(right)">
                                      <p:cBhvr additive="base">
                                        <p:cTn id="9" dur="1000"/>
                                        <p:tgtEl>
                                          <p:spTgt spid="2490"/>
                                        </p:tgtEl>
                                      </p:cBhvr>
                                    </p:animEffect>
                                  </p:childTnLst>
                                </p:cTn>
                              </p:par>
                              <p:par>
                                <p:cTn id="10" presetID="29" presetClass="entr" presetSubtype="0" fill="hold" nodeType="withEffect">
                                  <p:childTnLst>
                                    <p:set>
                                      <p:cBhvr additive="base">
                                        <p:cTn id="11" dur="1" fill="hold">
                                          <p:stCondLst>
                                            <p:cond delay="0"/>
                                          </p:stCondLst>
                                        </p:cTn>
                                        <p:tgtEl>
                                          <p:spTgt spid="2491"/>
                                        </p:tgtEl>
                                        <p:attrNameLst>
                                          <p:attrName>style.visibility</p:attrName>
                                        </p:attrNameLst>
                                      </p:cBhvr>
                                      <p:to>
                                        <p:strVal val="visible"/>
                                      </p:to>
                                    </p:set>
                                    <p:anim calcmode="lin" valueType="num">
                                      <p:cBhvr additive="base">
                                        <p:cTn id="12" dur="1000" fill="hold"/>
                                        <p:tgtEl>
                                          <p:spTgt spid="2491"/>
                                        </p:tgtEl>
                                        <p:attrNameLst>
                                          <p:attrName>ppt_x</p:attrName>
                                        </p:attrNameLst>
                                      </p:cBhvr>
                                      <p:tavLst>
                                        <p:tav tm="0">
                                          <p:val>
                                            <p:strVal val="#ppt_x-.2"/>
                                          </p:val>
                                        </p:tav>
                                        <p:tav tm="100000">
                                          <p:val>
                                            <p:strVal val="#ppt_x"/>
                                          </p:val>
                                        </p:tav>
                                      </p:tavLst>
                                    </p:anim>
                                    <p:anim calcmode="lin" valueType="num">
                                      <p:cBhvr additive="base">
                                        <p:cTn id="13" dur="1000" fill="hold"/>
                                        <p:tgtEl>
                                          <p:spTgt spid="2491"/>
                                        </p:tgtEl>
                                        <p:attrNameLst>
                                          <p:attrName>ppt_y</p:attrName>
                                        </p:attrNameLst>
                                      </p:cBhvr>
                                      <p:tavLst>
                                        <p:tav tm="0">
                                          <p:val>
                                            <p:strVal val="#ppt_y"/>
                                          </p:val>
                                        </p:tav>
                                        <p:tav tm="100000">
                                          <p:val>
                                            <p:strVal val="#ppt_y"/>
                                          </p:val>
                                        </p:tav>
                                      </p:tavLst>
                                    </p:anim>
                                    <p:animEffect transition="in" filter="wipe(right)">
                                      <p:cBhvr additive="base">
                                        <p:cTn id="14" dur="1000"/>
                                        <p:tgtEl>
                                          <p:spTgt spid="2491"/>
                                        </p:tgtEl>
                                      </p:cBhvr>
                                    </p:animEffect>
                                  </p:childTnLst>
                                </p:cTn>
                              </p:par>
                              <p:par>
                                <p:cTn id="15" presetID="29" presetClass="entr" presetSubtype="0" fill="hold" nodeType="withEffect">
                                  <p:childTnLst>
                                    <p:set>
                                      <p:cBhvr additive="base">
                                        <p:cTn id="16" dur="1" fill="hold">
                                          <p:stCondLst>
                                            <p:cond delay="0"/>
                                          </p:stCondLst>
                                        </p:cTn>
                                        <p:tgtEl>
                                          <p:spTgt spid="2488">
                                            <p:txEl>
                                              <p:pRg st="1" end="1"/>
                                            </p:txEl>
                                          </p:spTgt>
                                        </p:tgtEl>
                                        <p:attrNameLst>
                                          <p:attrName>style.visibility</p:attrName>
                                        </p:attrNameLst>
                                      </p:cBhvr>
                                      <p:to>
                                        <p:strVal val="visible"/>
                                      </p:to>
                                    </p:set>
                                    <p:anim calcmode="lin" valueType="num">
                                      <p:cBhvr additive="base">
                                        <p:cTn id="17" dur="1000" fill="hold"/>
                                        <p:tgtEl>
                                          <p:spTgt spid="2488">
                                            <p:txEl>
                                              <p:pRg st="1" end="1"/>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488">
                                            <p:txEl>
                                              <p:pRg st="1" end="1"/>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488">
                                            <p:txEl>
                                              <p:pRg st="1" end="1"/>
                                            </p:txEl>
                                          </p:spTgt>
                                        </p:tgtEl>
                                      </p:cBhvr>
                                    </p:animEffect>
                                  </p:childTnLst>
                                </p:cTn>
                              </p:par>
                              <p:par>
                                <p:cTn id="20" presetID="29" presetClass="entr" presetSubtype="0" fill="hold" nodeType="withEffect">
                                  <p:childTnLst>
                                    <p:set>
                                      <p:cBhvr additive="base">
                                        <p:cTn id="21" dur="1" fill="hold">
                                          <p:stCondLst>
                                            <p:cond delay="0"/>
                                          </p:stCondLst>
                                        </p:cTn>
                                        <p:tgtEl>
                                          <p:spTgt spid="2488">
                                            <p:txEl>
                                              <p:pRg st="2" end="2"/>
                                            </p:txEl>
                                          </p:spTgt>
                                        </p:tgtEl>
                                        <p:attrNameLst>
                                          <p:attrName>style.visibility</p:attrName>
                                        </p:attrNameLst>
                                      </p:cBhvr>
                                      <p:to>
                                        <p:strVal val="visible"/>
                                      </p:to>
                                    </p:set>
                                    <p:anim calcmode="lin" valueType="num">
                                      <p:cBhvr additive="base">
                                        <p:cTn id="22" dur="1000" fill="hold"/>
                                        <p:tgtEl>
                                          <p:spTgt spid="2488">
                                            <p:txEl>
                                              <p:pRg st="2" end="2"/>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488">
                                            <p:txEl>
                                              <p:pRg st="2" end="2"/>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488">
                                            <p:txEl>
                                              <p:pRg st="2" end="2"/>
                                            </p:txEl>
                                          </p:spTgt>
                                        </p:tgtEl>
                                      </p:cBhvr>
                                    </p:animEffect>
                                  </p:childTnLst>
                                </p:cTn>
                              </p:par>
                              <p:par>
                                <p:cTn id="25" presetID="29" presetClass="entr" presetSubtype="0" fill="hold" nodeType="withEffect">
                                  <p:childTnLst>
                                    <p:set>
                                      <p:cBhvr additive="base">
                                        <p:cTn id="26" dur="1" fill="hold">
                                          <p:stCondLst>
                                            <p:cond delay="0"/>
                                          </p:stCondLst>
                                        </p:cTn>
                                        <p:tgtEl>
                                          <p:spTgt spid="2489"/>
                                        </p:tgtEl>
                                        <p:attrNameLst>
                                          <p:attrName>style.visibility</p:attrName>
                                        </p:attrNameLst>
                                      </p:cBhvr>
                                      <p:to>
                                        <p:strVal val="visible"/>
                                      </p:to>
                                    </p:set>
                                    <p:anim calcmode="lin" valueType="num">
                                      <p:cBhvr additive="base">
                                        <p:cTn id="27" dur="1000" fill="hold"/>
                                        <p:tgtEl>
                                          <p:spTgt spid="2489"/>
                                        </p:tgtEl>
                                        <p:attrNameLst>
                                          <p:attrName>ppt_x</p:attrName>
                                        </p:attrNameLst>
                                      </p:cBhvr>
                                      <p:tavLst>
                                        <p:tav tm="0">
                                          <p:val>
                                            <p:strVal val="#ppt_x-.2"/>
                                          </p:val>
                                        </p:tav>
                                        <p:tav tm="100000">
                                          <p:val>
                                            <p:strVal val="#ppt_x"/>
                                          </p:val>
                                        </p:tav>
                                      </p:tavLst>
                                    </p:anim>
                                    <p:anim calcmode="lin" valueType="num">
                                      <p:cBhvr additive="base">
                                        <p:cTn id="28" dur="1000" fill="hold"/>
                                        <p:tgtEl>
                                          <p:spTgt spid="2489"/>
                                        </p:tgtEl>
                                        <p:attrNameLst>
                                          <p:attrName>ppt_y</p:attrName>
                                        </p:attrNameLst>
                                      </p:cBhvr>
                                      <p:tavLst>
                                        <p:tav tm="0">
                                          <p:val>
                                            <p:strVal val="#ppt_y"/>
                                          </p:val>
                                        </p:tav>
                                        <p:tav tm="100000">
                                          <p:val>
                                            <p:strVal val="#ppt_y"/>
                                          </p:val>
                                        </p:tav>
                                      </p:tavLst>
                                    </p:anim>
                                    <p:animEffect transition="in" filter="wipe(right)">
                                      <p:cBhvr additive="base">
                                        <p:cTn id="29" dur="1000"/>
                                        <p:tgtEl>
                                          <p:spTgt spid="2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67</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495" name="标题 2494"/>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496" name="文本占位符 2495"/>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离散信源的</a:t>
            </a:r>
            <a:r>
              <a:rPr lang="zh-CN" altLang="en-US">
                <a:solidFill>
                  <a:srgbClr val="FF0000"/>
                </a:solidFill>
                <a:ea typeface="MingLiU_HKSCS-ExtB" panose="02020500000000000000" charset="-120"/>
              </a:rPr>
              <a:t>信息率失真函数</a:t>
            </a:r>
          </a:p>
        </p:txBody>
      </p:sp>
      <p:pic>
        <p:nvPicPr>
          <p:cNvPr id="2497" name="图片 2496"/>
          <p:cNvPicPr>
            <a:picLocks noChangeAspect="1"/>
          </p:cNvPicPr>
          <p:nvPr/>
        </p:nvPicPr>
        <p:blipFill>
          <a:blip r:embed="rId2"/>
          <a:stretch>
            <a:fillRect/>
          </a:stretch>
        </p:blipFill>
        <p:spPr>
          <a:xfrm>
            <a:off x="4905375" y="1700213"/>
            <a:ext cx="3468688" cy="4321175"/>
          </a:xfrm>
          <a:prstGeom prst="rect">
            <a:avLst/>
          </a:prstGeom>
          <a:noFill/>
          <a:ln w="9525">
            <a:noFill/>
          </a:ln>
        </p:spPr>
      </p:pic>
      <p:sp>
        <p:nvSpPr>
          <p:cNvPr id="2498" name="矩形 2497"/>
          <p:cNvSpPr/>
          <p:nvPr/>
        </p:nvSpPr>
        <p:spPr>
          <a:xfrm>
            <a:off x="1247775" y="1782763"/>
            <a:ext cx="3260725" cy="2978150"/>
          </a:xfrm>
          <a:prstGeom prst="rect">
            <a:avLst/>
          </a:prstGeom>
          <a:noFill/>
          <a:ln w="12700">
            <a:noFill/>
          </a:ln>
        </p:spPr>
        <p:txBody>
          <a:bodyPr>
            <a:spAutoFit/>
          </a:bodyPr>
          <a:lstStyle/>
          <a:p>
            <a:pPr eaLnBrk="0" hangingPunct="0">
              <a:lnSpc>
                <a:spcPct val="140000"/>
              </a:lnSpc>
              <a:spcBef>
                <a:spcPct val="20000"/>
              </a:spcBef>
            </a:pPr>
            <a:r>
              <a:rPr lang="zh-CN" altLang="en-US" sz="2200" b="1">
                <a:solidFill>
                  <a:srgbClr val="0000CC"/>
                </a:solidFill>
                <a:latin typeface="Times New Roman" panose="02020603050405020304" pitchFamily="18" charset="0"/>
                <a:ea typeface="MingLiU_HKSCS-ExtB" panose="02020500000000000000" charset="-120"/>
              </a:rPr>
              <a:t>第六步：</a:t>
            </a:r>
            <a:r>
              <a:rPr lang="zh-CN" altLang="en-US" sz="2200" b="1">
                <a:latin typeface="Times New Roman" panose="02020603050405020304" pitchFamily="18" charset="0"/>
                <a:ea typeface="MingLiU_HKSCS-ExtB" panose="02020500000000000000" charset="-120"/>
              </a:rPr>
              <a:t>由于</a:t>
            </a:r>
            <a:r>
              <a:rPr lang="zh-CN" altLang="en-US" sz="2200" b="1">
                <a:solidFill>
                  <a:srgbClr val="0000CC"/>
                </a:solidFill>
                <a:latin typeface="Times New Roman" panose="02020603050405020304" pitchFamily="18" charset="0"/>
                <a:ea typeface="MingLiU_HKSCS-ExtB" panose="02020500000000000000" charset="-120"/>
              </a:rPr>
              <a:t> </a:t>
            </a:r>
            <a:r>
              <a:rPr lang="en-US" altLang="zh-CN" sz="2200" b="1" i="1">
                <a:latin typeface="Times New Roman" panose="02020603050405020304" pitchFamily="18" charset="0"/>
                <a:ea typeface="MingLiU_HKSCS-ExtB" panose="02020500000000000000" charset="-120"/>
              </a:rPr>
              <a:t>p</a:t>
            </a:r>
            <a:r>
              <a:rPr lang="en-US" altLang="zh-CN" sz="2200" b="1">
                <a:latin typeface="Times New Roman" panose="02020603050405020304" pitchFamily="18" charset="0"/>
                <a:ea typeface="MingLiU_HKSCS-ExtB" panose="02020500000000000000" charset="-120"/>
              </a:rPr>
              <a:t>(</a:t>
            </a:r>
            <a:r>
              <a:rPr lang="en-US" altLang="zh-CN" sz="2200" b="1" i="1">
                <a:latin typeface="Times New Roman" panose="02020603050405020304" pitchFamily="18" charset="0"/>
                <a:ea typeface="MingLiU_HKSCS-ExtB" panose="02020500000000000000" charset="-120"/>
              </a:rPr>
              <a:t>y</a:t>
            </a:r>
            <a:r>
              <a:rPr lang="en-US" altLang="zh-CN" sz="2200" b="1" i="1" baseline="-25000">
                <a:latin typeface="Times New Roman" panose="02020603050405020304" pitchFamily="18" charset="0"/>
                <a:ea typeface="MingLiU_HKSCS-ExtB" panose="02020500000000000000" charset="-120"/>
              </a:rPr>
              <a:t>j</a:t>
            </a:r>
            <a:r>
              <a:rPr lang="en-US" altLang="zh-CN" sz="2200" b="1">
                <a:latin typeface="Times New Roman" panose="02020603050405020304" pitchFamily="18" charset="0"/>
                <a:ea typeface="MingLiU_HKSCS-ExtB" panose="02020500000000000000" charset="-120"/>
              </a:rPr>
              <a:t>) </a:t>
            </a:r>
            <a:r>
              <a:rPr lang="zh-CN" altLang="en-US" sz="2200" b="1">
                <a:latin typeface="Times New Roman" panose="02020603050405020304" pitchFamily="18" charset="0"/>
                <a:ea typeface="MingLiU_HKSCS-ExtB" panose="02020500000000000000" charset="-120"/>
              </a:rPr>
              <a:t>不能是负值，参量 </a:t>
            </a:r>
            <a:r>
              <a:rPr lang="en-US" altLang="zh-CN" sz="2200" b="1" i="1">
                <a:latin typeface="Times New Roman" panose="02020603050405020304" pitchFamily="18" charset="0"/>
                <a:ea typeface="MingLiU_HKSCS-ExtB" panose="02020500000000000000" charset="-120"/>
              </a:rPr>
              <a:t>S</a:t>
            </a:r>
            <a:r>
              <a:rPr lang="en-US" altLang="zh-CN" sz="2200" b="1">
                <a:latin typeface="Times New Roman" panose="02020603050405020304" pitchFamily="18" charset="0"/>
                <a:ea typeface="MingLiU_HKSCS-ExtB" panose="02020500000000000000" charset="-120"/>
              </a:rPr>
              <a:t> </a:t>
            </a:r>
            <a:r>
              <a:rPr lang="zh-CN" altLang="en-US" sz="2200" b="1">
                <a:latin typeface="Times New Roman" panose="02020603050405020304" pitchFamily="18" charset="0"/>
                <a:ea typeface="MingLiU_HKSCS-ExtB" panose="02020500000000000000" charset="-120"/>
              </a:rPr>
              <a:t>的取值有一定的限制。选择使 </a:t>
            </a:r>
            <a:r>
              <a:rPr lang="en-US" altLang="zh-CN" sz="2200" b="1" i="1">
                <a:latin typeface="Times New Roman" panose="02020603050405020304" pitchFamily="18" charset="0"/>
                <a:ea typeface="MingLiU_HKSCS-ExtB" panose="02020500000000000000" charset="-120"/>
              </a:rPr>
              <a:t>p</a:t>
            </a:r>
            <a:r>
              <a:rPr lang="en-US" altLang="zh-CN" sz="2200" b="1">
                <a:latin typeface="Times New Roman" panose="02020603050405020304" pitchFamily="18" charset="0"/>
                <a:ea typeface="MingLiU_HKSCS-ExtB" panose="02020500000000000000" charset="-120"/>
              </a:rPr>
              <a:t>(</a:t>
            </a:r>
            <a:r>
              <a:rPr lang="en-US" altLang="zh-CN" sz="2200" b="1" i="1">
                <a:latin typeface="Times New Roman" panose="02020603050405020304" pitchFamily="18" charset="0"/>
                <a:ea typeface="MingLiU_HKSCS-ExtB" panose="02020500000000000000" charset="-120"/>
              </a:rPr>
              <a:t>y</a:t>
            </a:r>
            <a:r>
              <a:rPr lang="en-US" altLang="zh-CN" sz="2200" b="1" i="1" baseline="-25000">
                <a:latin typeface="Times New Roman" panose="02020603050405020304" pitchFamily="18" charset="0"/>
                <a:ea typeface="MingLiU_HKSCS-ExtB" panose="02020500000000000000" charset="-120"/>
              </a:rPr>
              <a:t>j</a:t>
            </a:r>
            <a:r>
              <a:rPr lang="en-US" altLang="zh-CN" sz="2200" b="1">
                <a:latin typeface="Times New Roman" panose="02020603050405020304" pitchFamily="18" charset="0"/>
                <a:ea typeface="MingLiU_HKSCS-ExtB" panose="02020500000000000000" charset="-120"/>
              </a:rPr>
              <a:t>) </a:t>
            </a:r>
            <a:r>
              <a:rPr lang="zh-CN" altLang="en-US" sz="2200" b="1">
                <a:latin typeface="Times New Roman" panose="02020603050405020304" pitchFamily="18" charset="0"/>
                <a:ea typeface="MingLiU_HKSCS-ExtB" panose="02020500000000000000" charset="-120"/>
              </a:rPr>
              <a:t>非负的所有</a:t>
            </a:r>
            <a:r>
              <a:rPr lang="zh-CN" altLang="en-US" sz="2200" b="1">
                <a:solidFill>
                  <a:schemeClr val="bg1"/>
                </a:solidFill>
                <a:latin typeface="Times New Roman" panose="02020603050405020304" pitchFamily="18" charset="0"/>
                <a:ea typeface="MingLiU_HKSCS-ExtB" panose="02020500000000000000" charset="-120"/>
              </a:rPr>
              <a:t> </a:t>
            </a:r>
            <a:r>
              <a:rPr lang="en-US" altLang="zh-CN" sz="2200" b="1" i="1">
                <a:solidFill>
                  <a:srgbClr val="FF0000"/>
                </a:solidFill>
                <a:latin typeface="Times New Roman" panose="02020603050405020304" pitchFamily="18" charset="0"/>
                <a:ea typeface="MingLiU_HKSCS-ExtB" panose="02020500000000000000" charset="-120"/>
              </a:rPr>
              <a:t>S</a:t>
            </a:r>
            <a:r>
              <a:rPr lang="zh-CN" altLang="en-US" sz="2200" b="1">
                <a:solidFill>
                  <a:srgbClr val="FF0000"/>
                </a:solidFill>
                <a:latin typeface="Times New Roman" panose="02020603050405020304" pitchFamily="18" charset="0"/>
                <a:ea typeface="MingLiU_HKSCS-ExtB" panose="02020500000000000000" charset="-120"/>
              </a:rPr>
              <a:t>，</a:t>
            </a:r>
            <a:r>
              <a:rPr lang="zh-CN" altLang="en-US" sz="2200" b="1">
                <a:latin typeface="Times New Roman" panose="02020603050405020304" pitchFamily="18" charset="0"/>
                <a:ea typeface="MingLiU_HKSCS-ExtB" panose="02020500000000000000" charset="-120"/>
              </a:rPr>
              <a:t>得到</a:t>
            </a:r>
            <a:r>
              <a:rPr lang="zh-CN" altLang="en-US" sz="2200" b="1">
                <a:solidFill>
                  <a:schemeClr val="bg1"/>
                </a:solidFill>
                <a:latin typeface="Times New Roman" panose="02020603050405020304" pitchFamily="18" charset="0"/>
                <a:ea typeface="MingLiU_HKSCS-ExtB" panose="02020500000000000000" charset="-120"/>
              </a:rPr>
              <a:t> </a:t>
            </a:r>
            <a:r>
              <a:rPr lang="en-US" altLang="zh-CN" sz="2200" b="1" i="1">
                <a:solidFill>
                  <a:srgbClr val="FF0000"/>
                </a:solidFill>
                <a:latin typeface="Times New Roman" panose="02020603050405020304" pitchFamily="18" charset="0"/>
                <a:ea typeface="MingLiU_HKSCS-ExtB" panose="02020500000000000000" charset="-120"/>
              </a:rPr>
              <a:t>D</a:t>
            </a:r>
            <a:r>
              <a:rPr lang="en-US" altLang="zh-CN" sz="2200" b="1" i="1">
                <a:solidFill>
                  <a:srgbClr val="FFFF00"/>
                </a:solidFill>
                <a:latin typeface="Times New Roman" panose="02020603050405020304" pitchFamily="18" charset="0"/>
                <a:ea typeface="MingLiU_HKSCS-ExtB" panose="02020500000000000000" charset="-120"/>
              </a:rPr>
              <a:t> </a:t>
            </a:r>
            <a:r>
              <a:rPr lang="zh-CN" altLang="en-US" sz="2200" b="1">
                <a:latin typeface="Times New Roman" panose="02020603050405020304" pitchFamily="18" charset="0"/>
                <a:ea typeface="MingLiU_HKSCS-ExtB" panose="02020500000000000000" charset="-120"/>
              </a:rPr>
              <a:t>和</a:t>
            </a:r>
            <a:r>
              <a:rPr lang="zh-CN" altLang="en-US" sz="2200" b="1">
                <a:solidFill>
                  <a:srgbClr val="FF0000"/>
                </a:solidFill>
                <a:latin typeface="Times New Roman" panose="02020603050405020304" pitchFamily="18" charset="0"/>
                <a:ea typeface="MingLiU_HKSCS-ExtB" panose="02020500000000000000" charset="-120"/>
              </a:rPr>
              <a:t> </a:t>
            </a:r>
            <a:r>
              <a:rPr lang="en-US" altLang="zh-CN" sz="2200" b="1" i="1">
                <a:solidFill>
                  <a:srgbClr val="FF0000"/>
                </a:solidFill>
                <a:latin typeface="Times New Roman" panose="02020603050405020304" pitchFamily="18" charset="0"/>
                <a:ea typeface="MingLiU_HKSCS-ExtB" panose="02020500000000000000" charset="-120"/>
              </a:rPr>
              <a:t>R</a:t>
            </a:r>
            <a:r>
              <a:rPr lang="en-US" altLang="zh-CN" sz="2200" b="1" i="1">
                <a:solidFill>
                  <a:srgbClr val="0000CC"/>
                </a:solidFill>
                <a:latin typeface="Times New Roman" panose="02020603050405020304" pitchFamily="18" charset="0"/>
                <a:ea typeface="MingLiU_HKSCS-ExtB" panose="02020500000000000000" charset="-120"/>
              </a:rPr>
              <a:t> </a:t>
            </a:r>
            <a:r>
              <a:rPr lang="zh-CN" altLang="en-US" sz="2200" b="1">
                <a:latin typeface="Times New Roman" panose="02020603050405020304" pitchFamily="18" charset="0"/>
                <a:ea typeface="MingLiU_HKSCS-ExtB" panose="02020500000000000000" charset="-120"/>
              </a:rPr>
              <a:t>值，可以画 </a:t>
            </a:r>
            <a:r>
              <a:rPr lang="en-US" altLang="zh-CN" sz="2200" b="1" i="1">
                <a:solidFill>
                  <a:srgbClr val="FF0000"/>
                </a:solidFill>
                <a:latin typeface="Times New Roman" panose="02020603050405020304" pitchFamily="18" charset="0"/>
                <a:ea typeface="MingLiU_HKSCS-ExtB" panose="02020500000000000000" charset="-120"/>
              </a:rPr>
              <a:t>R</a:t>
            </a:r>
            <a:r>
              <a:rPr lang="en-US" altLang="zh-CN" sz="2200" b="1">
                <a:solidFill>
                  <a:srgbClr val="FF0000"/>
                </a:solidFill>
                <a:latin typeface="Times New Roman" panose="02020603050405020304" pitchFamily="18" charset="0"/>
                <a:ea typeface="MingLiU_HKSCS-ExtB" panose="02020500000000000000" charset="-120"/>
              </a:rPr>
              <a:t>(</a:t>
            </a:r>
            <a:r>
              <a:rPr lang="en-US" altLang="zh-CN" sz="2200" b="1" i="1">
                <a:solidFill>
                  <a:srgbClr val="FF0000"/>
                </a:solidFill>
                <a:latin typeface="Times New Roman" panose="02020603050405020304" pitchFamily="18" charset="0"/>
                <a:ea typeface="MingLiU_HKSCS-ExtB" panose="02020500000000000000" charset="-120"/>
              </a:rPr>
              <a:t>D</a:t>
            </a:r>
            <a:r>
              <a:rPr lang="en-US" altLang="zh-CN" sz="2200" b="1">
                <a:solidFill>
                  <a:srgbClr val="FF0000"/>
                </a:solidFill>
                <a:latin typeface="Times New Roman" panose="02020603050405020304" pitchFamily="18" charset="0"/>
                <a:ea typeface="MingLiU_HKSCS-ExtB" panose="02020500000000000000" charset="-120"/>
              </a:rPr>
              <a:t>)</a:t>
            </a:r>
          </a:p>
          <a:p>
            <a:pPr eaLnBrk="0" hangingPunct="0">
              <a:lnSpc>
                <a:spcPct val="140000"/>
              </a:lnSpc>
              <a:spcBef>
                <a:spcPct val="20000"/>
              </a:spcBef>
            </a:pPr>
            <a:r>
              <a:rPr lang="zh-CN" altLang="en-US" sz="2200" b="1">
                <a:latin typeface="Times New Roman" panose="02020603050405020304" pitchFamily="18" charset="0"/>
                <a:ea typeface="MingLiU_HKSCS-ExtB" panose="02020500000000000000" charset="-120"/>
              </a:rPr>
              <a:t>曲线，如图</a:t>
            </a:r>
            <a:r>
              <a:rPr lang="en-US" altLang="zh-CN" sz="2200" b="1">
                <a:latin typeface="Times New Roman" panose="02020603050405020304" pitchFamily="18" charset="0"/>
                <a:ea typeface="MingLiU_HKSCS-ExtB" panose="02020500000000000000" charset="-120"/>
              </a:rPr>
              <a:t>4.2.1</a:t>
            </a:r>
            <a:r>
              <a:rPr lang="zh-CN" altLang="en-US" sz="2200" b="1">
                <a:latin typeface="Times New Roman" panose="02020603050405020304" pitchFamily="18" charset="0"/>
                <a:ea typeface="MingLiU_HKSCS-ExtB" panose="02020500000000000000" charset="-120"/>
              </a:rPr>
              <a:t>。</a:t>
            </a:r>
          </a:p>
        </p:txBody>
      </p:sp>
      <p:sp>
        <p:nvSpPr>
          <p:cNvPr id="2499" name="矩形 2498"/>
          <p:cNvSpPr/>
          <p:nvPr/>
        </p:nvSpPr>
        <p:spPr>
          <a:xfrm>
            <a:off x="8029575" y="5948363"/>
            <a:ext cx="796925" cy="360362"/>
          </a:xfrm>
          <a:solidFill>
            <a:srgbClr val="BBE0E3"/>
          </a:solidFill>
          <a:ln w="12700">
            <a:noFill/>
          </a:ln>
        </p:spPr>
        <p:txBody>
          <a:bodyPr/>
          <a:lstStyle/>
          <a:p>
            <a:endParaRPr lang="zh-CN" altLang="en-US"/>
          </a:p>
        </p:txBody>
      </p:sp>
      <p:sp>
        <p:nvSpPr>
          <p:cNvPr id="2500" name="矩形 2499"/>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497"/>
                                        </p:tgtEl>
                                        <p:attrNameLst>
                                          <p:attrName>style.visibility</p:attrName>
                                        </p:attrNameLst>
                                      </p:cBhvr>
                                      <p:to>
                                        <p:strVal val="visible"/>
                                      </p:to>
                                    </p:set>
                                    <p:anim calcmode="lin" valueType="num">
                                      <p:cBhvr additive="base">
                                        <p:cTn id="7" dur="1000" fill="hold"/>
                                        <p:tgtEl>
                                          <p:spTgt spid="2497"/>
                                        </p:tgtEl>
                                        <p:attrNameLst>
                                          <p:attrName>ppt_x</p:attrName>
                                        </p:attrNameLst>
                                      </p:cBhvr>
                                      <p:tavLst>
                                        <p:tav tm="0">
                                          <p:val>
                                            <p:strVal val="#ppt_x-.2"/>
                                          </p:val>
                                        </p:tav>
                                        <p:tav tm="100000">
                                          <p:val>
                                            <p:strVal val="#ppt_x"/>
                                          </p:val>
                                        </p:tav>
                                      </p:tavLst>
                                    </p:anim>
                                    <p:anim calcmode="lin" valueType="num">
                                      <p:cBhvr additive="base">
                                        <p:cTn id="8" dur="1000" fill="hold"/>
                                        <p:tgtEl>
                                          <p:spTgt spid="2497"/>
                                        </p:tgtEl>
                                        <p:attrNameLst>
                                          <p:attrName>ppt_y</p:attrName>
                                        </p:attrNameLst>
                                      </p:cBhvr>
                                      <p:tavLst>
                                        <p:tav tm="0">
                                          <p:val>
                                            <p:strVal val="#ppt_y"/>
                                          </p:val>
                                        </p:tav>
                                        <p:tav tm="100000">
                                          <p:val>
                                            <p:strVal val="#ppt_y"/>
                                          </p:val>
                                        </p:tav>
                                      </p:tavLst>
                                    </p:anim>
                                    <p:animEffect transition="in" filter="wipe(right)">
                                      <p:cBhvr additive="base">
                                        <p:cTn id="9" dur="1000"/>
                                        <p:tgtEl>
                                          <p:spTgt spid="2497"/>
                                        </p:tgtEl>
                                      </p:cBhvr>
                                    </p:animEffect>
                                  </p:childTnLst>
                                </p:cTn>
                              </p:par>
                              <p:par>
                                <p:cTn id="10" presetID="29" presetClass="entr" presetSubtype="0" fill="hold" grpId="0" nodeType="withEffect">
                                  <p:childTnLst>
                                    <p:set>
                                      <p:cBhvr additive="base">
                                        <p:cTn id="11" dur="1" fill="hold">
                                          <p:stCondLst>
                                            <p:cond delay="0"/>
                                          </p:stCondLst>
                                        </p:cTn>
                                        <p:tgtEl>
                                          <p:spTgt spid="2498"/>
                                        </p:tgtEl>
                                        <p:attrNameLst>
                                          <p:attrName>style.visibility</p:attrName>
                                        </p:attrNameLst>
                                      </p:cBhvr>
                                      <p:to>
                                        <p:strVal val="visible"/>
                                      </p:to>
                                    </p:set>
                                    <p:anim calcmode="lin" valueType="num">
                                      <p:cBhvr additive="base">
                                        <p:cTn id="12" dur="1000" fill="hold"/>
                                        <p:tgtEl>
                                          <p:spTgt spid="2498"/>
                                        </p:tgtEl>
                                        <p:attrNameLst>
                                          <p:attrName>ppt_x</p:attrName>
                                        </p:attrNameLst>
                                      </p:cBhvr>
                                      <p:tavLst>
                                        <p:tav tm="0">
                                          <p:val>
                                            <p:strVal val="#ppt_x-.2"/>
                                          </p:val>
                                        </p:tav>
                                        <p:tav tm="100000">
                                          <p:val>
                                            <p:strVal val="#ppt_x"/>
                                          </p:val>
                                        </p:tav>
                                      </p:tavLst>
                                    </p:anim>
                                    <p:anim calcmode="lin" valueType="num">
                                      <p:cBhvr additive="base">
                                        <p:cTn id="13" dur="1000" fill="hold"/>
                                        <p:tgtEl>
                                          <p:spTgt spid="2498"/>
                                        </p:tgtEl>
                                        <p:attrNameLst>
                                          <p:attrName>ppt_y</p:attrName>
                                        </p:attrNameLst>
                                      </p:cBhvr>
                                      <p:tavLst>
                                        <p:tav tm="0">
                                          <p:val>
                                            <p:strVal val="#ppt_y"/>
                                          </p:val>
                                        </p:tav>
                                        <p:tav tm="100000">
                                          <p:val>
                                            <p:strVal val="#ppt_y"/>
                                          </p:val>
                                        </p:tav>
                                      </p:tavLst>
                                    </p:anim>
                                    <p:animEffect transition="in" filter="wipe(right)">
                                      <p:cBhvr additive="base">
                                        <p:cTn id="14" dur="1000"/>
                                        <p:tgtEl>
                                          <p:spTgt spid="2498"/>
                                        </p:tgtEl>
                                      </p:cBhvr>
                                    </p:animEffect>
                                  </p:childTnLst>
                                </p:cTn>
                              </p:par>
                              <p:par>
                                <p:cTn id="15" presetID="29" presetClass="entr" presetSubtype="0" fill="hold" grpId="1" nodeType="withEffect">
                                  <p:childTnLst>
                                    <p:set>
                                      <p:cBhvr additive="base">
                                        <p:cTn id="16" dur="1" fill="hold">
                                          <p:stCondLst>
                                            <p:cond delay="0"/>
                                          </p:stCondLst>
                                        </p:cTn>
                                        <p:tgtEl>
                                          <p:spTgt spid="2499"/>
                                        </p:tgtEl>
                                        <p:attrNameLst>
                                          <p:attrName>style.visibility</p:attrName>
                                        </p:attrNameLst>
                                      </p:cBhvr>
                                      <p:to>
                                        <p:strVal val="visible"/>
                                      </p:to>
                                    </p:set>
                                    <p:anim calcmode="lin" valueType="num">
                                      <p:cBhvr additive="base">
                                        <p:cTn id="17" dur="1000" fill="hold"/>
                                        <p:tgtEl>
                                          <p:spTgt spid="2499"/>
                                        </p:tgtEl>
                                        <p:attrNameLst>
                                          <p:attrName>ppt_x</p:attrName>
                                        </p:attrNameLst>
                                      </p:cBhvr>
                                      <p:tavLst>
                                        <p:tav tm="0">
                                          <p:val>
                                            <p:strVal val="#ppt_x-.2"/>
                                          </p:val>
                                        </p:tav>
                                        <p:tav tm="100000">
                                          <p:val>
                                            <p:strVal val="#ppt_x"/>
                                          </p:val>
                                        </p:tav>
                                      </p:tavLst>
                                    </p:anim>
                                    <p:anim calcmode="lin" valueType="num">
                                      <p:cBhvr additive="base">
                                        <p:cTn id="18" dur="1000" fill="hold"/>
                                        <p:tgtEl>
                                          <p:spTgt spid="2499"/>
                                        </p:tgtEl>
                                        <p:attrNameLst>
                                          <p:attrName>ppt_y</p:attrName>
                                        </p:attrNameLst>
                                      </p:cBhvr>
                                      <p:tavLst>
                                        <p:tav tm="0">
                                          <p:val>
                                            <p:strVal val="#ppt_y"/>
                                          </p:val>
                                        </p:tav>
                                        <p:tav tm="100000">
                                          <p:val>
                                            <p:strVal val="#ppt_y"/>
                                          </p:val>
                                        </p:tav>
                                      </p:tavLst>
                                    </p:anim>
                                    <p:animEffect transition="in" filter="wipe(right)">
                                      <p:cBhvr additive="base">
                                        <p:cTn id="19" dur="1000"/>
                                        <p:tgtEl>
                                          <p:spTgt spid="2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 grpId="0" animBg="1"/>
      <p:bldP spid="2499" grpId="1"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68</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03" name="标题 2502"/>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504" name="文本占位符 2503"/>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(3)</a:t>
            </a:r>
            <a:r>
              <a:rPr lang="en-US" altLang="zh-CN" i="1">
                <a:ea typeface="MingLiU_HKSCS-ExtB" panose="02020500000000000000" charset="-120"/>
              </a:rPr>
              <a:t> </a:t>
            </a:r>
            <a:r>
              <a:rPr lang="zh-CN" altLang="en-US">
                <a:ea typeface="MingLiU_HKSCS-ExtB" panose="02020500000000000000" charset="-120"/>
              </a:rPr>
              <a:t>参量 </a:t>
            </a:r>
            <a:r>
              <a:rPr lang="en-US" altLang="zh-CN" i="1">
                <a:ea typeface="MingLiU_HKSCS-ExtB" panose="02020500000000000000" charset="-120"/>
              </a:rPr>
              <a:t>S</a:t>
            </a:r>
            <a:r>
              <a:rPr lang="en-US" altLang="zh-CN">
                <a:ea typeface="MingLiU_HKSCS-ExtB" panose="02020500000000000000" charset="-120"/>
              </a:rPr>
              <a:t> </a:t>
            </a:r>
            <a:r>
              <a:rPr lang="zh-CN" altLang="en-US">
                <a:ea typeface="MingLiU_HKSCS-ExtB" panose="02020500000000000000" charset="-120"/>
              </a:rPr>
              <a:t>的说明</a:t>
            </a:r>
            <a:endParaRPr lang="zh-CN" altLang="en-US">
              <a:solidFill>
                <a:srgbClr val="FF0000"/>
              </a:solidFill>
              <a:ea typeface="MingLiU_HKSCS-ExtB" panose="02020500000000000000" charset="-120"/>
            </a:endParaRPr>
          </a:p>
        </p:txBody>
      </p:sp>
      <p:pic>
        <p:nvPicPr>
          <p:cNvPr id="2505" name="图片 2504"/>
          <p:cNvPicPr>
            <a:picLocks noChangeAspect="1"/>
          </p:cNvPicPr>
          <p:nvPr/>
        </p:nvPicPr>
        <p:blipFill>
          <a:blip r:embed="rId3"/>
          <a:stretch>
            <a:fillRect/>
          </a:stretch>
        </p:blipFill>
        <p:spPr>
          <a:xfrm>
            <a:off x="5091113" y="1700213"/>
            <a:ext cx="3470275" cy="4321175"/>
          </a:xfrm>
          <a:prstGeom prst="rect">
            <a:avLst/>
          </a:prstGeom>
          <a:noFill/>
          <a:ln w="9525">
            <a:noFill/>
          </a:ln>
        </p:spPr>
      </p:pic>
      <p:sp>
        <p:nvSpPr>
          <p:cNvPr id="2506" name="矩形 2505"/>
          <p:cNvSpPr/>
          <p:nvPr/>
        </p:nvSpPr>
        <p:spPr>
          <a:xfrm>
            <a:off x="971550" y="1628775"/>
            <a:ext cx="3890963" cy="4210050"/>
          </a:xfrm>
          <a:prstGeom prst="rect">
            <a:avLst/>
          </a:prstGeom>
          <a:noFill/>
          <a:ln w="12700">
            <a:noFill/>
          </a:ln>
        </p:spPr>
        <p:txBody>
          <a:bodyPr>
            <a:spAutoFit/>
          </a:bodyPr>
          <a:lstStyle/>
          <a:p>
            <a:pPr marL="355600" indent="-355600" eaLnBrk="0" hangingPunct="0">
              <a:lnSpc>
                <a:spcPct val="150000"/>
              </a:lnSpc>
              <a:buClr>
                <a:srgbClr val="660033"/>
              </a:buClr>
              <a:buSzPct val="90000"/>
              <a:buFont typeface="Wingdings" panose="05000000000000000000" pitchFamily="2" charset="2"/>
              <a:buChar char="ÿ"/>
            </a:pPr>
            <a:r>
              <a:rPr lang="zh-CN" altLang="en-US" sz="2000" b="1">
                <a:solidFill>
                  <a:srgbClr val="0000CC"/>
                </a:solidFill>
                <a:latin typeface="Times New Roman" panose="02020603050405020304" pitchFamily="18" charset="0"/>
                <a:ea typeface="MingLiU_HKSCS-ExtB" panose="02020500000000000000" charset="-120"/>
              </a:rPr>
              <a:t>可以证明：</a:t>
            </a:r>
            <a:r>
              <a:rPr lang="zh-CN" altLang="en-US" sz="2000" b="1">
                <a:latin typeface="Times New Roman" panose="02020603050405020304" pitchFamily="18" charset="0"/>
                <a:ea typeface="MingLiU_HKSCS-ExtB" panose="02020500000000000000" charset="-120"/>
              </a:rPr>
              <a:t>参量</a:t>
            </a:r>
            <a:r>
              <a:rPr lang="zh-CN" altLang="en-US" sz="2000" b="1">
                <a:solidFill>
                  <a:srgbClr val="0000CC"/>
                </a:solidFill>
                <a:latin typeface="Times New Roman" panose="02020603050405020304" pitchFamily="18" charset="0"/>
                <a:ea typeface="MingLiU_HKSCS-ExtB" panose="02020500000000000000" charset="-120"/>
              </a:rPr>
              <a:t> </a:t>
            </a:r>
            <a:r>
              <a:rPr lang="en-US" altLang="zh-CN" sz="2000" b="1" i="1">
                <a:latin typeface="Times New Roman" panose="02020603050405020304" pitchFamily="18" charset="0"/>
                <a:ea typeface="MingLiU_HKSCS-ExtB" panose="02020500000000000000" charset="-120"/>
              </a:rPr>
              <a:t>S </a:t>
            </a:r>
            <a:r>
              <a:rPr lang="zh-CN" altLang="en-US" sz="2000" b="1">
                <a:latin typeface="Times New Roman" panose="02020603050405020304" pitchFamily="18" charset="0"/>
                <a:ea typeface="MingLiU_HKSCS-ExtB" panose="02020500000000000000" charset="-120"/>
              </a:rPr>
              <a:t>就是 </a:t>
            </a:r>
            <a:r>
              <a:rPr lang="en-US" altLang="zh-CN" sz="2000" b="1" i="1">
                <a:latin typeface="Times New Roman" panose="02020603050405020304" pitchFamily="18" charset="0"/>
                <a:ea typeface="MingLiU_HKSCS-ExtB" panose="02020500000000000000" charset="-120"/>
              </a:rPr>
              <a:t>R</a:t>
            </a:r>
            <a:r>
              <a:rPr lang="en-US" altLang="zh-CN" sz="2000" b="1">
                <a:latin typeface="Times New Roman" panose="02020603050405020304" pitchFamily="18" charset="0"/>
                <a:ea typeface="MingLiU_HKSCS-ExtB" panose="02020500000000000000" charset="-120"/>
              </a:rPr>
              <a:t>(</a:t>
            </a:r>
            <a:r>
              <a:rPr lang="en-US" altLang="zh-CN" sz="2000" b="1" i="1">
                <a:latin typeface="Times New Roman" panose="02020603050405020304" pitchFamily="18" charset="0"/>
                <a:ea typeface="MingLiU_HKSCS-ExtB" panose="02020500000000000000" charset="-120"/>
              </a:rPr>
              <a:t>D</a:t>
            </a:r>
            <a:r>
              <a:rPr lang="en-US" altLang="zh-CN" sz="2000" b="1">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函数的斜率                。</a:t>
            </a:r>
          </a:p>
          <a:p>
            <a:pPr marL="355600" indent="-355600" eaLnBrk="0" hangingPunct="0">
              <a:lnSpc>
                <a:spcPct val="150000"/>
              </a:lnSpc>
              <a:buClr>
                <a:srgbClr val="660033"/>
              </a:buClr>
              <a:buSzPct val="90000"/>
              <a:buFont typeface="Wingdings" panose="05000000000000000000" pitchFamily="2" charset="2"/>
              <a:buChar char="ÿ"/>
            </a:pPr>
            <a:r>
              <a:rPr lang="zh-CN" altLang="en-US" sz="2000" b="1">
                <a:solidFill>
                  <a:srgbClr val="0000CC"/>
                </a:solidFill>
                <a:latin typeface="Times New Roman" panose="02020603050405020304" pitchFamily="18" charset="0"/>
                <a:ea typeface="MingLiU_HKSCS-ExtB" panose="02020500000000000000" charset="-120"/>
              </a:rPr>
              <a:t>参量 </a:t>
            </a:r>
            <a:r>
              <a:rPr lang="en-US" altLang="zh-CN" sz="2000" b="1" i="1">
                <a:solidFill>
                  <a:srgbClr val="0000CC"/>
                </a:solidFill>
                <a:latin typeface="Times New Roman" panose="02020603050405020304" pitchFamily="18" charset="0"/>
                <a:ea typeface="MingLiU_HKSCS-ExtB" panose="02020500000000000000" charset="-120"/>
              </a:rPr>
              <a:t>S </a:t>
            </a:r>
            <a:r>
              <a:rPr lang="zh-CN" altLang="en-US" sz="2000" b="1">
                <a:solidFill>
                  <a:srgbClr val="0000CC"/>
                </a:solidFill>
                <a:latin typeface="Times New Roman" panose="02020603050405020304" pitchFamily="18" charset="0"/>
                <a:ea typeface="MingLiU_HKSCS-ExtB" panose="02020500000000000000" charset="-120"/>
              </a:rPr>
              <a:t>的特性：</a:t>
            </a:r>
            <a:r>
              <a:rPr lang="zh-CN" altLang="en-US" sz="2000" b="1">
                <a:latin typeface="Times New Roman" panose="02020603050405020304" pitchFamily="18" charset="0"/>
                <a:ea typeface="MingLiU_HKSCS-ExtB" panose="02020500000000000000" charset="-120"/>
              </a:rPr>
              <a:t>由于</a:t>
            </a:r>
            <a:r>
              <a:rPr lang="en-US" altLang="zh-CN" sz="2000" b="1" i="1">
                <a:latin typeface="Times New Roman" panose="02020603050405020304" pitchFamily="18" charset="0"/>
                <a:ea typeface="MingLiU_HKSCS-ExtB" panose="02020500000000000000" charset="-120"/>
              </a:rPr>
              <a:t>R</a:t>
            </a:r>
            <a:r>
              <a:rPr lang="en-US" altLang="zh-CN" sz="2000" b="1">
                <a:latin typeface="Times New Roman" panose="02020603050405020304" pitchFamily="18" charset="0"/>
                <a:ea typeface="MingLiU_HKSCS-ExtB" panose="02020500000000000000" charset="-120"/>
              </a:rPr>
              <a:t>(</a:t>
            </a:r>
            <a:r>
              <a:rPr lang="en-US" altLang="zh-CN" sz="2000" b="1" i="1">
                <a:latin typeface="Times New Roman" panose="02020603050405020304" pitchFamily="18" charset="0"/>
                <a:ea typeface="MingLiU_HKSCS-ExtB" panose="02020500000000000000" charset="-120"/>
              </a:rPr>
              <a:t>D</a:t>
            </a:r>
            <a:r>
              <a:rPr lang="en-US" altLang="zh-CN" sz="2000" b="1">
                <a:latin typeface="Times New Roman" panose="02020603050405020304" pitchFamily="18" charset="0"/>
                <a:ea typeface="MingLiU_HKSCS-ExtB" panose="02020500000000000000" charset="-120"/>
              </a:rPr>
              <a:t>)</a:t>
            </a:r>
            <a:r>
              <a:rPr lang="zh-CN" altLang="en-US" sz="2000" b="1">
                <a:latin typeface="Times New Roman" panose="02020603050405020304" pitchFamily="18" charset="0"/>
                <a:ea typeface="MingLiU_HKSCS-ExtB" panose="02020500000000000000" charset="-120"/>
              </a:rPr>
              <a:t>是</a:t>
            </a:r>
            <a:r>
              <a:rPr lang="en-US" altLang="zh-CN" sz="2000" b="1" i="1">
                <a:latin typeface="Times New Roman" panose="02020603050405020304" pitchFamily="18" charset="0"/>
                <a:ea typeface="MingLiU_HKSCS-ExtB" panose="02020500000000000000" charset="-120"/>
              </a:rPr>
              <a:t>D</a:t>
            </a:r>
            <a:r>
              <a:rPr lang="zh-CN" altLang="en-US" sz="2000" b="1">
                <a:latin typeface="Times New Roman" panose="02020603050405020304" pitchFamily="18" charset="0"/>
                <a:ea typeface="MingLiU_HKSCS-ExtB" panose="02020500000000000000" charset="-120"/>
              </a:rPr>
              <a:t>的单调递减函数，并且是</a:t>
            </a:r>
            <a:r>
              <a:rPr lang="en-US" altLang="zh-CN" sz="2000" b="1">
                <a:latin typeface="Times New Roman" panose="02020603050405020304" pitchFamily="18" charset="0"/>
                <a:ea typeface="MingLiU_HKSCS-ExtB" panose="02020500000000000000" charset="-120"/>
              </a:rPr>
              <a:t>U</a:t>
            </a:r>
            <a:r>
              <a:rPr lang="zh-CN" altLang="en-US" sz="2000" b="1">
                <a:latin typeface="Times New Roman" panose="02020603050405020304" pitchFamily="18" charset="0"/>
                <a:ea typeface="MingLiU_HKSCS-ExtB" panose="02020500000000000000" charset="-120"/>
              </a:rPr>
              <a:t>型凸函数，故斜率</a:t>
            </a:r>
            <a:r>
              <a:rPr lang="zh-CN" altLang="en-US" sz="2000" b="1">
                <a:solidFill>
                  <a:srgbClr val="0000CC"/>
                </a:solidFill>
                <a:latin typeface="Times New Roman" panose="02020603050405020304" pitchFamily="18" charset="0"/>
                <a:ea typeface="MingLiU_HKSCS-ExtB" panose="02020500000000000000" charset="-120"/>
              </a:rPr>
              <a:t> </a:t>
            </a:r>
            <a:r>
              <a:rPr lang="en-US" altLang="zh-CN" sz="2000" b="1" i="1">
                <a:latin typeface="Times New Roman" panose="02020603050405020304" pitchFamily="18" charset="0"/>
                <a:ea typeface="MingLiU_HKSCS-ExtB" panose="02020500000000000000" charset="-120"/>
              </a:rPr>
              <a:t>S  </a:t>
            </a:r>
            <a:r>
              <a:rPr lang="zh-CN" altLang="en-US" sz="2000" b="1">
                <a:latin typeface="Times New Roman" panose="02020603050405020304" pitchFamily="18" charset="0"/>
                <a:ea typeface="MingLiU_HKSCS-ExtB" panose="02020500000000000000" charset="-120"/>
              </a:rPr>
              <a:t>必为负，且是 </a:t>
            </a:r>
            <a:r>
              <a:rPr lang="en-US" altLang="zh-CN" sz="2000" b="1" i="1">
                <a:latin typeface="Times New Roman" panose="02020603050405020304" pitchFamily="18" charset="0"/>
                <a:ea typeface="MingLiU_HKSCS-ExtB" panose="02020500000000000000" charset="-120"/>
              </a:rPr>
              <a:t>D </a:t>
            </a:r>
            <a:r>
              <a:rPr lang="zh-CN" altLang="en-US" sz="2000" b="1">
                <a:latin typeface="Times New Roman" panose="02020603050405020304" pitchFamily="18" charset="0"/>
                <a:ea typeface="MingLiU_HKSCS-ExtB" panose="02020500000000000000" charset="-120"/>
              </a:rPr>
              <a:t>的递增函数，</a:t>
            </a:r>
            <a:r>
              <a:rPr lang="en-US" altLang="zh-CN" sz="2000" b="1" i="1">
                <a:latin typeface="Times New Roman" panose="02020603050405020304" pitchFamily="18" charset="0"/>
                <a:ea typeface="MingLiU_HKSCS-ExtB" panose="02020500000000000000" charset="-120"/>
              </a:rPr>
              <a:t>D </a:t>
            </a:r>
            <a:r>
              <a:rPr lang="zh-CN" altLang="en-US" sz="2000" b="1">
                <a:latin typeface="Times New Roman" panose="02020603050405020304" pitchFamily="18" charset="0"/>
                <a:ea typeface="MingLiU_HKSCS-ExtB" panose="02020500000000000000" charset="-120"/>
              </a:rPr>
              <a:t>从 </a:t>
            </a:r>
            <a:r>
              <a:rPr lang="en-US" altLang="zh-CN" sz="2000" b="1">
                <a:latin typeface="Times New Roman" panose="02020603050405020304" pitchFamily="18" charset="0"/>
                <a:ea typeface="MingLiU_HKSCS-ExtB" panose="02020500000000000000" charset="-120"/>
              </a:rPr>
              <a:t>0 </a:t>
            </a:r>
            <a:r>
              <a:rPr lang="zh-CN" altLang="en-US" sz="2000" b="1">
                <a:latin typeface="Times New Roman" panose="02020603050405020304" pitchFamily="18" charset="0"/>
                <a:ea typeface="MingLiU_HKSCS-ExtB" panose="02020500000000000000" charset="-120"/>
              </a:rPr>
              <a:t>变到 </a:t>
            </a:r>
            <a:r>
              <a:rPr lang="en-US" altLang="zh-CN" sz="2000" b="1" i="1">
                <a:latin typeface="Times New Roman" panose="02020603050405020304" pitchFamily="18" charset="0"/>
                <a:ea typeface="MingLiU_HKSCS-ExtB" panose="02020500000000000000" charset="-120"/>
              </a:rPr>
              <a:t>D</a:t>
            </a:r>
            <a:r>
              <a:rPr lang="en-US" altLang="zh-CN" sz="2000" b="1" baseline="-25000">
                <a:latin typeface="Times New Roman" panose="02020603050405020304" pitchFamily="18" charset="0"/>
                <a:ea typeface="MingLiU_HKSCS-ExtB" panose="02020500000000000000" charset="-120"/>
              </a:rPr>
              <a:t>max</a:t>
            </a:r>
            <a:r>
              <a:rPr lang="zh-CN" altLang="en-US" sz="2000" b="1">
                <a:latin typeface="Times New Roman" panose="02020603050405020304" pitchFamily="18" charset="0"/>
                <a:ea typeface="MingLiU_HKSCS-ExtB" panose="02020500000000000000" charset="-120"/>
              </a:rPr>
              <a:t>，</a:t>
            </a:r>
            <a:r>
              <a:rPr lang="en-US" altLang="zh-CN" sz="2000" b="1" i="1">
                <a:latin typeface="Times New Roman" panose="02020603050405020304" pitchFamily="18" charset="0"/>
                <a:ea typeface="MingLiU_HKSCS-ExtB" panose="02020500000000000000" charset="-120"/>
              </a:rPr>
              <a:t>S </a:t>
            </a:r>
            <a:r>
              <a:rPr lang="zh-CN" altLang="en-US" sz="2000" b="1">
                <a:latin typeface="Times New Roman" panose="02020603050405020304" pitchFamily="18" charset="0"/>
                <a:ea typeface="MingLiU_HKSCS-ExtB" panose="02020500000000000000" charset="-120"/>
              </a:rPr>
              <a:t>将逐渐增加；</a:t>
            </a:r>
          </a:p>
          <a:p>
            <a:pPr marL="355600" indent="-355600" eaLnBrk="0" hangingPunct="0">
              <a:lnSpc>
                <a:spcPct val="150000"/>
              </a:lnSpc>
              <a:buClr>
                <a:srgbClr val="660033"/>
              </a:buClr>
              <a:buSzPct val="90000"/>
              <a:buFont typeface="Wingdings" panose="05000000000000000000" pitchFamily="2" charset="2"/>
              <a:buChar char="ÿ"/>
            </a:pPr>
            <a:r>
              <a:rPr lang="zh-CN" altLang="en-US" sz="2000" b="1">
                <a:solidFill>
                  <a:srgbClr val="0000CC"/>
                </a:solidFill>
                <a:latin typeface="Times New Roman" panose="02020603050405020304" pitchFamily="18" charset="0"/>
                <a:ea typeface="MingLiU_HKSCS-ExtB" panose="02020500000000000000" charset="-120"/>
              </a:rPr>
              <a:t>当 </a:t>
            </a:r>
            <a:r>
              <a:rPr lang="en-US" altLang="zh-CN" sz="2000" b="1" i="1">
                <a:solidFill>
                  <a:srgbClr val="0000CC"/>
                </a:solidFill>
                <a:latin typeface="Times New Roman" panose="02020603050405020304" pitchFamily="18" charset="0"/>
                <a:ea typeface="MingLiU_HKSCS-ExtB" panose="02020500000000000000" charset="-120"/>
              </a:rPr>
              <a:t>D </a:t>
            </a:r>
            <a:r>
              <a:rPr lang="en-US" altLang="zh-CN" sz="2000" b="1">
                <a:solidFill>
                  <a:srgbClr val="0000CC"/>
                </a:solidFill>
                <a:latin typeface="Times New Roman" panose="02020603050405020304" pitchFamily="18" charset="0"/>
                <a:ea typeface="MingLiU_HKSCS-ExtB" panose="02020500000000000000" charset="-120"/>
              </a:rPr>
              <a:t>=0 </a:t>
            </a:r>
            <a:r>
              <a:rPr lang="zh-CN" altLang="en-US" sz="2000" b="1">
                <a:solidFill>
                  <a:srgbClr val="0000CC"/>
                </a:solidFill>
                <a:latin typeface="Times New Roman" panose="02020603050405020304" pitchFamily="18" charset="0"/>
                <a:ea typeface="MingLiU_HKSCS-ExtB" panose="02020500000000000000" charset="-120"/>
              </a:rPr>
              <a:t>时：</a:t>
            </a:r>
            <a:r>
              <a:rPr lang="en-US" altLang="zh-CN" sz="2000" b="1" i="1">
                <a:latin typeface="Times New Roman" panose="02020603050405020304" pitchFamily="18" charset="0"/>
                <a:ea typeface="MingLiU_HKSCS-ExtB" panose="02020500000000000000" charset="-120"/>
              </a:rPr>
              <a:t>S </a:t>
            </a:r>
            <a:r>
              <a:rPr lang="zh-CN" altLang="en-US" sz="2000" b="1">
                <a:latin typeface="Times New Roman" panose="02020603050405020304" pitchFamily="18" charset="0"/>
                <a:ea typeface="MingLiU_HKSCS-ExtB" panose="02020500000000000000" charset="-120"/>
              </a:rPr>
              <a:t>的最小值趋于负无穷（</a:t>
            </a:r>
            <a:r>
              <a:rPr lang="en-US" altLang="zh-CN" sz="2000" b="1" i="1">
                <a:latin typeface="Times New Roman" panose="02020603050405020304" pitchFamily="18" charset="0"/>
                <a:ea typeface="MingLiU_HKSCS-ExtB" panose="02020500000000000000" charset="-120"/>
              </a:rPr>
              <a:t>R</a:t>
            </a:r>
            <a:r>
              <a:rPr lang="en-US" altLang="zh-CN" sz="2000" b="1">
                <a:latin typeface="Times New Roman" panose="02020603050405020304" pitchFamily="18" charset="0"/>
                <a:ea typeface="MingLiU_HKSCS-ExtB" panose="02020500000000000000" charset="-120"/>
              </a:rPr>
              <a:t>(</a:t>
            </a:r>
            <a:r>
              <a:rPr lang="en-US" altLang="zh-CN" sz="2000" b="1" i="1">
                <a:latin typeface="Times New Roman" panose="02020603050405020304" pitchFamily="18" charset="0"/>
                <a:ea typeface="MingLiU_HKSCS-ExtB" panose="02020500000000000000" charset="-120"/>
              </a:rPr>
              <a:t>D</a:t>
            </a:r>
            <a:r>
              <a:rPr lang="en-US" altLang="zh-CN" sz="2000" b="1">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的斜率）。</a:t>
            </a:r>
          </a:p>
        </p:txBody>
      </p:sp>
      <p:graphicFrame>
        <p:nvGraphicFramePr>
          <p:cNvPr id="2507" name="对象 2506"/>
          <p:cNvGraphicFramePr/>
          <p:nvPr/>
        </p:nvGraphicFramePr>
        <p:xfrm>
          <a:off x="2836863" y="2133600"/>
          <a:ext cx="681037" cy="552450"/>
        </p:xfrm>
        <a:graphic>
          <a:graphicData uri="http://schemas.openxmlformats.org/presentationml/2006/ole">
            <mc:AlternateContent xmlns:mc="http://schemas.openxmlformats.org/markup-compatibility/2006">
              <mc:Choice xmlns:v="urn:schemas-microsoft-com:vml" Requires="v">
                <p:oleObj spid="_x0000_s45058" r:id="rId4" imgW="520700" imgH="325755" progId="Equation.3">
                  <p:embed/>
                </p:oleObj>
              </mc:Choice>
              <mc:Fallback>
                <p:oleObj r:id="rId4" imgW="520700" imgH="325755" progId="Equation.3">
                  <p:embed/>
                  <p:pic>
                    <p:nvPicPr>
                      <p:cNvPr id="0" name="图片 3191"/>
                      <p:cNvPicPr/>
                      <p:nvPr/>
                    </p:nvPicPr>
                    <p:blipFill>
                      <a:blip r:embed="rId5"/>
                      <a:stretch>
                        <a:fillRect/>
                      </a:stretch>
                    </p:blipFill>
                    <p:spPr>
                      <a:xfrm>
                        <a:off x="2836863" y="2133600"/>
                        <a:ext cx="681037" cy="552450"/>
                      </a:xfrm>
                      <a:prstGeom prst="rect">
                        <a:avLst/>
                      </a:prstGeom>
                      <a:noFill/>
                      <a:ln w="38100">
                        <a:noFill/>
                        <a:miter/>
                      </a:ln>
                    </p:spPr>
                  </p:pic>
                </p:oleObj>
              </mc:Fallback>
            </mc:AlternateContent>
          </a:graphicData>
        </a:graphic>
      </p:graphicFrame>
      <p:sp>
        <p:nvSpPr>
          <p:cNvPr id="2508" name="矩形 2507"/>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spd="med">
    <p:spli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69</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11" name="标题 2510"/>
          <p:cNvSpPr>
            <a:spLocks noGrp="1"/>
          </p:cNvSpPr>
          <p:nvPr>
            <p:ph type="title" idx="4294967295"/>
          </p:nvPr>
        </p:nvSpPr>
        <p:spPr>
          <a:xfrm>
            <a:off x="982663" y="188913"/>
            <a:ext cx="8161337" cy="719137"/>
          </a:xfrm>
        </p:spPr>
        <p:txBody>
          <a:bodyPr anchor="ctr" anchorCtr="0"/>
          <a:lstStyle/>
          <a:p>
            <a:r>
              <a:rPr lang="en-US" altLang="zh-CN" sz="3400">
                <a:ea typeface="MingLiU_HKSCS-ExtB" panose="02020500000000000000" charset="-120"/>
              </a:rPr>
              <a:t>4.2.1 </a:t>
            </a:r>
            <a:r>
              <a:rPr lang="zh-CN" altLang="en-US" sz="3400">
                <a:ea typeface="MingLiU_HKSCS-ExtB" panose="02020500000000000000" charset="-120"/>
              </a:rPr>
              <a:t>离散信源率失真函数的参量表达式</a:t>
            </a:r>
          </a:p>
        </p:txBody>
      </p:sp>
      <p:sp>
        <p:nvSpPr>
          <p:cNvPr id="2512" name="文本占位符 2511"/>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(3)</a:t>
            </a:r>
            <a:r>
              <a:rPr lang="en-US" altLang="zh-CN" i="1">
                <a:ea typeface="MingLiU_HKSCS-ExtB" panose="02020500000000000000" charset="-120"/>
              </a:rPr>
              <a:t> </a:t>
            </a:r>
            <a:r>
              <a:rPr lang="zh-CN" altLang="en-US">
                <a:ea typeface="MingLiU_HKSCS-ExtB" panose="02020500000000000000" charset="-120"/>
              </a:rPr>
              <a:t>参量 </a:t>
            </a:r>
            <a:r>
              <a:rPr lang="en-US" altLang="zh-CN" i="1">
                <a:ea typeface="MingLiU_HKSCS-ExtB" panose="02020500000000000000" charset="-120"/>
              </a:rPr>
              <a:t>S</a:t>
            </a:r>
            <a:r>
              <a:rPr lang="en-US" altLang="zh-CN">
                <a:ea typeface="MingLiU_HKSCS-ExtB" panose="02020500000000000000" charset="-120"/>
              </a:rPr>
              <a:t> </a:t>
            </a:r>
            <a:r>
              <a:rPr lang="zh-CN" altLang="en-US">
                <a:ea typeface="MingLiU_HKSCS-ExtB" panose="02020500000000000000" charset="-120"/>
              </a:rPr>
              <a:t>的说明</a:t>
            </a:r>
            <a:endParaRPr lang="zh-CN" altLang="en-US">
              <a:solidFill>
                <a:srgbClr val="FF0000"/>
              </a:solidFill>
              <a:ea typeface="MingLiU_HKSCS-ExtB" panose="02020500000000000000" charset="-120"/>
            </a:endParaRPr>
          </a:p>
        </p:txBody>
      </p:sp>
      <p:pic>
        <p:nvPicPr>
          <p:cNvPr id="2513" name="图片 2512"/>
          <p:cNvPicPr>
            <a:picLocks noChangeAspect="1"/>
          </p:cNvPicPr>
          <p:nvPr/>
        </p:nvPicPr>
        <p:blipFill>
          <a:blip r:embed="rId2"/>
          <a:stretch>
            <a:fillRect/>
          </a:stretch>
        </p:blipFill>
        <p:spPr>
          <a:xfrm>
            <a:off x="5091113" y="1700213"/>
            <a:ext cx="3470275" cy="4321175"/>
          </a:xfrm>
          <a:prstGeom prst="rect">
            <a:avLst/>
          </a:prstGeom>
          <a:noFill/>
          <a:ln w="9525">
            <a:noFill/>
          </a:ln>
        </p:spPr>
      </p:pic>
      <p:sp>
        <p:nvSpPr>
          <p:cNvPr id="2514" name="矩形 2513"/>
          <p:cNvSpPr/>
          <p:nvPr/>
        </p:nvSpPr>
        <p:spPr>
          <a:xfrm>
            <a:off x="900113" y="1700213"/>
            <a:ext cx="3808412" cy="3997325"/>
          </a:xfrm>
          <a:prstGeom prst="rect">
            <a:avLst/>
          </a:prstGeom>
          <a:noFill/>
          <a:ln w="12700">
            <a:noFill/>
          </a:ln>
        </p:spPr>
        <p:txBody>
          <a:bodyPr>
            <a:spAutoFit/>
          </a:bodyPr>
          <a:lstStyle/>
          <a:p>
            <a:pPr marL="355600" indent="-355600" eaLnBrk="0" hangingPunct="0">
              <a:lnSpc>
                <a:spcPct val="140000"/>
              </a:lnSpc>
              <a:spcBef>
                <a:spcPct val="20000"/>
              </a:spcBef>
              <a:buClr>
                <a:srgbClr val="660033"/>
              </a:buClr>
              <a:buSzPct val="90000"/>
              <a:buFont typeface="Wingdings" panose="05000000000000000000" pitchFamily="2" charset="2"/>
              <a:buChar char="ÿ"/>
            </a:pPr>
            <a:r>
              <a:rPr lang="zh-CN" altLang="en-US" sz="2000" b="1">
                <a:solidFill>
                  <a:srgbClr val="0000CC"/>
                </a:solidFill>
                <a:latin typeface="Times New Roman" panose="02020603050405020304" pitchFamily="18" charset="0"/>
                <a:ea typeface="MingLiU_HKSCS-ExtB" panose="02020500000000000000" charset="-120"/>
              </a:rPr>
              <a:t>当 </a:t>
            </a:r>
            <a:r>
              <a:rPr lang="en-US" altLang="zh-CN" sz="2000" b="1" i="1">
                <a:solidFill>
                  <a:srgbClr val="0000CC"/>
                </a:solidFill>
                <a:latin typeface="Times New Roman" panose="02020603050405020304" pitchFamily="18" charset="0"/>
                <a:ea typeface="MingLiU_HKSCS-ExtB" panose="02020500000000000000" charset="-120"/>
              </a:rPr>
              <a:t>D </a:t>
            </a:r>
            <a:r>
              <a:rPr lang="en-US" altLang="zh-CN" sz="2000" b="1">
                <a:solidFill>
                  <a:srgbClr val="0000CC"/>
                </a:solidFill>
                <a:latin typeface="Times New Roman" panose="02020603050405020304" pitchFamily="18" charset="0"/>
                <a:ea typeface="MingLiU_HKSCS-ExtB" panose="02020500000000000000" charset="-120"/>
              </a:rPr>
              <a:t>=</a:t>
            </a:r>
            <a:r>
              <a:rPr lang="en-US" altLang="zh-CN" sz="2000" b="1" i="1">
                <a:solidFill>
                  <a:srgbClr val="0000CC"/>
                </a:solidFill>
                <a:latin typeface="Times New Roman" panose="02020603050405020304" pitchFamily="18" charset="0"/>
                <a:ea typeface="MingLiU_HKSCS-ExtB" panose="02020500000000000000" charset="-120"/>
              </a:rPr>
              <a:t>D</a:t>
            </a:r>
            <a:r>
              <a:rPr lang="en-US" altLang="zh-CN" sz="2000" b="1" baseline="-25000">
                <a:solidFill>
                  <a:srgbClr val="0000CC"/>
                </a:solidFill>
                <a:latin typeface="Times New Roman" panose="02020603050405020304" pitchFamily="18" charset="0"/>
                <a:ea typeface="MingLiU_HKSCS-ExtB" panose="02020500000000000000" charset="-120"/>
              </a:rPr>
              <a:t>max</a:t>
            </a:r>
            <a:r>
              <a:rPr lang="en-US" altLang="zh-CN" sz="2000" b="1">
                <a:solidFill>
                  <a:srgbClr val="0000CC"/>
                </a:solidFill>
                <a:latin typeface="Times New Roman" panose="02020603050405020304" pitchFamily="18" charset="0"/>
                <a:ea typeface="MingLiU_HKSCS-ExtB" panose="02020500000000000000" charset="-120"/>
              </a:rPr>
              <a:t> </a:t>
            </a:r>
            <a:r>
              <a:rPr lang="zh-CN" altLang="en-US" sz="2000" b="1">
                <a:solidFill>
                  <a:srgbClr val="0000CC"/>
                </a:solidFill>
                <a:latin typeface="Times New Roman" panose="02020603050405020304" pitchFamily="18" charset="0"/>
                <a:ea typeface="MingLiU_HKSCS-ExtB" panose="02020500000000000000" charset="-120"/>
              </a:rPr>
              <a:t>时：</a:t>
            </a:r>
            <a:r>
              <a:rPr lang="en-US" altLang="zh-CN" sz="2000" b="1" i="1">
                <a:latin typeface="Times New Roman" panose="02020603050405020304" pitchFamily="18" charset="0"/>
                <a:ea typeface="MingLiU_HKSCS-ExtB" panose="02020500000000000000" charset="-120"/>
              </a:rPr>
              <a:t>S </a:t>
            </a:r>
            <a:r>
              <a:rPr lang="zh-CN" altLang="en-US" sz="2000" b="1">
                <a:latin typeface="Times New Roman" panose="02020603050405020304" pitchFamily="18" charset="0"/>
                <a:ea typeface="MingLiU_HKSCS-ExtB" panose="02020500000000000000" charset="-120"/>
              </a:rPr>
              <a:t>达到最大；这个最大值也是某一个负值，极限是 </a:t>
            </a:r>
            <a:r>
              <a:rPr lang="en-US" altLang="zh-CN" sz="2000" b="1">
                <a:latin typeface="Times New Roman" panose="02020603050405020304" pitchFamily="18" charset="0"/>
                <a:ea typeface="MingLiU_HKSCS-ExtB" panose="02020500000000000000" charset="-120"/>
              </a:rPr>
              <a:t>0</a:t>
            </a:r>
            <a:r>
              <a:rPr lang="zh-CN" altLang="en-US" sz="2000" b="1">
                <a:latin typeface="Times New Roman" panose="02020603050405020304" pitchFamily="18" charset="0"/>
                <a:ea typeface="MingLiU_HKSCS-ExtB" panose="02020500000000000000" charset="-120"/>
              </a:rPr>
              <a:t>。</a:t>
            </a:r>
          </a:p>
          <a:p>
            <a:pPr marL="355600" indent="-355600" eaLnBrk="0" hangingPunct="0">
              <a:lnSpc>
                <a:spcPct val="140000"/>
              </a:lnSpc>
              <a:spcBef>
                <a:spcPct val="20000"/>
              </a:spcBef>
              <a:buClr>
                <a:srgbClr val="660033"/>
              </a:buClr>
              <a:buSzPct val="90000"/>
              <a:buFont typeface="Wingdings" panose="05000000000000000000" pitchFamily="2" charset="2"/>
              <a:buChar char="ÿ"/>
            </a:pPr>
            <a:r>
              <a:rPr lang="zh-CN" altLang="en-US" sz="2000" b="1">
                <a:solidFill>
                  <a:srgbClr val="0000CC"/>
                </a:solidFill>
                <a:latin typeface="Times New Roman" panose="02020603050405020304" pitchFamily="18" charset="0"/>
                <a:ea typeface="MingLiU_HKSCS-ExtB" panose="02020500000000000000" charset="-120"/>
              </a:rPr>
              <a:t>当 </a:t>
            </a:r>
            <a:r>
              <a:rPr lang="en-US" altLang="zh-CN" sz="2000" b="1" i="1">
                <a:solidFill>
                  <a:srgbClr val="0000CC"/>
                </a:solidFill>
                <a:latin typeface="Times New Roman" panose="02020603050405020304" pitchFamily="18" charset="0"/>
                <a:ea typeface="MingLiU_HKSCS-ExtB" panose="02020500000000000000" charset="-120"/>
              </a:rPr>
              <a:t>D </a:t>
            </a:r>
            <a:r>
              <a:rPr lang="en-US" altLang="zh-CN" sz="2000" b="1">
                <a:solidFill>
                  <a:srgbClr val="0000CC"/>
                </a:solidFill>
                <a:latin typeface="Times New Roman" panose="02020603050405020304" pitchFamily="18" charset="0"/>
                <a:ea typeface="MingLiU_HKSCS-ExtB" panose="02020500000000000000" charset="-120"/>
              </a:rPr>
              <a:t>&gt;</a:t>
            </a:r>
            <a:r>
              <a:rPr lang="en-US" altLang="zh-CN" sz="2000" b="1" i="1">
                <a:solidFill>
                  <a:srgbClr val="0000CC"/>
                </a:solidFill>
                <a:latin typeface="Times New Roman" panose="02020603050405020304" pitchFamily="18" charset="0"/>
                <a:ea typeface="MingLiU_HKSCS-ExtB" panose="02020500000000000000" charset="-120"/>
              </a:rPr>
              <a:t>D</a:t>
            </a:r>
            <a:r>
              <a:rPr lang="en-US" altLang="zh-CN" sz="2000" b="1" baseline="-25000">
                <a:solidFill>
                  <a:srgbClr val="0000CC"/>
                </a:solidFill>
                <a:latin typeface="Times New Roman" panose="02020603050405020304" pitchFamily="18" charset="0"/>
                <a:ea typeface="MingLiU_HKSCS-ExtB" panose="02020500000000000000" charset="-120"/>
              </a:rPr>
              <a:t>max</a:t>
            </a:r>
            <a:r>
              <a:rPr lang="en-US" altLang="zh-CN" sz="2000" b="1">
                <a:solidFill>
                  <a:srgbClr val="0000CC"/>
                </a:solidFill>
                <a:latin typeface="Times New Roman" panose="02020603050405020304" pitchFamily="18" charset="0"/>
                <a:ea typeface="MingLiU_HKSCS-ExtB" panose="02020500000000000000" charset="-120"/>
              </a:rPr>
              <a:t> </a:t>
            </a:r>
            <a:r>
              <a:rPr lang="zh-CN" altLang="en-US" sz="2000" b="1">
                <a:solidFill>
                  <a:srgbClr val="0000CC"/>
                </a:solidFill>
                <a:latin typeface="Times New Roman" panose="02020603050405020304" pitchFamily="18" charset="0"/>
                <a:ea typeface="MingLiU_HKSCS-ExtB" panose="02020500000000000000" charset="-120"/>
              </a:rPr>
              <a:t>时：</a:t>
            </a:r>
            <a:r>
              <a:rPr lang="zh-CN" altLang="en-US" sz="2000" b="1">
                <a:latin typeface="Times New Roman" panose="02020603050405020304" pitchFamily="18" charset="0"/>
                <a:ea typeface="MingLiU_HKSCS-ExtB" panose="02020500000000000000" charset="-120"/>
              </a:rPr>
              <a:t>在 </a:t>
            </a:r>
            <a:r>
              <a:rPr lang="en-US" altLang="zh-CN" sz="2000" b="1" i="1">
                <a:latin typeface="Times New Roman" panose="02020603050405020304" pitchFamily="18" charset="0"/>
                <a:ea typeface="MingLiU_HKSCS-ExtB" panose="02020500000000000000" charset="-120"/>
              </a:rPr>
              <a:t>D</a:t>
            </a:r>
            <a:r>
              <a:rPr lang="en-US" altLang="zh-CN" sz="2000" b="1">
                <a:latin typeface="Times New Roman" panose="02020603050405020304" pitchFamily="18" charset="0"/>
                <a:ea typeface="MingLiU_HKSCS-ExtB" panose="02020500000000000000" charset="-120"/>
              </a:rPr>
              <a:t>=</a:t>
            </a:r>
            <a:r>
              <a:rPr lang="en-US" altLang="zh-CN" sz="2000" b="1" i="1">
                <a:latin typeface="Times New Roman" panose="02020603050405020304" pitchFamily="18" charset="0"/>
                <a:ea typeface="MingLiU_HKSCS-ExtB" panose="02020500000000000000" charset="-120"/>
              </a:rPr>
              <a:t>D</a:t>
            </a:r>
            <a:r>
              <a:rPr lang="en-US" altLang="zh-CN" sz="2000" b="1" baseline="-25000">
                <a:latin typeface="Times New Roman" panose="02020603050405020304" pitchFamily="18" charset="0"/>
                <a:ea typeface="MingLiU_HKSCS-ExtB" panose="02020500000000000000" charset="-120"/>
              </a:rPr>
              <a:t>max</a:t>
            </a:r>
            <a:r>
              <a:rPr lang="en-US" altLang="zh-CN" sz="2000" b="1">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处，除某些特例外，</a:t>
            </a:r>
            <a:r>
              <a:rPr lang="en-US" altLang="zh-CN" sz="2000" b="1" i="1">
                <a:latin typeface="Times New Roman" panose="02020603050405020304" pitchFamily="18" charset="0"/>
                <a:ea typeface="MingLiU_HKSCS-ExtB" panose="02020500000000000000" charset="-120"/>
              </a:rPr>
              <a:t>S </a:t>
            </a:r>
            <a:r>
              <a:rPr lang="zh-CN" altLang="en-US" sz="2000" b="1">
                <a:latin typeface="Times New Roman" panose="02020603050405020304" pitchFamily="18" charset="0"/>
                <a:ea typeface="MingLiU_HKSCS-ExtB" panose="02020500000000000000" charset="-120"/>
              </a:rPr>
              <a:t>将从某一个负值跳到 </a:t>
            </a:r>
            <a:r>
              <a:rPr lang="en-US" altLang="zh-CN" sz="2000" b="1">
                <a:latin typeface="Times New Roman" panose="02020603050405020304" pitchFamily="18" charset="0"/>
                <a:ea typeface="MingLiU_HKSCS-ExtB" panose="02020500000000000000" charset="-120"/>
              </a:rPr>
              <a:t>0</a:t>
            </a:r>
            <a:r>
              <a:rPr lang="zh-CN" altLang="en-US" sz="2000" b="1">
                <a:latin typeface="Times New Roman" panose="02020603050405020304" pitchFamily="18" charset="0"/>
                <a:ea typeface="MingLiU_HKSCS-ExtB" panose="02020500000000000000" charset="-120"/>
              </a:rPr>
              <a:t>，</a:t>
            </a:r>
            <a:r>
              <a:rPr lang="en-US" altLang="zh-CN" sz="2000" b="1" i="1">
                <a:latin typeface="Times New Roman" panose="02020603050405020304" pitchFamily="18" charset="0"/>
                <a:ea typeface="MingLiU_HKSCS-ExtB" panose="02020500000000000000" charset="-120"/>
              </a:rPr>
              <a:t>S </a:t>
            </a:r>
            <a:r>
              <a:rPr lang="zh-CN" altLang="en-US" sz="2000" b="1">
                <a:latin typeface="Times New Roman" panose="02020603050405020304" pitchFamily="18" charset="0"/>
                <a:ea typeface="MingLiU_HKSCS-ExtB" panose="02020500000000000000" charset="-120"/>
              </a:rPr>
              <a:t>在此点不连续。在 </a:t>
            </a:r>
            <a:r>
              <a:rPr lang="en-US" altLang="zh-CN" sz="2000" b="1" i="1">
                <a:latin typeface="Times New Roman" panose="02020603050405020304" pitchFamily="18" charset="0"/>
                <a:ea typeface="MingLiU_HKSCS-ExtB" panose="02020500000000000000" charset="-120"/>
              </a:rPr>
              <a:t>D </a:t>
            </a:r>
            <a:r>
              <a:rPr lang="zh-CN" altLang="en-US" sz="2000" b="1">
                <a:latin typeface="Times New Roman" panose="02020603050405020304" pitchFamily="18" charset="0"/>
                <a:ea typeface="MingLiU_HKSCS-ExtB" panose="02020500000000000000" charset="-120"/>
              </a:rPr>
              <a:t>的定义域 </a:t>
            </a:r>
            <a:r>
              <a:rPr lang="en-US" altLang="zh-CN" sz="2000" b="1">
                <a:latin typeface="Times New Roman" panose="02020603050405020304" pitchFamily="18" charset="0"/>
                <a:ea typeface="MingLiU_HKSCS-ExtB" panose="02020500000000000000" charset="-120"/>
              </a:rPr>
              <a:t>[0, </a:t>
            </a:r>
            <a:r>
              <a:rPr lang="en-US" altLang="zh-CN" sz="2000" b="1" i="1">
                <a:latin typeface="Times New Roman" panose="02020603050405020304" pitchFamily="18" charset="0"/>
                <a:ea typeface="MingLiU_HKSCS-ExtB" panose="02020500000000000000" charset="-120"/>
              </a:rPr>
              <a:t>D</a:t>
            </a:r>
            <a:r>
              <a:rPr lang="en-US" altLang="zh-CN" sz="2000" b="1" baseline="-25000">
                <a:latin typeface="Times New Roman" panose="02020603050405020304" pitchFamily="18" charset="0"/>
                <a:ea typeface="MingLiU_HKSCS-ExtB" panose="02020500000000000000" charset="-120"/>
              </a:rPr>
              <a:t>max</a:t>
            </a:r>
            <a:r>
              <a:rPr lang="en-US" altLang="zh-CN" sz="2000" b="1">
                <a:latin typeface="Times New Roman" panose="02020603050405020304" pitchFamily="18" charset="0"/>
                <a:ea typeface="MingLiU_HKSCS-ExtB" panose="02020500000000000000" charset="-120"/>
              </a:rPr>
              <a:t>]</a:t>
            </a:r>
            <a:r>
              <a:rPr lang="zh-CN" altLang="en-US" sz="2000" b="1">
                <a:latin typeface="Times New Roman" panose="02020603050405020304" pitchFamily="18" charset="0"/>
                <a:ea typeface="MingLiU_HKSCS-ExtB" panose="02020500000000000000" charset="-120"/>
              </a:rPr>
              <a:t>内，除某些特例外，</a:t>
            </a:r>
            <a:r>
              <a:rPr lang="en-US" altLang="zh-CN" sz="2000" b="1" i="1">
                <a:latin typeface="Times New Roman" panose="02020603050405020304" pitchFamily="18" charset="0"/>
                <a:ea typeface="MingLiU_HKSCS-ExtB" panose="02020500000000000000" charset="-120"/>
              </a:rPr>
              <a:t>S </a:t>
            </a:r>
            <a:r>
              <a:rPr lang="zh-CN" altLang="en-US" sz="2000" b="1">
                <a:latin typeface="Times New Roman" panose="02020603050405020304" pitchFamily="18" charset="0"/>
                <a:ea typeface="MingLiU_HKSCS-ExtB" panose="02020500000000000000" charset="-120"/>
              </a:rPr>
              <a:t>将是 </a:t>
            </a:r>
            <a:r>
              <a:rPr lang="en-US" altLang="zh-CN" sz="2000" b="1" i="1">
                <a:latin typeface="Times New Roman" panose="02020603050405020304" pitchFamily="18" charset="0"/>
                <a:ea typeface="MingLiU_HKSCS-ExtB" panose="02020500000000000000" charset="-120"/>
              </a:rPr>
              <a:t>D </a:t>
            </a:r>
            <a:r>
              <a:rPr lang="zh-CN" altLang="en-US" sz="2000" b="1">
                <a:latin typeface="Times New Roman" panose="02020603050405020304" pitchFamily="18" charset="0"/>
                <a:ea typeface="MingLiU_HKSCS-ExtB" panose="02020500000000000000" charset="-120"/>
              </a:rPr>
              <a:t>的连续函数。</a:t>
            </a:r>
          </a:p>
        </p:txBody>
      </p:sp>
      <p:sp>
        <p:nvSpPr>
          <p:cNvPr id="2515" name="矩形 2514"/>
          <p:cNvSpPr/>
          <p:nvPr/>
        </p:nvSpPr>
        <p:spPr>
          <a:xfrm>
            <a:off x="8029575" y="5948363"/>
            <a:ext cx="796925" cy="360362"/>
          </a:xfrm>
          <a:solidFill>
            <a:srgbClr val="BBE0E3"/>
          </a:solidFill>
          <a:ln w="12700">
            <a:noFill/>
          </a:ln>
        </p:spPr>
        <p:txBody>
          <a:bodyPr/>
          <a:lstStyle/>
          <a:p>
            <a:endParaRPr lang="zh-CN" altLang="en-US"/>
          </a:p>
        </p:txBody>
      </p:sp>
      <p:sp>
        <p:nvSpPr>
          <p:cNvPr id="2516" name="矩形 2515"/>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513"/>
                                        </p:tgtEl>
                                        <p:attrNameLst>
                                          <p:attrName>style.visibility</p:attrName>
                                        </p:attrNameLst>
                                      </p:cBhvr>
                                      <p:to>
                                        <p:strVal val="visible"/>
                                      </p:to>
                                    </p:set>
                                    <p:anim calcmode="lin" valueType="num">
                                      <p:cBhvr additive="base">
                                        <p:cTn id="7" dur="1000" fill="hold"/>
                                        <p:tgtEl>
                                          <p:spTgt spid="2513"/>
                                        </p:tgtEl>
                                        <p:attrNameLst>
                                          <p:attrName>ppt_x</p:attrName>
                                        </p:attrNameLst>
                                      </p:cBhvr>
                                      <p:tavLst>
                                        <p:tav tm="0">
                                          <p:val>
                                            <p:strVal val="#ppt_x-.2"/>
                                          </p:val>
                                        </p:tav>
                                        <p:tav tm="100000">
                                          <p:val>
                                            <p:strVal val="#ppt_x"/>
                                          </p:val>
                                        </p:tav>
                                      </p:tavLst>
                                    </p:anim>
                                    <p:anim calcmode="lin" valueType="num">
                                      <p:cBhvr additive="base">
                                        <p:cTn id="8" dur="1000" fill="hold"/>
                                        <p:tgtEl>
                                          <p:spTgt spid="2513"/>
                                        </p:tgtEl>
                                        <p:attrNameLst>
                                          <p:attrName>ppt_y</p:attrName>
                                        </p:attrNameLst>
                                      </p:cBhvr>
                                      <p:tavLst>
                                        <p:tav tm="0">
                                          <p:val>
                                            <p:strVal val="#ppt_y"/>
                                          </p:val>
                                        </p:tav>
                                        <p:tav tm="100000">
                                          <p:val>
                                            <p:strVal val="#ppt_y"/>
                                          </p:val>
                                        </p:tav>
                                      </p:tavLst>
                                    </p:anim>
                                    <p:animEffect transition="in" filter="wipe(right)">
                                      <p:cBhvr additive="base">
                                        <p:cTn id="9" dur="1000"/>
                                        <p:tgtEl>
                                          <p:spTgt spid="2513"/>
                                        </p:tgtEl>
                                      </p:cBhvr>
                                    </p:animEffect>
                                  </p:childTnLst>
                                </p:cTn>
                              </p:par>
                              <p:par>
                                <p:cTn id="10" presetID="29" presetClass="entr" presetSubtype="0" fill="hold" grpId="0" nodeType="withEffect">
                                  <p:childTnLst>
                                    <p:set>
                                      <p:cBhvr additive="base">
                                        <p:cTn id="11" dur="1" fill="hold">
                                          <p:stCondLst>
                                            <p:cond delay="0"/>
                                          </p:stCondLst>
                                        </p:cTn>
                                        <p:tgtEl>
                                          <p:spTgt spid="2514"/>
                                        </p:tgtEl>
                                        <p:attrNameLst>
                                          <p:attrName>style.visibility</p:attrName>
                                        </p:attrNameLst>
                                      </p:cBhvr>
                                      <p:to>
                                        <p:strVal val="visible"/>
                                      </p:to>
                                    </p:set>
                                    <p:anim calcmode="lin" valueType="num">
                                      <p:cBhvr additive="base">
                                        <p:cTn id="12" dur="1000" fill="hold"/>
                                        <p:tgtEl>
                                          <p:spTgt spid="2514"/>
                                        </p:tgtEl>
                                        <p:attrNameLst>
                                          <p:attrName>ppt_x</p:attrName>
                                        </p:attrNameLst>
                                      </p:cBhvr>
                                      <p:tavLst>
                                        <p:tav tm="0">
                                          <p:val>
                                            <p:strVal val="#ppt_x-.2"/>
                                          </p:val>
                                        </p:tav>
                                        <p:tav tm="100000">
                                          <p:val>
                                            <p:strVal val="#ppt_x"/>
                                          </p:val>
                                        </p:tav>
                                      </p:tavLst>
                                    </p:anim>
                                    <p:anim calcmode="lin" valueType="num">
                                      <p:cBhvr additive="base">
                                        <p:cTn id="13" dur="1000" fill="hold"/>
                                        <p:tgtEl>
                                          <p:spTgt spid="2514"/>
                                        </p:tgtEl>
                                        <p:attrNameLst>
                                          <p:attrName>ppt_y</p:attrName>
                                        </p:attrNameLst>
                                      </p:cBhvr>
                                      <p:tavLst>
                                        <p:tav tm="0">
                                          <p:val>
                                            <p:strVal val="#ppt_y"/>
                                          </p:val>
                                        </p:tav>
                                        <p:tav tm="100000">
                                          <p:val>
                                            <p:strVal val="#ppt_y"/>
                                          </p:val>
                                        </p:tav>
                                      </p:tavLst>
                                    </p:anim>
                                    <p:animEffect transition="in" filter="wipe(right)">
                                      <p:cBhvr additive="base">
                                        <p:cTn id="14" dur="1000"/>
                                        <p:tgtEl>
                                          <p:spTgt spid="2514"/>
                                        </p:tgtEl>
                                      </p:cBhvr>
                                    </p:animEffect>
                                  </p:childTnLst>
                                </p:cTn>
                              </p:par>
                              <p:par>
                                <p:cTn id="15" presetID="29" presetClass="entr" presetSubtype="0" fill="hold" grpId="1" nodeType="withEffect">
                                  <p:childTnLst>
                                    <p:set>
                                      <p:cBhvr additive="base">
                                        <p:cTn id="16" dur="1" fill="hold">
                                          <p:stCondLst>
                                            <p:cond delay="0"/>
                                          </p:stCondLst>
                                        </p:cTn>
                                        <p:tgtEl>
                                          <p:spTgt spid="2515"/>
                                        </p:tgtEl>
                                        <p:attrNameLst>
                                          <p:attrName>style.visibility</p:attrName>
                                        </p:attrNameLst>
                                      </p:cBhvr>
                                      <p:to>
                                        <p:strVal val="visible"/>
                                      </p:to>
                                    </p:set>
                                    <p:anim calcmode="lin" valueType="num">
                                      <p:cBhvr additive="base">
                                        <p:cTn id="17" dur="1000" fill="hold"/>
                                        <p:tgtEl>
                                          <p:spTgt spid="2515"/>
                                        </p:tgtEl>
                                        <p:attrNameLst>
                                          <p:attrName>ppt_x</p:attrName>
                                        </p:attrNameLst>
                                      </p:cBhvr>
                                      <p:tavLst>
                                        <p:tav tm="0">
                                          <p:val>
                                            <p:strVal val="#ppt_x-.2"/>
                                          </p:val>
                                        </p:tav>
                                        <p:tav tm="100000">
                                          <p:val>
                                            <p:strVal val="#ppt_x"/>
                                          </p:val>
                                        </p:tav>
                                      </p:tavLst>
                                    </p:anim>
                                    <p:anim calcmode="lin" valueType="num">
                                      <p:cBhvr additive="base">
                                        <p:cTn id="18" dur="1000" fill="hold"/>
                                        <p:tgtEl>
                                          <p:spTgt spid="2515"/>
                                        </p:tgtEl>
                                        <p:attrNameLst>
                                          <p:attrName>ppt_y</p:attrName>
                                        </p:attrNameLst>
                                      </p:cBhvr>
                                      <p:tavLst>
                                        <p:tav tm="0">
                                          <p:val>
                                            <p:strVal val="#ppt_y"/>
                                          </p:val>
                                        </p:tav>
                                        <p:tav tm="100000">
                                          <p:val>
                                            <p:strVal val="#ppt_y"/>
                                          </p:val>
                                        </p:tav>
                                      </p:tavLst>
                                    </p:anim>
                                    <p:animEffect transition="in" filter="wipe(right)">
                                      <p:cBhvr additive="base">
                                        <p:cTn id="19" dur="1000"/>
                                        <p:tgtEl>
                                          <p:spTgt spid="2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4" grpId="0" animBg="1"/>
      <p:bldP spid="2515"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70</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19" name="标题 2518"/>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520" name="文本占位符 2519"/>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hlinkClick r:id="" action="ppaction://hlinkshowjump?jump=nextslide" tooltip="下一页"/>
              </a:rPr>
              <a:t>二元离散信源的率失真函数</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信息率失真函数曲线图说明</a:t>
            </a:r>
          </a:p>
          <a:p>
            <a:pPr marL="355600" indent="-355600">
              <a:buClr>
                <a:srgbClr val="993366"/>
              </a:buClr>
              <a:buNone/>
            </a:pPr>
            <a:r>
              <a:rPr lang="en-US" altLang="zh-CN">
                <a:ea typeface="MingLiU_HKSCS-ExtB" panose="02020500000000000000" charset="-120"/>
              </a:rPr>
              <a:t>(3) </a:t>
            </a:r>
            <a:r>
              <a:rPr lang="zh-CN" altLang="en-US">
                <a:ea typeface="MingLiU_HKSCS-ExtB" panose="02020500000000000000" charset="-120"/>
              </a:rPr>
              <a:t>二元等概率离散信源的率失真函数</a:t>
            </a:r>
          </a:p>
        </p:txBody>
      </p:sp>
      <p:sp>
        <p:nvSpPr>
          <p:cNvPr id="2521" name="矩形 2520"/>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spd="med">
    <p:spli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71</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24" name="标题 2523"/>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525" name="文本占位符 2524"/>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二元离散信源的率失真函数</a:t>
            </a:r>
          </a:p>
          <a:p>
            <a:pPr marL="355600" indent="-355600">
              <a:buClr>
                <a:srgbClr val="993366"/>
              </a:buClr>
              <a:buNone/>
            </a:pPr>
            <a:r>
              <a:rPr lang="zh-CN" altLang="en-US" sz="2400">
                <a:ea typeface="MingLiU_HKSCS-ExtB" panose="02020500000000000000" charset="-120"/>
              </a:rPr>
              <a:t>      设二元信源</a:t>
            </a:r>
          </a:p>
          <a:p>
            <a:pPr marL="355600" indent="-355600">
              <a:buClr>
                <a:srgbClr val="993366"/>
              </a:buClr>
              <a:buNone/>
            </a:pPr>
            <a:endParaRPr lang="zh-CN" altLang="en-US" sz="2400">
              <a:ea typeface="MingLiU_HKSCS-ExtB" panose="02020500000000000000" charset="-120"/>
            </a:endParaRPr>
          </a:p>
          <a:p>
            <a:pPr marL="355600" indent="-355600">
              <a:buClr>
                <a:srgbClr val="993366"/>
              </a:buClr>
              <a:buNone/>
            </a:pPr>
            <a:endParaRPr lang="zh-CN" altLang="en-US" sz="2400">
              <a:ea typeface="MingLiU_HKSCS-ExtB" panose="02020500000000000000" charset="-120"/>
            </a:endParaRPr>
          </a:p>
          <a:p>
            <a:pPr marL="355600" indent="-355600">
              <a:buClr>
                <a:srgbClr val="993366"/>
              </a:buClr>
              <a:buNone/>
            </a:pPr>
            <a:endParaRPr lang="zh-CN" altLang="en-US" sz="2400">
              <a:ea typeface="MingLiU_HKSCS-ExtB" panose="02020500000000000000" charset="-120"/>
            </a:endParaRPr>
          </a:p>
          <a:p>
            <a:pPr marL="355600" indent="-355600">
              <a:buClr>
                <a:srgbClr val="993366"/>
              </a:buClr>
              <a:buNone/>
            </a:pPr>
            <a:r>
              <a:rPr lang="zh-CN" altLang="en-US" sz="2400">
                <a:ea typeface="MingLiU_HKSCS-ExtB" panose="02020500000000000000" charset="-120"/>
              </a:rPr>
              <a:t>      </a:t>
            </a:r>
          </a:p>
          <a:p>
            <a:pPr marL="355600" indent="-355600">
              <a:buClr>
                <a:srgbClr val="993366"/>
              </a:buClr>
              <a:buNone/>
            </a:pPr>
            <a:endParaRPr lang="zh-CN" altLang="en-US" sz="2400">
              <a:ea typeface="MingLiU_HKSCS-ExtB" panose="02020500000000000000" charset="-120"/>
            </a:endParaRPr>
          </a:p>
          <a:p>
            <a:pPr marL="355600" indent="-355600">
              <a:buClr>
                <a:srgbClr val="993366"/>
              </a:buClr>
              <a:buNone/>
            </a:pPr>
            <a:r>
              <a:rPr lang="zh-CN" altLang="en-US" sz="2400">
                <a:ea typeface="MingLiU_HKSCS-ExtB" panose="02020500000000000000" charset="-120"/>
              </a:rPr>
              <a:t>      计算率失真函数 </a:t>
            </a:r>
            <a:r>
              <a:rPr lang="en-US" altLang="zh-CN" sz="2400" i="1">
                <a:ea typeface="MingLiU_HKSCS-ExtB" panose="02020500000000000000" charset="-120"/>
              </a:rPr>
              <a:t>R</a:t>
            </a:r>
            <a:r>
              <a:rPr lang="en-US" altLang="zh-CN" sz="2400">
                <a:ea typeface="MingLiU_HKSCS-ExtB" panose="02020500000000000000" charset="-120"/>
              </a:rPr>
              <a:t>(</a:t>
            </a:r>
            <a:r>
              <a:rPr lang="en-US" altLang="zh-CN" sz="2400" i="1">
                <a:ea typeface="MingLiU_HKSCS-ExtB" panose="02020500000000000000" charset="-120"/>
              </a:rPr>
              <a:t>D</a:t>
            </a:r>
            <a:r>
              <a:rPr lang="en-US" altLang="zh-CN" sz="2400">
                <a:ea typeface="MingLiU_HKSCS-ExtB" panose="02020500000000000000" charset="-120"/>
              </a:rPr>
              <a:t>)</a:t>
            </a:r>
          </a:p>
        </p:txBody>
      </p:sp>
      <p:graphicFrame>
        <p:nvGraphicFramePr>
          <p:cNvPr id="2526" name="对象 2525"/>
          <p:cNvGraphicFramePr/>
          <p:nvPr/>
        </p:nvGraphicFramePr>
        <p:xfrm>
          <a:off x="1692275" y="2349500"/>
          <a:ext cx="5878513" cy="2593975"/>
        </p:xfrm>
        <a:graphic>
          <a:graphicData uri="http://schemas.openxmlformats.org/presentationml/2006/ole">
            <mc:AlternateContent xmlns:mc="http://schemas.openxmlformats.org/markup-compatibility/2006">
              <mc:Choice xmlns:v="urn:schemas-microsoft-com:vml" Requires="v">
                <p:oleObj spid="_x0000_s46082" r:id="rId3" imgW="2557780" imgH="1422400" progId="Equation.3">
                  <p:embed/>
                </p:oleObj>
              </mc:Choice>
              <mc:Fallback>
                <p:oleObj r:id="rId3" imgW="2557780" imgH="1422400" progId="Equation.3">
                  <p:embed/>
                  <p:pic>
                    <p:nvPicPr>
                      <p:cNvPr id="0" name="图片 3094"/>
                      <p:cNvPicPr/>
                      <p:nvPr/>
                    </p:nvPicPr>
                    <p:blipFill>
                      <a:blip r:embed="rId4"/>
                      <a:stretch>
                        <a:fillRect/>
                      </a:stretch>
                    </p:blipFill>
                    <p:spPr>
                      <a:xfrm>
                        <a:off x="1692275" y="2349500"/>
                        <a:ext cx="5878513" cy="2593975"/>
                      </a:xfrm>
                      <a:prstGeom prst="rect">
                        <a:avLst/>
                      </a:prstGeom>
                      <a:noFill/>
                      <a:ln w="38100">
                        <a:noFill/>
                        <a:miter/>
                      </a:ln>
                    </p:spPr>
                  </p:pic>
                </p:oleObj>
              </mc:Fallback>
            </mc:AlternateContent>
          </a:graphicData>
        </a:graphic>
      </p:graphicFrame>
      <p:sp>
        <p:nvSpPr>
          <p:cNvPr id="2527" name="矩形 2526"/>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spd="med">
    <p:spli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72</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30" name="标题 2529"/>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531" name="文本占位符 2530"/>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二元离散信源的率失真函数</a:t>
            </a:r>
          </a:p>
          <a:p>
            <a:pPr marL="355600" indent="-355600">
              <a:buClr>
                <a:srgbClr val="993366"/>
              </a:buClr>
              <a:buNone/>
            </a:pPr>
            <a:r>
              <a:rPr lang="zh-CN" altLang="en-US" sz="2400">
                <a:solidFill>
                  <a:srgbClr val="0000CC"/>
                </a:solidFill>
                <a:ea typeface="MingLiU_HKSCS-ExtB" panose="02020500000000000000" charset="-120"/>
              </a:rPr>
              <a:t>       先求出 </a:t>
            </a:r>
            <a:r>
              <a:rPr lang="en-US" altLang="zh-CN" sz="2400" i="1">
                <a:solidFill>
                  <a:srgbClr val="0000CC"/>
                </a:solidFill>
                <a:ea typeface="MingLiU_HKSCS-ExtB" panose="02020500000000000000" charset="-120"/>
              </a:rPr>
              <a:t>D</a:t>
            </a:r>
            <a:r>
              <a:rPr lang="en-US" altLang="zh-CN" sz="2400" baseline="-25000">
                <a:solidFill>
                  <a:srgbClr val="0000CC"/>
                </a:solidFill>
                <a:ea typeface="MingLiU_HKSCS-ExtB" panose="02020500000000000000" charset="-120"/>
              </a:rPr>
              <a:t>max</a:t>
            </a:r>
            <a:endParaRPr lang="en-US" altLang="zh-CN" sz="2400">
              <a:solidFill>
                <a:srgbClr val="0000CC"/>
              </a:solidFill>
              <a:ea typeface="MingLiU_HKSCS-ExtB" panose="02020500000000000000" charset="-120"/>
            </a:endParaRPr>
          </a:p>
        </p:txBody>
      </p:sp>
      <p:graphicFrame>
        <p:nvGraphicFramePr>
          <p:cNvPr id="2532" name="对象 2531"/>
          <p:cNvGraphicFramePr/>
          <p:nvPr/>
        </p:nvGraphicFramePr>
        <p:xfrm>
          <a:off x="1290638" y="2265363"/>
          <a:ext cx="7004050" cy="3716337"/>
        </p:xfrm>
        <a:graphic>
          <a:graphicData uri="http://schemas.openxmlformats.org/presentationml/2006/ole">
            <mc:AlternateContent xmlns:mc="http://schemas.openxmlformats.org/markup-compatibility/2006">
              <mc:Choice xmlns:v="urn:schemas-microsoft-com:vml" Requires="v">
                <p:oleObj spid="_x0000_s47106" r:id="rId3" imgW="3336925" imgH="1884680" progId="Equation.3">
                  <p:embed/>
                </p:oleObj>
              </mc:Choice>
              <mc:Fallback>
                <p:oleObj r:id="rId3" imgW="3336925" imgH="1884680" progId="Equation.3">
                  <p:embed/>
                  <p:pic>
                    <p:nvPicPr>
                      <p:cNvPr id="0" name="图片 3098"/>
                      <p:cNvPicPr/>
                      <p:nvPr/>
                    </p:nvPicPr>
                    <p:blipFill>
                      <a:blip r:embed="rId4"/>
                      <a:stretch>
                        <a:fillRect/>
                      </a:stretch>
                    </p:blipFill>
                    <p:spPr>
                      <a:xfrm>
                        <a:off x="1290638" y="2265363"/>
                        <a:ext cx="7004050" cy="3716337"/>
                      </a:xfrm>
                      <a:prstGeom prst="rect">
                        <a:avLst/>
                      </a:prstGeom>
                      <a:noFill/>
                      <a:ln w="38100">
                        <a:noFill/>
                        <a:miter/>
                      </a:ln>
                    </p:spPr>
                  </p:pic>
                </p:oleObj>
              </mc:Fallback>
            </mc:AlternateContent>
          </a:graphicData>
        </a:graphic>
      </p:graphicFrame>
      <p:sp>
        <p:nvSpPr>
          <p:cNvPr id="2533" name="矩形 2532"/>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532"/>
                                        </p:tgtEl>
                                        <p:attrNameLst>
                                          <p:attrName>style.visibility</p:attrName>
                                        </p:attrNameLst>
                                      </p:cBhvr>
                                      <p:to>
                                        <p:strVal val="visible"/>
                                      </p:to>
                                    </p:set>
                                    <p:anim calcmode="lin" valueType="num">
                                      <p:cBhvr additive="base">
                                        <p:cTn id="7" dur="1000" fill="hold"/>
                                        <p:tgtEl>
                                          <p:spTgt spid="2532"/>
                                        </p:tgtEl>
                                        <p:attrNameLst>
                                          <p:attrName>ppt_x</p:attrName>
                                        </p:attrNameLst>
                                      </p:cBhvr>
                                      <p:tavLst>
                                        <p:tav tm="0">
                                          <p:val>
                                            <p:strVal val="#ppt_x-.2"/>
                                          </p:val>
                                        </p:tav>
                                        <p:tav tm="100000">
                                          <p:val>
                                            <p:strVal val="#ppt_x"/>
                                          </p:val>
                                        </p:tav>
                                      </p:tavLst>
                                    </p:anim>
                                    <p:anim calcmode="lin" valueType="num">
                                      <p:cBhvr additive="base">
                                        <p:cTn id="8" dur="1000" fill="hold"/>
                                        <p:tgtEl>
                                          <p:spTgt spid="2532"/>
                                        </p:tgtEl>
                                        <p:attrNameLst>
                                          <p:attrName>ppt_y</p:attrName>
                                        </p:attrNameLst>
                                      </p:cBhvr>
                                      <p:tavLst>
                                        <p:tav tm="0">
                                          <p:val>
                                            <p:strVal val="#ppt_y"/>
                                          </p:val>
                                        </p:tav>
                                        <p:tav tm="100000">
                                          <p:val>
                                            <p:strVal val="#ppt_y"/>
                                          </p:val>
                                        </p:tav>
                                      </p:tavLst>
                                    </p:anim>
                                    <p:animEffect transition="in" filter="wipe(right)">
                                      <p:cBhvr additive="base">
                                        <p:cTn id="9" dur="1000"/>
                                        <p:tgtEl>
                                          <p:spTgt spid="2532"/>
                                        </p:tgtEl>
                                      </p:cBhvr>
                                    </p:animEffect>
                                  </p:childTnLst>
                                </p:cTn>
                              </p:par>
                              <p:par>
                                <p:cTn id="10" presetID="29" presetClass="entr" presetSubtype="0" fill="hold" nodeType="withEffect">
                                  <p:childTnLst>
                                    <p:set>
                                      <p:cBhvr additive="base">
                                        <p:cTn id="11" dur="1" fill="hold">
                                          <p:stCondLst>
                                            <p:cond delay="0"/>
                                          </p:stCondLst>
                                        </p:cTn>
                                        <p:tgtEl>
                                          <p:spTgt spid="2531">
                                            <p:txEl>
                                              <p:pRg st="1" end="1"/>
                                            </p:txEl>
                                          </p:spTgt>
                                        </p:tgtEl>
                                        <p:attrNameLst>
                                          <p:attrName>style.visibility</p:attrName>
                                        </p:attrNameLst>
                                      </p:cBhvr>
                                      <p:to>
                                        <p:strVal val="visible"/>
                                      </p:to>
                                    </p:set>
                                    <p:anim calcmode="lin" valueType="num">
                                      <p:cBhvr additive="base">
                                        <p:cTn id="12" dur="1000" fill="hold"/>
                                        <p:tgtEl>
                                          <p:spTgt spid="2531">
                                            <p:txEl>
                                              <p:pRg st="1" end="1"/>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531">
                                            <p:txEl>
                                              <p:pRg st="1" end="1"/>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5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73</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36" name="标题 2535"/>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537" name="文本占位符 2536"/>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二元离散信源的率失真函数</a:t>
            </a:r>
          </a:p>
          <a:p>
            <a:pPr marL="355600" indent="-355600">
              <a:buClr>
                <a:srgbClr val="993366"/>
              </a:buClr>
              <a:buNone/>
            </a:pPr>
            <a:r>
              <a:rPr lang="zh-CN" altLang="en-US" sz="2000">
                <a:solidFill>
                  <a:srgbClr val="0000CC"/>
                </a:solidFill>
                <a:ea typeface="MingLiU_HKSCS-ExtB" panose="02020500000000000000" charset="-120"/>
              </a:rPr>
              <a:t>第一步：</a:t>
            </a:r>
            <a:r>
              <a:rPr lang="zh-CN" altLang="en-US" sz="2000">
                <a:ea typeface="MingLiU_HKSCS-ExtB" panose="02020500000000000000" charset="-120"/>
              </a:rPr>
              <a:t>求</a:t>
            </a:r>
            <a:r>
              <a:rPr lang="en-US" altLang="zh-CN" sz="2000" i="1">
                <a:ea typeface="MingLiU_HKSCS-ExtB" panose="02020500000000000000" charset="-120"/>
              </a:rPr>
              <a:t>λ</a:t>
            </a:r>
            <a:r>
              <a:rPr lang="en-US" altLang="zh-CN" sz="2000" i="1" baseline="-25000">
                <a:ea typeface="MingLiU_HKSCS-ExtB" panose="02020500000000000000" charset="-120"/>
              </a:rPr>
              <a:t>i</a:t>
            </a:r>
            <a:r>
              <a:rPr lang="zh-CN" altLang="en-US" sz="2000">
                <a:ea typeface="MingLiU_HKSCS-ExtB" panose="02020500000000000000" charset="-120"/>
              </a:rPr>
              <a:t>，由式 </a:t>
            </a:r>
            <a:r>
              <a:rPr lang="en-US" altLang="zh-CN" sz="2000">
                <a:ea typeface="MingLiU_HKSCS-ExtB" panose="02020500000000000000" charset="-120"/>
              </a:rPr>
              <a:t>(4.2.11) </a:t>
            </a:r>
            <a:r>
              <a:rPr lang="zh-CN" altLang="en-US" sz="2000">
                <a:ea typeface="MingLiU_HKSCS-ExtB" panose="02020500000000000000" charset="-120"/>
              </a:rPr>
              <a:t>有：</a:t>
            </a:r>
          </a:p>
        </p:txBody>
      </p:sp>
      <p:graphicFrame>
        <p:nvGraphicFramePr>
          <p:cNvPr id="2538" name="对象 2537"/>
          <p:cNvGraphicFramePr/>
          <p:nvPr/>
        </p:nvGraphicFramePr>
        <p:xfrm>
          <a:off x="1862138" y="3382963"/>
          <a:ext cx="5181600" cy="2998787"/>
        </p:xfrm>
        <a:graphic>
          <a:graphicData uri="http://schemas.openxmlformats.org/presentationml/2006/ole">
            <mc:AlternateContent xmlns:mc="http://schemas.openxmlformats.org/markup-compatibility/2006">
              <mc:Choice xmlns:v="urn:schemas-microsoft-com:vml" Requires="v">
                <p:oleObj spid="_x0000_s48131" r:id="rId3" imgW="2502535" imgH="1385570" progId="Equation.3">
                  <p:embed/>
                </p:oleObj>
              </mc:Choice>
              <mc:Fallback>
                <p:oleObj r:id="rId3" imgW="2502535" imgH="1385570" progId="Equation.3">
                  <p:embed/>
                  <p:pic>
                    <p:nvPicPr>
                      <p:cNvPr id="0" name="图片 3097"/>
                      <p:cNvPicPr/>
                      <p:nvPr/>
                    </p:nvPicPr>
                    <p:blipFill>
                      <a:blip r:embed="rId4"/>
                      <a:stretch>
                        <a:fillRect/>
                      </a:stretch>
                    </p:blipFill>
                    <p:spPr>
                      <a:xfrm>
                        <a:off x="1862138" y="3382963"/>
                        <a:ext cx="5181600" cy="2998787"/>
                      </a:xfrm>
                      <a:prstGeom prst="rect">
                        <a:avLst/>
                      </a:prstGeom>
                      <a:noFill/>
                      <a:ln w="38100">
                        <a:noFill/>
                        <a:miter/>
                      </a:ln>
                    </p:spPr>
                  </p:pic>
                </p:oleObj>
              </mc:Fallback>
            </mc:AlternateContent>
          </a:graphicData>
        </a:graphic>
      </p:graphicFrame>
      <p:graphicFrame>
        <p:nvGraphicFramePr>
          <p:cNvPr id="2539" name="对象 2538"/>
          <p:cNvGraphicFramePr/>
          <p:nvPr/>
        </p:nvGraphicFramePr>
        <p:xfrm>
          <a:off x="1331913" y="2451100"/>
          <a:ext cx="7083425" cy="800100"/>
        </p:xfrm>
        <a:graphic>
          <a:graphicData uri="http://schemas.openxmlformats.org/presentationml/2006/ole">
            <mc:AlternateContent xmlns:mc="http://schemas.openxmlformats.org/markup-compatibility/2006">
              <mc:Choice xmlns:v="urn:schemas-microsoft-com:vml" Requires="v">
                <p:oleObj spid="_x0000_s48132" r:id="rId5" imgW="932180" imgH="431800" progId="Equation.3">
                  <p:embed/>
                </p:oleObj>
              </mc:Choice>
              <mc:Fallback>
                <p:oleObj r:id="rId5" imgW="932180" imgH="431800" progId="Equation.3">
                  <p:embed/>
                  <p:pic>
                    <p:nvPicPr>
                      <p:cNvPr id="0" name="图片 3095"/>
                      <p:cNvPicPr/>
                      <p:nvPr/>
                    </p:nvPicPr>
                    <p:blipFill>
                      <a:blip r:embed="rId6"/>
                      <a:stretch>
                        <a:fillRect/>
                      </a:stretch>
                    </p:blipFill>
                    <p:spPr>
                      <a:xfrm>
                        <a:off x="1331913" y="2451100"/>
                        <a:ext cx="7083425" cy="800100"/>
                      </a:xfrm>
                      <a:prstGeom prst="rect">
                        <a:avLst/>
                      </a:prstGeom>
                      <a:noFill/>
                      <a:ln w="38100">
                        <a:noFill/>
                        <a:miter/>
                      </a:ln>
                    </p:spPr>
                  </p:pic>
                </p:oleObj>
              </mc:Fallback>
            </mc:AlternateContent>
          </a:graphicData>
        </a:graphic>
      </p:graphicFrame>
      <p:sp>
        <p:nvSpPr>
          <p:cNvPr id="2540" name="矩形 2539"/>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538"/>
                                        </p:tgtEl>
                                        <p:attrNameLst>
                                          <p:attrName>style.visibility</p:attrName>
                                        </p:attrNameLst>
                                      </p:cBhvr>
                                      <p:to>
                                        <p:strVal val="visible"/>
                                      </p:to>
                                    </p:set>
                                    <p:anim calcmode="lin" valueType="num">
                                      <p:cBhvr additive="base">
                                        <p:cTn id="7" dur="1000" fill="hold"/>
                                        <p:tgtEl>
                                          <p:spTgt spid="2538"/>
                                        </p:tgtEl>
                                        <p:attrNameLst>
                                          <p:attrName>ppt_x</p:attrName>
                                        </p:attrNameLst>
                                      </p:cBhvr>
                                      <p:tavLst>
                                        <p:tav tm="0">
                                          <p:val>
                                            <p:strVal val="#ppt_x-.2"/>
                                          </p:val>
                                        </p:tav>
                                        <p:tav tm="100000">
                                          <p:val>
                                            <p:strVal val="#ppt_x"/>
                                          </p:val>
                                        </p:tav>
                                      </p:tavLst>
                                    </p:anim>
                                    <p:anim calcmode="lin" valueType="num">
                                      <p:cBhvr additive="base">
                                        <p:cTn id="8" dur="1000" fill="hold"/>
                                        <p:tgtEl>
                                          <p:spTgt spid="2538"/>
                                        </p:tgtEl>
                                        <p:attrNameLst>
                                          <p:attrName>ppt_y</p:attrName>
                                        </p:attrNameLst>
                                      </p:cBhvr>
                                      <p:tavLst>
                                        <p:tav tm="0">
                                          <p:val>
                                            <p:strVal val="#ppt_y"/>
                                          </p:val>
                                        </p:tav>
                                        <p:tav tm="100000">
                                          <p:val>
                                            <p:strVal val="#ppt_y"/>
                                          </p:val>
                                        </p:tav>
                                      </p:tavLst>
                                    </p:anim>
                                    <p:animEffect transition="in" filter="wipe(right)">
                                      <p:cBhvr additive="base">
                                        <p:cTn id="9" dur="1000"/>
                                        <p:tgtEl>
                                          <p:spTgt spid="2538"/>
                                        </p:tgtEl>
                                      </p:cBhvr>
                                    </p:animEffect>
                                  </p:childTnLst>
                                </p:cTn>
                              </p:par>
                              <p:par>
                                <p:cTn id="10" presetID="29" presetClass="entr" presetSubtype="0" fill="hold" nodeType="withEffect">
                                  <p:childTnLst>
                                    <p:set>
                                      <p:cBhvr additive="base">
                                        <p:cTn id="11" dur="1" fill="hold">
                                          <p:stCondLst>
                                            <p:cond delay="0"/>
                                          </p:stCondLst>
                                        </p:cTn>
                                        <p:tgtEl>
                                          <p:spTgt spid="2539"/>
                                        </p:tgtEl>
                                        <p:attrNameLst>
                                          <p:attrName>style.visibility</p:attrName>
                                        </p:attrNameLst>
                                      </p:cBhvr>
                                      <p:to>
                                        <p:strVal val="visible"/>
                                      </p:to>
                                    </p:set>
                                    <p:anim calcmode="lin" valueType="num">
                                      <p:cBhvr additive="base">
                                        <p:cTn id="12" dur="1000" fill="hold"/>
                                        <p:tgtEl>
                                          <p:spTgt spid="2539"/>
                                        </p:tgtEl>
                                        <p:attrNameLst>
                                          <p:attrName>ppt_x</p:attrName>
                                        </p:attrNameLst>
                                      </p:cBhvr>
                                      <p:tavLst>
                                        <p:tav tm="0">
                                          <p:val>
                                            <p:strVal val="#ppt_x-.2"/>
                                          </p:val>
                                        </p:tav>
                                        <p:tav tm="100000">
                                          <p:val>
                                            <p:strVal val="#ppt_x"/>
                                          </p:val>
                                        </p:tav>
                                      </p:tavLst>
                                    </p:anim>
                                    <p:anim calcmode="lin" valueType="num">
                                      <p:cBhvr additive="base">
                                        <p:cTn id="13" dur="1000" fill="hold"/>
                                        <p:tgtEl>
                                          <p:spTgt spid="2539"/>
                                        </p:tgtEl>
                                        <p:attrNameLst>
                                          <p:attrName>ppt_y</p:attrName>
                                        </p:attrNameLst>
                                      </p:cBhvr>
                                      <p:tavLst>
                                        <p:tav tm="0">
                                          <p:val>
                                            <p:strVal val="#ppt_y"/>
                                          </p:val>
                                        </p:tav>
                                        <p:tav tm="100000">
                                          <p:val>
                                            <p:strVal val="#ppt_y"/>
                                          </p:val>
                                        </p:tav>
                                      </p:tavLst>
                                    </p:anim>
                                    <p:animEffect transition="in" filter="wipe(right)">
                                      <p:cBhvr additive="base">
                                        <p:cTn id="14" dur="1000"/>
                                        <p:tgtEl>
                                          <p:spTgt spid="2539"/>
                                        </p:tgtEl>
                                      </p:cBhvr>
                                    </p:animEffect>
                                  </p:childTnLst>
                                </p:cTn>
                              </p:par>
                              <p:par>
                                <p:cTn id="15" presetID="29" presetClass="entr" presetSubtype="0" fill="hold" nodeType="withEffect">
                                  <p:childTnLst>
                                    <p:set>
                                      <p:cBhvr additive="base">
                                        <p:cTn id="16" dur="1" fill="hold">
                                          <p:stCondLst>
                                            <p:cond delay="0"/>
                                          </p:stCondLst>
                                        </p:cTn>
                                        <p:tgtEl>
                                          <p:spTgt spid="2537">
                                            <p:txEl>
                                              <p:pRg st="1" end="1"/>
                                            </p:txEl>
                                          </p:spTgt>
                                        </p:tgtEl>
                                        <p:attrNameLst>
                                          <p:attrName>style.visibility</p:attrName>
                                        </p:attrNameLst>
                                      </p:cBhvr>
                                      <p:to>
                                        <p:strVal val="visible"/>
                                      </p:to>
                                    </p:set>
                                    <p:anim calcmode="lin" valueType="num">
                                      <p:cBhvr additive="base">
                                        <p:cTn id="17" dur="1000" fill="hold"/>
                                        <p:tgtEl>
                                          <p:spTgt spid="2537">
                                            <p:txEl>
                                              <p:pRg st="1" end="1"/>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537">
                                            <p:txEl>
                                              <p:pRg st="1" end="1"/>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5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74</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43" name="标题 2542"/>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544" name="文本占位符 2543"/>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二元离散信源的率失真函数</a:t>
            </a:r>
          </a:p>
          <a:p>
            <a:pPr marL="355600" indent="-355600">
              <a:buClr>
                <a:srgbClr val="993366"/>
              </a:buClr>
              <a:buNone/>
            </a:pPr>
            <a:r>
              <a:rPr lang="zh-CN" altLang="en-US" sz="2000">
                <a:solidFill>
                  <a:srgbClr val="0000CC"/>
                </a:solidFill>
                <a:ea typeface="MingLiU_HKSCS-ExtB" panose="02020500000000000000" charset="-120"/>
              </a:rPr>
              <a:t>第二步：</a:t>
            </a:r>
            <a:r>
              <a:rPr lang="zh-CN" altLang="en-US" sz="2000">
                <a:ea typeface="MingLiU_HKSCS-ExtB" panose="02020500000000000000" charset="-120"/>
              </a:rPr>
              <a:t>求 </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i="1" baseline="-25000">
                <a:ea typeface="MingLiU_HKSCS-ExtB" panose="02020500000000000000" charset="-120"/>
              </a:rPr>
              <a:t>j</a:t>
            </a:r>
            <a:r>
              <a:rPr lang="en-US" altLang="zh-CN" sz="2000">
                <a:ea typeface="MingLiU_HKSCS-ExtB" panose="02020500000000000000" charset="-120"/>
              </a:rPr>
              <a:t>)</a:t>
            </a:r>
            <a:r>
              <a:rPr lang="zh-CN" altLang="en-US" sz="2000">
                <a:ea typeface="MingLiU_HKSCS-ExtB" panose="02020500000000000000" charset="-120"/>
              </a:rPr>
              <a:t>，由式 </a:t>
            </a:r>
            <a:r>
              <a:rPr lang="en-US" altLang="zh-CN" sz="2000">
                <a:ea typeface="MingLiU_HKSCS-ExtB" panose="02020500000000000000" charset="-120"/>
              </a:rPr>
              <a:t>(4.2.12) </a:t>
            </a:r>
            <a:r>
              <a:rPr lang="zh-CN" altLang="en-US" sz="2000">
                <a:ea typeface="MingLiU_HKSCS-ExtB" panose="02020500000000000000" charset="-120"/>
              </a:rPr>
              <a:t>有：</a:t>
            </a:r>
          </a:p>
        </p:txBody>
      </p:sp>
      <p:graphicFrame>
        <p:nvGraphicFramePr>
          <p:cNvPr id="2545" name="对象 2544"/>
          <p:cNvGraphicFramePr/>
          <p:nvPr/>
        </p:nvGraphicFramePr>
        <p:xfrm>
          <a:off x="4859338" y="1628775"/>
          <a:ext cx="3789362" cy="785813"/>
        </p:xfrm>
        <a:graphic>
          <a:graphicData uri="http://schemas.openxmlformats.org/presentationml/2006/ole">
            <mc:AlternateContent xmlns:mc="http://schemas.openxmlformats.org/markup-compatibility/2006">
              <mc:Choice xmlns:v="urn:schemas-microsoft-com:vml" Requires="v">
                <p:oleObj spid="_x0000_s49155" r:id="rId3" imgW="939800" imgH="444500" progId="Equation.3">
                  <p:embed/>
                </p:oleObj>
              </mc:Choice>
              <mc:Fallback>
                <p:oleObj r:id="rId3" imgW="939800" imgH="444500" progId="Equation.3">
                  <p:embed/>
                  <p:pic>
                    <p:nvPicPr>
                      <p:cNvPr id="0" name="图片 3096"/>
                      <p:cNvPicPr/>
                      <p:nvPr/>
                    </p:nvPicPr>
                    <p:blipFill>
                      <a:blip r:embed="rId4"/>
                      <a:stretch>
                        <a:fillRect/>
                      </a:stretch>
                    </p:blipFill>
                    <p:spPr>
                      <a:xfrm>
                        <a:off x="4859338" y="1628775"/>
                        <a:ext cx="3789362" cy="785813"/>
                      </a:xfrm>
                      <a:prstGeom prst="rect">
                        <a:avLst/>
                      </a:prstGeom>
                      <a:noFill/>
                      <a:ln w="38100">
                        <a:noFill/>
                        <a:miter/>
                      </a:ln>
                    </p:spPr>
                  </p:pic>
                </p:oleObj>
              </mc:Fallback>
            </mc:AlternateContent>
          </a:graphicData>
        </a:graphic>
      </p:graphicFrame>
      <p:graphicFrame>
        <p:nvGraphicFramePr>
          <p:cNvPr id="2546" name="对象 2545"/>
          <p:cNvGraphicFramePr/>
          <p:nvPr/>
        </p:nvGraphicFramePr>
        <p:xfrm>
          <a:off x="1187450" y="2492375"/>
          <a:ext cx="5499100" cy="3486150"/>
        </p:xfrm>
        <a:graphic>
          <a:graphicData uri="http://schemas.openxmlformats.org/presentationml/2006/ole">
            <mc:AlternateContent xmlns:mc="http://schemas.openxmlformats.org/markup-compatibility/2006">
              <mc:Choice xmlns:v="urn:schemas-microsoft-com:vml" Requires="v">
                <p:oleObj spid="_x0000_s49156" r:id="rId5" imgW="3059430" imgH="1734820" progId="Equation.3">
                  <p:embed/>
                </p:oleObj>
              </mc:Choice>
              <mc:Fallback>
                <p:oleObj r:id="rId5" imgW="3059430" imgH="1734820" progId="Equation.3">
                  <p:embed/>
                  <p:pic>
                    <p:nvPicPr>
                      <p:cNvPr id="0" name="图片 3102"/>
                      <p:cNvPicPr/>
                      <p:nvPr/>
                    </p:nvPicPr>
                    <p:blipFill>
                      <a:blip r:embed="rId6"/>
                      <a:stretch>
                        <a:fillRect/>
                      </a:stretch>
                    </p:blipFill>
                    <p:spPr>
                      <a:xfrm>
                        <a:off x="1187450" y="2492375"/>
                        <a:ext cx="5499100" cy="3486150"/>
                      </a:xfrm>
                      <a:prstGeom prst="rect">
                        <a:avLst/>
                      </a:prstGeom>
                      <a:noFill/>
                      <a:ln w="38100">
                        <a:noFill/>
                        <a:miter/>
                      </a:ln>
                    </p:spPr>
                  </p:pic>
                </p:oleObj>
              </mc:Fallback>
            </mc:AlternateContent>
          </a:graphicData>
        </a:graphic>
      </p:graphicFrame>
      <p:sp>
        <p:nvSpPr>
          <p:cNvPr id="2547" name="矩形 2546"/>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545"/>
                                        </p:tgtEl>
                                        <p:attrNameLst>
                                          <p:attrName>style.visibility</p:attrName>
                                        </p:attrNameLst>
                                      </p:cBhvr>
                                      <p:to>
                                        <p:strVal val="visible"/>
                                      </p:to>
                                    </p:set>
                                    <p:anim calcmode="lin" valueType="num">
                                      <p:cBhvr additive="base">
                                        <p:cTn id="7" dur="1000" fill="hold"/>
                                        <p:tgtEl>
                                          <p:spTgt spid="2545"/>
                                        </p:tgtEl>
                                        <p:attrNameLst>
                                          <p:attrName>ppt_x</p:attrName>
                                        </p:attrNameLst>
                                      </p:cBhvr>
                                      <p:tavLst>
                                        <p:tav tm="0">
                                          <p:val>
                                            <p:strVal val="#ppt_x-.2"/>
                                          </p:val>
                                        </p:tav>
                                        <p:tav tm="100000">
                                          <p:val>
                                            <p:strVal val="#ppt_x"/>
                                          </p:val>
                                        </p:tav>
                                      </p:tavLst>
                                    </p:anim>
                                    <p:anim calcmode="lin" valueType="num">
                                      <p:cBhvr additive="base">
                                        <p:cTn id="8" dur="1000" fill="hold"/>
                                        <p:tgtEl>
                                          <p:spTgt spid="2545"/>
                                        </p:tgtEl>
                                        <p:attrNameLst>
                                          <p:attrName>ppt_y</p:attrName>
                                        </p:attrNameLst>
                                      </p:cBhvr>
                                      <p:tavLst>
                                        <p:tav tm="0">
                                          <p:val>
                                            <p:strVal val="#ppt_y"/>
                                          </p:val>
                                        </p:tav>
                                        <p:tav tm="100000">
                                          <p:val>
                                            <p:strVal val="#ppt_y"/>
                                          </p:val>
                                        </p:tav>
                                      </p:tavLst>
                                    </p:anim>
                                    <p:animEffect transition="in" filter="wipe(right)">
                                      <p:cBhvr additive="base">
                                        <p:cTn id="9" dur="1000"/>
                                        <p:tgtEl>
                                          <p:spTgt spid="2545"/>
                                        </p:tgtEl>
                                      </p:cBhvr>
                                    </p:animEffect>
                                  </p:childTnLst>
                                </p:cTn>
                              </p:par>
                              <p:par>
                                <p:cTn id="10" presetID="29" presetClass="entr" presetSubtype="0" fill="hold" nodeType="withEffect">
                                  <p:childTnLst>
                                    <p:set>
                                      <p:cBhvr additive="base">
                                        <p:cTn id="11" dur="1" fill="hold">
                                          <p:stCondLst>
                                            <p:cond delay="0"/>
                                          </p:stCondLst>
                                        </p:cTn>
                                        <p:tgtEl>
                                          <p:spTgt spid="2546"/>
                                        </p:tgtEl>
                                        <p:attrNameLst>
                                          <p:attrName>style.visibility</p:attrName>
                                        </p:attrNameLst>
                                      </p:cBhvr>
                                      <p:to>
                                        <p:strVal val="visible"/>
                                      </p:to>
                                    </p:set>
                                    <p:anim calcmode="lin" valueType="num">
                                      <p:cBhvr additive="base">
                                        <p:cTn id="12" dur="1000" fill="hold"/>
                                        <p:tgtEl>
                                          <p:spTgt spid="2546"/>
                                        </p:tgtEl>
                                        <p:attrNameLst>
                                          <p:attrName>ppt_x</p:attrName>
                                        </p:attrNameLst>
                                      </p:cBhvr>
                                      <p:tavLst>
                                        <p:tav tm="0">
                                          <p:val>
                                            <p:strVal val="#ppt_x-.2"/>
                                          </p:val>
                                        </p:tav>
                                        <p:tav tm="100000">
                                          <p:val>
                                            <p:strVal val="#ppt_x"/>
                                          </p:val>
                                        </p:tav>
                                      </p:tavLst>
                                    </p:anim>
                                    <p:anim calcmode="lin" valueType="num">
                                      <p:cBhvr additive="base">
                                        <p:cTn id="13" dur="1000" fill="hold"/>
                                        <p:tgtEl>
                                          <p:spTgt spid="2546"/>
                                        </p:tgtEl>
                                        <p:attrNameLst>
                                          <p:attrName>ppt_y</p:attrName>
                                        </p:attrNameLst>
                                      </p:cBhvr>
                                      <p:tavLst>
                                        <p:tav tm="0">
                                          <p:val>
                                            <p:strVal val="#ppt_y"/>
                                          </p:val>
                                        </p:tav>
                                        <p:tav tm="100000">
                                          <p:val>
                                            <p:strVal val="#ppt_y"/>
                                          </p:val>
                                        </p:tav>
                                      </p:tavLst>
                                    </p:anim>
                                    <p:animEffect transition="in" filter="wipe(right)">
                                      <p:cBhvr additive="base">
                                        <p:cTn id="14" dur="1000"/>
                                        <p:tgtEl>
                                          <p:spTgt spid="2546"/>
                                        </p:tgtEl>
                                      </p:cBhvr>
                                    </p:animEffect>
                                  </p:childTnLst>
                                </p:cTn>
                              </p:par>
                              <p:par>
                                <p:cTn id="15" presetID="29" presetClass="entr" presetSubtype="0" fill="hold" nodeType="withEffect">
                                  <p:childTnLst>
                                    <p:set>
                                      <p:cBhvr additive="base">
                                        <p:cTn id="16" dur="1" fill="hold">
                                          <p:stCondLst>
                                            <p:cond delay="0"/>
                                          </p:stCondLst>
                                        </p:cTn>
                                        <p:tgtEl>
                                          <p:spTgt spid="2544">
                                            <p:txEl>
                                              <p:pRg st="1" end="1"/>
                                            </p:txEl>
                                          </p:spTgt>
                                        </p:tgtEl>
                                        <p:attrNameLst>
                                          <p:attrName>style.visibility</p:attrName>
                                        </p:attrNameLst>
                                      </p:cBhvr>
                                      <p:to>
                                        <p:strVal val="visible"/>
                                      </p:to>
                                    </p:set>
                                    <p:anim calcmode="lin" valueType="num">
                                      <p:cBhvr additive="base">
                                        <p:cTn id="17" dur="1000" fill="hold"/>
                                        <p:tgtEl>
                                          <p:spTgt spid="2544">
                                            <p:txEl>
                                              <p:pRg st="1" end="1"/>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544">
                                            <p:txEl>
                                              <p:pRg st="1" end="1"/>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54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75</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50" name="标题 2549"/>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551" name="文本占位符 2550"/>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二元离散信源的率失真函数</a:t>
            </a:r>
          </a:p>
          <a:p>
            <a:pPr marL="355600" indent="-355600">
              <a:buClr>
                <a:srgbClr val="993366"/>
              </a:buClr>
              <a:buNone/>
            </a:pPr>
            <a:r>
              <a:rPr lang="zh-CN" altLang="en-US" sz="2000">
                <a:solidFill>
                  <a:srgbClr val="0000CC"/>
                </a:solidFill>
                <a:ea typeface="MingLiU_HKSCS-ExtB" panose="02020500000000000000" charset="-120"/>
              </a:rPr>
              <a:t>第三步：</a:t>
            </a:r>
            <a:r>
              <a:rPr lang="zh-CN" altLang="en-US" sz="2000">
                <a:ea typeface="MingLiU_HKSCS-ExtB" panose="02020500000000000000" charset="-120"/>
              </a:rPr>
              <a:t>求 </a:t>
            </a:r>
            <a:r>
              <a:rPr lang="en-US" altLang="zh-CN" sz="2000" i="1">
                <a:ea typeface="MingLiU_HKSCS-ExtB" panose="02020500000000000000" charset="-120"/>
              </a:rPr>
              <a:t>p</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i="1" baseline="-25000">
                <a:ea typeface="MingLiU_HKSCS-ExtB" panose="02020500000000000000" charset="-120"/>
              </a:rPr>
              <a:t>j</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i="1" baseline="-25000">
                <a:ea typeface="MingLiU_HKSCS-ExtB" panose="02020500000000000000" charset="-120"/>
              </a:rPr>
              <a:t>i</a:t>
            </a:r>
            <a:r>
              <a:rPr lang="en-US" altLang="zh-CN" sz="2000">
                <a:ea typeface="MingLiU_HKSCS-ExtB" panose="02020500000000000000" charset="-120"/>
              </a:rPr>
              <a:t>)</a:t>
            </a:r>
            <a:r>
              <a:rPr lang="zh-CN" altLang="en-US" sz="2000">
                <a:ea typeface="MingLiU_HKSCS-ExtB" panose="02020500000000000000" charset="-120"/>
              </a:rPr>
              <a:t>，由式 </a:t>
            </a:r>
            <a:r>
              <a:rPr lang="en-US" altLang="zh-CN" sz="2000">
                <a:ea typeface="MingLiU_HKSCS-ExtB" panose="02020500000000000000" charset="-120"/>
              </a:rPr>
              <a:t>(4.2.10) </a:t>
            </a:r>
            <a:r>
              <a:rPr lang="zh-CN" altLang="en-US" sz="2000">
                <a:ea typeface="MingLiU_HKSCS-ExtB" panose="02020500000000000000" charset="-120"/>
              </a:rPr>
              <a:t>有：</a:t>
            </a:r>
          </a:p>
        </p:txBody>
      </p:sp>
      <p:graphicFrame>
        <p:nvGraphicFramePr>
          <p:cNvPr id="2552" name="对象 2551"/>
          <p:cNvGraphicFramePr/>
          <p:nvPr/>
        </p:nvGraphicFramePr>
        <p:xfrm>
          <a:off x="4572000" y="2276475"/>
          <a:ext cx="4445000" cy="485775"/>
        </p:xfrm>
        <a:graphic>
          <a:graphicData uri="http://schemas.openxmlformats.org/presentationml/2006/ole">
            <mc:AlternateContent xmlns:mc="http://schemas.openxmlformats.org/markup-compatibility/2006">
              <mc:Choice xmlns:v="urn:schemas-microsoft-com:vml" Requires="v">
                <p:oleObj spid="_x0000_s50179" r:id="rId3" imgW="777240" imgH="279400" progId="Equation.3">
                  <p:embed/>
                </p:oleObj>
              </mc:Choice>
              <mc:Fallback>
                <p:oleObj r:id="rId3" imgW="777240" imgH="279400" progId="Equation.3">
                  <p:embed/>
                  <p:pic>
                    <p:nvPicPr>
                      <p:cNvPr id="0" name="图片 3099"/>
                      <p:cNvPicPr/>
                      <p:nvPr/>
                    </p:nvPicPr>
                    <p:blipFill>
                      <a:blip r:embed="rId4"/>
                      <a:stretch>
                        <a:fillRect/>
                      </a:stretch>
                    </p:blipFill>
                    <p:spPr>
                      <a:xfrm>
                        <a:off x="4572000" y="2276475"/>
                        <a:ext cx="4445000" cy="485775"/>
                      </a:xfrm>
                      <a:prstGeom prst="rect">
                        <a:avLst/>
                      </a:prstGeom>
                      <a:noFill/>
                      <a:ln w="38100">
                        <a:noFill/>
                        <a:miter/>
                      </a:ln>
                    </p:spPr>
                  </p:pic>
                </p:oleObj>
              </mc:Fallback>
            </mc:AlternateContent>
          </a:graphicData>
        </a:graphic>
      </p:graphicFrame>
      <p:graphicFrame>
        <p:nvGraphicFramePr>
          <p:cNvPr id="2553" name="对象 2552"/>
          <p:cNvGraphicFramePr/>
          <p:nvPr/>
        </p:nvGraphicFramePr>
        <p:xfrm>
          <a:off x="1109663" y="2887663"/>
          <a:ext cx="7318375" cy="3133725"/>
        </p:xfrm>
        <a:graphic>
          <a:graphicData uri="http://schemas.openxmlformats.org/presentationml/2006/ole">
            <mc:AlternateContent xmlns:mc="http://schemas.openxmlformats.org/markup-compatibility/2006">
              <mc:Choice xmlns:v="urn:schemas-microsoft-com:vml" Requires="v">
                <p:oleObj spid="_x0000_s50180" r:id="rId5" imgW="3037205" imgH="1701165" progId="Equation.3">
                  <p:embed/>
                </p:oleObj>
              </mc:Choice>
              <mc:Fallback>
                <p:oleObj r:id="rId5" imgW="3037205" imgH="1701165" progId="Equation.3">
                  <p:embed/>
                  <p:pic>
                    <p:nvPicPr>
                      <p:cNvPr id="0" name="图片 3100"/>
                      <p:cNvPicPr/>
                      <p:nvPr/>
                    </p:nvPicPr>
                    <p:blipFill>
                      <a:blip r:embed="rId6"/>
                      <a:stretch>
                        <a:fillRect/>
                      </a:stretch>
                    </p:blipFill>
                    <p:spPr>
                      <a:xfrm>
                        <a:off x="1109663" y="2887663"/>
                        <a:ext cx="7318375" cy="3133725"/>
                      </a:xfrm>
                      <a:prstGeom prst="rect">
                        <a:avLst/>
                      </a:prstGeom>
                      <a:noFill/>
                      <a:ln w="38100">
                        <a:noFill/>
                        <a:miter/>
                      </a:ln>
                    </p:spPr>
                  </p:pic>
                </p:oleObj>
              </mc:Fallback>
            </mc:AlternateContent>
          </a:graphicData>
        </a:graphic>
      </p:graphicFrame>
      <p:sp>
        <p:nvSpPr>
          <p:cNvPr id="2554" name="矩形 2553"/>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552"/>
                                        </p:tgtEl>
                                        <p:attrNameLst>
                                          <p:attrName>style.visibility</p:attrName>
                                        </p:attrNameLst>
                                      </p:cBhvr>
                                      <p:to>
                                        <p:strVal val="visible"/>
                                      </p:to>
                                    </p:set>
                                    <p:anim calcmode="lin" valueType="num">
                                      <p:cBhvr additive="base">
                                        <p:cTn id="7" dur="1000" fill="hold"/>
                                        <p:tgtEl>
                                          <p:spTgt spid="2552"/>
                                        </p:tgtEl>
                                        <p:attrNameLst>
                                          <p:attrName>ppt_x</p:attrName>
                                        </p:attrNameLst>
                                      </p:cBhvr>
                                      <p:tavLst>
                                        <p:tav tm="0">
                                          <p:val>
                                            <p:strVal val="#ppt_x-.2"/>
                                          </p:val>
                                        </p:tav>
                                        <p:tav tm="100000">
                                          <p:val>
                                            <p:strVal val="#ppt_x"/>
                                          </p:val>
                                        </p:tav>
                                      </p:tavLst>
                                    </p:anim>
                                    <p:anim calcmode="lin" valueType="num">
                                      <p:cBhvr additive="base">
                                        <p:cTn id="8" dur="1000" fill="hold"/>
                                        <p:tgtEl>
                                          <p:spTgt spid="2552"/>
                                        </p:tgtEl>
                                        <p:attrNameLst>
                                          <p:attrName>ppt_y</p:attrName>
                                        </p:attrNameLst>
                                      </p:cBhvr>
                                      <p:tavLst>
                                        <p:tav tm="0">
                                          <p:val>
                                            <p:strVal val="#ppt_y"/>
                                          </p:val>
                                        </p:tav>
                                        <p:tav tm="100000">
                                          <p:val>
                                            <p:strVal val="#ppt_y"/>
                                          </p:val>
                                        </p:tav>
                                      </p:tavLst>
                                    </p:anim>
                                    <p:animEffect transition="in" filter="wipe(right)">
                                      <p:cBhvr additive="base">
                                        <p:cTn id="9" dur="1000"/>
                                        <p:tgtEl>
                                          <p:spTgt spid="2552"/>
                                        </p:tgtEl>
                                      </p:cBhvr>
                                    </p:animEffect>
                                  </p:childTnLst>
                                </p:cTn>
                              </p:par>
                              <p:par>
                                <p:cTn id="10" presetID="29" presetClass="entr" presetSubtype="0" fill="hold" nodeType="withEffect">
                                  <p:childTnLst>
                                    <p:set>
                                      <p:cBhvr additive="base">
                                        <p:cTn id="11" dur="1" fill="hold">
                                          <p:stCondLst>
                                            <p:cond delay="0"/>
                                          </p:stCondLst>
                                        </p:cTn>
                                        <p:tgtEl>
                                          <p:spTgt spid="2553"/>
                                        </p:tgtEl>
                                        <p:attrNameLst>
                                          <p:attrName>style.visibility</p:attrName>
                                        </p:attrNameLst>
                                      </p:cBhvr>
                                      <p:to>
                                        <p:strVal val="visible"/>
                                      </p:to>
                                    </p:set>
                                    <p:anim calcmode="lin" valueType="num">
                                      <p:cBhvr additive="base">
                                        <p:cTn id="12" dur="1000" fill="hold"/>
                                        <p:tgtEl>
                                          <p:spTgt spid="2553"/>
                                        </p:tgtEl>
                                        <p:attrNameLst>
                                          <p:attrName>ppt_x</p:attrName>
                                        </p:attrNameLst>
                                      </p:cBhvr>
                                      <p:tavLst>
                                        <p:tav tm="0">
                                          <p:val>
                                            <p:strVal val="#ppt_x-.2"/>
                                          </p:val>
                                        </p:tav>
                                        <p:tav tm="100000">
                                          <p:val>
                                            <p:strVal val="#ppt_x"/>
                                          </p:val>
                                        </p:tav>
                                      </p:tavLst>
                                    </p:anim>
                                    <p:anim calcmode="lin" valueType="num">
                                      <p:cBhvr additive="base">
                                        <p:cTn id="13" dur="1000" fill="hold"/>
                                        <p:tgtEl>
                                          <p:spTgt spid="2553"/>
                                        </p:tgtEl>
                                        <p:attrNameLst>
                                          <p:attrName>ppt_y</p:attrName>
                                        </p:attrNameLst>
                                      </p:cBhvr>
                                      <p:tavLst>
                                        <p:tav tm="0">
                                          <p:val>
                                            <p:strVal val="#ppt_y"/>
                                          </p:val>
                                        </p:tav>
                                        <p:tav tm="100000">
                                          <p:val>
                                            <p:strVal val="#ppt_y"/>
                                          </p:val>
                                        </p:tav>
                                      </p:tavLst>
                                    </p:anim>
                                    <p:animEffect transition="in" filter="wipe(right)">
                                      <p:cBhvr additive="base">
                                        <p:cTn id="14" dur="1000"/>
                                        <p:tgtEl>
                                          <p:spTgt spid="2553"/>
                                        </p:tgtEl>
                                      </p:cBhvr>
                                    </p:animEffect>
                                  </p:childTnLst>
                                </p:cTn>
                              </p:par>
                              <p:par>
                                <p:cTn id="15" presetID="29" presetClass="entr" presetSubtype="0" fill="hold" nodeType="withEffect">
                                  <p:childTnLst>
                                    <p:set>
                                      <p:cBhvr additive="base">
                                        <p:cTn id="16" dur="1" fill="hold">
                                          <p:stCondLst>
                                            <p:cond delay="0"/>
                                          </p:stCondLst>
                                        </p:cTn>
                                        <p:tgtEl>
                                          <p:spTgt spid="2551">
                                            <p:txEl>
                                              <p:pRg st="1" end="1"/>
                                            </p:txEl>
                                          </p:spTgt>
                                        </p:tgtEl>
                                        <p:attrNameLst>
                                          <p:attrName>style.visibility</p:attrName>
                                        </p:attrNameLst>
                                      </p:cBhvr>
                                      <p:to>
                                        <p:strVal val="visible"/>
                                      </p:to>
                                    </p:set>
                                    <p:anim calcmode="lin" valueType="num">
                                      <p:cBhvr additive="base">
                                        <p:cTn id="17" dur="1000" fill="hold"/>
                                        <p:tgtEl>
                                          <p:spTgt spid="2551">
                                            <p:txEl>
                                              <p:pRg st="1" end="1"/>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551">
                                            <p:txEl>
                                              <p:pRg st="1" end="1"/>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5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76</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57" name="标题 2556"/>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558" name="文本占位符 2557"/>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二元离散信源的率失真函数</a:t>
            </a:r>
          </a:p>
          <a:p>
            <a:pPr marL="355600" indent="-355600">
              <a:buClr>
                <a:srgbClr val="993366"/>
              </a:buClr>
              <a:buNone/>
            </a:pPr>
            <a:r>
              <a:rPr lang="zh-CN" altLang="en-US" sz="2000">
                <a:solidFill>
                  <a:srgbClr val="0000CC"/>
                </a:solidFill>
                <a:ea typeface="MingLiU_HKSCS-ExtB" panose="02020500000000000000" charset="-120"/>
              </a:rPr>
              <a:t>第四步：</a:t>
            </a:r>
            <a:r>
              <a:rPr lang="zh-CN" altLang="en-US" sz="2000">
                <a:ea typeface="MingLiU_HKSCS-ExtB" panose="02020500000000000000" charset="-120"/>
              </a:rPr>
              <a:t>求 </a:t>
            </a:r>
            <a:r>
              <a:rPr lang="en-US" altLang="zh-CN" sz="2000" i="1">
                <a:ea typeface="MingLiU_HKSCS-ExtB" panose="02020500000000000000" charset="-120"/>
              </a:rPr>
              <a:t>D</a:t>
            </a:r>
            <a:r>
              <a:rPr lang="en-US" altLang="zh-CN" sz="2000">
                <a:ea typeface="MingLiU_HKSCS-ExtB" panose="02020500000000000000" charset="-120"/>
              </a:rPr>
              <a:t>(</a:t>
            </a:r>
            <a:r>
              <a:rPr lang="en-US" altLang="zh-CN" sz="2000" i="1">
                <a:ea typeface="MingLiU_HKSCS-ExtB" panose="02020500000000000000" charset="-120"/>
              </a:rPr>
              <a:t>S</a:t>
            </a:r>
            <a:r>
              <a:rPr lang="en-US" altLang="zh-CN" sz="2000">
                <a:ea typeface="MingLiU_HKSCS-ExtB" panose="02020500000000000000" charset="-120"/>
              </a:rPr>
              <a:t>)</a:t>
            </a:r>
            <a:r>
              <a:rPr lang="zh-CN" altLang="en-US" sz="2000">
                <a:ea typeface="MingLiU_HKSCS-ExtB" panose="02020500000000000000" charset="-120"/>
              </a:rPr>
              <a:t>，将上述结果代入式 </a:t>
            </a:r>
            <a:r>
              <a:rPr lang="en-US" altLang="zh-CN" sz="2000">
                <a:ea typeface="MingLiU_HKSCS-ExtB" panose="02020500000000000000" charset="-120"/>
              </a:rPr>
              <a:t>(4.2.14) </a:t>
            </a:r>
            <a:r>
              <a:rPr lang="zh-CN" altLang="en-US" sz="2000">
                <a:ea typeface="MingLiU_HKSCS-ExtB" panose="02020500000000000000" charset="-120"/>
              </a:rPr>
              <a:t>有：</a:t>
            </a:r>
          </a:p>
        </p:txBody>
      </p:sp>
      <p:graphicFrame>
        <p:nvGraphicFramePr>
          <p:cNvPr id="2559" name="对象 2558"/>
          <p:cNvGraphicFramePr/>
          <p:nvPr/>
        </p:nvGraphicFramePr>
        <p:xfrm>
          <a:off x="2046288" y="2349500"/>
          <a:ext cx="5546725" cy="739775"/>
        </p:xfrm>
        <a:graphic>
          <a:graphicData uri="http://schemas.openxmlformats.org/presentationml/2006/ole">
            <mc:AlternateContent xmlns:mc="http://schemas.openxmlformats.org/markup-compatibility/2006">
              <mc:Choice xmlns:v="urn:schemas-microsoft-com:vml" Requires="v">
                <p:oleObj spid="_x0000_s51203" r:id="rId3" imgW="977265" imgH="444500" progId="Equation.3">
                  <p:embed/>
                </p:oleObj>
              </mc:Choice>
              <mc:Fallback>
                <p:oleObj r:id="rId3" imgW="977265" imgH="444500" progId="Equation.3">
                  <p:embed/>
                  <p:pic>
                    <p:nvPicPr>
                      <p:cNvPr id="0" name="图片 3103"/>
                      <p:cNvPicPr/>
                      <p:nvPr/>
                    </p:nvPicPr>
                    <p:blipFill>
                      <a:blip r:embed="rId4"/>
                      <a:stretch>
                        <a:fillRect/>
                      </a:stretch>
                    </p:blipFill>
                    <p:spPr>
                      <a:xfrm>
                        <a:off x="2046288" y="2349500"/>
                        <a:ext cx="5546725" cy="739775"/>
                      </a:xfrm>
                      <a:prstGeom prst="rect">
                        <a:avLst/>
                      </a:prstGeom>
                      <a:noFill/>
                      <a:ln w="38100">
                        <a:noFill/>
                        <a:miter/>
                      </a:ln>
                    </p:spPr>
                  </p:pic>
                </p:oleObj>
              </mc:Fallback>
            </mc:AlternateContent>
          </a:graphicData>
        </a:graphic>
      </p:graphicFrame>
      <p:graphicFrame>
        <p:nvGraphicFramePr>
          <p:cNvPr id="2560" name="对象 2559"/>
          <p:cNvGraphicFramePr/>
          <p:nvPr/>
        </p:nvGraphicFramePr>
        <p:xfrm>
          <a:off x="981075" y="3367088"/>
          <a:ext cx="7978775" cy="2654300"/>
        </p:xfrm>
        <a:graphic>
          <a:graphicData uri="http://schemas.openxmlformats.org/presentationml/2006/ole">
            <mc:AlternateContent xmlns:mc="http://schemas.openxmlformats.org/markup-compatibility/2006">
              <mc:Choice xmlns:v="urn:schemas-microsoft-com:vml" Requires="v">
                <p:oleObj spid="_x0000_s51204" r:id="rId5" imgW="2507615" imgH="1396365" progId="Equation.3">
                  <p:embed/>
                </p:oleObj>
              </mc:Choice>
              <mc:Fallback>
                <p:oleObj r:id="rId5" imgW="2507615" imgH="1396365" progId="Equation.3">
                  <p:embed/>
                  <p:pic>
                    <p:nvPicPr>
                      <p:cNvPr id="0" name="图片 3101"/>
                      <p:cNvPicPr/>
                      <p:nvPr/>
                    </p:nvPicPr>
                    <p:blipFill>
                      <a:blip r:embed="rId6"/>
                      <a:stretch>
                        <a:fillRect/>
                      </a:stretch>
                    </p:blipFill>
                    <p:spPr>
                      <a:xfrm>
                        <a:off x="981075" y="3367088"/>
                        <a:ext cx="7978775" cy="2654300"/>
                      </a:xfrm>
                      <a:prstGeom prst="rect">
                        <a:avLst/>
                      </a:prstGeom>
                      <a:noFill/>
                      <a:ln w="38100">
                        <a:noFill/>
                        <a:miter/>
                      </a:ln>
                    </p:spPr>
                  </p:pic>
                </p:oleObj>
              </mc:Fallback>
            </mc:AlternateContent>
          </a:graphicData>
        </a:graphic>
      </p:graphicFrame>
      <p:sp>
        <p:nvSpPr>
          <p:cNvPr id="2561" name="矩形 2560"/>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559"/>
                                        </p:tgtEl>
                                        <p:attrNameLst>
                                          <p:attrName>style.visibility</p:attrName>
                                        </p:attrNameLst>
                                      </p:cBhvr>
                                      <p:to>
                                        <p:strVal val="visible"/>
                                      </p:to>
                                    </p:set>
                                    <p:anim calcmode="lin" valueType="num">
                                      <p:cBhvr additive="base">
                                        <p:cTn id="7" dur="1000" fill="hold"/>
                                        <p:tgtEl>
                                          <p:spTgt spid="2559"/>
                                        </p:tgtEl>
                                        <p:attrNameLst>
                                          <p:attrName>ppt_x</p:attrName>
                                        </p:attrNameLst>
                                      </p:cBhvr>
                                      <p:tavLst>
                                        <p:tav tm="0">
                                          <p:val>
                                            <p:strVal val="#ppt_x-.2"/>
                                          </p:val>
                                        </p:tav>
                                        <p:tav tm="100000">
                                          <p:val>
                                            <p:strVal val="#ppt_x"/>
                                          </p:val>
                                        </p:tav>
                                      </p:tavLst>
                                    </p:anim>
                                    <p:anim calcmode="lin" valueType="num">
                                      <p:cBhvr additive="base">
                                        <p:cTn id="8" dur="1000" fill="hold"/>
                                        <p:tgtEl>
                                          <p:spTgt spid="2559"/>
                                        </p:tgtEl>
                                        <p:attrNameLst>
                                          <p:attrName>ppt_y</p:attrName>
                                        </p:attrNameLst>
                                      </p:cBhvr>
                                      <p:tavLst>
                                        <p:tav tm="0">
                                          <p:val>
                                            <p:strVal val="#ppt_y"/>
                                          </p:val>
                                        </p:tav>
                                        <p:tav tm="100000">
                                          <p:val>
                                            <p:strVal val="#ppt_y"/>
                                          </p:val>
                                        </p:tav>
                                      </p:tavLst>
                                    </p:anim>
                                    <p:animEffect transition="in" filter="wipe(right)">
                                      <p:cBhvr additive="base">
                                        <p:cTn id="9" dur="1000"/>
                                        <p:tgtEl>
                                          <p:spTgt spid="2559"/>
                                        </p:tgtEl>
                                      </p:cBhvr>
                                    </p:animEffect>
                                  </p:childTnLst>
                                </p:cTn>
                              </p:par>
                              <p:par>
                                <p:cTn id="10" presetID="29" presetClass="entr" presetSubtype="0" fill="hold" nodeType="withEffect">
                                  <p:childTnLst>
                                    <p:set>
                                      <p:cBhvr additive="base">
                                        <p:cTn id="11" dur="1" fill="hold">
                                          <p:stCondLst>
                                            <p:cond delay="0"/>
                                          </p:stCondLst>
                                        </p:cTn>
                                        <p:tgtEl>
                                          <p:spTgt spid="2560"/>
                                        </p:tgtEl>
                                        <p:attrNameLst>
                                          <p:attrName>style.visibility</p:attrName>
                                        </p:attrNameLst>
                                      </p:cBhvr>
                                      <p:to>
                                        <p:strVal val="visible"/>
                                      </p:to>
                                    </p:set>
                                    <p:anim calcmode="lin" valueType="num">
                                      <p:cBhvr additive="base">
                                        <p:cTn id="12" dur="1000" fill="hold"/>
                                        <p:tgtEl>
                                          <p:spTgt spid="2560"/>
                                        </p:tgtEl>
                                        <p:attrNameLst>
                                          <p:attrName>ppt_x</p:attrName>
                                        </p:attrNameLst>
                                      </p:cBhvr>
                                      <p:tavLst>
                                        <p:tav tm="0">
                                          <p:val>
                                            <p:strVal val="#ppt_x-.2"/>
                                          </p:val>
                                        </p:tav>
                                        <p:tav tm="100000">
                                          <p:val>
                                            <p:strVal val="#ppt_x"/>
                                          </p:val>
                                        </p:tav>
                                      </p:tavLst>
                                    </p:anim>
                                    <p:anim calcmode="lin" valueType="num">
                                      <p:cBhvr additive="base">
                                        <p:cTn id="13" dur="1000" fill="hold"/>
                                        <p:tgtEl>
                                          <p:spTgt spid="2560"/>
                                        </p:tgtEl>
                                        <p:attrNameLst>
                                          <p:attrName>ppt_y</p:attrName>
                                        </p:attrNameLst>
                                      </p:cBhvr>
                                      <p:tavLst>
                                        <p:tav tm="0">
                                          <p:val>
                                            <p:strVal val="#ppt_y"/>
                                          </p:val>
                                        </p:tav>
                                        <p:tav tm="100000">
                                          <p:val>
                                            <p:strVal val="#ppt_y"/>
                                          </p:val>
                                        </p:tav>
                                      </p:tavLst>
                                    </p:anim>
                                    <p:animEffect transition="in" filter="wipe(right)">
                                      <p:cBhvr additive="base">
                                        <p:cTn id="14" dur="1000"/>
                                        <p:tgtEl>
                                          <p:spTgt spid="2560"/>
                                        </p:tgtEl>
                                      </p:cBhvr>
                                    </p:animEffect>
                                  </p:childTnLst>
                                </p:cTn>
                              </p:par>
                              <p:par>
                                <p:cTn id="15" presetID="29" presetClass="entr" presetSubtype="0" fill="hold" nodeType="withEffect">
                                  <p:childTnLst>
                                    <p:set>
                                      <p:cBhvr additive="base">
                                        <p:cTn id="16" dur="1" fill="hold">
                                          <p:stCondLst>
                                            <p:cond delay="0"/>
                                          </p:stCondLst>
                                        </p:cTn>
                                        <p:tgtEl>
                                          <p:spTgt spid="2558">
                                            <p:txEl>
                                              <p:pRg st="1" end="1"/>
                                            </p:txEl>
                                          </p:spTgt>
                                        </p:tgtEl>
                                        <p:attrNameLst>
                                          <p:attrName>style.visibility</p:attrName>
                                        </p:attrNameLst>
                                      </p:cBhvr>
                                      <p:to>
                                        <p:strVal val="visible"/>
                                      </p:to>
                                    </p:set>
                                    <p:anim calcmode="lin" valueType="num">
                                      <p:cBhvr additive="base">
                                        <p:cTn id="17" dur="1000" fill="hold"/>
                                        <p:tgtEl>
                                          <p:spTgt spid="2558">
                                            <p:txEl>
                                              <p:pRg st="1" end="1"/>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558">
                                            <p:txEl>
                                              <p:pRg st="1" end="1"/>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5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77</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64" name="标题 2563"/>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565" name="文本占位符 2564"/>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二元离散信源的率失真函数</a:t>
            </a:r>
          </a:p>
          <a:p>
            <a:pPr marL="355600" indent="-355600">
              <a:buClr>
                <a:srgbClr val="993366"/>
              </a:buClr>
              <a:buNone/>
            </a:pPr>
            <a:r>
              <a:rPr lang="zh-CN" altLang="en-US" sz="2000">
                <a:solidFill>
                  <a:srgbClr val="0000CC"/>
                </a:solidFill>
                <a:ea typeface="MingLiU_HKSCS-ExtB" panose="02020500000000000000" charset="-120"/>
              </a:rPr>
              <a:t>第五步：</a:t>
            </a:r>
            <a:r>
              <a:rPr lang="zh-CN" altLang="en-US" sz="2000">
                <a:ea typeface="MingLiU_HKSCS-ExtB" panose="02020500000000000000" charset="-120"/>
              </a:rPr>
              <a:t>求 </a:t>
            </a:r>
            <a:r>
              <a:rPr lang="en-US" altLang="zh-CN" sz="2000" i="1">
                <a:ea typeface="MingLiU_HKSCS-ExtB" panose="02020500000000000000" charset="-120"/>
              </a:rPr>
              <a:t>R</a:t>
            </a:r>
            <a:r>
              <a:rPr lang="en-US" altLang="zh-CN" sz="2000">
                <a:ea typeface="MingLiU_HKSCS-ExtB" panose="02020500000000000000" charset="-120"/>
              </a:rPr>
              <a:t>(</a:t>
            </a:r>
            <a:r>
              <a:rPr lang="en-US" altLang="zh-CN" sz="2000" i="1">
                <a:ea typeface="MingLiU_HKSCS-ExtB" panose="02020500000000000000" charset="-120"/>
              </a:rPr>
              <a:t>S</a:t>
            </a:r>
            <a:r>
              <a:rPr lang="en-US" altLang="zh-CN" sz="2000">
                <a:ea typeface="MingLiU_HKSCS-ExtB" panose="02020500000000000000" charset="-120"/>
              </a:rPr>
              <a:t>)</a:t>
            </a:r>
          </a:p>
          <a:p>
            <a:pPr marL="355600" indent="-355600">
              <a:buClr>
                <a:srgbClr val="993366"/>
              </a:buClr>
              <a:buNone/>
            </a:pPr>
            <a:r>
              <a:rPr lang="zh-CN" altLang="en-US" sz="2000">
                <a:ea typeface="MingLiU_HKSCS-ExtB" panose="02020500000000000000" charset="-120"/>
              </a:rPr>
              <a:t>将上述结果代入式 </a:t>
            </a:r>
            <a:r>
              <a:rPr lang="en-US" altLang="zh-CN" sz="2000">
                <a:ea typeface="MingLiU_HKSCS-ExtB" panose="02020500000000000000" charset="-120"/>
              </a:rPr>
              <a:t>(4.2.15) </a:t>
            </a:r>
            <a:r>
              <a:rPr lang="zh-CN" altLang="en-US" sz="2000">
                <a:ea typeface="MingLiU_HKSCS-ExtB" panose="02020500000000000000" charset="-120"/>
              </a:rPr>
              <a:t>有：</a:t>
            </a:r>
          </a:p>
        </p:txBody>
      </p:sp>
      <p:graphicFrame>
        <p:nvGraphicFramePr>
          <p:cNvPr id="2566" name="对象 2565"/>
          <p:cNvGraphicFramePr/>
          <p:nvPr/>
        </p:nvGraphicFramePr>
        <p:xfrm>
          <a:off x="4356100" y="1989138"/>
          <a:ext cx="4367213" cy="752475"/>
        </p:xfrm>
        <a:graphic>
          <a:graphicData uri="http://schemas.openxmlformats.org/presentationml/2006/ole">
            <mc:AlternateContent xmlns:mc="http://schemas.openxmlformats.org/markup-compatibility/2006">
              <mc:Choice xmlns:v="urn:schemas-microsoft-com:vml" Requires="v">
                <p:oleObj spid="_x0000_s52227" r:id="rId3" imgW="909320" imgH="431800" progId="Equation.3">
                  <p:embed/>
                </p:oleObj>
              </mc:Choice>
              <mc:Fallback>
                <p:oleObj r:id="rId3" imgW="909320" imgH="431800" progId="Equation.3">
                  <p:embed/>
                  <p:pic>
                    <p:nvPicPr>
                      <p:cNvPr id="0" name="图片 3107"/>
                      <p:cNvPicPr/>
                      <p:nvPr/>
                    </p:nvPicPr>
                    <p:blipFill>
                      <a:blip r:embed="rId4"/>
                      <a:stretch>
                        <a:fillRect/>
                      </a:stretch>
                    </p:blipFill>
                    <p:spPr>
                      <a:xfrm>
                        <a:off x="4356100" y="1989138"/>
                        <a:ext cx="4367213" cy="752475"/>
                      </a:xfrm>
                      <a:prstGeom prst="rect">
                        <a:avLst/>
                      </a:prstGeom>
                      <a:noFill/>
                      <a:ln w="38100">
                        <a:noFill/>
                        <a:miter/>
                      </a:ln>
                    </p:spPr>
                  </p:pic>
                </p:oleObj>
              </mc:Fallback>
            </mc:AlternateContent>
          </a:graphicData>
        </a:graphic>
      </p:graphicFrame>
      <p:graphicFrame>
        <p:nvGraphicFramePr>
          <p:cNvPr id="2567" name="对象 2566"/>
          <p:cNvGraphicFramePr/>
          <p:nvPr/>
        </p:nvGraphicFramePr>
        <p:xfrm>
          <a:off x="1514475" y="3011488"/>
          <a:ext cx="6245225" cy="1712912"/>
        </p:xfrm>
        <a:graphic>
          <a:graphicData uri="http://schemas.openxmlformats.org/presentationml/2006/ole">
            <mc:AlternateContent xmlns:mc="http://schemas.openxmlformats.org/markup-compatibility/2006">
              <mc:Choice xmlns:v="urn:schemas-microsoft-com:vml" Requires="v">
                <p:oleObj spid="_x0000_s52228" r:id="rId5" imgW="1543685" imgH="850265" progId="Equation.3">
                  <p:embed/>
                </p:oleObj>
              </mc:Choice>
              <mc:Fallback>
                <p:oleObj r:id="rId5" imgW="1543685" imgH="850265" progId="Equation.3">
                  <p:embed/>
                  <p:pic>
                    <p:nvPicPr>
                      <p:cNvPr id="0" name="图片 3106"/>
                      <p:cNvPicPr/>
                      <p:nvPr/>
                    </p:nvPicPr>
                    <p:blipFill>
                      <a:blip r:embed="rId6"/>
                      <a:stretch>
                        <a:fillRect/>
                      </a:stretch>
                    </p:blipFill>
                    <p:spPr>
                      <a:xfrm>
                        <a:off x="1514475" y="3011488"/>
                        <a:ext cx="6245225" cy="1712912"/>
                      </a:xfrm>
                      <a:prstGeom prst="rect">
                        <a:avLst/>
                      </a:prstGeom>
                      <a:noFill/>
                      <a:ln w="38100">
                        <a:noFill/>
                        <a:miter/>
                      </a:ln>
                    </p:spPr>
                  </p:pic>
                </p:oleObj>
              </mc:Fallback>
            </mc:AlternateContent>
          </a:graphicData>
        </a:graphic>
      </p:graphicFrame>
      <p:sp>
        <p:nvSpPr>
          <p:cNvPr id="2568" name="矩形 2567"/>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566"/>
                                        </p:tgtEl>
                                        <p:attrNameLst>
                                          <p:attrName>style.visibility</p:attrName>
                                        </p:attrNameLst>
                                      </p:cBhvr>
                                      <p:to>
                                        <p:strVal val="visible"/>
                                      </p:to>
                                    </p:set>
                                    <p:anim calcmode="lin" valueType="num">
                                      <p:cBhvr additive="base">
                                        <p:cTn id="7" dur="1000" fill="hold"/>
                                        <p:tgtEl>
                                          <p:spTgt spid="2566"/>
                                        </p:tgtEl>
                                        <p:attrNameLst>
                                          <p:attrName>ppt_x</p:attrName>
                                        </p:attrNameLst>
                                      </p:cBhvr>
                                      <p:tavLst>
                                        <p:tav tm="0">
                                          <p:val>
                                            <p:strVal val="#ppt_x-.2"/>
                                          </p:val>
                                        </p:tav>
                                        <p:tav tm="100000">
                                          <p:val>
                                            <p:strVal val="#ppt_x"/>
                                          </p:val>
                                        </p:tav>
                                      </p:tavLst>
                                    </p:anim>
                                    <p:anim calcmode="lin" valueType="num">
                                      <p:cBhvr additive="base">
                                        <p:cTn id="8" dur="1000" fill="hold"/>
                                        <p:tgtEl>
                                          <p:spTgt spid="2566"/>
                                        </p:tgtEl>
                                        <p:attrNameLst>
                                          <p:attrName>ppt_y</p:attrName>
                                        </p:attrNameLst>
                                      </p:cBhvr>
                                      <p:tavLst>
                                        <p:tav tm="0">
                                          <p:val>
                                            <p:strVal val="#ppt_y"/>
                                          </p:val>
                                        </p:tav>
                                        <p:tav tm="100000">
                                          <p:val>
                                            <p:strVal val="#ppt_y"/>
                                          </p:val>
                                        </p:tav>
                                      </p:tavLst>
                                    </p:anim>
                                    <p:animEffect transition="in" filter="wipe(right)">
                                      <p:cBhvr additive="base">
                                        <p:cTn id="9" dur="1000"/>
                                        <p:tgtEl>
                                          <p:spTgt spid="2566"/>
                                        </p:tgtEl>
                                      </p:cBhvr>
                                    </p:animEffect>
                                  </p:childTnLst>
                                </p:cTn>
                              </p:par>
                              <p:par>
                                <p:cTn id="10" presetID="29" presetClass="entr" presetSubtype="0" fill="hold" nodeType="withEffect">
                                  <p:childTnLst>
                                    <p:set>
                                      <p:cBhvr additive="base">
                                        <p:cTn id="11" dur="1" fill="hold">
                                          <p:stCondLst>
                                            <p:cond delay="0"/>
                                          </p:stCondLst>
                                        </p:cTn>
                                        <p:tgtEl>
                                          <p:spTgt spid="2567"/>
                                        </p:tgtEl>
                                        <p:attrNameLst>
                                          <p:attrName>style.visibility</p:attrName>
                                        </p:attrNameLst>
                                      </p:cBhvr>
                                      <p:to>
                                        <p:strVal val="visible"/>
                                      </p:to>
                                    </p:set>
                                    <p:anim calcmode="lin" valueType="num">
                                      <p:cBhvr additive="base">
                                        <p:cTn id="12" dur="1000" fill="hold"/>
                                        <p:tgtEl>
                                          <p:spTgt spid="2567"/>
                                        </p:tgtEl>
                                        <p:attrNameLst>
                                          <p:attrName>ppt_x</p:attrName>
                                        </p:attrNameLst>
                                      </p:cBhvr>
                                      <p:tavLst>
                                        <p:tav tm="0">
                                          <p:val>
                                            <p:strVal val="#ppt_x-.2"/>
                                          </p:val>
                                        </p:tav>
                                        <p:tav tm="100000">
                                          <p:val>
                                            <p:strVal val="#ppt_x"/>
                                          </p:val>
                                        </p:tav>
                                      </p:tavLst>
                                    </p:anim>
                                    <p:anim calcmode="lin" valueType="num">
                                      <p:cBhvr additive="base">
                                        <p:cTn id="13" dur="1000" fill="hold"/>
                                        <p:tgtEl>
                                          <p:spTgt spid="2567"/>
                                        </p:tgtEl>
                                        <p:attrNameLst>
                                          <p:attrName>ppt_y</p:attrName>
                                        </p:attrNameLst>
                                      </p:cBhvr>
                                      <p:tavLst>
                                        <p:tav tm="0">
                                          <p:val>
                                            <p:strVal val="#ppt_y"/>
                                          </p:val>
                                        </p:tav>
                                        <p:tav tm="100000">
                                          <p:val>
                                            <p:strVal val="#ppt_y"/>
                                          </p:val>
                                        </p:tav>
                                      </p:tavLst>
                                    </p:anim>
                                    <p:animEffect transition="in" filter="wipe(right)">
                                      <p:cBhvr additive="base">
                                        <p:cTn id="14" dur="1000"/>
                                        <p:tgtEl>
                                          <p:spTgt spid="2567"/>
                                        </p:tgtEl>
                                      </p:cBhvr>
                                    </p:animEffect>
                                  </p:childTnLst>
                                </p:cTn>
                              </p:par>
                              <p:par>
                                <p:cTn id="15" presetID="29" presetClass="entr" presetSubtype="0" fill="hold" nodeType="withEffect">
                                  <p:childTnLst>
                                    <p:set>
                                      <p:cBhvr additive="base">
                                        <p:cTn id="16" dur="1" fill="hold">
                                          <p:stCondLst>
                                            <p:cond delay="0"/>
                                          </p:stCondLst>
                                        </p:cTn>
                                        <p:tgtEl>
                                          <p:spTgt spid="2565">
                                            <p:txEl>
                                              <p:pRg st="1" end="1"/>
                                            </p:txEl>
                                          </p:spTgt>
                                        </p:tgtEl>
                                        <p:attrNameLst>
                                          <p:attrName>style.visibility</p:attrName>
                                        </p:attrNameLst>
                                      </p:cBhvr>
                                      <p:to>
                                        <p:strVal val="visible"/>
                                      </p:to>
                                    </p:set>
                                    <p:anim calcmode="lin" valueType="num">
                                      <p:cBhvr additive="base">
                                        <p:cTn id="17" dur="1000" fill="hold"/>
                                        <p:tgtEl>
                                          <p:spTgt spid="2565">
                                            <p:txEl>
                                              <p:pRg st="1" end="1"/>
                                            </p:txEl>
                                          </p:spTgt>
                                        </p:tgtEl>
                                        <p:attrNameLst>
                                          <p:attrName>ppt_x</p:attrName>
                                        </p:attrNameLst>
                                      </p:cBhvr>
                                      <p:tavLst>
                                        <p:tav tm="0">
                                          <p:val>
                                            <p:strVal val="#ppt_x-.2"/>
                                          </p:val>
                                        </p:tav>
                                        <p:tav tm="100000">
                                          <p:val>
                                            <p:strVal val="#ppt_x"/>
                                          </p:val>
                                        </p:tav>
                                      </p:tavLst>
                                    </p:anim>
                                    <p:anim calcmode="lin" valueType="num">
                                      <p:cBhvr additive="base">
                                        <p:cTn id="18" dur="1000" fill="hold"/>
                                        <p:tgtEl>
                                          <p:spTgt spid="2565">
                                            <p:txEl>
                                              <p:pRg st="1" end="1"/>
                                            </p:txEl>
                                          </p:spTgt>
                                        </p:tgtEl>
                                        <p:attrNameLst>
                                          <p:attrName>ppt_y</p:attrName>
                                        </p:attrNameLst>
                                      </p:cBhvr>
                                      <p:tavLst>
                                        <p:tav tm="0">
                                          <p:val>
                                            <p:strVal val="#ppt_y"/>
                                          </p:val>
                                        </p:tav>
                                        <p:tav tm="100000">
                                          <p:val>
                                            <p:strVal val="#ppt_y"/>
                                          </p:val>
                                        </p:tav>
                                      </p:tavLst>
                                    </p:anim>
                                    <p:animEffect transition="in" filter="wipe(right)">
                                      <p:cBhvr additive="base">
                                        <p:cTn id="19" dur="1000"/>
                                        <p:tgtEl>
                                          <p:spTgt spid="2565">
                                            <p:txEl>
                                              <p:pRg st="1" end="1"/>
                                            </p:txEl>
                                          </p:spTgt>
                                        </p:tgtEl>
                                      </p:cBhvr>
                                    </p:animEffect>
                                  </p:childTnLst>
                                </p:cTn>
                              </p:par>
                              <p:par>
                                <p:cTn id="20" presetID="29" presetClass="entr" presetSubtype="0" fill="hold" nodeType="withEffect">
                                  <p:childTnLst>
                                    <p:set>
                                      <p:cBhvr additive="base">
                                        <p:cTn id="21" dur="1" fill="hold">
                                          <p:stCondLst>
                                            <p:cond delay="0"/>
                                          </p:stCondLst>
                                        </p:cTn>
                                        <p:tgtEl>
                                          <p:spTgt spid="2565">
                                            <p:txEl>
                                              <p:pRg st="2" end="2"/>
                                            </p:txEl>
                                          </p:spTgt>
                                        </p:tgtEl>
                                        <p:attrNameLst>
                                          <p:attrName>style.visibility</p:attrName>
                                        </p:attrNameLst>
                                      </p:cBhvr>
                                      <p:to>
                                        <p:strVal val="visible"/>
                                      </p:to>
                                    </p:set>
                                    <p:anim calcmode="lin" valueType="num">
                                      <p:cBhvr additive="base">
                                        <p:cTn id="22" dur="1000" fill="hold"/>
                                        <p:tgtEl>
                                          <p:spTgt spid="2565">
                                            <p:txEl>
                                              <p:pRg st="2" end="2"/>
                                            </p:txEl>
                                          </p:spTgt>
                                        </p:tgtEl>
                                        <p:attrNameLst>
                                          <p:attrName>ppt_x</p:attrName>
                                        </p:attrNameLst>
                                      </p:cBhvr>
                                      <p:tavLst>
                                        <p:tav tm="0">
                                          <p:val>
                                            <p:strVal val="#ppt_x-.2"/>
                                          </p:val>
                                        </p:tav>
                                        <p:tav tm="100000">
                                          <p:val>
                                            <p:strVal val="#ppt_x"/>
                                          </p:val>
                                        </p:tav>
                                      </p:tavLst>
                                    </p:anim>
                                    <p:anim calcmode="lin" valueType="num">
                                      <p:cBhvr additive="base">
                                        <p:cTn id="23" dur="1000" fill="hold"/>
                                        <p:tgtEl>
                                          <p:spTgt spid="2565">
                                            <p:txEl>
                                              <p:pRg st="2" end="2"/>
                                            </p:txEl>
                                          </p:spTgt>
                                        </p:tgtEl>
                                        <p:attrNameLst>
                                          <p:attrName>ppt_y</p:attrName>
                                        </p:attrNameLst>
                                      </p:cBhvr>
                                      <p:tavLst>
                                        <p:tav tm="0">
                                          <p:val>
                                            <p:strVal val="#ppt_y"/>
                                          </p:val>
                                        </p:tav>
                                        <p:tav tm="100000">
                                          <p:val>
                                            <p:strVal val="#ppt_y"/>
                                          </p:val>
                                        </p:tav>
                                      </p:tavLst>
                                    </p:anim>
                                    <p:animEffect transition="in" filter="wipe(right)">
                                      <p:cBhvr additive="base">
                                        <p:cTn id="24" dur="1000"/>
                                        <p:tgtEl>
                                          <p:spTgt spid="256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78</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71" name="标题 2570"/>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572" name="文本占位符 2571"/>
          <p:cNvSpPr>
            <a:spLocks noGrp="1"/>
          </p:cNvSpPr>
          <p:nvPr>
            <p:ph type="body" idx="4294967295"/>
          </p:nvPr>
        </p:nvSpPr>
        <p:spPr>
          <a:xfrm>
            <a:off x="611188"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二元离散信源的率失真函数</a:t>
            </a:r>
          </a:p>
          <a:p>
            <a:pPr marL="355600" indent="-355600">
              <a:buClr>
                <a:srgbClr val="993366"/>
              </a:buClr>
              <a:buNone/>
            </a:pPr>
            <a:r>
              <a:rPr lang="zh-CN" altLang="en-US" sz="2000">
                <a:solidFill>
                  <a:srgbClr val="0000CC"/>
                </a:solidFill>
                <a:ea typeface="MingLiU_HKSCS-ExtB" panose="02020500000000000000" charset="-120"/>
              </a:rPr>
              <a:t>第五步：</a:t>
            </a:r>
            <a:r>
              <a:rPr lang="zh-CN" altLang="en-US" sz="2000">
                <a:ea typeface="MingLiU_HKSCS-ExtB" panose="02020500000000000000" charset="-120"/>
              </a:rPr>
              <a:t>求 </a:t>
            </a:r>
            <a:r>
              <a:rPr lang="en-US" altLang="zh-CN" sz="2000" i="1">
                <a:ea typeface="MingLiU_HKSCS-ExtB" panose="02020500000000000000" charset="-120"/>
              </a:rPr>
              <a:t>R</a:t>
            </a:r>
            <a:r>
              <a:rPr lang="en-US" altLang="zh-CN" sz="2000">
                <a:ea typeface="MingLiU_HKSCS-ExtB" panose="02020500000000000000" charset="-120"/>
              </a:rPr>
              <a:t>(</a:t>
            </a:r>
            <a:r>
              <a:rPr lang="en-US" altLang="zh-CN" sz="2000" i="1">
                <a:ea typeface="MingLiU_HKSCS-ExtB" panose="02020500000000000000" charset="-120"/>
              </a:rPr>
              <a:t>S</a:t>
            </a:r>
            <a:r>
              <a:rPr lang="en-US" altLang="zh-CN" sz="2000">
                <a:ea typeface="MingLiU_HKSCS-ExtB" panose="02020500000000000000" charset="-120"/>
              </a:rPr>
              <a:t>)</a:t>
            </a:r>
          </a:p>
          <a:p>
            <a:pPr marL="355600" indent="-355600">
              <a:buClr>
                <a:srgbClr val="993366"/>
              </a:buClr>
              <a:buNone/>
            </a:pPr>
            <a:r>
              <a:rPr lang="zh-CN" altLang="en-US" sz="2000">
                <a:ea typeface="MingLiU_HKSCS-ExtB" panose="02020500000000000000" charset="-120"/>
              </a:rPr>
              <a:t>对于这种简单信源，可从</a:t>
            </a:r>
            <a:r>
              <a:rPr lang="zh-CN" altLang="en-US" sz="2000">
                <a:solidFill>
                  <a:schemeClr val="bg1"/>
                </a:solidFill>
                <a:ea typeface="MingLiU_HKSCS-ExtB" panose="02020500000000000000" charset="-120"/>
              </a:rPr>
              <a:t> </a:t>
            </a:r>
            <a:r>
              <a:rPr lang="en-US" altLang="zh-CN" sz="2000" i="1">
                <a:solidFill>
                  <a:srgbClr val="FF0000"/>
                </a:solidFill>
                <a:ea typeface="MingLiU_HKSCS-ExtB" panose="02020500000000000000" charset="-120"/>
              </a:rPr>
              <a:t>D</a:t>
            </a:r>
            <a:r>
              <a:rPr lang="en-US" altLang="zh-CN" sz="2000">
                <a:solidFill>
                  <a:srgbClr val="FF0000"/>
                </a:solidFill>
                <a:ea typeface="MingLiU_HKSCS-ExtB" panose="02020500000000000000" charset="-120"/>
              </a:rPr>
              <a:t>(</a:t>
            </a:r>
            <a:r>
              <a:rPr lang="en-US" altLang="zh-CN" sz="2000" i="1">
                <a:solidFill>
                  <a:srgbClr val="FF0000"/>
                </a:solidFill>
                <a:ea typeface="MingLiU_HKSCS-ExtB" panose="02020500000000000000" charset="-120"/>
              </a:rPr>
              <a:t>S</a:t>
            </a:r>
            <a:r>
              <a:rPr lang="en-US" altLang="zh-CN" sz="2000">
                <a:solidFill>
                  <a:srgbClr val="FF0000"/>
                </a:solidFill>
                <a:ea typeface="MingLiU_HKSCS-ExtB" panose="02020500000000000000" charset="-120"/>
              </a:rPr>
              <a:t>)</a:t>
            </a:r>
            <a:r>
              <a:rPr lang="en-US" altLang="zh-CN" sz="2000">
                <a:solidFill>
                  <a:srgbClr val="FFFF00"/>
                </a:solidFill>
                <a:ea typeface="MingLiU_HKSCS-ExtB" panose="02020500000000000000" charset="-120"/>
              </a:rPr>
              <a:t> </a:t>
            </a:r>
            <a:r>
              <a:rPr lang="zh-CN" altLang="en-US" sz="2000">
                <a:ea typeface="MingLiU_HKSCS-ExtB" panose="02020500000000000000" charset="-120"/>
              </a:rPr>
              <a:t>解出</a:t>
            </a:r>
            <a:r>
              <a:rPr lang="zh-CN" altLang="en-US" sz="2000">
                <a:solidFill>
                  <a:schemeClr val="bg1"/>
                </a:solidFill>
                <a:ea typeface="MingLiU_HKSCS-ExtB" panose="02020500000000000000" charset="-120"/>
              </a:rPr>
              <a:t> </a:t>
            </a:r>
            <a:r>
              <a:rPr lang="en-US" altLang="zh-CN" sz="2000" i="1">
                <a:solidFill>
                  <a:srgbClr val="FF0000"/>
                </a:solidFill>
                <a:ea typeface="MingLiU_HKSCS-ExtB" panose="02020500000000000000" charset="-120"/>
              </a:rPr>
              <a:t>S</a:t>
            </a:r>
            <a:r>
              <a:rPr lang="en-US" altLang="zh-CN" sz="2000" i="1">
                <a:ea typeface="MingLiU_HKSCS-ExtB" panose="02020500000000000000" charset="-120"/>
              </a:rPr>
              <a:t> </a:t>
            </a:r>
            <a:r>
              <a:rPr lang="zh-CN" altLang="en-US" sz="2000">
                <a:ea typeface="MingLiU_HKSCS-ExtB" panose="02020500000000000000" charset="-120"/>
              </a:rPr>
              <a:t>与</a:t>
            </a:r>
            <a:r>
              <a:rPr lang="zh-CN" altLang="en-US" sz="2000">
                <a:solidFill>
                  <a:schemeClr val="bg1"/>
                </a:solidFill>
                <a:ea typeface="MingLiU_HKSCS-ExtB" panose="02020500000000000000" charset="-120"/>
              </a:rPr>
              <a:t> </a:t>
            </a:r>
            <a:r>
              <a:rPr lang="en-US" altLang="zh-CN" sz="2000" i="1">
                <a:solidFill>
                  <a:srgbClr val="FF0000"/>
                </a:solidFill>
                <a:ea typeface="MingLiU_HKSCS-ExtB" panose="02020500000000000000" charset="-120"/>
              </a:rPr>
              <a:t>D</a:t>
            </a:r>
            <a:r>
              <a:rPr lang="en-US" altLang="zh-CN" sz="2000" i="1">
                <a:solidFill>
                  <a:srgbClr val="FFFF00"/>
                </a:solidFill>
                <a:ea typeface="MingLiU_HKSCS-ExtB" panose="02020500000000000000" charset="-120"/>
              </a:rPr>
              <a:t> </a:t>
            </a:r>
            <a:r>
              <a:rPr lang="zh-CN" altLang="en-US" sz="2000">
                <a:ea typeface="MingLiU_HKSCS-ExtB" panose="02020500000000000000" charset="-120"/>
              </a:rPr>
              <a:t>的显式表达式：</a:t>
            </a:r>
          </a:p>
        </p:txBody>
      </p:sp>
      <p:graphicFrame>
        <p:nvGraphicFramePr>
          <p:cNvPr id="2573" name="对象 2572"/>
          <p:cNvGraphicFramePr/>
          <p:nvPr/>
        </p:nvGraphicFramePr>
        <p:xfrm>
          <a:off x="7235825" y="1844675"/>
          <a:ext cx="1612900" cy="1257300"/>
        </p:xfrm>
        <a:graphic>
          <a:graphicData uri="http://schemas.openxmlformats.org/presentationml/2006/ole">
            <mc:AlternateContent xmlns:mc="http://schemas.openxmlformats.org/markup-compatibility/2006">
              <mc:Choice xmlns:v="urn:schemas-microsoft-com:vml" Requires="v">
                <p:oleObj spid="_x0000_s53251" r:id="rId3" imgW="977900" imgH="575310" progId="Equation.3">
                  <p:embed/>
                </p:oleObj>
              </mc:Choice>
              <mc:Fallback>
                <p:oleObj r:id="rId3" imgW="977900" imgH="575310" progId="Equation.3">
                  <p:embed/>
                  <p:pic>
                    <p:nvPicPr>
                      <p:cNvPr id="0" name="图片 3108"/>
                      <p:cNvPicPr/>
                      <p:nvPr/>
                    </p:nvPicPr>
                    <p:blipFill>
                      <a:blip r:embed="rId4"/>
                      <a:stretch>
                        <a:fillRect/>
                      </a:stretch>
                    </p:blipFill>
                    <p:spPr>
                      <a:xfrm>
                        <a:off x="7235825" y="1844675"/>
                        <a:ext cx="1612900" cy="1257300"/>
                      </a:xfrm>
                      <a:prstGeom prst="rect">
                        <a:avLst/>
                      </a:prstGeom>
                      <a:noFill/>
                      <a:ln w="38100">
                        <a:noFill/>
                        <a:miter/>
                      </a:ln>
                    </p:spPr>
                  </p:pic>
                </p:oleObj>
              </mc:Fallback>
            </mc:AlternateContent>
          </a:graphicData>
        </a:graphic>
      </p:graphicFrame>
      <p:graphicFrame>
        <p:nvGraphicFramePr>
          <p:cNvPr id="2574" name="对象 2573"/>
          <p:cNvGraphicFramePr/>
          <p:nvPr/>
        </p:nvGraphicFramePr>
        <p:xfrm>
          <a:off x="1187450" y="3068638"/>
          <a:ext cx="6362700" cy="2774950"/>
        </p:xfrm>
        <a:graphic>
          <a:graphicData uri="http://schemas.openxmlformats.org/presentationml/2006/ole">
            <mc:AlternateContent xmlns:mc="http://schemas.openxmlformats.org/markup-compatibility/2006">
              <mc:Choice xmlns:v="urn:schemas-microsoft-com:vml" Requires="v">
                <p:oleObj spid="_x0000_s53252" r:id="rId5" imgW="3162935" imgH="1842135" progId="Equation.3">
                  <p:embed/>
                </p:oleObj>
              </mc:Choice>
              <mc:Fallback>
                <p:oleObj r:id="rId5" imgW="3162935" imgH="1842135" progId="Equation.3">
                  <p:embed/>
                  <p:pic>
                    <p:nvPicPr>
                      <p:cNvPr id="0" name="图片 3105"/>
                      <p:cNvPicPr/>
                      <p:nvPr/>
                    </p:nvPicPr>
                    <p:blipFill>
                      <a:blip r:embed="rId6"/>
                      <a:stretch>
                        <a:fillRect/>
                      </a:stretch>
                    </p:blipFill>
                    <p:spPr>
                      <a:xfrm>
                        <a:off x="1187450" y="3068638"/>
                        <a:ext cx="6362700" cy="2774950"/>
                      </a:xfrm>
                      <a:prstGeom prst="rect">
                        <a:avLst/>
                      </a:prstGeom>
                      <a:noFill/>
                      <a:ln w="38100">
                        <a:noFill/>
                        <a:miter/>
                      </a:ln>
                    </p:spPr>
                  </p:pic>
                </p:oleObj>
              </mc:Fallback>
            </mc:AlternateContent>
          </a:graphicData>
        </a:graphic>
      </p:graphicFrame>
      <p:sp>
        <p:nvSpPr>
          <p:cNvPr id="2575" name="矩形 2574"/>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572">
                                            <p:txEl>
                                              <p:pRg st="2" end="2"/>
                                            </p:txEl>
                                          </p:spTgt>
                                        </p:tgtEl>
                                        <p:attrNameLst>
                                          <p:attrName>style.visibility</p:attrName>
                                        </p:attrNameLst>
                                      </p:cBhvr>
                                      <p:to>
                                        <p:strVal val="visible"/>
                                      </p:to>
                                    </p:set>
                                    <p:anim calcmode="lin" valueType="num">
                                      <p:cBhvr additive="base">
                                        <p:cTn id="7" dur="1000" fill="hold"/>
                                        <p:tgtEl>
                                          <p:spTgt spid="2572">
                                            <p:txEl>
                                              <p:pRg st="2" end="2"/>
                                            </p:txEl>
                                          </p:spTgt>
                                        </p:tgtEl>
                                        <p:attrNameLst>
                                          <p:attrName>ppt_x</p:attrName>
                                        </p:attrNameLst>
                                      </p:cBhvr>
                                      <p:tavLst>
                                        <p:tav tm="0">
                                          <p:val>
                                            <p:strVal val="#ppt_x-.2"/>
                                          </p:val>
                                        </p:tav>
                                        <p:tav tm="100000">
                                          <p:val>
                                            <p:strVal val="#ppt_x"/>
                                          </p:val>
                                        </p:tav>
                                      </p:tavLst>
                                    </p:anim>
                                    <p:anim calcmode="lin" valueType="num">
                                      <p:cBhvr additive="base">
                                        <p:cTn id="8" dur="1000" fill="hold"/>
                                        <p:tgtEl>
                                          <p:spTgt spid="2572">
                                            <p:txEl>
                                              <p:pRg st="2" end="2"/>
                                            </p:txEl>
                                          </p:spTgt>
                                        </p:tgtEl>
                                        <p:attrNameLst>
                                          <p:attrName>ppt_y</p:attrName>
                                        </p:attrNameLst>
                                      </p:cBhvr>
                                      <p:tavLst>
                                        <p:tav tm="0">
                                          <p:val>
                                            <p:strVal val="#ppt_y"/>
                                          </p:val>
                                        </p:tav>
                                        <p:tav tm="100000">
                                          <p:val>
                                            <p:strVal val="#ppt_y"/>
                                          </p:val>
                                        </p:tav>
                                      </p:tavLst>
                                    </p:anim>
                                    <p:animEffect transition="in" filter="wipe(right)">
                                      <p:cBhvr additive="base">
                                        <p:cTn id="9" dur="1000"/>
                                        <p:tgtEl>
                                          <p:spTgt spid="2572">
                                            <p:txEl>
                                              <p:pRg st="2" end="2"/>
                                            </p:txEl>
                                          </p:spTgt>
                                        </p:tgtEl>
                                      </p:cBhvr>
                                    </p:animEffect>
                                  </p:childTnLst>
                                </p:cTn>
                              </p:par>
                              <p:par>
                                <p:cTn id="10" presetID="29" presetClass="entr" presetSubtype="0" fill="hold" nodeType="withEffect">
                                  <p:childTnLst>
                                    <p:set>
                                      <p:cBhvr additive="base">
                                        <p:cTn id="11" dur="1" fill="hold">
                                          <p:stCondLst>
                                            <p:cond delay="0"/>
                                          </p:stCondLst>
                                        </p:cTn>
                                        <p:tgtEl>
                                          <p:spTgt spid="2573"/>
                                        </p:tgtEl>
                                        <p:attrNameLst>
                                          <p:attrName>style.visibility</p:attrName>
                                        </p:attrNameLst>
                                      </p:cBhvr>
                                      <p:to>
                                        <p:strVal val="visible"/>
                                      </p:to>
                                    </p:set>
                                    <p:anim calcmode="lin" valueType="num">
                                      <p:cBhvr additive="base">
                                        <p:cTn id="12" dur="1000" fill="hold"/>
                                        <p:tgtEl>
                                          <p:spTgt spid="2573"/>
                                        </p:tgtEl>
                                        <p:attrNameLst>
                                          <p:attrName>ppt_x</p:attrName>
                                        </p:attrNameLst>
                                      </p:cBhvr>
                                      <p:tavLst>
                                        <p:tav tm="0">
                                          <p:val>
                                            <p:strVal val="#ppt_x-.2"/>
                                          </p:val>
                                        </p:tav>
                                        <p:tav tm="100000">
                                          <p:val>
                                            <p:strVal val="#ppt_x"/>
                                          </p:val>
                                        </p:tav>
                                      </p:tavLst>
                                    </p:anim>
                                    <p:anim calcmode="lin" valueType="num">
                                      <p:cBhvr additive="base">
                                        <p:cTn id="13" dur="1000" fill="hold"/>
                                        <p:tgtEl>
                                          <p:spTgt spid="2573"/>
                                        </p:tgtEl>
                                        <p:attrNameLst>
                                          <p:attrName>ppt_y</p:attrName>
                                        </p:attrNameLst>
                                      </p:cBhvr>
                                      <p:tavLst>
                                        <p:tav tm="0">
                                          <p:val>
                                            <p:strVal val="#ppt_y"/>
                                          </p:val>
                                        </p:tav>
                                        <p:tav tm="100000">
                                          <p:val>
                                            <p:strVal val="#ppt_y"/>
                                          </p:val>
                                        </p:tav>
                                      </p:tavLst>
                                    </p:anim>
                                    <p:animEffect transition="in" filter="wipe(right)">
                                      <p:cBhvr additive="base">
                                        <p:cTn id="14" dur="1000"/>
                                        <p:tgtEl>
                                          <p:spTgt spid="2573"/>
                                        </p:tgtEl>
                                      </p:cBhvr>
                                    </p:animEffect>
                                  </p:childTnLst>
                                </p:cTn>
                              </p:par>
                              <p:par>
                                <p:cTn id="15" presetID="29" presetClass="entr" presetSubtype="0" fill="hold" nodeType="withEffect">
                                  <p:childTnLst>
                                    <p:set>
                                      <p:cBhvr additive="base">
                                        <p:cTn id="16" dur="1" fill="hold">
                                          <p:stCondLst>
                                            <p:cond delay="0"/>
                                          </p:stCondLst>
                                        </p:cTn>
                                        <p:tgtEl>
                                          <p:spTgt spid="2574"/>
                                        </p:tgtEl>
                                        <p:attrNameLst>
                                          <p:attrName>style.visibility</p:attrName>
                                        </p:attrNameLst>
                                      </p:cBhvr>
                                      <p:to>
                                        <p:strVal val="visible"/>
                                      </p:to>
                                    </p:set>
                                    <p:anim calcmode="lin" valueType="num">
                                      <p:cBhvr additive="base">
                                        <p:cTn id="17" dur="1000" fill="hold"/>
                                        <p:tgtEl>
                                          <p:spTgt spid="2574"/>
                                        </p:tgtEl>
                                        <p:attrNameLst>
                                          <p:attrName>ppt_x</p:attrName>
                                        </p:attrNameLst>
                                      </p:cBhvr>
                                      <p:tavLst>
                                        <p:tav tm="0">
                                          <p:val>
                                            <p:strVal val="#ppt_x-.2"/>
                                          </p:val>
                                        </p:tav>
                                        <p:tav tm="100000">
                                          <p:val>
                                            <p:strVal val="#ppt_x"/>
                                          </p:val>
                                        </p:tav>
                                      </p:tavLst>
                                    </p:anim>
                                    <p:anim calcmode="lin" valueType="num">
                                      <p:cBhvr additive="base">
                                        <p:cTn id="18" dur="1000" fill="hold"/>
                                        <p:tgtEl>
                                          <p:spTgt spid="2574"/>
                                        </p:tgtEl>
                                        <p:attrNameLst>
                                          <p:attrName>ppt_y</p:attrName>
                                        </p:attrNameLst>
                                      </p:cBhvr>
                                      <p:tavLst>
                                        <p:tav tm="0">
                                          <p:val>
                                            <p:strVal val="#ppt_y"/>
                                          </p:val>
                                        </p:tav>
                                        <p:tav tm="100000">
                                          <p:val>
                                            <p:strVal val="#ppt_y"/>
                                          </p:val>
                                        </p:tav>
                                      </p:tavLst>
                                    </p:anim>
                                    <p:animEffect transition="in" filter="wipe(right)">
                                      <p:cBhvr additive="base">
                                        <p:cTn id="19" dur="1000"/>
                                        <p:tgtEl>
                                          <p:spTgt spid="2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79</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78" name="标题 2577"/>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579" name="文本占位符 2578"/>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二元离散信源的率失真函数</a:t>
            </a:r>
          </a:p>
          <a:p>
            <a:pPr marL="355600" indent="-355600">
              <a:buClr>
                <a:srgbClr val="993366"/>
              </a:buClr>
              <a:buNone/>
            </a:pPr>
            <a:r>
              <a:rPr lang="zh-CN" altLang="en-US" sz="2000">
                <a:solidFill>
                  <a:srgbClr val="0000CC"/>
                </a:solidFill>
                <a:ea typeface="MingLiU_HKSCS-ExtB" panose="02020500000000000000" charset="-120"/>
              </a:rPr>
              <a:t>第五步：</a:t>
            </a:r>
            <a:r>
              <a:rPr lang="zh-CN" altLang="en-US" sz="2000">
                <a:ea typeface="MingLiU_HKSCS-ExtB" panose="02020500000000000000" charset="-120"/>
              </a:rPr>
              <a:t>求 </a:t>
            </a:r>
            <a:r>
              <a:rPr lang="en-US" altLang="zh-CN" sz="2000" i="1">
                <a:ea typeface="MingLiU_HKSCS-ExtB" panose="02020500000000000000" charset="-120"/>
              </a:rPr>
              <a:t>R</a:t>
            </a:r>
            <a:r>
              <a:rPr lang="en-US" altLang="zh-CN" sz="2000">
                <a:ea typeface="MingLiU_HKSCS-ExtB" panose="02020500000000000000" charset="-120"/>
              </a:rPr>
              <a:t>(</a:t>
            </a:r>
            <a:r>
              <a:rPr lang="en-US" altLang="zh-CN" sz="2000" i="1">
                <a:ea typeface="MingLiU_HKSCS-ExtB" panose="02020500000000000000" charset="-120"/>
              </a:rPr>
              <a:t>S</a:t>
            </a:r>
            <a:r>
              <a:rPr lang="en-US" altLang="zh-CN" sz="2000">
                <a:ea typeface="MingLiU_HKSCS-ExtB" panose="02020500000000000000" charset="-120"/>
              </a:rPr>
              <a:t>)</a:t>
            </a:r>
          </a:p>
        </p:txBody>
      </p:sp>
      <p:graphicFrame>
        <p:nvGraphicFramePr>
          <p:cNvPr id="2580" name="对象 2579"/>
          <p:cNvGraphicFramePr/>
          <p:nvPr/>
        </p:nvGraphicFramePr>
        <p:xfrm>
          <a:off x="1114425" y="2349500"/>
          <a:ext cx="7273925" cy="3743325"/>
        </p:xfrm>
        <a:graphic>
          <a:graphicData uri="http://schemas.openxmlformats.org/presentationml/2006/ole">
            <mc:AlternateContent xmlns:mc="http://schemas.openxmlformats.org/markup-compatibility/2006">
              <mc:Choice xmlns:v="urn:schemas-microsoft-com:vml" Requires="v">
                <p:oleObj spid="_x0000_s54274" r:id="rId3" imgW="4113530" imgH="2272030" progId="Equation.3">
                  <p:embed/>
                </p:oleObj>
              </mc:Choice>
              <mc:Fallback>
                <p:oleObj r:id="rId3" imgW="4113530" imgH="2272030" progId="Equation.3">
                  <p:embed/>
                  <p:pic>
                    <p:nvPicPr>
                      <p:cNvPr id="0" name="图片 3104"/>
                      <p:cNvPicPr/>
                      <p:nvPr/>
                    </p:nvPicPr>
                    <p:blipFill>
                      <a:blip r:embed="rId4"/>
                      <a:stretch>
                        <a:fillRect/>
                      </a:stretch>
                    </p:blipFill>
                    <p:spPr>
                      <a:xfrm>
                        <a:off x="1114425" y="2349500"/>
                        <a:ext cx="7273925" cy="3743325"/>
                      </a:xfrm>
                      <a:prstGeom prst="rect">
                        <a:avLst/>
                      </a:prstGeom>
                      <a:noFill/>
                      <a:ln w="38100">
                        <a:noFill/>
                        <a:miter/>
                      </a:ln>
                    </p:spPr>
                  </p:pic>
                </p:oleObj>
              </mc:Fallback>
            </mc:AlternateContent>
          </a:graphicData>
        </a:graphic>
      </p:graphicFrame>
      <p:sp>
        <p:nvSpPr>
          <p:cNvPr id="2581" name="矩形 2580"/>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580"/>
                                        </p:tgtEl>
                                        <p:attrNameLst>
                                          <p:attrName>style.visibility</p:attrName>
                                        </p:attrNameLst>
                                      </p:cBhvr>
                                      <p:to>
                                        <p:strVal val="visible"/>
                                      </p:to>
                                    </p:set>
                                    <p:anim calcmode="lin" valueType="num">
                                      <p:cBhvr additive="base">
                                        <p:cTn id="7" dur="1000" fill="hold"/>
                                        <p:tgtEl>
                                          <p:spTgt spid="2580"/>
                                        </p:tgtEl>
                                        <p:attrNameLst>
                                          <p:attrName>ppt_x</p:attrName>
                                        </p:attrNameLst>
                                      </p:cBhvr>
                                      <p:tavLst>
                                        <p:tav tm="0">
                                          <p:val>
                                            <p:strVal val="#ppt_x-.2"/>
                                          </p:val>
                                        </p:tav>
                                        <p:tav tm="100000">
                                          <p:val>
                                            <p:strVal val="#ppt_x"/>
                                          </p:val>
                                        </p:tav>
                                      </p:tavLst>
                                    </p:anim>
                                    <p:anim calcmode="lin" valueType="num">
                                      <p:cBhvr additive="base">
                                        <p:cTn id="8" dur="1000" fill="hold"/>
                                        <p:tgtEl>
                                          <p:spTgt spid="2580"/>
                                        </p:tgtEl>
                                        <p:attrNameLst>
                                          <p:attrName>ppt_y</p:attrName>
                                        </p:attrNameLst>
                                      </p:cBhvr>
                                      <p:tavLst>
                                        <p:tav tm="0">
                                          <p:val>
                                            <p:strVal val="#ppt_y"/>
                                          </p:val>
                                        </p:tav>
                                        <p:tav tm="100000">
                                          <p:val>
                                            <p:strVal val="#ppt_y"/>
                                          </p:val>
                                        </p:tav>
                                      </p:tavLst>
                                    </p:anim>
                                    <p:animEffect transition="in" filter="wipe(right)">
                                      <p:cBhvr additive="base">
                                        <p:cTn id="9" dur="1000"/>
                                        <p:tgtEl>
                                          <p:spTgt spid="2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80</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84" name="标题 2583"/>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585" name="文本占位符 2584"/>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二元离散信源的率失真函数</a:t>
            </a:r>
          </a:p>
        </p:txBody>
      </p:sp>
      <p:pic>
        <p:nvPicPr>
          <p:cNvPr id="2586" name="图片 2585"/>
          <p:cNvPicPr>
            <a:picLocks noChangeAspect="1"/>
          </p:cNvPicPr>
          <p:nvPr/>
        </p:nvPicPr>
        <p:blipFill>
          <a:blip r:embed="rId2"/>
          <a:stretch>
            <a:fillRect/>
          </a:stretch>
        </p:blipFill>
        <p:spPr>
          <a:xfrm>
            <a:off x="4257675" y="1773238"/>
            <a:ext cx="4303713" cy="4332287"/>
          </a:xfrm>
          <a:prstGeom prst="rect">
            <a:avLst/>
          </a:prstGeom>
          <a:noFill/>
          <a:ln w="9525">
            <a:noFill/>
          </a:ln>
        </p:spPr>
      </p:pic>
      <p:sp>
        <p:nvSpPr>
          <p:cNvPr id="2587" name="矩形 2586"/>
          <p:cNvSpPr/>
          <p:nvPr/>
        </p:nvSpPr>
        <p:spPr>
          <a:xfrm>
            <a:off x="1114425" y="1728788"/>
            <a:ext cx="2328863" cy="1800225"/>
          </a:xfrm>
          <a:prstGeom prst="rect">
            <a:avLst/>
          </a:prstGeom>
          <a:noFill/>
          <a:ln w="12700">
            <a:noFill/>
          </a:ln>
        </p:spPr>
        <p:txBody>
          <a:bodyPr>
            <a:spAutoFit/>
          </a:bodyPr>
          <a:lstStyle/>
          <a:p>
            <a:pPr eaLnBrk="0" hangingPunct="0">
              <a:lnSpc>
                <a:spcPct val="140000"/>
              </a:lnSpc>
              <a:spcBef>
                <a:spcPct val="20000"/>
              </a:spcBef>
            </a:pPr>
            <a:r>
              <a:rPr lang="zh-CN" altLang="en-US" sz="2000" b="1">
                <a:solidFill>
                  <a:srgbClr val="0000CC"/>
                </a:solidFill>
                <a:latin typeface="Times New Roman" panose="02020603050405020304" pitchFamily="18" charset="0"/>
                <a:ea typeface="MingLiU_HKSCS-ExtB" panose="02020500000000000000" charset="-120"/>
              </a:rPr>
              <a:t>第六步：</a:t>
            </a:r>
            <a:r>
              <a:rPr lang="zh-CN" altLang="en-US" sz="2000" b="1">
                <a:latin typeface="Times New Roman" panose="02020603050405020304" pitchFamily="18" charset="0"/>
                <a:ea typeface="MingLiU_HKSCS-ExtB" panose="02020500000000000000" charset="-120"/>
              </a:rPr>
              <a:t>通过以上步骤计算出来的</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R</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和 </a:t>
            </a:r>
            <a:r>
              <a:rPr lang="en-US" altLang="zh-CN" sz="2000" b="1" i="1">
                <a:solidFill>
                  <a:srgbClr val="FF0000"/>
                </a:solidFill>
                <a:latin typeface="Times New Roman" panose="02020603050405020304" pitchFamily="18" charset="0"/>
                <a:ea typeface="MingLiU_HKSCS-ExtB" panose="02020500000000000000" charset="-120"/>
              </a:rPr>
              <a:t>S</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a:t>
            </a:r>
            <a:r>
              <a:rPr lang="zh-CN" altLang="en-US" sz="2000" b="1">
                <a:latin typeface="Times New Roman" panose="02020603050405020304" pitchFamily="18" charset="0"/>
                <a:ea typeface="MingLiU_HKSCS-ExtB" panose="02020500000000000000" charset="-120"/>
              </a:rPr>
              <a:t>如图</a:t>
            </a:r>
            <a:r>
              <a:rPr lang="en-US" altLang="zh-CN" sz="2000" b="1">
                <a:latin typeface="Times New Roman" panose="02020603050405020304" pitchFamily="18" charset="0"/>
                <a:ea typeface="MingLiU_HKSCS-ExtB" panose="02020500000000000000" charset="-120"/>
              </a:rPr>
              <a:t>4.2.2</a:t>
            </a:r>
            <a:r>
              <a:rPr lang="zh-CN" altLang="en-US" sz="2000" b="1">
                <a:latin typeface="Times New Roman" panose="02020603050405020304" pitchFamily="18" charset="0"/>
                <a:ea typeface="MingLiU_HKSCS-ExtB" panose="02020500000000000000" charset="-120"/>
              </a:rPr>
              <a:t>。</a:t>
            </a:r>
          </a:p>
        </p:txBody>
      </p:sp>
      <p:sp>
        <p:nvSpPr>
          <p:cNvPr id="2588" name="矩形 2587"/>
          <p:cNvSpPr/>
          <p:nvPr/>
        </p:nvSpPr>
        <p:spPr>
          <a:xfrm>
            <a:off x="7961313" y="6165850"/>
            <a:ext cx="796925" cy="360363"/>
          </a:xfrm>
          <a:solidFill>
            <a:srgbClr val="BBE0E3"/>
          </a:solidFill>
          <a:ln w="12700">
            <a:noFill/>
          </a:ln>
        </p:spPr>
        <p:txBody>
          <a:bodyPr/>
          <a:lstStyle/>
          <a:p>
            <a:endParaRPr lang="zh-CN" altLang="en-US"/>
          </a:p>
        </p:txBody>
      </p:sp>
      <p:sp>
        <p:nvSpPr>
          <p:cNvPr id="2589" name="矩形 2588"/>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586"/>
                                        </p:tgtEl>
                                        <p:attrNameLst>
                                          <p:attrName>style.visibility</p:attrName>
                                        </p:attrNameLst>
                                      </p:cBhvr>
                                      <p:to>
                                        <p:strVal val="visible"/>
                                      </p:to>
                                    </p:set>
                                    <p:anim calcmode="lin" valueType="num">
                                      <p:cBhvr additive="base">
                                        <p:cTn id="7" dur="1000" fill="hold"/>
                                        <p:tgtEl>
                                          <p:spTgt spid="2586"/>
                                        </p:tgtEl>
                                        <p:attrNameLst>
                                          <p:attrName>ppt_x</p:attrName>
                                        </p:attrNameLst>
                                      </p:cBhvr>
                                      <p:tavLst>
                                        <p:tav tm="0">
                                          <p:val>
                                            <p:strVal val="#ppt_x-.2"/>
                                          </p:val>
                                        </p:tav>
                                        <p:tav tm="100000">
                                          <p:val>
                                            <p:strVal val="#ppt_x"/>
                                          </p:val>
                                        </p:tav>
                                      </p:tavLst>
                                    </p:anim>
                                    <p:anim calcmode="lin" valueType="num">
                                      <p:cBhvr additive="base">
                                        <p:cTn id="8" dur="1000" fill="hold"/>
                                        <p:tgtEl>
                                          <p:spTgt spid="2586"/>
                                        </p:tgtEl>
                                        <p:attrNameLst>
                                          <p:attrName>ppt_y</p:attrName>
                                        </p:attrNameLst>
                                      </p:cBhvr>
                                      <p:tavLst>
                                        <p:tav tm="0">
                                          <p:val>
                                            <p:strVal val="#ppt_y"/>
                                          </p:val>
                                        </p:tav>
                                        <p:tav tm="100000">
                                          <p:val>
                                            <p:strVal val="#ppt_y"/>
                                          </p:val>
                                        </p:tav>
                                      </p:tavLst>
                                    </p:anim>
                                    <p:animEffect transition="in" filter="wipe(right)">
                                      <p:cBhvr additive="base">
                                        <p:cTn id="9" dur="1000"/>
                                        <p:tgtEl>
                                          <p:spTgt spid="2586"/>
                                        </p:tgtEl>
                                      </p:cBhvr>
                                    </p:animEffect>
                                  </p:childTnLst>
                                </p:cTn>
                              </p:par>
                              <p:par>
                                <p:cTn id="10" presetID="29" presetClass="entr" presetSubtype="0" fill="hold" grpId="1" nodeType="withEffect">
                                  <p:childTnLst>
                                    <p:set>
                                      <p:cBhvr additive="base">
                                        <p:cTn id="11" dur="1" fill="hold">
                                          <p:stCondLst>
                                            <p:cond delay="0"/>
                                          </p:stCondLst>
                                        </p:cTn>
                                        <p:tgtEl>
                                          <p:spTgt spid="2588"/>
                                        </p:tgtEl>
                                        <p:attrNameLst>
                                          <p:attrName>style.visibility</p:attrName>
                                        </p:attrNameLst>
                                      </p:cBhvr>
                                      <p:to>
                                        <p:strVal val="visible"/>
                                      </p:to>
                                    </p:set>
                                    <p:anim calcmode="lin" valueType="num">
                                      <p:cBhvr additive="base">
                                        <p:cTn id="12" dur="1000" fill="hold"/>
                                        <p:tgtEl>
                                          <p:spTgt spid="2588"/>
                                        </p:tgtEl>
                                        <p:attrNameLst>
                                          <p:attrName>ppt_x</p:attrName>
                                        </p:attrNameLst>
                                      </p:cBhvr>
                                      <p:tavLst>
                                        <p:tav tm="0">
                                          <p:val>
                                            <p:strVal val="#ppt_x-.2"/>
                                          </p:val>
                                        </p:tav>
                                        <p:tav tm="100000">
                                          <p:val>
                                            <p:strVal val="#ppt_x"/>
                                          </p:val>
                                        </p:tav>
                                      </p:tavLst>
                                    </p:anim>
                                    <p:anim calcmode="lin" valueType="num">
                                      <p:cBhvr additive="base">
                                        <p:cTn id="13" dur="1000" fill="hold"/>
                                        <p:tgtEl>
                                          <p:spTgt spid="2588"/>
                                        </p:tgtEl>
                                        <p:attrNameLst>
                                          <p:attrName>ppt_y</p:attrName>
                                        </p:attrNameLst>
                                      </p:cBhvr>
                                      <p:tavLst>
                                        <p:tav tm="0">
                                          <p:val>
                                            <p:strVal val="#ppt_y"/>
                                          </p:val>
                                        </p:tav>
                                        <p:tav tm="100000">
                                          <p:val>
                                            <p:strVal val="#ppt_y"/>
                                          </p:val>
                                        </p:tav>
                                      </p:tavLst>
                                    </p:anim>
                                    <p:animEffect transition="in" filter="wipe(right)">
                                      <p:cBhvr additive="base">
                                        <p:cTn id="14" dur="1000"/>
                                        <p:tgtEl>
                                          <p:spTgt spid="2588"/>
                                        </p:tgtEl>
                                      </p:cBhvr>
                                    </p:animEffect>
                                  </p:childTnLst>
                                </p:cTn>
                              </p:par>
                              <p:par>
                                <p:cTn id="15" presetID="29" presetClass="entr" presetSubtype="0" fill="hold" grpId="0" nodeType="withEffect">
                                  <p:childTnLst>
                                    <p:set>
                                      <p:cBhvr additive="base">
                                        <p:cTn id="16" dur="1" fill="hold">
                                          <p:stCondLst>
                                            <p:cond delay="0"/>
                                          </p:stCondLst>
                                        </p:cTn>
                                        <p:tgtEl>
                                          <p:spTgt spid="2587"/>
                                        </p:tgtEl>
                                        <p:attrNameLst>
                                          <p:attrName>style.visibility</p:attrName>
                                        </p:attrNameLst>
                                      </p:cBhvr>
                                      <p:to>
                                        <p:strVal val="visible"/>
                                      </p:to>
                                    </p:set>
                                    <p:anim calcmode="lin" valueType="num">
                                      <p:cBhvr additive="base">
                                        <p:cTn id="17" dur="1000" fill="hold"/>
                                        <p:tgtEl>
                                          <p:spTgt spid="2587"/>
                                        </p:tgtEl>
                                        <p:attrNameLst>
                                          <p:attrName>ppt_x</p:attrName>
                                        </p:attrNameLst>
                                      </p:cBhvr>
                                      <p:tavLst>
                                        <p:tav tm="0">
                                          <p:val>
                                            <p:strVal val="#ppt_x-.2"/>
                                          </p:val>
                                        </p:tav>
                                        <p:tav tm="100000">
                                          <p:val>
                                            <p:strVal val="#ppt_x"/>
                                          </p:val>
                                        </p:tav>
                                      </p:tavLst>
                                    </p:anim>
                                    <p:anim calcmode="lin" valueType="num">
                                      <p:cBhvr additive="base">
                                        <p:cTn id="18" dur="1000" fill="hold"/>
                                        <p:tgtEl>
                                          <p:spTgt spid="2587"/>
                                        </p:tgtEl>
                                        <p:attrNameLst>
                                          <p:attrName>ppt_y</p:attrName>
                                        </p:attrNameLst>
                                      </p:cBhvr>
                                      <p:tavLst>
                                        <p:tav tm="0">
                                          <p:val>
                                            <p:strVal val="#ppt_y"/>
                                          </p:val>
                                        </p:tav>
                                        <p:tav tm="100000">
                                          <p:val>
                                            <p:strVal val="#ppt_y"/>
                                          </p:val>
                                        </p:tav>
                                      </p:tavLst>
                                    </p:anim>
                                    <p:animEffect transition="in" filter="wipe(right)">
                                      <p:cBhvr additive="base">
                                        <p:cTn id="19" dur="1000"/>
                                        <p:tgtEl>
                                          <p:spTgt spid="2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7" grpId="0" animBg="1"/>
      <p:bldP spid="2588" grpId="1"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81</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592" name="标题 2591"/>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593" name="文本占位符 2592"/>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信息率失真函数曲线图说明</a:t>
            </a:r>
          </a:p>
        </p:txBody>
      </p:sp>
      <p:pic>
        <p:nvPicPr>
          <p:cNvPr id="2594" name="图片 2593"/>
          <p:cNvPicPr>
            <a:picLocks noChangeAspect="1"/>
          </p:cNvPicPr>
          <p:nvPr/>
        </p:nvPicPr>
        <p:blipFill>
          <a:blip r:embed="rId2"/>
          <a:stretch>
            <a:fillRect/>
          </a:stretch>
        </p:blipFill>
        <p:spPr>
          <a:xfrm>
            <a:off x="4257675" y="1760538"/>
            <a:ext cx="4303713" cy="4332287"/>
          </a:xfrm>
          <a:prstGeom prst="rect">
            <a:avLst/>
          </a:prstGeom>
          <a:noFill/>
          <a:ln w="9525">
            <a:noFill/>
          </a:ln>
        </p:spPr>
      </p:pic>
      <p:sp>
        <p:nvSpPr>
          <p:cNvPr id="2595" name="矩形 2594"/>
          <p:cNvSpPr/>
          <p:nvPr/>
        </p:nvSpPr>
        <p:spPr>
          <a:xfrm>
            <a:off x="900113" y="1770063"/>
            <a:ext cx="3276600" cy="3570287"/>
          </a:xfrm>
          <a:prstGeom prst="rect">
            <a:avLst/>
          </a:prstGeom>
          <a:noFill/>
          <a:ln w="12700">
            <a:noFill/>
          </a:ln>
        </p:spPr>
        <p:txBody>
          <a:bodyPr>
            <a:spAutoFit/>
          </a:bodyPr>
          <a:lstStyle/>
          <a:p>
            <a:pPr marL="357505" indent="-357505" eaLnBrk="0" hangingPunct="0">
              <a:lnSpc>
                <a:spcPct val="140000"/>
              </a:lnSpc>
              <a:spcBef>
                <a:spcPct val="20000"/>
              </a:spcBef>
              <a:buClr>
                <a:srgbClr val="660033"/>
              </a:buClr>
              <a:buSzPct val="90000"/>
              <a:buFont typeface="Wingdings" panose="05000000000000000000" pitchFamily="2" charset="2"/>
              <a:buChar char="ÿ"/>
            </a:pPr>
            <a:r>
              <a:rPr lang="zh-CN" altLang="en-US" sz="2000" b="1">
                <a:latin typeface="Times New Roman" panose="02020603050405020304" pitchFamily="18" charset="0"/>
                <a:ea typeface="MingLiU_HKSCS-ExtB" panose="02020500000000000000" charset="-120"/>
              </a:rPr>
              <a:t>若</a:t>
            </a:r>
            <a:r>
              <a:rPr lang="en-US" altLang="zh-CN" sz="2000" b="1" i="1">
                <a:latin typeface="Times New Roman" panose="02020603050405020304" pitchFamily="18" charset="0"/>
                <a:ea typeface="MingLiU_HKSCS-ExtB" panose="02020500000000000000" charset="-120"/>
              </a:rPr>
              <a:t>α</a:t>
            </a:r>
            <a:r>
              <a:rPr lang="en-US" altLang="zh-CN" sz="2000" b="1">
                <a:latin typeface="Times New Roman" panose="02020603050405020304" pitchFamily="18" charset="0"/>
                <a:ea typeface="MingLiU_HKSCS-ExtB" panose="02020500000000000000" charset="-120"/>
              </a:rPr>
              <a:t>=1</a:t>
            </a:r>
            <a:r>
              <a:rPr lang="zh-CN" altLang="en-US" sz="2000" b="1">
                <a:latin typeface="Times New Roman" panose="02020603050405020304" pitchFamily="18" charset="0"/>
                <a:ea typeface="MingLiU_HKSCS-ExtB" panose="02020500000000000000" charset="-120"/>
              </a:rPr>
              <a:t>，把 </a:t>
            </a:r>
            <a:r>
              <a:rPr lang="en-US" altLang="zh-CN" sz="2000" b="1" i="1">
                <a:latin typeface="Times New Roman" panose="02020603050405020304" pitchFamily="18" charset="0"/>
                <a:ea typeface="MingLiU_HKSCS-ExtB" panose="02020500000000000000" charset="-120"/>
              </a:rPr>
              <a:t>d</a:t>
            </a:r>
            <a:r>
              <a:rPr lang="en-US" altLang="zh-CN" sz="2000" b="1">
                <a:latin typeface="Times New Roman" panose="02020603050405020304" pitchFamily="18" charset="0"/>
                <a:ea typeface="MingLiU_HKSCS-ExtB" panose="02020500000000000000" charset="-120"/>
              </a:rPr>
              <a:t>(</a:t>
            </a:r>
            <a:r>
              <a:rPr lang="en-US" altLang="zh-CN" sz="2000" b="1" i="1">
                <a:latin typeface="Times New Roman" panose="02020603050405020304" pitchFamily="18" charset="0"/>
                <a:ea typeface="MingLiU_HKSCS-ExtB" panose="02020500000000000000" charset="-120"/>
              </a:rPr>
              <a:t>x</a:t>
            </a:r>
            <a:r>
              <a:rPr lang="en-US" altLang="zh-CN" sz="2000" b="1" i="1" baseline="-25000">
                <a:latin typeface="Times New Roman" panose="02020603050405020304" pitchFamily="18" charset="0"/>
                <a:ea typeface="MingLiU_HKSCS-ExtB" panose="02020500000000000000" charset="-120"/>
              </a:rPr>
              <a:t>i</a:t>
            </a:r>
            <a:r>
              <a:rPr lang="en-US" altLang="zh-CN" sz="2000" b="1" i="1">
                <a:latin typeface="Times New Roman" panose="02020603050405020304" pitchFamily="18" charset="0"/>
                <a:ea typeface="MingLiU_HKSCS-ExtB" panose="02020500000000000000" charset="-120"/>
              </a:rPr>
              <a:t> </a:t>
            </a:r>
            <a:r>
              <a:rPr lang="en-US" altLang="zh-CN" sz="2000" b="1">
                <a:latin typeface="Times New Roman" panose="02020603050405020304" pitchFamily="18" charset="0"/>
                <a:ea typeface="MingLiU_HKSCS-ExtB" panose="02020500000000000000" charset="-120"/>
              </a:rPr>
              <a:t>, </a:t>
            </a:r>
            <a:r>
              <a:rPr lang="en-US" altLang="zh-CN" sz="2000" b="1" i="1">
                <a:latin typeface="Times New Roman" panose="02020603050405020304" pitchFamily="18" charset="0"/>
                <a:ea typeface="MingLiU_HKSCS-ExtB" panose="02020500000000000000" charset="-120"/>
              </a:rPr>
              <a:t>y</a:t>
            </a:r>
            <a:r>
              <a:rPr lang="en-US" altLang="zh-CN" sz="2000" b="1" i="1" baseline="-25000">
                <a:latin typeface="Times New Roman" panose="02020603050405020304" pitchFamily="18" charset="0"/>
                <a:ea typeface="MingLiU_HKSCS-ExtB" panose="02020500000000000000" charset="-120"/>
              </a:rPr>
              <a:t>j</a:t>
            </a:r>
            <a:r>
              <a:rPr lang="en-US" altLang="zh-CN" sz="2000" b="1">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当成了误码个数，即 </a:t>
            </a:r>
            <a:r>
              <a:rPr lang="en-US" altLang="zh-CN" sz="2000" b="1" i="1">
                <a:latin typeface="Times New Roman" panose="02020603050405020304" pitchFamily="18" charset="0"/>
                <a:ea typeface="MingLiU_HKSCS-ExtB" panose="02020500000000000000" charset="-120"/>
              </a:rPr>
              <a:t>X </a:t>
            </a:r>
            <a:r>
              <a:rPr lang="zh-CN" altLang="en-US" sz="2000" b="1">
                <a:latin typeface="Times New Roman" panose="02020603050405020304" pitchFamily="18" charset="0"/>
                <a:ea typeface="MingLiU_HKSCS-ExtB" panose="02020500000000000000" charset="-120"/>
              </a:rPr>
              <a:t>和 </a:t>
            </a:r>
            <a:r>
              <a:rPr lang="en-US" altLang="zh-CN" sz="2000" b="1" i="1">
                <a:latin typeface="Times New Roman" panose="02020603050405020304" pitchFamily="18" charset="0"/>
                <a:ea typeface="MingLiU_HKSCS-ExtB" panose="02020500000000000000" charset="-120"/>
              </a:rPr>
              <a:t>Y </a:t>
            </a:r>
            <a:r>
              <a:rPr lang="zh-CN" altLang="en-US" sz="2000" b="1">
                <a:latin typeface="Times New Roman" panose="02020603050405020304" pitchFamily="18" charset="0"/>
                <a:ea typeface="MingLiU_HKSCS-ExtB" panose="02020500000000000000" charset="-120"/>
              </a:rPr>
              <a:t>不一致时，认为误了一个码元，所以： </a:t>
            </a:r>
          </a:p>
          <a:p>
            <a:pPr marL="357505" indent="-357505" eaLnBrk="0" hangingPunct="0">
              <a:lnSpc>
                <a:spcPct val="140000"/>
              </a:lnSpc>
              <a:spcBef>
                <a:spcPct val="20000"/>
              </a:spcBef>
              <a:buNone/>
            </a:pPr>
            <a:r>
              <a:rPr lang="zh-CN" altLang="en-US" sz="2000" b="1" i="1">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x</a:t>
            </a:r>
            <a:r>
              <a:rPr lang="en-US" altLang="zh-CN" sz="2000" b="1" i="1" baseline="-25000">
                <a:solidFill>
                  <a:srgbClr val="FF0000"/>
                </a:solidFill>
                <a:latin typeface="Times New Roman" panose="02020603050405020304" pitchFamily="18" charset="0"/>
                <a:ea typeface="MingLiU_HKSCS-ExtB" panose="02020500000000000000" charset="-120"/>
              </a:rPr>
              <a:t>i</a:t>
            </a:r>
            <a:r>
              <a:rPr lang="en-US" altLang="zh-CN" sz="2000" b="1" i="1">
                <a:solidFill>
                  <a:srgbClr val="FF0000"/>
                </a:solidFill>
                <a:latin typeface="Times New Roman" panose="02020603050405020304" pitchFamily="18" charset="0"/>
                <a:ea typeface="MingLiU_HKSCS-ExtB" panose="02020500000000000000" charset="-120"/>
              </a:rPr>
              <a:t> </a:t>
            </a:r>
            <a:r>
              <a:rPr lang="en-US" altLang="zh-CN" sz="2000" b="1">
                <a:solidFill>
                  <a:srgbClr val="FF0000"/>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y</a:t>
            </a:r>
            <a:r>
              <a:rPr lang="en-US" altLang="zh-CN" sz="2000" b="1" i="1" baseline="-25000">
                <a:solidFill>
                  <a:srgbClr val="FF0000"/>
                </a:solidFill>
                <a:latin typeface="Times New Roman" panose="02020603050405020304" pitchFamily="18" charset="0"/>
                <a:ea typeface="MingLiU_HKSCS-ExtB" panose="02020500000000000000" charset="-120"/>
              </a:rPr>
              <a:t>j</a:t>
            </a:r>
            <a:r>
              <a:rPr lang="en-US" altLang="zh-CN" sz="2000" b="1">
                <a:solidFill>
                  <a:srgbClr val="FF0000"/>
                </a:solidFill>
                <a:latin typeface="Times New Roman" panose="02020603050405020304" pitchFamily="18" charset="0"/>
                <a:ea typeface="MingLiU_HKSCS-ExtB" panose="02020500000000000000" charset="-120"/>
              </a:rPr>
              <a:t>) </a:t>
            </a:r>
            <a:r>
              <a:rPr lang="zh-CN" altLang="en-US" sz="2000" b="1">
                <a:solidFill>
                  <a:srgbClr val="FF0000"/>
                </a:solidFill>
                <a:latin typeface="Times New Roman" panose="02020603050405020304" pitchFamily="18" charset="0"/>
                <a:ea typeface="MingLiU_HKSCS-ExtB" panose="02020500000000000000" charset="-120"/>
              </a:rPr>
              <a:t>的数学期望就是平均误码率</a:t>
            </a:r>
            <a:r>
              <a:rPr lang="zh-CN" altLang="en-US" sz="2000" b="1">
                <a:latin typeface="Times New Roman" panose="02020603050405020304" pitchFamily="18" charset="0"/>
                <a:ea typeface="MingLiU_HKSCS-ExtB" panose="02020500000000000000" charset="-120"/>
              </a:rPr>
              <a:t>。能容忍的失真等效于能容忍的误码率。</a:t>
            </a:r>
          </a:p>
        </p:txBody>
      </p:sp>
      <p:sp>
        <p:nvSpPr>
          <p:cNvPr id="2596" name="矩形 2595"/>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spd="med">
    <p:pull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82</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pic>
        <p:nvPicPr>
          <p:cNvPr id="2599" name="图片 2598"/>
          <p:cNvPicPr>
            <a:picLocks noChangeAspect="1"/>
          </p:cNvPicPr>
          <p:nvPr/>
        </p:nvPicPr>
        <p:blipFill>
          <a:blip r:embed="rId2"/>
          <a:stretch>
            <a:fillRect/>
          </a:stretch>
        </p:blipFill>
        <p:spPr>
          <a:xfrm>
            <a:off x="4257675" y="1760538"/>
            <a:ext cx="4303713" cy="4332287"/>
          </a:xfrm>
          <a:prstGeom prst="rect">
            <a:avLst/>
          </a:prstGeom>
          <a:noFill/>
          <a:ln w="9525">
            <a:noFill/>
          </a:ln>
        </p:spPr>
      </p:pic>
      <p:sp>
        <p:nvSpPr>
          <p:cNvPr id="2600" name="标题 2599"/>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601" name="文本占位符 2600"/>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信息率失真函数曲线图说明</a:t>
            </a:r>
          </a:p>
        </p:txBody>
      </p:sp>
      <p:sp>
        <p:nvSpPr>
          <p:cNvPr id="2602" name="矩形 2601"/>
          <p:cNvSpPr/>
          <p:nvPr/>
        </p:nvSpPr>
        <p:spPr>
          <a:xfrm>
            <a:off x="827088" y="1700213"/>
            <a:ext cx="3532187" cy="3081337"/>
          </a:xfrm>
          <a:prstGeom prst="rect">
            <a:avLst/>
          </a:prstGeom>
          <a:noFill/>
          <a:ln w="12700">
            <a:noFill/>
          </a:ln>
        </p:spPr>
        <p:txBody>
          <a:bodyPr>
            <a:spAutoFit/>
          </a:bodyPr>
          <a:lstStyle/>
          <a:p>
            <a:pPr marL="357505" indent="-357505" eaLnBrk="0" hangingPunct="0">
              <a:lnSpc>
                <a:spcPct val="140000"/>
              </a:lnSpc>
              <a:spcBef>
                <a:spcPct val="20000"/>
              </a:spcBef>
              <a:buClr>
                <a:srgbClr val="660033"/>
              </a:buClr>
              <a:buSzPct val="90000"/>
              <a:buFont typeface="Wingdings" panose="05000000000000000000" pitchFamily="2" charset="2"/>
              <a:buChar char="ÿ"/>
            </a:pPr>
            <a:r>
              <a:rPr lang="zh-CN" altLang="en-US" sz="2000" b="1">
                <a:latin typeface="Times New Roman" panose="02020603050405020304" pitchFamily="18" charset="0"/>
                <a:ea typeface="MingLiU_HKSCS-ExtB" panose="02020500000000000000" charset="-120"/>
              </a:rPr>
              <a:t>若 </a:t>
            </a:r>
            <a:r>
              <a:rPr lang="en-US" altLang="zh-CN" sz="2000" b="1" i="1">
                <a:solidFill>
                  <a:srgbClr val="FF0000"/>
                </a:solidFill>
                <a:latin typeface="Times New Roman" panose="02020603050405020304" pitchFamily="18" charset="0"/>
                <a:ea typeface="MingLiU_HKSCS-ExtB" panose="02020500000000000000" charset="-120"/>
              </a:rPr>
              <a:t>R</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不仅与</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D </a:t>
            </a:r>
            <a:r>
              <a:rPr lang="zh-CN" altLang="en-US" sz="2000" b="1">
                <a:latin typeface="Times New Roman" panose="02020603050405020304" pitchFamily="18" charset="0"/>
                <a:ea typeface="MingLiU_HKSCS-ExtB" panose="02020500000000000000" charset="-120"/>
              </a:rPr>
              <a:t>有关，还与</a:t>
            </a:r>
            <a:r>
              <a:rPr lang="zh-CN" altLang="en-US" sz="2000" b="1">
                <a:solidFill>
                  <a:srgbClr val="FF0000"/>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p</a:t>
            </a:r>
            <a:r>
              <a:rPr lang="en-US" altLang="zh-CN" sz="2000" b="1" i="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有关。概率分布不同，</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R</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曲线就不一样。当</a:t>
            </a:r>
            <a:r>
              <a:rPr lang="zh-CN" altLang="en-US" sz="2000" b="1">
                <a:solidFill>
                  <a:srgbClr val="FF0000"/>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p</a:t>
            </a:r>
            <a:r>
              <a:rPr lang="en-US" altLang="zh-CN" sz="2000" b="1">
                <a:solidFill>
                  <a:srgbClr val="FF0000"/>
                </a:solidFill>
                <a:latin typeface="Times New Roman" panose="02020603050405020304" pitchFamily="18" charset="0"/>
                <a:ea typeface="MingLiU_HKSCS-ExtB" panose="02020500000000000000" charset="-120"/>
              </a:rPr>
              <a:t>=0.25 </a:t>
            </a:r>
            <a:r>
              <a:rPr lang="zh-CN" altLang="en-US" sz="2000" b="1">
                <a:latin typeface="Times New Roman" panose="02020603050405020304" pitchFamily="18" charset="0"/>
                <a:ea typeface="MingLiU_HKSCS-ExtB" panose="02020500000000000000" charset="-120"/>
              </a:rPr>
              <a:t>时，如果能容忍的误码率也是</a:t>
            </a:r>
            <a:r>
              <a:rPr lang="zh-CN" altLang="en-US" sz="2000" b="1">
                <a:solidFill>
                  <a:srgbClr val="FF0000"/>
                </a:solidFill>
                <a:latin typeface="Times New Roman" panose="02020603050405020304" pitchFamily="18" charset="0"/>
                <a:ea typeface="MingLiU_HKSCS-ExtB" panose="02020500000000000000" charset="-120"/>
              </a:rPr>
              <a:t> </a:t>
            </a:r>
            <a:r>
              <a:rPr lang="en-US" altLang="zh-CN" sz="2000" b="1">
                <a:solidFill>
                  <a:srgbClr val="FF0000"/>
                </a:solidFill>
                <a:latin typeface="Times New Roman" panose="02020603050405020304" pitchFamily="18" charset="0"/>
                <a:ea typeface="MingLiU_HKSCS-ExtB" panose="02020500000000000000" charset="-120"/>
              </a:rPr>
              <a:t>0.25</a:t>
            </a:r>
            <a:r>
              <a:rPr lang="zh-CN" altLang="en-US" sz="2000" b="1">
                <a:latin typeface="Times New Roman" panose="02020603050405020304" pitchFamily="18" charset="0"/>
                <a:ea typeface="MingLiU_HKSCS-ExtB" panose="02020500000000000000" charset="-120"/>
              </a:rPr>
              <a:t>，不用传送信息便可达到，即 </a:t>
            </a:r>
            <a:r>
              <a:rPr lang="en-US" altLang="zh-CN" sz="2000" b="1" i="1">
                <a:solidFill>
                  <a:srgbClr val="FF0000"/>
                </a:solidFill>
                <a:latin typeface="Times New Roman" panose="02020603050405020304" pitchFamily="18" charset="0"/>
                <a:ea typeface="MingLiU_HKSCS-ExtB" panose="02020500000000000000" charset="-120"/>
              </a:rPr>
              <a:t>R</a:t>
            </a:r>
            <a:r>
              <a:rPr lang="en-US" altLang="zh-CN" sz="2000" b="1">
                <a:solidFill>
                  <a:srgbClr val="FF0000"/>
                </a:solidFill>
                <a:latin typeface="Times New Roman" panose="02020603050405020304" pitchFamily="18" charset="0"/>
                <a:ea typeface="MingLiU_HKSCS-ExtB" panose="02020500000000000000" charset="-120"/>
              </a:rPr>
              <a:t>=0</a:t>
            </a:r>
            <a:r>
              <a:rPr lang="zh-CN" altLang="en-US" sz="2000" b="1">
                <a:latin typeface="Times New Roman" panose="02020603050405020304" pitchFamily="18" charset="0"/>
                <a:ea typeface="MingLiU_HKSCS-ExtB" panose="02020500000000000000" charset="-120"/>
              </a:rPr>
              <a:t>，这就是</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R</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baseline="-25000">
                <a:solidFill>
                  <a:srgbClr val="FF0000"/>
                </a:solidFill>
                <a:latin typeface="Times New Roman" panose="02020603050405020304" pitchFamily="18" charset="0"/>
                <a:ea typeface="MingLiU_HKSCS-ExtB" panose="02020500000000000000" charset="-120"/>
              </a:rPr>
              <a:t>max</a:t>
            </a:r>
            <a:r>
              <a:rPr lang="en-US" altLang="zh-CN" sz="2000" b="1">
                <a:solidFill>
                  <a:srgbClr val="FF0000"/>
                </a:solidFill>
                <a:latin typeface="Times New Roman" panose="02020603050405020304" pitchFamily="18" charset="0"/>
                <a:ea typeface="MingLiU_HKSCS-ExtB" panose="02020500000000000000" charset="-120"/>
              </a:rPr>
              <a:t>) =0</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的含义</a:t>
            </a:r>
            <a:r>
              <a:rPr lang="en-US" altLang="zh-CN" sz="2000" b="1">
                <a:latin typeface="Times New Roman" panose="02020603050405020304" pitchFamily="18" charset="0"/>
                <a:ea typeface="MingLiU_HKSCS-ExtB" panose="02020500000000000000" charset="-120"/>
              </a:rPr>
              <a:t>.</a:t>
            </a:r>
          </a:p>
        </p:txBody>
      </p:sp>
      <p:sp>
        <p:nvSpPr>
          <p:cNvPr id="2603" name="矩形标注 2602"/>
          <p:cNvSpPr/>
          <p:nvPr/>
        </p:nvSpPr>
        <p:spPr>
          <a:xfrm>
            <a:off x="6432550" y="1052513"/>
            <a:ext cx="2393950" cy="2016125"/>
          </a:xfrm>
          <a:prstGeom prst="wedgeRectCallout">
            <a:avLst>
              <a:gd name="adj1" fmla="val -109523"/>
              <a:gd name="adj2" fmla="val 30315"/>
            </a:avLst>
          </a:prstGeom>
          <a:solidFill>
            <a:srgbClr val="FFD9D9"/>
          </a:solidFill>
          <a:ln w="12700">
            <a:noFill/>
          </a:ln>
        </p:spPr>
        <p:txBody>
          <a:bodyPr/>
          <a:lstStyle/>
          <a:p>
            <a:pPr eaLnBrk="0" hangingPunct="0">
              <a:lnSpc>
                <a:spcPct val="110000"/>
              </a:lnSpc>
            </a:pPr>
            <a:r>
              <a:rPr lang="zh-CN" altLang="en-US" sz="1600" b="1">
                <a:latin typeface="Times New Roman" panose="02020603050405020304" pitchFamily="18" charset="0"/>
                <a:ea typeface="MingLiU_HKSCS-ExtB" panose="02020500000000000000" charset="-120"/>
              </a:rPr>
              <a:t>例如：不管信源发出的是</a:t>
            </a:r>
            <a:r>
              <a:rPr lang="en-US" altLang="zh-CN" sz="1600" b="1">
                <a:latin typeface="Times New Roman" panose="02020603050405020304" pitchFamily="18" charset="0"/>
                <a:ea typeface="MingLiU_HKSCS-ExtB" panose="02020500000000000000" charset="-120"/>
              </a:rPr>
              <a:t>x</a:t>
            </a:r>
            <a:r>
              <a:rPr lang="en-US" altLang="zh-CN" sz="1600" b="1" baseline="-25000">
                <a:latin typeface="Times New Roman" panose="02020603050405020304" pitchFamily="18" charset="0"/>
                <a:ea typeface="MingLiU_HKSCS-ExtB" panose="02020500000000000000" charset="-120"/>
              </a:rPr>
              <a:t>1</a:t>
            </a:r>
            <a:r>
              <a:rPr lang="zh-CN" altLang="en-US" sz="1600" b="1">
                <a:latin typeface="Times New Roman" panose="02020603050405020304" pitchFamily="18" charset="0"/>
                <a:ea typeface="MingLiU_HKSCS-ExtB" panose="02020500000000000000" charset="-120"/>
              </a:rPr>
              <a:t>还是</a:t>
            </a:r>
            <a:r>
              <a:rPr lang="en-US" altLang="zh-CN" sz="1600" b="1">
                <a:latin typeface="Times New Roman" panose="02020603050405020304" pitchFamily="18" charset="0"/>
                <a:ea typeface="MingLiU_HKSCS-ExtB" panose="02020500000000000000" charset="-120"/>
              </a:rPr>
              <a:t>x</a:t>
            </a:r>
            <a:r>
              <a:rPr lang="en-US" altLang="zh-CN" sz="1600" b="1" baseline="-25000">
                <a:latin typeface="Times New Roman" panose="02020603050405020304" pitchFamily="18" charset="0"/>
                <a:ea typeface="MingLiU_HKSCS-ExtB" panose="02020500000000000000" charset="-120"/>
              </a:rPr>
              <a:t>2</a:t>
            </a:r>
            <a:r>
              <a:rPr lang="zh-CN" altLang="en-US" sz="1600" b="1">
                <a:latin typeface="Times New Roman" panose="02020603050405020304" pitchFamily="18" charset="0"/>
                <a:ea typeface="MingLiU_HKSCS-ExtB" panose="02020500000000000000" charset="-120"/>
              </a:rPr>
              <a:t>，都把它编成</a:t>
            </a:r>
            <a:r>
              <a:rPr lang="en-US" altLang="zh-CN" sz="1600" b="1">
                <a:latin typeface="Times New Roman" panose="02020603050405020304" pitchFamily="18" charset="0"/>
                <a:ea typeface="MingLiU_HKSCS-ExtB" panose="02020500000000000000" charset="-120"/>
              </a:rPr>
              <a:t>x</a:t>
            </a:r>
            <a:r>
              <a:rPr lang="en-US" altLang="zh-CN" sz="1600" b="1" baseline="-25000">
                <a:latin typeface="Times New Roman" panose="02020603050405020304" pitchFamily="18" charset="0"/>
                <a:ea typeface="MingLiU_HKSCS-ExtB" panose="02020500000000000000" charset="-120"/>
              </a:rPr>
              <a:t>2</a:t>
            </a:r>
            <a:r>
              <a:rPr lang="zh-CN" altLang="en-US" sz="1600" b="1">
                <a:latin typeface="Times New Roman" panose="02020603050405020304" pitchFamily="18" charset="0"/>
                <a:ea typeface="MingLiU_HKSCS-ExtB" panose="02020500000000000000" charset="-120"/>
              </a:rPr>
              <a:t>，则误码率就是信源发出</a:t>
            </a:r>
            <a:r>
              <a:rPr lang="en-US" altLang="zh-CN" sz="1600" b="1">
                <a:latin typeface="Times New Roman" panose="02020603050405020304" pitchFamily="18" charset="0"/>
                <a:ea typeface="MingLiU_HKSCS-ExtB" panose="02020500000000000000" charset="-120"/>
              </a:rPr>
              <a:t>x</a:t>
            </a:r>
            <a:r>
              <a:rPr lang="en-US" altLang="zh-CN" sz="1600" b="1" baseline="-25000">
                <a:latin typeface="Times New Roman" panose="02020603050405020304" pitchFamily="18" charset="0"/>
                <a:ea typeface="MingLiU_HKSCS-ExtB" panose="02020500000000000000" charset="-120"/>
              </a:rPr>
              <a:t>1</a:t>
            </a:r>
            <a:r>
              <a:rPr lang="zh-CN" altLang="en-US" sz="1600" b="1">
                <a:latin typeface="Times New Roman" panose="02020603050405020304" pitchFamily="18" charset="0"/>
                <a:ea typeface="MingLiU_HKSCS-ExtB" panose="02020500000000000000" charset="-120"/>
              </a:rPr>
              <a:t>的概率</a:t>
            </a:r>
            <a:r>
              <a:rPr lang="en-US" altLang="zh-CN" sz="1600" b="1">
                <a:latin typeface="Times New Roman" panose="02020603050405020304" pitchFamily="18" charset="0"/>
                <a:ea typeface="MingLiU_HKSCS-ExtB" panose="02020500000000000000" charset="-120"/>
              </a:rPr>
              <a:t>0.25</a:t>
            </a:r>
            <a:r>
              <a:rPr lang="zh-CN" altLang="en-US" sz="1600" b="1">
                <a:latin typeface="Times New Roman" panose="02020603050405020304" pitchFamily="18" charset="0"/>
                <a:ea typeface="MingLiU_HKSCS-ExtB" panose="02020500000000000000" charset="-120"/>
              </a:rPr>
              <a:t>，只送一种符号当然就不用传送信息，即</a:t>
            </a:r>
            <a:r>
              <a:rPr lang="en-US" altLang="zh-CN" sz="1600" b="1">
                <a:latin typeface="Times New Roman" panose="02020603050405020304" pitchFamily="18" charset="0"/>
                <a:ea typeface="MingLiU_HKSCS-ExtB" panose="02020500000000000000" charset="-120"/>
              </a:rPr>
              <a:t>R=0</a:t>
            </a:r>
            <a:r>
              <a:rPr lang="zh-CN" altLang="en-US" sz="1600" b="1">
                <a:latin typeface="Times New Roman" panose="02020603050405020304" pitchFamily="18" charset="0"/>
                <a:ea typeface="MingLiU_HKSCS-ExtB" panose="02020500000000000000" charset="-120"/>
              </a:rPr>
              <a:t>，这就是</a:t>
            </a:r>
            <a:r>
              <a:rPr lang="en-US" altLang="zh-CN" sz="1600" b="1">
                <a:latin typeface="Times New Roman" panose="02020603050405020304" pitchFamily="18" charset="0"/>
                <a:ea typeface="MingLiU_HKSCS-ExtB" panose="02020500000000000000" charset="-120"/>
              </a:rPr>
              <a:t>R(D</a:t>
            </a:r>
            <a:r>
              <a:rPr lang="en-US" altLang="zh-CN" sz="1600" b="1" baseline="-25000">
                <a:latin typeface="Times New Roman" panose="02020603050405020304" pitchFamily="18" charset="0"/>
                <a:ea typeface="MingLiU_HKSCS-ExtB" panose="02020500000000000000" charset="-120"/>
              </a:rPr>
              <a:t>max</a:t>
            </a:r>
            <a:r>
              <a:rPr lang="en-US" altLang="zh-CN" sz="1600" b="1">
                <a:latin typeface="Times New Roman" panose="02020603050405020304" pitchFamily="18" charset="0"/>
                <a:ea typeface="MingLiU_HKSCS-ExtB" panose="02020500000000000000" charset="-120"/>
              </a:rPr>
              <a:t>)=0</a:t>
            </a:r>
            <a:r>
              <a:rPr lang="zh-CN" altLang="en-US" sz="1600" b="1">
                <a:latin typeface="Times New Roman" panose="02020603050405020304" pitchFamily="18" charset="0"/>
                <a:ea typeface="MingLiU_HKSCS-ExtB" panose="02020500000000000000" charset="-120"/>
              </a:rPr>
              <a:t>的含义。</a:t>
            </a:r>
          </a:p>
        </p:txBody>
      </p:sp>
      <p:sp>
        <p:nvSpPr>
          <p:cNvPr id="2604" name="矩形 2603"/>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599"/>
                                        </p:tgtEl>
                                        <p:attrNameLst>
                                          <p:attrName>style.visibility</p:attrName>
                                        </p:attrNameLst>
                                      </p:cBhvr>
                                      <p:to>
                                        <p:strVal val="visible"/>
                                      </p:to>
                                    </p:set>
                                    <p:anim calcmode="lin" valueType="num">
                                      <p:cBhvr additive="base">
                                        <p:cTn id="7" dur="1000" fill="hold"/>
                                        <p:tgtEl>
                                          <p:spTgt spid="2599"/>
                                        </p:tgtEl>
                                        <p:attrNameLst>
                                          <p:attrName>ppt_x</p:attrName>
                                        </p:attrNameLst>
                                      </p:cBhvr>
                                      <p:tavLst>
                                        <p:tav tm="0">
                                          <p:val>
                                            <p:strVal val="#ppt_x-.2"/>
                                          </p:val>
                                        </p:tav>
                                        <p:tav tm="100000">
                                          <p:val>
                                            <p:strVal val="#ppt_x"/>
                                          </p:val>
                                        </p:tav>
                                      </p:tavLst>
                                    </p:anim>
                                    <p:anim calcmode="lin" valueType="num">
                                      <p:cBhvr additive="base">
                                        <p:cTn id="8" dur="1000" fill="hold"/>
                                        <p:tgtEl>
                                          <p:spTgt spid="2599"/>
                                        </p:tgtEl>
                                        <p:attrNameLst>
                                          <p:attrName>ppt_y</p:attrName>
                                        </p:attrNameLst>
                                      </p:cBhvr>
                                      <p:tavLst>
                                        <p:tav tm="0">
                                          <p:val>
                                            <p:strVal val="#ppt_y"/>
                                          </p:val>
                                        </p:tav>
                                        <p:tav tm="100000">
                                          <p:val>
                                            <p:strVal val="#ppt_y"/>
                                          </p:val>
                                        </p:tav>
                                      </p:tavLst>
                                    </p:anim>
                                    <p:animEffect transition="in" filter="wipe(right)">
                                      <p:cBhvr additive="base">
                                        <p:cTn id="9" dur="1000"/>
                                        <p:tgtEl>
                                          <p:spTgt spid="2599"/>
                                        </p:tgtEl>
                                      </p:cBhvr>
                                    </p:animEffect>
                                  </p:childTnLst>
                                </p:cTn>
                              </p:par>
                              <p:par>
                                <p:cTn id="10" presetID="29" presetClass="entr" presetSubtype="0" fill="hold" grpId="0" nodeType="withEffect">
                                  <p:childTnLst>
                                    <p:set>
                                      <p:cBhvr additive="base">
                                        <p:cTn id="11" dur="1" fill="hold">
                                          <p:stCondLst>
                                            <p:cond delay="0"/>
                                          </p:stCondLst>
                                        </p:cTn>
                                        <p:tgtEl>
                                          <p:spTgt spid="2602"/>
                                        </p:tgtEl>
                                        <p:attrNameLst>
                                          <p:attrName>style.visibility</p:attrName>
                                        </p:attrNameLst>
                                      </p:cBhvr>
                                      <p:to>
                                        <p:strVal val="visible"/>
                                      </p:to>
                                    </p:set>
                                    <p:anim calcmode="lin" valueType="num">
                                      <p:cBhvr additive="base">
                                        <p:cTn id="12" dur="1000" fill="hold"/>
                                        <p:tgtEl>
                                          <p:spTgt spid="2602"/>
                                        </p:tgtEl>
                                        <p:attrNameLst>
                                          <p:attrName>ppt_x</p:attrName>
                                        </p:attrNameLst>
                                      </p:cBhvr>
                                      <p:tavLst>
                                        <p:tav tm="0">
                                          <p:val>
                                            <p:strVal val="#ppt_x-.2"/>
                                          </p:val>
                                        </p:tav>
                                        <p:tav tm="100000">
                                          <p:val>
                                            <p:strVal val="#ppt_x"/>
                                          </p:val>
                                        </p:tav>
                                      </p:tavLst>
                                    </p:anim>
                                    <p:anim calcmode="lin" valueType="num">
                                      <p:cBhvr additive="base">
                                        <p:cTn id="13" dur="1000" fill="hold"/>
                                        <p:tgtEl>
                                          <p:spTgt spid="2602"/>
                                        </p:tgtEl>
                                        <p:attrNameLst>
                                          <p:attrName>ppt_y</p:attrName>
                                        </p:attrNameLst>
                                      </p:cBhvr>
                                      <p:tavLst>
                                        <p:tav tm="0">
                                          <p:val>
                                            <p:strVal val="#ppt_y"/>
                                          </p:val>
                                        </p:tav>
                                        <p:tav tm="100000">
                                          <p:val>
                                            <p:strVal val="#ppt_y"/>
                                          </p:val>
                                        </p:tav>
                                      </p:tavLst>
                                    </p:anim>
                                    <p:animEffect transition="in" filter="wipe(right)">
                                      <p:cBhvr additive="base">
                                        <p:cTn id="14" dur="1000"/>
                                        <p:tgtEl>
                                          <p:spTgt spid="2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2"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83</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07" name="标题 2606"/>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608" name="文本占位符 2607"/>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信息率失真函数曲线图说明</a:t>
            </a:r>
          </a:p>
        </p:txBody>
      </p:sp>
      <p:pic>
        <p:nvPicPr>
          <p:cNvPr id="2609" name="图片 2608"/>
          <p:cNvPicPr>
            <a:picLocks noChangeAspect="1"/>
          </p:cNvPicPr>
          <p:nvPr/>
        </p:nvPicPr>
        <p:blipFill>
          <a:blip r:embed="rId2"/>
          <a:stretch>
            <a:fillRect/>
          </a:stretch>
        </p:blipFill>
        <p:spPr>
          <a:xfrm>
            <a:off x="4257675" y="1833563"/>
            <a:ext cx="4303713" cy="4332287"/>
          </a:xfrm>
          <a:prstGeom prst="rect">
            <a:avLst/>
          </a:prstGeom>
          <a:noFill/>
          <a:ln w="9525">
            <a:noFill/>
          </a:ln>
        </p:spPr>
      </p:pic>
      <p:sp>
        <p:nvSpPr>
          <p:cNvPr id="2610" name="矩形 2609"/>
          <p:cNvSpPr/>
          <p:nvPr/>
        </p:nvSpPr>
        <p:spPr>
          <a:xfrm>
            <a:off x="900113" y="1700213"/>
            <a:ext cx="3276600" cy="4362450"/>
          </a:xfrm>
          <a:prstGeom prst="rect">
            <a:avLst/>
          </a:prstGeom>
          <a:noFill/>
          <a:ln w="12700">
            <a:noFill/>
          </a:ln>
        </p:spPr>
        <p:txBody>
          <a:bodyPr>
            <a:spAutoFit/>
          </a:bodyPr>
          <a:lstStyle/>
          <a:p>
            <a:pPr marL="357505" indent="-357505" eaLnBrk="0" hangingPunct="0">
              <a:lnSpc>
                <a:spcPct val="140000"/>
              </a:lnSpc>
              <a:spcBef>
                <a:spcPct val="20000"/>
              </a:spcBef>
              <a:buClr>
                <a:srgbClr val="660033"/>
              </a:buClr>
              <a:buSzPct val="90000"/>
              <a:buFont typeface="Wingdings" panose="05000000000000000000" pitchFamily="2" charset="2"/>
              <a:buChar char="ÿ"/>
            </a:pPr>
            <a:r>
              <a:rPr lang="zh-CN" altLang="en-US" sz="2000" b="1">
                <a:latin typeface="Times New Roman" panose="02020603050405020304" pitchFamily="18" charset="0"/>
                <a:ea typeface="MingLiU_HKSCS-ExtB" panose="02020500000000000000" charset="-120"/>
              </a:rPr>
              <a:t>当</a:t>
            </a:r>
            <a:r>
              <a:rPr lang="zh-CN" altLang="en-US" sz="2000" b="1">
                <a:solidFill>
                  <a:srgbClr val="FF0000"/>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D </a:t>
            </a:r>
            <a:r>
              <a:rPr lang="zh-CN" altLang="en-US" sz="2000" b="1">
                <a:latin typeface="Times New Roman" panose="02020603050405020304" pitchFamily="18" charset="0"/>
                <a:ea typeface="MingLiU_HKSCS-ExtB" panose="02020500000000000000" charset="-120"/>
              </a:rPr>
              <a:t>相同时，信源越趋于等概率分布，</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R</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就越大。由最大离散熵定理，信源越趋于等概率分布，其熵越大，即不确定性越大，要去除这不确定性所需的信息传输率就越大，而</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R</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正是去除信源不确定性所必须的信息传输率。</a:t>
            </a:r>
          </a:p>
        </p:txBody>
      </p:sp>
      <p:sp>
        <p:nvSpPr>
          <p:cNvPr id="2611" name="矩形 2610"/>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609"/>
                                        </p:tgtEl>
                                        <p:attrNameLst>
                                          <p:attrName>style.visibility</p:attrName>
                                        </p:attrNameLst>
                                      </p:cBhvr>
                                      <p:to>
                                        <p:strVal val="visible"/>
                                      </p:to>
                                    </p:set>
                                    <p:anim calcmode="lin" valueType="num">
                                      <p:cBhvr additive="base">
                                        <p:cTn id="7" dur="1000" fill="hold"/>
                                        <p:tgtEl>
                                          <p:spTgt spid="2609"/>
                                        </p:tgtEl>
                                        <p:attrNameLst>
                                          <p:attrName>ppt_x</p:attrName>
                                        </p:attrNameLst>
                                      </p:cBhvr>
                                      <p:tavLst>
                                        <p:tav tm="0">
                                          <p:val>
                                            <p:strVal val="#ppt_x-.2"/>
                                          </p:val>
                                        </p:tav>
                                        <p:tav tm="100000">
                                          <p:val>
                                            <p:strVal val="#ppt_x"/>
                                          </p:val>
                                        </p:tav>
                                      </p:tavLst>
                                    </p:anim>
                                    <p:anim calcmode="lin" valueType="num">
                                      <p:cBhvr additive="base">
                                        <p:cTn id="8" dur="1000" fill="hold"/>
                                        <p:tgtEl>
                                          <p:spTgt spid="2609"/>
                                        </p:tgtEl>
                                        <p:attrNameLst>
                                          <p:attrName>ppt_y</p:attrName>
                                        </p:attrNameLst>
                                      </p:cBhvr>
                                      <p:tavLst>
                                        <p:tav tm="0">
                                          <p:val>
                                            <p:strVal val="#ppt_y"/>
                                          </p:val>
                                        </p:tav>
                                        <p:tav tm="100000">
                                          <p:val>
                                            <p:strVal val="#ppt_y"/>
                                          </p:val>
                                        </p:tav>
                                      </p:tavLst>
                                    </p:anim>
                                    <p:animEffect transition="in" filter="wipe(right)">
                                      <p:cBhvr additive="base">
                                        <p:cTn id="9" dur="1000"/>
                                        <p:tgtEl>
                                          <p:spTgt spid="2609"/>
                                        </p:tgtEl>
                                      </p:cBhvr>
                                    </p:animEffect>
                                  </p:childTnLst>
                                </p:cTn>
                              </p:par>
                              <p:par>
                                <p:cTn id="10" presetID="29" presetClass="entr" presetSubtype="0" fill="hold" grpId="0" nodeType="withEffect">
                                  <p:childTnLst>
                                    <p:set>
                                      <p:cBhvr additive="base">
                                        <p:cTn id="11" dur="1" fill="hold">
                                          <p:stCondLst>
                                            <p:cond delay="0"/>
                                          </p:stCondLst>
                                        </p:cTn>
                                        <p:tgtEl>
                                          <p:spTgt spid="2610"/>
                                        </p:tgtEl>
                                        <p:attrNameLst>
                                          <p:attrName>style.visibility</p:attrName>
                                        </p:attrNameLst>
                                      </p:cBhvr>
                                      <p:to>
                                        <p:strVal val="visible"/>
                                      </p:to>
                                    </p:set>
                                    <p:anim calcmode="lin" valueType="num">
                                      <p:cBhvr additive="base">
                                        <p:cTn id="12" dur="1000" fill="hold"/>
                                        <p:tgtEl>
                                          <p:spTgt spid="2610"/>
                                        </p:tgtEl>
                                        <p:attrNameLst>
                                          <p:attrName>ppt_x</p:attrName>
                                        </p:attrNameLst>
                                      </p:cBhvr>
                                      <p:tavLst>
                                        <p:tav tm="0">
                                          <p:val>
                                            <p:strVal val="#ppt_x-.2"/>
                                          </p:val>
                                        </p:tav>
                                        <p:tav tm="100000">
                                          <p:val>
                                            <p:strVal val="#ppt_x"/>
                                          </p:val>
                                        </p:tav>
                                      </p:tavLst>
                                    </p:anim>
                                    <p:anim calcmode="lin" valueType="num">
                                      <p:cBhvr additive="base">
                                        <p:cTn id="13" dur="1000" fill="hold"/>
                                        <p:tgtEl>
                                          <p:spTgt spid="2610"/>
                                        </p:tgtEl>
                                        <p:attrNameLst>
                                          <p:attrName>ppt_y</p:attrName>
                                        </p:attrNameLst>
                                      </p:cBhvr>
                                      <p:tavLst>
                                        <p:tav tm="0">
                                          <p:val>
                                            <p:strVal val="#ppt_y"/>
                                          </p:val>
                                        </p:tav>
                                        <p:tav tm="100000">
                                          <p:val>
                                            <p:strVal val="#ppt_y"/>
                                          </p:val>
                                        </p:tav>
                                      </p:tavLst>
                                    </p:anim>
                                    <p:animEffect transition="in" filter="wipe(right)">
                                      <p:cBhvr additive="base">
                                        <p:cTn id="14" dur="1000"/>
                                        <p:tgtEl>
                                          <p:spTgt spid="2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84</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14" name="标题 2613"/>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615" name="文本占位符 2614"/>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信息率失真函数曲线图说明</a:t>
            </a:r>
          </a:p>
        </p:txBody>
      </p:sp>
      <p:pic>
        <p:nvPicPr>
          <p:cNvPr id="2616" name="图片 2615"/>
          <p:cNvPicPr>
            <a:picLocks noChangeAspect="1"/>
          </p:cNvPicPr>
          <p:nvPr/>
        </p:nvPicPr>
        <p:blipFill>
          <a:blip r:embed="rId2"/>
          <a:stretch>
            <a:fillRect/>
          </a:stretch>
        </p:blipFill>
        <p:spPr>
          <a:xfrm>
            <a:off x="4587875" y="1700213"/>
            <a:ext cx="4303713" cy="4332287"/>
          </a:xfrm>
          <a:prstGeom prst="rect">
            <a:avLst/>
          </a:prstGeom>
          <a:noFill/>
          <a:ln w="9525">
            <a:noFill/>
          </a:ln>
        </p:spPr>
      </p:pic>
      <p:sp>
        <p:nvSpPr>
          <p:cNvPr id="2617" name="矩形 2616"/>
          <p:cNvSpPr/>
          <p:nvPr/>
        </p:nvSpPr>
        <p:spPr>
          <a:xfrm>
            <a:off x="971550" y="1700213"/>
            <a:ext cx="3603625" cy="2287587"/>
          </a:xfrm>
          <a:prstGeom prst="rect">
            <a:avLst/>
          </a:prstGeom>
          <a:noFill/>
          <a:ln w="12700">
            <a:noFill/>
          </a:ln>
        </p:spPr>
        <p:txBody>
          <a:bodyPr>
            <a:spAutoFit/>
          </a:bodyPr>
          <a:lstStyle/>
          <a:p>
            <a:pPr eaLnBrk="0" hangingPunct="0">
              <a:lnSpc>
                <a:spcPct val="140000"/>
              </a:lnSpc>
              <a:spcBef>
                <a:spcPct val="20000"/>
              </a:spcBef>
              <a:buClr>
                <a:srgbClr val="660033"/>
              </a:buClr>
              <a:buSzPct val="90000"/>
              <a:buFont typeface="Wingdings" panose="05000000000000000000" pitchFamily="2" charset="2"/>
              <a:buChar char="ÿ"/>
            </a:pPr>
            <a:r>
              <a:rPr lang="en-US" altLang="zh-CN" sz="2000" b="1">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关于 </a:t>
            </a:r>
            <a:r>
              <a:rPr lang="en-US" altLang="zh-CN" sz="2000" b="1" i="1">
                <a:solidFill>
                  <a:srgbClr val="0000CC"/>
                </a:solidFill>
                <a:latin typeface="Times New Roman" panose="02020603050405020304" pitchFamily="18" charset="0"/>
                <a:ea typeface="MingLiU_HKSCS-ExtB" panose="02020500000000000000" charset="-120"/>
              </a:rPr>
              <a:t>S</a:t>
            </a:r>
            <a:r>
              <a:rPr lang="en-US" altLang="zh-CN" sz="2000" b="1">
                <a:solidFill>
                  <a:srgbClr val="0000CC"/>
                </a:solidFill>
                <a:latin typeface="Times New Roman" panose="02020603050405020304" pitchFamily="18" charset="0"/>
                <a:ea typeface="MingLiU_HKSCS-ExtB" panose="02020500000000000000" charset="-120"/>
              </a:rPr>
              <a:t>(</a:t>
            </a:r>
            <a:r>
              <a:rPr lang="en-US" altLang="zh-CN" sz="2000" b="1" i="1">
                <a:solidFill>
                  <a:srgbClr val="0000CC"/>
                </a:solidFill>
                <a:latin typeface="Times New Roman" panose="02020603050405020304" pitchFamily="18" charset="0"/>
                <a:ea typeface="MingLiU_HKSCS-ExtB" panose="02020500000000000000" charset="-120"/>
              </a:rPr>
              <a:t>D</a:t>
            </a:r>
            <a:r>
              <a:rPr lang="en-US" altLang="zh-CN" sz="2000" b="1">
                <a:solidFill>
                  <a:srgbClr val="0000CC"/>
                </a:solidFill>
                <a:latin typeface="Times New Roman" panose="02020603050405020304" pitchFamily="18" charset="0"/>
                <a:ea typeface="MingLiU_HKSCS-ExtB" panose="02020500000000000000" charset="-120"/>
              </a:rPr>
              <a:t>)</a:t>
            </a:r>
          </a:p>
          <a:p>
            <a:pPr marL="365125" lvl="1" indent="0" eaLnBrk="0" hangingPunct="0">
              <a:lnSpc>
                <a:spcPct val="140000"/>
              </a:lnSpc>
              <a:spcBef>
                <a:spcPct val="20000"/>
              </a:spcBef>
              <a:buClr>
                <a:srgbClr val="660033"/>
              </a:buClr>
              <a:buSzPct val="90000"/>
              <a:buFont typeface="Wingdings" panose="05000000000000000000" pitchFamily="2" charset="2"/>
              <a:buChar char="q"/>
            </a:pPr>
            <a:r>
              <a:rPr lang="en-US" altLang="zh-CN" sz="2000" b="1">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它与</a:t>
            </a:r>
            <a:r>
              <a:rPr lang="zh-CN" altLang="en-US" sz="2000" b="1">
                <a:solidFill>
                  <a:srgbClr val="FF0000"/>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p </a:t>
            </a:r>
            <a:r>
              <a:rPr lang="zh-CN" altLang="en-US" sz="2000" b="1">
                <a:latin typeface="Times New Roman" panose="02020603050405020304" pitchFamily="18" charset="0"/>
                <a:ea typeface="MingLiU_HKSCS-ExtB" panose="02020500000000000000" charset="-120"/>
              </a:rPr>
              <a:t>无直接关系，</a:t>
            </a:r>
            <a:r>
              <a:rPr lang="en-US" altLang="zh-CN" sz="2000" b="1" i="1">
                <a:solidFill>
                  <a:srgbClr val="FF0000"/>
                </a:solidFill>
                <a:latin typeface="Times New Roman" panose="02020603050405020304" pitchFamily="18" charset="0"/>
                <a:ea typeface="MingLiU_HKSCS-ExtB" panose="02020500000000000000" charset="-120"/>
              </a:rPr>
              <a:t>S</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曲线只有一条，</a:t>
            </a:r>
            <a:r>
              <a:rPr lang="en-US" altLang="zh-CN" sz="2000" b="1" i="1">
                <a:solidFill>
                  <a:srgbClr val="FF0000"/>
                </a:solidFill>
                <a:latin typeface="Times New Roman" panose="02020603050405020304" pitchFamily="18" charset="0"/>
                <a:ea typeface="MingLiU_HKSCS-ExtB" panose="02020500000000000000" charset="-120"/>
              </a:rPr>
              <a:t>p</a:t>
            </a:r>
            <a:r>
              <a:rPr lang="en-US" altLang="zh-CN" sz="2000" b="1">
                <a:solidFill>
                  <a:srgbClr val="FF0000"/>
                </a:solidFill>
                <a:latin typeface="Times New Roman" panose="02020603050405020304" pitchFamily="18" charset="0"/>
                <a:ea typeface="MingLiU_HKSCS-ExtB" panose="02020500000000000000" charset="-120"/>
              </a:rPr>
              <a:t>=0.5</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和</a:t>
            </a:r>
            <a:r>
              <a:rPr lang="zh-CN" altLang="en-US" sz="2000" b="1">
                <a:solidFill>
                  <a:srgbClr val="FF0000"/>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p</a:t>
            </a:r>
            <a:r>
              <a:rPr lang="en-US" altLang="zh-CN" sz="2000" b="1">
                <a:solidFill>
                  <a:srgbClr val="FF0000"/>
                </a:solidFill>
                <a:latin typeface="Times New Roman" panose="02020603050405020304" pitchFamily="18" charset="0"/>
                <a:ea typeface="MingLiU_HKSCS-ExtB" panose="02020500000000000000" charset="-120"/>
              </a:rPr>
              <a:t>=0.25</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都可以用，但它们的定义域不同；</a:t>
            </a:r>
          </a:p>
        </p:txBody>
      </p:sp>
      <p:sp>
        <p:nvSpPr>
          <p:cNvPr id="2618" name="矩形 2617"/>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616"/>
                                        </p:tgtEl>
                                        <p:attrNameLst>
                                          <p:attrName>style.visibility</p:attrName>
                                        </p:attrNameLst>
                                      </p:cBhvr>
                                      <p:to>
                                        <p:strVal val="visible"/>
                                      </p:to>
                                    </p:set>
                                    <p:anim calcmode="lin" valueType="num">
                                      <p:cBhvr additive="base">
                                        <p:cTn id="7" dur="1000" fill="hold"/>
                                        <p:tgtEl>
                                          <p:spTgt spid="2616"/>
                                        </p:tgtEl>
                                        <p:attrNameLst>
                                          <p:attrName>ppt_x</p:attrName>
                                        </p:attrNameLst>
                                      </p:cBhvr>
                                      <p:tavLst>
                                        <p:tav tm="0">
                                          <p:val>
                                            <p:strVal val="#ppt_x-.2"/>
                                          </p:val>
                                        </p:tav>
                                        <p:tav tm="100000">
                                          <p:val>
                                            <p:strVal val="#ppt_x"/>
                                          </p:val>
                                        </p:tav>
                                      </p:tavLst>
                                    </p:anim>
                                    <p:anim calcmode="lin" valueType="num">
                                      <p:cBhvr additive="base">
                                        <p:cTn id="8" dur="1000" fill="hold"/>
                                        <p:tgtEl>
                                          <p:spTgt spid="2616"/>
                                        </p:tgtEl>
                                        <p:attrNameLst>
                                          <p:attrName>ppt_y</p:attrName>
                                        </p:attrNameLst>
                                      </p:cBhvr>
                                      <p:tavLst>
                                        <p:tav tm="0">
                                          <p:val>
                                            <p:strVal val="#ppt_y"/>
                                          </p:val>
                                        </p:tav>
                                        <p:tav tm="100000">
                                          <p:val>
                                            <p:strVal val="#ppt_y"/>
                                          </p:val>
                                        </p:tav>
                                      </p:tavLst>
                                    </p:anim>
                                    <p:animEffect transition="in" filter="wipe(right)">
                                      <p:cBhvr additive="base">
                                        <p:cTn id="9" dur="1000"/>
                                        <p:tgtEl>
                                          <p:spTgt spid="2616"/>
                                        </p:tgtEl>
                                      </p:cBhvr>
                                    </p:animEffect>
                                  </p:childTnLst>
                                </p:cTn>
                              </p:par>
                              <p:par>
                                <p:cTn id="10" presetID="29" presetClass="entr" presetSubtype="0" fill="hold" grpId="0" nodeType="withEffect">
                                  <p:childTnLst>
                                    <p:set>
                                      <p:cBhvr additive="base">
                                        <p:cTn id="11" dur="1" fill="hold">
                                          <p:stCondLst>
                                            <p:cond delay="0"/>
                                          </p:stCondLst>
                                        </p:cTn>
                                        <p:tgtEl>
                                          <p:spTgt spid="2617"/>
                                        </p:tgtEl>
                                        <p:attrNameLst>
                                          <p:attrName>style.visibility</p:attrName>
                                        </p:attrNameLst>
                                      </p:cBhvr>
                                      <p:to>
                                        <p:strVal val="visible"/>
                                      </p:to>
                                    </p:set>
                                    <p:anim calcmode="lin" valueType="num">
                                      <p:cBhvr additive="base">
                                        <p:cTn id="12" dur="1000" fill="hold"/>
                                        <p:tgtEl>
                                          <p:spTgt spid="2617"/>
                                        </p:tgtEl>
                                        <p:attrNameLst>
                                          <p:attrName>ppt_x</p:attrName>
                                        </p:attrNameLst>
                                      </p:cBhvr>
                                      <p:tavLst>
                                        <p:tav tm="0">
                                          <p:val>
                                            <p:strVal val="#ppt_x-.2"/>
                                          </p:val>
                                        </p:tav>
                                        <p:tav tm="100000">
                                          <p:val>
                                            <p:strVal val="#ppt_x"/>
                                          </p:val>
                                        </p:tav>
                                      </p:tavLst>
                                    </p:anim>
                                    <p:anim calcmode="lin" valueType="num">
                                      <p:cBhvr additive="base">
                                        <p:cTn id="13" dur="1000" fill="hold"/>
                                        <p:tgtEl>
                                          <p:spTgt spid="2617"/>
                                        </p:tgtEl>
                                        <p:attrNameLst>
                                          <p:attrName>ppt_y</p:attrName>
                                        </p:attrNameLst>
                                      </p:cBhvr>
                                      <p:tavLst>
                                        <p:tav tm="0">
                                          <p:val>
                                            <p:strVal val="#ppt_y"/>
                                          </p:val>
                                        </p:tav>
                                        <p:tav tm="100000">
                                          <p:val>
                                            <p:strVal val="#ppt_y"/>
                                          </p:val>
                                        </p:tav>
                                      </p:tavLst>
                                    </p:anim>
                                    <p:animEffect transition="in" filter="wipe(right)">
                                      <p:cBhvr additive="base">
                                        <p:cTn id="14" dur="1000"/>
                                        <p:tgtEl>
                                          <p:spTgt spid="2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85</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21" name="标题 2620"/>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622" name="文本占位符 2621"/>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信息率失真函数曲线图说明</a:t>
            </a:r>
          </a:p>
        </p:txBody>
      </p:sp>
      <p:pic>
        <p:nvPicPr>
          <p:cNvPr id="2623" name="图片 2622"/>
          <p:cNvPicPr>
            <a:picLocks noChangeAspect="1"/>
          </p:cNvPicPr>
          <p:nvPr/>
        </p:nvPicPr>
        <p:blipFill>
          <a:blip r:embed="rId2"/>
          <a:stretch>
            <a:fillRect/>
          </a:stretch>
        </p:blipFill>
        <p:spPr>
          <a:xfrm>
            <a:off x="4587875" y="1833563"/>
            <a:ext cx="4303713" cy="4332287"/>
          </a:xfrm>
          <a:prstGeom prst="rect">
            <a:avLst/>
          </a:prstGeom>
          <a:noFill/>
          <a:ln w="9525">
            <a:noFill/>
          </a:ln>
        </p:spPr>
      </p:pic>
      <p:sp>
        <p:nvSpPr>
          <p:cNvPr id="2624" name="矩形 2623"/>
          <p:cNvSpPr/>
          <p:nvPr/>
        </p:nvSpPr>
        <p:spPr>
          <a:xfrm>
            <a:off x="1114425" y="1700213"/>
            <a:ext cx="3327400" cy="3143250"/>
          </a:xfrm>
          <a:prstGeom prst="rect">
            <a:avLst/>
          </a:prstGeom>
          <a:noFill/>
          <a:ln w="12700">
            <a:noFill/>
          </a:ln>
        </p:spPr>
        <p:txBody>
          <a:bodyPr>
            <a:spAutoFit/>
          </a:bodyPr>
          <a:lstStyle/>
          <a:p>
            <a:pPr eaLnBrk="0" hangingPunct="0">
              <a:lnSpc>
                <a:spcPct val="140000"/>
              </a:lnSpc>
              <a:spcBef>
                <a:spcPct val="20000"/>
              </a:spcBef>
              <a:buClr>
                <a:srgbClr val="660033"/>
              </a:buClr>
              <a:buSzPct val="90000"/>
              <a:buFont typeface="Wingdings" panose="05000000000000000000" pitchFamily="2" charset="2"/>
              <a:buChar char="ÿ"/>
            </a:pPr>
            <a:r>
              <a:rPr lang="en-US" altLang="zh-CN" sz="2000" b="1">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关于 </a:t>
            </a:r>
            <a:r>
              <a:rPr lang="en-US" altLang="zh-CN" sz="2000" b="1" i="1">
                <a:solidFill>
                  <a:srgbClr val="0000CC"/>
                </a:solidFill>
                <a:latin typeface="Times New Roman" panose="02020603050405020304" pitchFamily="18" charset="0"/>
                <a:ea typeface="MingLiU_HKSCS-ExtB" panose="02020500000000000000" charset="-120"/>
              </a:rPr>
              <a:t>S</a:t>
            </a:r>
            <a:r>
              <a:rPr lang="en-US" altLang="zh-CN" sz="2000" b="1">
                <a:solidFill>
                  <a:srgbClr val="0000CC"/>
                </a:solidFill>
                <a:latin typeface="Times New Roman" panose="02020603050405020304" pitchFamily="18" charset="0"/>
                <a:ea typeface="MingLiU_HKSCS-ExtB" panose="02020500000000000000" charset="-120"/>
              </a:rPr>
              <a:t>(</a:t>
            </a:r>
            <a:r>
              <a:rPr lang="en-US" altLang="zh-CN" sz="2000" b="1" i="1">
                <a:solidFill>
                  <a:srgbClr val="0000CC"/>
                </a:solidFill>
                <a:latin typeface="Times New Roman" panose="02020603050405020304" pitchFamily="18" charset="0"/>
                <a:ea typeface="MingLiU_HKSCS-ExtB" panose="02020500000000000000" charset="-120"/>
              </a:rPr>
              <a:t>D</a:t>
            </a:r>
            <a:r>
              <a:rPr lang="en-US" altLang="zh-CN" sz="2000" b="1">
                <a:solidFill>
                  <a:srgbClr val="0000CC"/>
                </a:solidFill>
                <a:latin typeface="Times New Roman" panose="02020603050405020304" pitchFamily="18" charset="0"/>
                <a:ea typeface="MingLiU_HKSCS-ExtB" panose="02020500000000000000" charset="-120"/>
              </a:rPr>
              <a:t>)</a:t>
            </a:r>
          </a:p>
          <a:p>
            <a:pPr marL="365125" lvl="1" indent="0" eaLnBrk="0" hangingPunct="0">
              <a:lnSpc>
                <a:spcPct val="140000"/>
              </a:lnSpc>
              <a:spcBef>
                <a:spcPct val="20000"/>
              </a:spcBef>
              <a:buClr>
                <a:srgbClr val="660033"/>
              </a:buClr>
              <a:buSzPct val="90000"/>
              <a:buFont typeface="Wingdings" panose="05000000000000000000" pitchFamily="2" charset="2"/>
              <a:buChar char="q"/>
            </a:pPr>
            <a:r>
              <a:rPr lang="en-US" altLang="zh-CN" sz="2000" b="1" i="1">
                <a:solidFill>
                  <a:srgbClr val="FF0000"/>
                </a:solidFill>
                <a:latin typeface="Times New Roman" panose="02020603050405020304" pitchFamily="18" charset="0"/>
                <a:ea typeface="MingLiU_HKSCS-ExtB" panose="02020500000000000000" charset="-120"/>
              </a:rPr>
              <a:t>  p</a:t>
            </a:r>
            <a:r>
              <a:rPr lang="en-US" altLang="zh-CN" sz="2000" b="1">
                <a:solidFill>
                  <a:srgbClr val="FF0000"/>
                </a:solidFill>
                <a:latin typeface="Times New Roman" panose="02020603050405020304" pitchFamily="18" charset="0"/>
                <a:ea typeface="MingLiU_HKSCS-ExtB" panose="02020500000000000000" charset="-120"/>
              </a:rPr>
              <a:t>=0.25</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时定义域是</a:t>
            </a:r>
            <a:r>
              <a:rPr lang="zh-CN" altLang="en-US" sz="2000" b="1">
                <a:solidFill>
                  <a:srgbClr val="FF0000"/>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=0~0.25</a:t>
            </a:r>
            <a:r>
              <a:rPr lang="zh-CN" altLang="en-US" sz="2000" b="1">
                <a:latin typeface="Times New Roman" panose="02020603050405020304" pitchFamily="18" charset="0"/>
                <a:ea typeface="MingLiU_HKSCS-ExtB" panose="02020500000000000000" charset="-120"/>
              </a:rPr>
              <a:t>，即到</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A</a:t>
            </a:r>
            <a:r>
              <a:rPr lang="en-US" altLang="zh-CN" sz="2000" b="1" i="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点为止，此时</a:t>
            </a:r>
            <a:r>
              <a:rPr lang="en-US" altLang="zh-CN" sz="2000" b="1" i="1">
                <a:solidFill>
                  <a:srgbClr val="FF0000"/>
                </a:solidFill>
                <a:latin typeface="Times New Roman" panose="02020603050405020304" pitchFamily="18" charset="0"/>
                <a:ea typeface="MingLiU_HKSCS-ExtB" panose="02020500000000000000" charset="-120"/>
              </a:rPr>
              <a:t>S</a:t>
            </a:r>
            <a:r>
              <a:rPr lang="en-US" altLang="zh-CN" sz="2000" b="1" baseline="-25000">
                <a:solidFill>
                  <a:srgbClr val="FF0000"/>
                </a:solidFill>
                <a:latin typeface="Times New Roman" panose="02020603050405020304" pitchFamily="18" charset="0"/>
                <a:ea typeface="MingLiU_HKSCS-ExtB" panose="02020500000000000000" charset="-120"/>
              </a:rPr>
              <a:t>max</a:t>
            </a:r>
            <a:r>
              <a:rPr lang="en-US" altLang="zh-CN" sz="2000" b="1">
                <a:solidFill>
                  <a:srgbClr val="FF0000"/>
                </a:solidFill>
                <a:latin typeface="Times New Roman" panose="02020603050405020304" pitchFamily="18" charset="0"/>
                <a:ea typeface="MingLiU_HKSCS-ExtB" panose="02020500000000000000" charset="-120"/>
              </a:rPr>
              <a:t>=</a:t>
            </a:r>
            <a:r>
              <a:rPr lang="zh-CN" altLang="en-US" sz="2000" b="1">
                <a:solidFill>
                  <a:srgbClr val="FF0000"/>
                </a:solidFill>
                <a:latin typeface="Times New Roman" panose="02020603050405020304" pitchFamily="18" charset="0"/>
                <a:ea typeface="MingLiU_HKSCS-ExtB" panose="02020500000000000000" charset="-120"/>
              </a:rPr>
              <a:t>－</a:t>
            </a:r>
            <a:r>
              <a:rPr lang="en-US" altLang="zh-CN" sz="2000" b="1">
                <a:solidFill>
                  <a:srgbClr val="FF0000"/>
                </a:solidFill>
                <a:latin typeface="Times New Roman" panose="02020603050405020304" pitchFamily="18" charset="0"/>
                <a:ea typeface="MingLiU_HKSCS-ExtB" panose="02020500000000000000" charset="-120"/>
              </a:rPr>
              <a:t>1.59</a:t>
            </a:r>
            <a:r>
              <a:rPr lang="zh-CN" altLang="en-US" sz="2000" b="1">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&gt;0.25</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时，</a:t>
            </a:r>
            <a:r>
              <a:rPr lang="en-US" altLang="zh-CN" sz="2000" b="1" i="1">
                <a:solidFill>
                  <a:srgbClr val="FF0000"/>
                </a:solidFill>
                <a:latin typeface="Times New Roman" panose="02020603050405020304" pitchFamily="18" charset="0"/>
                <a:ea typeface="MingLiU_HKSCS-ExtB" panose="02020500000000000000" charset="-120"/>
              </a:rPr>
              <a:t>S</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就恒为</a:t>
            </a:r>
            <a:r>
              <a:rPr lang="zh-CN" altLang="en-US" sz="2000" b="1">
                <a:solidFill>
                  <a:srgbClr val="FF0000"/>
                </a:solidFill>
                <a:latin typeface="Times New Roman" panose="02020603050405020304" pitchFamily="18" charset="0"/>
                <a:ea typeface="MingLiU_HKSCS-ExtB" panose="02020500000000000000" charset="-120"/>
              </a:rPr>
              <a:t> </a:t>
            </a:r>
            <a:r>
              <a:rPr lang="en-US" altLang="zh-CN" sz="2000" b="1">
                <a:solidFill>
                  <a:srgbClr val="FF0000"/>
                </a:solidFill>
                <a:latin typeface="Times New Roman" panose="02020603050405020304" pitchFamily="18" charset="0"/>
                <a:ea typeface="MingLiU_HKSCS-ExtB" panose="02020500000000000000" charset="-120"/>
              </a:rPr>
              <a:t>0 </a:t>
            </a:r>
            <a:r>
              <a:rPr lang="zh-CN" altLang="en-US" sz="2000" b="1">
                <a:latin typeface="Times New Roman" panose="02020603050405020304" pitchFamily="18" charset="0"/>
                <a:ea typeface="MingLiU_HKSCS-ExtB" panose="02020500000000000000" charset="-120"/>
              </a:rPr>
              <a:t>了。所以在</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A </a:t>
            </a:r>
            <a:r>
              <a:rPr lang="zh-CN" altLang="en-US" sz="2000" b="1">
                <a:latin typeface="Times New Roman" panose="02020603050405020304" pitchFamily="18" charset="0"/>
                <a:ea typeface="MingLiU_HKSCS-ExtB" panose="02020500000000000000" charset="-120"/>
              </a:rPr>
              <a:t>点</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S</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是不连续的；</a:t>
            </a:r>
          </a:p>
        </p:txBody>
      </p:sp>
      <p:sp>
        <p:nvSpPr>
          <p:cNvPr id="2625" name="矩形 2624"/>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623"/>
                                        </p:tgtEl>
                                        <p:attrNameLst>
                                          <p:attrName>style.visibility</p:attrName>
                                        </p:attrNameLst>
                                      </p:cBhvr>
                                      <p:to>
                                        <p:strVal val="visible"/>
                                      </p:to>
                                    </p:set>
                                    <p:anim calcmode="lin" valueType="num">
                                      <p:cBhvr additive="base">
                                        <p:cTn id="7" dur="1000" fill="hold"/>
                                        <p:tgtEl>
                                          <p:spTgt spid="2623"/>
                                        </p:tgtEl>
                                        <p:attrNameLst>
                                          <p:attrName>ppt_x</p:attrName>
                                        </p:attrNameLst>
                                      </p:cBhvr>
                                      <p:tavLst>
                                        <p:tav tm="0">
                                          <p:val>
                                            <p:strVal val="#ppt_x-.2"/>
                                          </p:val>
                                        </p:tav>
                                        <p:tav tm="100000">
                                          <p:val>
                                            <p:strVal val="#ppt_x"/>
                                          </p:val>
                                        </p:tav>
                                      </p:tavLst>
                                    </p:anim>
                                    <p:anim calcmode="lin" valueType="num">
                                      <p:cBhvr additive="base">
                                        <p:cTn id="8" dur="1000" fill="hold"/>
                                        <p:tgtEl>
                                          <p:spTgt spid="2623"/>
                                        </p:tgtEl>
                                        <p:attrNameLst>
                                          <p:attrName>ppt_y</p:attrName>
                                        </p:attrNameLst>
                                      </p:cBhvr>
                                      <p:tavLst>
                                        <p:tav tm="0">
                                          <p:val>
                                            <p:strVal val="#ppt_y"/>
                                          </p:val>
                                        </p:tav>
                                        <p:tav tm="100000">
                                          <p:val>
                                            <p:strVal val="#ppt_y"/>
                                          </p:val>
                                        </p:tav>
                                      </p:tavLst>
                                    </p:anim>
                                    <p:animEffect transition="in" filter="wipe(right)">
                                      <p:cBhvr additive="base">
                                        <p:cTn id="9" dur="1000"/>
                                        <p:tgtEl>
                                          <p:spTgt spid="2623"/>
                                        </p:tgtEl>
                                      </p:cBhvr>
                                    </p:animEffect>
                                  </p:childTnLst>
                                </p:cTn>
                              </p:par>
                              <p:par>
                                <p:cTn id="10" presetID="29" presetClass="entr" presetSubtype="0" fill="hold" grpId="0" nodeType="withEffect">
                                  <p:childTnLst>
                                    <p:set>
                                      <p:cBhvr additive="base">
                                        <p:cTn id="11" dur="1" fill="hold">
                                          <p:stCondLst>
                                            <p:cond delay="0"/>
                                          </p:stCondLst>
                                        </p:cTn>
                                        <p:tgtEl>
                                          <p:spTgt spid="2624"/>
                                        </p:tgtEl>
                                        <p:attrNameLst>
                                          <p:attrName>style.visibility</p:attrName>
                                        </p:attrNameLst>
                                      </p:cBhvr>
                                      <p:to>
                                        <p:strVal val="visible"/>
                                      </p:to>
                                    </p:set>
                                    <p:anim calcmode="lin" valueType="num">
                                      <p:cBhvr additive="base">
                                        <p:cTn id="12" dur="1000" fill="hold"/>
                                        <p:tgtEl>
                                          <p:spTgt spid="2624"/>
                                        </p:tgtEl>
                                        <p:attrNameLst>
                                          <p:attrName>ppt_x</p:attrName>
                                        </p:attrNameLst>
                                      </p:cBhvr>
                                      <p:tavLst>
                                        <p:tav tm="0">
                                          <p:val>
                                            <p:strVal val="#ppt_x-.2"/>
                                          </p:val>
                                        </p:tav>
                                        <p:tav tm="100000">
                                          <p:val>
                                            <p:strVal val="#ppt_x"/>
                                          </p:val>
                                        </p:tav>
                                      </p:tavLst>
                                    </p:anim>
                                    <p:anim calcmode="lin" valueType="num">
                                      <p:cBhvr additive="base">
                                        <p:cTn id="13" dur="1000" fill="hold"/>
                                        <p:tgtEl>
                                          <p:spTgt spid="2624"/>
                                        </p:tgtEl>
                                        <p:attrNameLst>
                                          <p:attrName>ppt_y</p:attrName>
                                        </p:attrNameLst>
                                      </p:cBhvr>
                                      <p:tavLst>
                                        <p:tav tm="0">
                                          <p:val>
                                            <p:strVal val="#ppt_y"/>
                                          </p:val>
                                        </p:tav>
                                        <p:tav tm="100000">
                                          <p:val>
                                            <p:strVal val="#ppt_y"/>
                                          </p:val>
                                        </p:tav>
                                      </p:tavLst>
                                    </p:anim>
                                    <p:animEffect transition="in" filter="wipe(right)">
                                      <p:cBhvr additive="base">
                                        <p:cTn id="14" dur="1000"/>
                                        <p:tgtEl>
                                          <p:spTgt spid="2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86</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28" name="标题 2627"/>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629" name="文本占位符 2628"/>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信息率失真函数曲线图说明</a:t>
            </a:r>
          </a:p>
        </p:txBody>
      </p:sp>
      <p:pic>
        <p:nvPicPr>
          <p:cNvPr id="2630" name="图片 2629"/>
          <p:cNvPicPr>
            <a:picLocks noChangeAspect="1"/>
          </p:cNvPicPr>
          <p:nvPr/>
        </p:nvPicPr>
        <p:blipFill>
          <a:blip r:embed="rId2"/>
          <a:stretch>
            <a:fillRect/>
          </a:stretch>
        </p:blipFill>
        <p:spPr>
          <a:xfrm>
            <a:off x="4587875" y="1700213"/>
            <a:ext cx="4303713" cy="4332287"/>
          </a:xfrm>
          <a:prstGeom prst="rect">
            <a:avLst/>
          </a:prstGeom>
          <a:noFill/>
          <a:ln w="9525">
            <a:noFill/>
          </a:ln>
        </p:spPr>
      </p:pic>
      <p:sp>
        <p:nvSpPr>
          <p:cNvPr id="2631" name="矩形 2630"/>
          <p:cNvSpPr/>
          <p:nvPr/>
        </p:nvSpPr>
        <p:spPr>
          <a:xfrm>
            <a:off x="1114425" y="1700213"/>
            <a:ext cx="3195638" cy="2716212"/>
          </a:xfrm>
          <a:prstGeom prst="rect">
            <a:avLst/>
          </a:prstGeom>
          <a:noFill/>
          <a:ln w="12700">
            <a:noFill/>
          </a:ln>
        </p:spPr>
        <p:txBody>
          <a:bodyPr>
            <a:spAutoFit/>
          </a:bodyPr>
          <a:lstStyle/>
          <a:p>
            <a:pPr eaLnBrk="0" hangingPunct="0">
              <a:lnSpc>
                <a:spcPct val="140000"/>
              </a:lnSpc>
              <a:spcBef>
                <a:spcPct val="20000"/>
              </a:spcBef>
              <a:buClr>
                <a:srgbClr val="660033"/>
              </a:buClr>
              <a:buSzPct val="90000"/>
              <a:buFont typeface="Wingdings" panose="05000000000000000000" pitchFamily="2" charset="2"/>
              <a:buChar char="ÿ"/>
            </a:pPr>
            <a:r>
              <a:rPr lang="en-US" altLang="zh-CN" sz="2000" b="1">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关于 </a:t>
            </a:r>
            <a:r>
              <a:rPr lang="en-US" altLang="zh-CN" sz="2000" b="1" i="1">
                <a:solidFill>
                  <a:srgbClr val="0000CC"/>
                </a:solidFill>
                <a:latin typeface="Times New Roman" panose="02020603050405020304" pitchFamily="18" charset="0"/>
                <a:ea typeface="MingLiU_HKSCS-ExtB" panose="02020500000000000000" charset="-120"/>
              </a:rPr>
              <a:t>S</a:t>
            </a:r>
            <a:r>
              <a:rPr lang="en-US" altLang="zh-CN" sz="2000" b="1">
                <a:solidFill>
                  <a:srgbClr val="0000CC"/>
                </a:solidFill>
                <a:latin typeface="Times New Roman" panose="02020603050405020304" pitchFamily="18" charset="0"/>
                <a:ea typeface="MingLiU_HKSCS-ExtB" panose="02020500000000000000" charset="-120"/>
              </a:rPr>
              <a:t>(</a:t>
            </a:r>
            <a:r>
              <a:rPr lang="en-US" altLang="zh-CN" sz="2000" b="1" i="1">
                <a:solidFill>
                  <a:srgbClr val="0000CC"/>
                </a:solidFill>
                <a:latin typeface="Times New Roman" panose="02020603050405020304" pitchFamily="18" charset="0"/>
                <a:ea typeface="MingLiU_HKSCS-ExtB" panose="02020500000000000000" charset="-120"/>
              </a:rPr>
              <a:t>D</a:t>
            </a:r>
            <a:r>
              <a:rPr lang="en-US" altLang="zh-CN" sz="2000" b="1">
                <a:solidFill>
                  <a:srgbClr val="0000CC"/>
                </a:solidFill>
                <a:latin typeface="Times New Roman" panose="02020603050405020304" pitchFamily="18" charset="0"/>
                <a:ea typeface="MingLiU_HKSCS-ExtB" panose="02020500000000000000" charset="-120"/>
              </a:rPr>
              <a:t>)</a:t>
            </a:r>
          </a:p>
          <a:p>
            <a:pPr marL="365125" lvl="1" indent="0" eaLnBrk="0" hangingPunct="0">
              <a:lnSpc>
                <a:spcPct val="140000"/>
              </a:lnSpc>
              <a:spcBef>
                <a:spcPct val="20000"/>
              </a:spcBef>
              <a:buClr>
                <a:srgbClr val="660033"/>
              </a:buClr>
              <a:buSzPct val="90000"/>
              <a:buFont typeface="Wingdings" panose="05000000000000000000" pitchFamily="2" charset="2"/>
              <a:buChar char="q"/>
            </a:pPr>
            <a:r>
              <a:rPr lang="en-US" altLang="zh-CN" sz="2000" b="1">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当</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p</a:t>
            </a:r>
            <a:r>
              <a:rPr lang="en-US" altLang="zh-CN" sz="2000" b="1">
                <a:solidFill>
                  <a:srgbClr val="FF0000"/>
                </a:solidFill>
                <a:latin typeface="Times New Roman" panose="02020603050405020304" pitchFamily="18" charset="0"/>
                <a:ea typeface="MingLiU_HKSCS-ExtB" panose="02020500000000000000" charset="-120"/>
              </a:rPr>
              <a:t>=0.5 </a:t>
            </a:r>
            <a:r>
              <a:rPr lang="zh-CN" altLang="en-US" sz="2000" b="1">
                <a:latin typeface="Times New Roman" panose="02020603050405020304" pitchFamily="18" charset="0"/>
                <a:ea typeface="MingLiU_HKSCS-ExtB" panose="02020500000000000000" charset="-120"/>
              </a:rPr>
              <a:t>时，曲线延伸至</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=0.5</a:t>
            </a:r>
            <a:r>
              <a:rPr lang="zh-CN" altLang="en-US" sz="2000" b="1">
                <a:latin typeface="Times New Roman" panose="02020603050405020304" pitchFamily="18" charset="0"/>
                <a:ea typeface="MingLiU_HKSCS-ExtB" panose="02020500000000000000" charset="-120"/>
              </a:rPr>
              <a:t>处，此时</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S</a:t>
            </a:r>
            <a:r>
              <a:rPr lang="en-US" altLang="zh-CN" sz="2000" b="1" baseline="-25000">
                <a:solidFill>
                  <a:srgbClr val="FF0000"/>
                </a:solidFill>
                <a:latin typeface="Times New Roman" panose="02020603050405020304" pitchFamily="18" charset="0"/>
                <a:ea typeface="MingLiU_HKSCS-ExtB" panose="02020500000000000000" charset="-120"/>
              </a:rPr>
              <a:t>max</a:t>
            </a:r>
            <a:r>
              <a:rPr lang="en-US" altLang="zh-CN" sz="2000" b="1">
                <a:solidFill>
                  <a:srgbClr val="FF0000"/>
                </a:solidFill>
                <a:latin typeface="Times New Roman" panose="02020603050405020304" pitchFamily="18" charset="0"/>
                <a:ea typeface="MingLiU_HKSCS-ExtB" panose="02020500000000000000" charset="-120"/>
              </a:rPr>
              <a:t>=0</a:t>
            </a:r>
            <a:r>
              <a:rPr lang="zh-CN" altLang="en-US" sz="2000" b="1">
                <a:latin typeface="Times New Roman" panose="02020603050405020304" pitchFamily="18" charset="0"/>
                <a:ea typeface="MingLiU_HKSCS-ExtB" panose="02020500000000000000" charset="-120"/>
              </a:rPr>
              <a:t>，故</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S</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a:t>
            </a:r>
            <a:r>
              <a:rPr lang="en-US" altLang="zh-CN" sz="2000" b="1">
                <a:solidFill>
                  <a:srgbClr val="FFFF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是连续曲线，定义域为</a:t>
            </a:r>
            <a:r>
              <a:rPr lang="zh-CN" altLang="en-US" sz="2000" b="1">
                <a:solidFill>
                  <a:srgbClr val="FF0000"/>
                </a:solidFill>
                <a:latin typeface="Times New Roman" panose="02020603050405020304" pitchFamily="18" charset="0"/>
                <a:ea typeface="MingLiU_HKSCS-ExtB" panose="02020500000000000000" charset="-120"/>
              </a:rPr>
              <a:t> </a:t>
            </a:r>
            <a:r>
              <a:rPr lang="en-US" altLang="zh-CN" sz="2000" b="1" i="1">
                <a:solidFill>
                  <a:srgbClr val="FF0000"/>
                </a:solidFill>
                <a:latin typeface="Times New Roman" panose="02020603050405020304" pitchFamily="18" charset="0"/>
                <a:ea typeface="MingLiU_HKSCS-ExtB" panose="02020500000000000000" charset="-120"/>
              </a:rPr>
              <a:t>D</a:t>
            </a:r>
            <a:r>
              <a:rPr lang="en-US" altLang="zh-CN" sz="2000" b="1">
                <a:solidFill>
                  <a:srgbClr val="FF0000"/>
                </a:solidFill>
                <a:latin typeface="Times New Roman" panose="02020603050405020304" pitchFamily="18" charset="0"/>
                <a:ea typeface="MingLiU_HKSCS-ExtB" panose="02020500000000000000" charset="-120"/>
              </a:rPr>
              <a:t>=0~0.5</a:t>
            </a:r>
            <a:r>
              <a:rPr lang="zh-CN" altLang="en-US" sz="2000" b="1">
                <a:latin typeface="Times New Roman" panose="02020603050405020304" pitchFamily="18" charset="0"/>
                <a:ea typeface="MingLiU_HKSCS-ExtB" panose="02020500000000000000" charset="-120"/>
              </a:rPr>
              <a:t>。</a:t>
            </a:r>
          </a:p>
        </p:txBody>
      </p:sp>
      <p:sp>
        <p:nvSpPr>
          <p:cNvPr id="2632" name="矩形 2631"/>
          <p:cNvSpPr/>
          <p:nvPr/>
        </p:nvSpPr>
        <p:spPr>
          <a:xfrm>
            <a:off x="8029575" y="6092825"/>
            <a:ext cx="796925" cy="360363"/>
          </a:xfrm>
          <a:solidFill>
            <a:srgbClr val="BBE0E3"/>
          </a:solidFill>
          <a:ln w="12700">
            <a:noFill/>
          </a:ln>
        </p:spPr>
        <p:txBody>
          <a:bodyPr/>
          <a:lstStyle/>
          <a:p>
            <a:endParaRPr lang="zh-CN" altLang="en-US"/>
          </a:p>
        </p:txBody>
      </p:sp>
      <p:sp>
        <p:nvSpPr>
          <p:cNvPr id="2633" name="矩形 2632"/>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630"/>
                                        </p:tgtEl>
                                        <p:attrNameLst>
                                          <p:attrName>style.visibility</p:attrName>
                                        </p:attrNameLst>
                                      </p:cBhvr>
                                      <p:to>
                                        <p:strVal val="visible"/>
                                      </p:to>
                                    </p:set>
                                    <p:anim calcmode="lin" valueType="num">
                                      <p:cBhvr additive="base">
                                        <p:cTn id="7" dur="1000" fill="hold"/>
                                        <p:tgtEl>
                                          <p:spTgt spid="2630"/>
                                        </p:tgtEl>
                                        <p:attrNameLst>
                                          <p:attrName>ppt_x</p:attrName>
                                        </p:attrNameLst>
                                      </p:cBhvr>
                                      <p:tavLst>
                                        <p:tav tm="0">
                                          <p:val>
                                            <p:strVal val="#ppt_x-.2"/>
                                          </p:val>
                                        </p:tav>
                                        <p:tav tm="100000">
                                          <p:val>
                                            <p:strVal val="#ppt_x"/>
                                          </p:val>
                                        </p:tav>
                                      </p:tavLst>
                                    </p:anim>
                                    <p:anim calcmode="lin" valueType="num">
                                      <p:cBhvr additive="base">
                                        <p:cTn id="8" dur="1000" fill="hold"/>
                                        <p:tgtEl>
                                          <p:spTgt spid="2630"/>
                                        </p:tgtEl>
                                        <p:attrNameLst>
                                          <p:attrName>ppt_y</p:attrName>
                                        </p:attrNameLst>
                                      </p:cBhvr>
                                      <p:tavLst>
                                        <p:tav tm="0">
                                          <p:val>
                                            <p:strVal val="#ppt_y"/>
                                          </p:val>
                                        </p:tav>
                                        <p:tav tm="100000">
                                          <p:val>
                                            <p:strVal val="#ppt_y"/>
                                          </p:val>
                                        </p:tav>
                                      </p:tavLst>
                                    </p:anim>
                                    <p:animEffect transition="in" filter="wipe(right)">
                                      <p:cBhvr additive="base">
                                        <p:cTn id="9" dur="1000"/>
                                        <p:tgtEl>
                                          <p:spTgt spid="2630"/>
                                        </p:tgtEl>
                                      </p:cBhvr>
                                    </p:animEffect>
                                  </p:childTnLst>
                                </p:cTn>
                              </p:par>
                              <p:par>
                                <p:cTn id="10" presetID="29" presetClass="entr" presetSubtype="0" fill="hold" grpId="1" nodeType="withEffect">
                                  <p:childTnLst>
                                    <p:set>
                                      <p:cBhvr additive="base">
                                        <p:cTn id="11" dur="1" fill="hold">
                                          <p:stCondLst>
                                            <p:cond delay="0"/>
                                          </p:stCondLst>
                                        </p:cTn>
                                        <p:tgtEl>
                                          <p:spTgt spid="2632"/>
                                        </p:tgtEl>
                                        <p:attrNameLst>
                                          <p:attrName>style.visibility</p:attrName>
                                        </p:attrNameLst>
                                      </p:cBhvr>
                                      <p:to>
                                        <p:strVal val="visible"/>
                                      </p:to>
                                    </p:set>
                                    <p:anim calcmode="lin" valueType="num">
                                      <p:cBhvr additive="base">
                                        <p:cTn id="12" dur="1000" fill="hold"/>
                                        <p:tgtEl>
                                          <p:spTgt spid="2632"/>
                                        </p:tgtEl>
                                        <p:attrNameLst>
                                          <p:attrName>ppt_x</p:attrName>
                                        </p:attrNameLst>
                                      </p:cBhvr>
                                      <p:tavLst>
                                        <p:tav tm="0">
                                          <p:val>
                                            <p:strVal val="#ppt_x-.2"/>
                                          </p:val>
                                        </p:tav>
                                        <p:tav tm="100000">
                                          <p:val>
                                            <p:strVal val="#ppt_x"/>
                                          </p:val>
                                        </p:tav>
                                      </p:tavLst>
                                    </p:anim>
                                    <p:anim calcmode="lin" valueType="num">
                                      <p:cBhvr additive="base">
                                        <p:cTn id="13" dur="1000" fill="hold"/>
                                        <p:tgtEl>
                                          <p:spTgt spid="2632"/>
                                        </p:tgtEl>
                                        <p:attrNameLst>
                                          <p:attrName>ppt_y</p:attrName>
                                        </p:attrNameLst>
                                      </p:cBhvr>
                                      <p:tavLst>
                                        <p:tav tm="0">
                                          <p:val>
                                            <p:strVal val="#ppt_y"/>
                                          </p:val>
                                        </p:tav>
                                        <p:tav tm="100000">
                                          <p:val>
                                            <p:strVal val="#ppt_y"/>
                                          </p:val>
                                        </p:tav>
                                      </p:tavLst>
                                    </p:anim>
                                    <p:animEffect transition="in" filter="wipe(right)">
                                      <p:cBhvr additive="base">
                                        <p:cTn id="14" dur="1000"/>
                                        <p:tgtEl>
                                          <p:spTgt spid="2632"/>
                                        </p:tgtEl>
                                      </p:cBhvr>
                                    </p:animEffect>
                                  </p:childTnLst>
                                </p:cTn>
                              </p:par>
                              <p:par>
                                <p:cTn id="15" presetID="29" presetClass="entr" presetSubtype="0" fill="hold" grpId="0" nodeType="withEffect">
                                  <p:childTnLst>
                                    <p:set>
                                      <p:cBhvr additive="base">
                                        <p:cTn id="16" dur="1" fill="hold">
                                          <p:stCondLst>
                                            <p:cond delay="0"/>
                                          </p:stCondLst>
                                        </p:cTn>
                                        <p:tgtEl>
                                          <p:spTgt spid="2631"/>
                                        </p:tgtEl>
                                        <p:attrNameLst>
                                          <p:attrName>style.visibility</p:attrName>
                                        </p:attrNameLst>
                                      </p:cBhvr>
                                      <p:to>
                                        <p:strVal val="visible"/>
                                      </p:to>
                                    </p:set>
                                    <p:anim calcmode="lin" valueType="num">
                                      <p:cBhvr additive="base">
                                        <p:cTn id="17" dur="1000" fill="hold"/>
                                        <p:tgtEl>
                                          <p:spTgt spid="2631"/>
                                        </p:tgtEl>
                                        <p:attrNameLst>
                                          <p:attrName>ppt_x</p:attrName>
                                        </p:attrNameLst>
                                      </p:cBhvr>
                                      <p:tavLst>
                                        <p:tav tm="0">
                                          <p:val>
                                            <p:strVal val="#ppt_x-.2"/>
                                          </p:val>
                                        </p:tav>
                                        <p:tav tm="100000">
                                          <p:val>
                                            <p:strVal val="#ppt_x"/>
                                          </p:val>
                                        </p:tav>
                                      </p:tavLst>
                                    </p:anim>
                                    <p:anim calcmode="lin" valueType="num">
                                      <p:cBhvr additive="base">
                                        <p:cTn id="18" dur="1000" fill="hold"/>
                                        <p:tgtEl>
                                          <p:spTgt spid="2631"/>
                                        </p:tgtEl>
                                        <p:attrNameLst>
                                          <p:attrName>ppt_y</p:attrName>
                                        </p:attrNameLst>
                                      </p:cBhvr>
                                      <p:tavLst>
                                        <p:tav tm="0">
                                          <p:val>
                                            <p:strVal val="#ppt_y"/>
                                          </p:val>
                                        </p:tav>
                                        <p:tav tm="100000">
                                          <p:val>
                                            <p:strVal val="#ppt_y"/>
                                          </p:val>
                                        </p:tav>
                                      </p:tavLst>
                                    </p:anim>
                                    <p:animEffect transition="in" filter="wipe(right)">
                                      <p:cBhvr additive="base">
                                        <p:cTn id="19" dur="1000"/>
                                        <p:tgtEl>
                                          <p:spTgt spid="2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 grpId="0" animBg="1"/>
      <p:bldP spid="2632" grpId="1"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87</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36" name="标题 2635"/>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637" name="文本占位符 2636"/>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(3) </a:t>
            </a:r>
            <a:r>
              <a:rPr lang="zh-CN" altLang="en-US">
                <a:ea typeface="MingLiU_HKSCS-ExtB" panose="02020500000000000000" charset="-120"/>
              </a:rPr>
              <a:t>二元</a:t>
            </a:r>
            <a:r>
              <a:rPr lang="zh-CN" altLang="en-US">
                <a:solidFill>
                  <a:srgbClr val="0000CC"/>
                </a:solidFill>
                <a:ea typeface="MingLiU_HKSCS-ExtB" panose="02020500000000000000" charset="-120"/>
              </a:rPr>
              <a:t>等概率</a:t>
            </a:r>
            <a:r>
              <a:rPr lang="zh-CN" altLang="en-US">
                <a:ea typeface="MingLiU_HKSCS-ExtB" panose="02020500000000000000" charset="-120"/>
              </a:rPr>
              <a:t>离散信源的率失真函数</a:t>
            </a:r>
          </a:p>
          <a:p>
            <a:pPr marL="355600" indent="-355600">
              <a:buClr>
                <a:srgbClr val="993366"/>
              </a:buClr>
            </a:pPr>
            <a:r>
              <a:rPr lang="zh-CN" altLang="en-US" sz="2000">
                <a:ea typeface="MingLiU_HKSCS-ExtB" panose="02020500000000000000" charset="-120"/>
              </a:rPr>
              <a:t>当上述二元信源呈等概率分布时，上面式子分别退化为：</a:t>
            </a:r>
          </a:p>
        </p:txBody>
      </p:sp>
      <p:sp>
        <p:nvSpPr>
          <p:cNvPr id="2638" name="矩形 2637"/>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graphicFrame>
        <p:nvGraphicFramePr>
          <p:cNvPr id="2639" name="对象 2638"/>
          <p:cNvGraphicFramePr/>
          <p:nvPr/>
        </p:nvGraphicFramePr>
        <p:xfrm>
          <a:off x="1943100" y="3521075"/>
          <a:ext cx="5524500" cy="2457450"/>
        </p:xfrm>
        <a:graphic>
          <a:graphicData uri="http://schemas.openxmlformats.org/presentationml/2006/ole">
            <mc:AlternateContent xmlns:mc="http://schemas.openxmlformats.org/markup-compatibility/2006">
              <mc:Choice xmlns:v="urn:schemas-microsoft-com:vml" Requires="v">
                <p:oleObj spid="_x0000_s55299" r:id="rId3" imgW="2706370" imgH="1511300" progId="Equation.3">
                  <p:embed/>
                </p:oleObj>
              </mc:Choice>
              <mc:Fallback>
                <p:oleObj r:id="rId3" imgW="2706370" imgH="1511300" progId="Equation.3">
                  <p:embed/>
                  <p:pic>
                    <p:nvPicPr>
                      <p:cNvPr id="0" name="图片 3111"/>
                      <p:cNvPicPr/>
                      <p:nvPr/>
                    </p:nvPicPr>
                    <p:blipFill>
                      <a:blip r:embed="rId4"/>
                      <a:stretch>
                        <a:fillRect/>
                      </a:stretch>
                    </p:blipFill>
                    <p:spPr>
                      <a:xfrm>
                        <a:off x="1943100" y="3521075"/>
                        <a:ext cx="5524500" cy="2457450"/>
                      </a:xfrm>
                      <a:prstGeom prst="rect">
                        <a:avLst/>
                      </a:prstGeom>
                      <a:noFill/>
                      <a:ln w="38100">
                        <a:noFill/>
                        <a:miter/>
                      </a:ln>
                    </p:spPr>
                  </p:pic>
                </p:oleObj>
              </mc:Fallback>
            </mc:AlternateContent>
          </a:graphicData>
        </a:graphic>
      </p:graphicFrame>
      <p:graphicFrame>
        <p:nvGraphicFramePr>
          <p:cNvPr id="2640" name="对象 2639"/>
          <p:cNvGraphicFramePr/>
          <p:nvPr/>
        </p:nvGraphicFramePr>
        <p:xfrm>
          <a:off x="2046288" y="2420938"/>
          <a:ext cx="2992437" cy="792162"/>
        </p:xfrm>
        <a:graphic>
          <a:graphicData uri="http://schemas.openxmlformats.org/presentationml/2006/ole">
            <mc:AlternateContent xmlns:mc="http://schemas.openxmlformats.org/markup-compatibility/2006">
              <mc:Choice xmlns:v="urn:schemas-microsoft-com:vml" Requires="v">
                <p:oleObj spid="_x0000_s55300" r:id="rId5" imgW="805180" imgH="406400" progId="Equation.3">
                  <p:embed/>
                </p:oleObj>
              </mc:Choice>
              <mc:Fallback>
                <p:oleObj r:id="rId5" imgW="805180" imgH="406400" progId="Equation.3">
                  <p:embed/>
                  <p:pic>
                    <p:nvPicPr>
                      <p:cNvPr id="0" name="图片 3112"/>
                      <p:cNvPicPr/>
                      <p:nvPr/>
                    </p:nvPicPr>
                    <p:blipFill>
                      <a:blip r:embed="rId6"/>
                      <a:stretch>
                        <a:fillRect/>
                      </a:stretch>
                    </p:blipFill>
                    <p:spPr>
                      <a:xfrm>
                        <a:off x="2046288" y="2420938"/>
                        <a:ext cx="2992437" cy="792162"/>
                      </a:xfrm>
                      <a:prstGeom prst="rect">
                        <a:avLst/>
                      </a:prstGeom>
                      <a:noFill/>
                      <a:ln w="38100">
                        <a:noFill/>
                        <a:miter/>
                      </a:ln>
                    </p:spPr>
                  </p:pic>
                </p:oleObj>
              </mc:Fallback>
            </mc:AlternateContent>
          </a:graphicData>
        </a:graphic>
      </p:graphicFrame>
    </p:spTree>
  </p:cSld>
  <p:clrMapOvr>
    <a:masterClrMapping/>
  </p:clrMapOvr>
  <p:transition spd="med">
    <p:spli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88</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43" name="标题 2642"/>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4.2.2  </a:t>
            </a:r>
            <a:r>
              <a:rPr lang="zh-CN" altLang="en-US" sz="2800">
                <a:ea typeface="MingLiU_HKSCS-ExtB" panose="02020500000000000000" charset="-120"/>
              </a:rPr>
              <a:t>二元及等概率离散信源的信息率失真函数</a:t>
            </a:r>
          </a:p>
        </p:txBody>
      </p:sp>
      <p:sp>
        <p:nvSpPr>
          <p:cNvPr id="2644" name="文本占位符 2643"/>
          <p:cNvSpPr>
            <a:spLocks noGrp="1"/>
          </p:cNvSpPr>
          <p:nvPr>
            <p:ph type="body" idx="4294967295"/>
          </p:nvPr>
        </p:nvSpPr>
        <p:spPr>
          <a:xfrm>
            <a:off x="611188" y="981075"/>
            <a:ext cx="7910512" cy="5327650"/>
          </a:xfrm>
        </p:spPr>
        <p:txBody>
          <a:bodyPr/>
          <a:lstStyle/>
          <a:p>
            <a:pPr marL="355600" indent="-355600">
              <a:lnSpc>
                <a:spcPct val="110000"/>
              </a:lnSpc>
              <a:buClr>
                <a:srgbClr val="993366"/>
              </a:buClr>
              <a:buNone/>
            </a:pPr>
            <a:r>
              <a:rPr lang="en-US" altLang="zh-CN">
                <a:ea typeface="MingLiU_HKSCS-ExtB" panose="02020500000000000000" charset="-120"/>
              </a:rPr>
              <a:t>(3) </a:t>
            </a:r>
            <a:r>
              <a:rPr lang="zh-CN" altLang="en-US">
                <a:ea typeface="MingLiU_HKSCS-ExtB" panose="02020500000000000000" charset="-120"/>
              </a:rPr>
              <a:t>二元</a:t>
            </a:r>
            <a:r>
              <a:rPr lang="zh-CN" altLang="en-US">
                <a:solidFill>
                  <a:srgbClr val="0000CC"/>
                </a:solidFill>
                <a:ea typeface="MingLiU_HKSCS-ExtB" panose="02020500000000000000" charset="-120"/>
              </a:rPr>
              <a:t>等概率</a:t>
            </a:r>
            <a:r>
              <a:rPr lang="zh-CN" altLang="en-US">
                <a:ea typeface="MingLiU_HKSCS-ExtB" panose="02020500000000000000" charset="-120"/>
              </a:rPr>
              <a:t>离散信源的率失真函数</a:t>
            </a:r>
          </a:p>
          <a:p>
            <a:pPr marL="355600" indent="-355600">
              <a:lnSpc>
                <a:spcPct val="110000"/>
              </a:lnSpc>
              <a:buClr>
                <a:srgbClr val="993366"/>
              </a:buClr>
            </a:pPr>
            <a:endParaRPr lang="zh-CN" altLang="en-US">
              <a:solidFill>
                <a:schemeClr val="bg1"/>
              </a:solidFill>
              <a:ea typeface="MingLiU_HKSCS-ExtB" panose="02020500000000000000" charset="-120"/>
            </a:endParaRPr>
          </a:p>
          <a:p>
            <a:pPr marL="355600" indent="-355600">
              <a:lnSpc>
                <a:spcPct val="110000"/>
              </a:lnSpc>
              <a:buClr>
                <a:srgbClr val="993366"/>
              </a:buClr>
            </a:pPr>
            <a:endParaRPr lang="zh-CN" altLang="en-US" sz="2000">
              <a:solidFill>
                <a:schemeClr val="bg1"/>
              </a:solidFill>
              <a:ea typeface="MingLiU_HKSCS-ExtB" panose="02020500000000000000" charset="-120"/>
            </a:endParaRPr>
          </a:p>
          <a:p>
            <a:pPr marL="355600" indent="-355600">
              <a:lnSpc>
                <a:spcPct val="110000"/>
              </a:lnSpc>
              <a:buClr>
                <a:srgbClr val="993366"/>
              </a:buClr>
            </a:pPr>
            <a:endParaRPr lang="zh-CN" altLang="en-US" sz="2000">
              <a:solidFill>
                <a:schemeClr val="bg1"/>
              </a:solidFill>
              <a:ea typeface="MingLiU_HKSCS-ExtB" panose="02020500000000000000" charset="-120"/>
            </a:endParaRPr>
          </a:p>
          <a:p>
            <a:pPr marL="355600" indent="-355600">
              <a:lnSpc>
                <a:spcPct val="110000"/>
              </a:lnSpc>
              <a:buClr>
                <a:srgbClr val="993366"/>
              </a:buClr>
            </a:pPr>
            <a:endParaRPr lang="zh-CN" altLang="en-US" sz="2000">
              <a:solidFill>
                <a:schemeClr val="bg1"/>
              </a:solidFill>
              <a:ea typeface="MingLiU_HKSCS-ExtB" panose="02020500000000000000" charset="-120"/>
            </a:endParaRPr>
          </a:p>
          <a:p>
            <a:pPr marL="355600" indent="-355600">
              <a:lnSpc>
                <a:spcPct val="110000"/>
              </a:lnSpc>
              <a:buClr>
                <a:srgbClr val="993366"/>
              </a:buClr>
            </a:pPr>
            <a:endParaRPr lang="zh-CN" altLang="en-US" sz="2000">
              <a:solidFill>
                <a:schemeClr val="bg1"/>
              </a:solidFill>
              <a:ea typeface="MingLiU_HKSCS-ExtB" panose="02020500000000000000" charset="-120"/>
            </a:endParaRPr>
          </a:p>
          <a:p>
            <a:pPr marL="355600" indent="-355600">
              <a:lnSpc>
                <a:spcPct val="110000"/>
              </a:lnSpc>
              <a:buClr>
                <a:srgbClr val="993366"/>
              </a:buClr>
            </a:pPr>
            <a:endParaRPr lang="zh-CN" altLang="en-US" sz="2000">
              <a:solidFill>
                <a:schemeClr val="bg1"/>
              </a:solidFill>
              <a:ea typeface="MingLiU_HKSCS-ExtB" panose="02020500000000000000" charset="-120"/>
            </a:endParaRPr>
          </a:p>
          <a:p>
            <a:pPr marL="355600" indent="-355600">
              <a:lnSpc>
                <a:spcPct val="110000"/>
              </a:lnSpc>
              <a:buClr>
                <a:srgbClr val="993366"/>
              </a:buClr>
            </a:pPr>
            <a:endParaRPr lang="zh-CN" altLang="en-US" sz="2000">
              <a:solidFill>
                <a:schemeClr val="bg1"/>
              </a:solidFill>
              <a:ea typeface="MingLiU_HKSCS-ExtB" panose="02020500000000000000" charset="-120"/>
            </a:endParaRPr>
          </a:p>
          <a:p>
            <a:pPr marL="355600" indent="-355600">
              <a:lnSpc>
                <a:spcPct val="110000"/>
              </a:lnSpc>
              <a:buClr>
                <a:srgbClr val="993366"/>
              </a:buClr>
            </a:pPr>
            <a:endParaRPr lang="zh-CN" altLang="en-US" sz="2000">
              <a:solidFill>
                <a:schemeClr val="bg1"/>
              </a:solidFill>
              <a:ea typeface="MingLiU_HKSCS-ExtB" panose="02020500000000000000" charset="-120"/>
            </a:endParaRPr>
          </a:p>
          <a:p>
            <a:pPr marL="355600" indent="-355600">
              <a:lnSpc>
                <a:spcPct val="110000"/>
              </a:lnSpc>
              <a:buClr>
                <a:srgbClr val="993366"/>
              </a:buClr>
            </a:pPr>
            <a:endParaRPr lang="zh-CN" altLang="en-US" sz="2000">
              <a:solidFill>
                <a:schemeClr val="bg1"/>
              </a:solidFill>
              <a:ea typeface="MingLiU_HKSCS-ExtB" panose="02020500000000000000" charset="-120"/>
            </a:endParaRPr>
          </a:p>
          <a:p>
            <a:pPr marL="355600" indent="-355600">
              <a:lnSpc>
                <a:spcPct val="110000"/>
              </a:lnSpc>
              <a:buClr>
                <a:srgbClr val="993366"/>
              </a:buClr>
            </a:pPr>
            <a:endParaRPr lang="zh-CN" altLang="en-US" sz="2000">
              <a:solidFill>
                <a:schemeClr val="bg1"/>
              </a:solidFill>
              <a:ea typeface="MingLiU_HKSCS-ExtB" panose="02020500000000000000" charset="-120"/>
            </a:endParaRPr>
          </a:p>
          <a:p>
            <a:pPr marL="355600" indent="-355600">
              <a:lnSpc>
                <a:spcPct val="110000"/>
              </a:lnSpc>
              <a:buClr>
                <a:srgbClr val="993366"/>
              </a:buClr>
            </a:pPr>
            <a:r>
              <a:rPr lang="zh-CN" altLang="en-US" sz="2000">
                <a:ea typeface="MingLiU_HKSCS-ExtB" panose="02020500000000000000" charset="-120"/>
              </a:rPr>
              <a:t>这个结论很容易推广到</a:t>
            </a:r>
            <a:r>
              <a:rPr lang="zh-CN" altLang="en-US" sz="2000">
                <a:solidFill>
                  <a:schemeClr val="bg1"/>
                </a:solidFill>
                <a:ea typeface="MingLiU_HKSCS-ExtB" panose="02020500000000000000" charset="-120"/>
              </a:rPr>
              <a:t> </a:t>
            </a:r>
            <a:r>
              <a:rPr lang="en-US" altLang="zh-CN" sz="2000" i="1">
                <a:solidFill>
                  <a:srgbClr val="FF0000"/>
                </a:solidFill>
                <a:ea typeface="MingLiU_HKSCS-ExtB" panose="02020500000000000000" charset="-120"/>
              </a:rPr>
              <a:t>n </a:t>
            </a:r>
            <a:r>
              <a:rPr lang="zh-CN" altLang="en-US" sz="2000">
                <a:ea typeface="MingLiU_HKSCS-ExtB" panose="02020500000000000000" charset="-120"/>
              </a:rPr>
              <a:t>元等概率信源的情况。</a:t>
            </a:r>
          </a:p>
        </p:txBody>
      </p:sp>
      <p:sp>
        <p:nvSpPr>
          <p:cNvPr id="2645" name="矩形 2644"/>
          <p:cNvSpPr/>
          <p:nvPr/>
        </p:nvSpPr>
        <p:spPr>
          <a:xfrm>
            <a:off x="8029575" y="5948363"/>
            <a:ext cx="796925" cy="360362"/>
          </a:xfrm>
          <a:solidFill>
            <a:srgbClr val="BBE0E3"/>
          </a:solidFill>
          <a:ln w="12700">
            <a:noFill/>
          </a:ln>
        </p:spPr>
        <p:txBody>
          <a:bodyPr/>
          <a:lstStyle/>
          <a:p>
            <a:endParaRPr lang="zh-CN" altLang="en-US"/>
          </a:p>
        </p:txBody>
      </p:sp>
      <p:graphicFrame>
        <p:nvGraphicFramePr>
          <p:cNvPr id="2646" name="对象 2645"/>
          <p:cNvGraphicFramePr/>
          <p:nvPr/>
        </p:nvGraphicFramePr>
        <p:xfrm>
          <a:off x="1846263" y="1728788"/>
          <a:ext cx="4984750" cy="2928937"/>
        </p:xfrm>
        <a:graphic>
          <a:graphicData uri="http://schemas.openxmlformats.org/presentationml/2006/ole">
            <mc:AlternateContent xmlns:mc="http://schemas.openxmlformats.org/markup-compatibility/2006">
              <mc:Choice xmlns:v="urn:schemas-microsoft-com:vml" Requires="v">
                <p:oleObj spid="_x0000_s56323" r:id="rId3" imgW="2880360" imgH="1688465" progId="Equation.3">
                  <p:embed/>
                </p:oleObj>
              </mc:Choice>
              <mc:Fallback>
                <p:oleObj r:id="rId3" imgW="2880360" imgH="1688465" progId="Equation.3">
                  <p:embed/>
                  <p:pic>
                    <p:nvPicPr>
                      <p:cNvPr id="0" name="图片 3109"/>
                      <p:cNvPicPr/>
                      <p:nvPr/>
                    </p:nvPicPr>
                    <p:blipFill>
                      <a:blip r:embed="rId4"/>
                      <a:stretch>
                        <a:fillRect/>
                      </a:stretch>
                    </p:blipFill>
                    <p:spPr>
                      <a:xfrm>
                        <a:off x="1846263" y="1728788"/>
                        <a:ext cx="4984750" cy="2928937"/>
                      </a:xfrm>
                      <a:prstGeom prst="rect">
                        <a:avLst/>
                      </a:prstGeom>
                      <a:noFill/>
                      <a:ln w="38100">
                        <a:noFill/>
                        <a:miter/>
                      </a:ln>
                    </p:spPr>
                  </p:pic>
                </p:oleObj>
              </mc:Fallback>
            </mc:AlternateContent>
          </a:graphicData>
        </a:graphic>
      </p:graphicFrame>
      <p:graphicFrame>
        <p:nvGraphicFramePr>
          <p:cNvPr id="2647" name="对象 2646"/>
          <p:cNvGraphicFramePr/>
          <p:nvPr/>
        </p:nvGraphicFramePr>
        <p:xfrm>
          <a:off x="3043238" y="4797425"/>
          <a:ext cx="2174875" cy="733425"/>
        </p:xfrm>
        <a:graphic>
          <a:graphicData uri="http://schemas.openxmlformats.org/presentationml/2006/ole">
            <mc:AlternateContent xmlns:mc="http://schemas.openxmlformats.org/markup-compatibility/2006">
              <mc:Choice xmlns:v="urn:schemas-microsoft-com:vml" Requires="v">
                <p:oleObj spid="_x0000_s56324" r:id="rId5" imgW="759460" imgH="406400" progId="Equation.3">
                  <p:embed/>
                </p:oleObj>
              </mc:Choice>
              <mc:Fallback>
                <p:oleObj r:id="rId5" imgW="759460" imgH="406400" progId="Equation.3">
                  <p:embed/>
                  <p:pic>
                    <p:nvPicPr>
                      <p:cNvPr id="0" name="图片 3110"/>
                      <p:cNvPicPr/>
                      <p:nvPr/>
                    </p:nvPicPr>
                    <p:blipFill>
                      <a:blip r:embed="rId6"/>
                      <a:stretch>
                        <a:fillRect/>
                      </a:stretch>
                    </p:blipFill>
                    <p:spPr>
                      <a:xfrm>
                        <a:off x="3043238" y="4797425"/>
                        <a:ext cx="2174875" cy="733425"/>
                      </a:xfrm>
                      <a:prstGeom prst="rect">
                        <a:avLst/>
                      </a:prstGeom>
                      <a:noFill/>
                      <a:ln w="38100">
                        <a:noFill/>
                        <a:miter/>
                      </a:ln>
                    </p:spPr>
                  </p:pic>
                </p:oleObj>
              </mc:Fallback>
            </mc:AlternateContent>
          </a:graphicData>
        </a:graphic>
      </p:graphicFrame>
      <p:sp>
        <p:nvSpPr>
          <p:cNvPr id="2648" name="矩形 2647"/>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4.2</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离</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散</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childTnLst>
                                    <p:set>
                                      <p:cBhvr additive="base">
                                        <p:cTn id="6" dur="1" fill="hold">
                                          <p:stCondLst>
                                            <p:cond delay="0"/>
                                          </p:stCondLst>
                                        </p:cTn>
                                        <p:tgtEl>
                                          <p:spTgt spid="2645"/>
                                        </p:tgtEl>
                                        <p:attrNameLst>
                                          <p:attrName>style.visibility</p:attrName>
                                        </p:attrNameLst>
                                      </p:cBhvr>
                                      <p:to>
                                        <p:strVal val="visible"/>
                                      </p:to>
                                    </p:set>
                                    <p:anim calcmode="lin" valueType="num">
                                      <p:cBhvr additive="base">
                                        <p:cTn id="7" dur="1000" fill="hold"/>
                                        <p:tgtEl>
                                          <p:spTgt spid="2645"/>
                                        </p:tgtEl>
                                        <p:attrNameLst>
                                          <p:attrName>ppt_x</p:attrName>
                                        </p:attrNameLst>
                                      </p:cBhvr>
                                      <p:tavLst>
                                        <p:tav tm="0">
                                          <p:val>
                                            <p:strVal val="#ppt_x-.2"/>
                                          </p:val>
                                        </p:tav>
                                        <p:tav tm="100000">
                                          <p:val>
                                            <p:strVal val="#ppt_x"/>
                                          </p:val>
                                        </p:tav>
                                      </p:tavLst>
                                    </p:anim>
                                    <p:anim calcmode="lin" valueType="num">
                                      <p:cBhvr additive="base">
                                        <p:cTn id="8" dur="1000" fill="hold"/>
                                        <p:tgtEl>
                                          <p:spTgt spid="2645"/>
                                        </p:tgtEl>
                                        <p:attrNameLst>
                                          <p:attrName>ppt_y</p:attrName>
                                        </p:attrNameLst>
                                      </p:cBhvr>
                                      <p:tavLst>
                                        <p:tav tm="0">
                                          <p:val>
                                            <p:strVal val="#ppt_y"/>
                                          </p:val>
                                        </p:tav>
                                        <p:tav tm="100000">
                                          <p:val>
                                            <p:strVal val="#ppt_y"/>
                                          </p:val>
                                        </p:tav>
                                      </p:tavLst>
                                    </p:anim>
                                    <p:animEffect transition="in" filter="wipe(right)">
                                      <p:cBhvr additive="base">
                                        <p:cTn id="9" dur="1000"/>
                                        <p:tgtEl>
                                          <p:spTgt spid="2645"/>
                                        </p:tgtEl>
                                      </p:cBhvr>
                                    </p:animEffect>
                                  </p:childTnLst>
                                </p:cTn>
                              </p:par>
                              <p:par>
                                <p:cTn id="10" presetID="29" presetClass="entr" presetSubtype="0" fill="hold" nodeType="withEffect">
                                  <p:childTnLst>
                                    <p:set>
                                      <p:cBhvr additive="base">
                                        <p:cTn id="11" dur="1" fill="hold">
                                          <p:stCondLst>
                                            <p:cond delay="0"/>
                                          </p:stCondLst>
                                        </p:cTn>
                                        <p:tgtEl>
                                          <p:spTgt spid="2644">
                                            <p:txEl>
                                              <p:pRg st="11" end="11"/>
                                            </p:txEl>
                                          </p:spTgt>
                                        </p:tgtEl>
                                        <p:attrNameLst>
                                          <p:attrName>style.visibility</p:attrName>
                                        </p:attrNameLst>
                                      </p:cBhvr>
                                      <p:to>
                                        <p:strVal val="visible"/>
                                      </p:to>
                                    </p:set>
                                    <p:anim calcmode="lin" valueType="num">
                                      <p:cBhvr additive="base">
                                        <p:cTn id="12" dur="1000" fill="hold"/>
                                        <p:tgtEl>
                                          <p:spTgt spid="2644">
                                            <p:txEl>
                                              <p:pRg st="11" end="11"/>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644">
                                            <p:txEl>
                                              <p:pRg st="11" end="11"/>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644">
                                            <p:txEl>
                                              <p:pRg st="11" end="11"/>
                                            </p:txEl>
                                          </p:spTgt>
                                        </p:tgtEl>
                                      </p:cBhvr>
                                    </p:animEffect>
                                  </p:childTnLst>
                                </p:cTn>
                              </p:par>
                              <p:par>
                                <p:cTn id="15" presetID="29" presetClass="entr" presetSubtype="0" fill="hold" nodeType="withEffect">
                                  <p:childTnLst>
                                    <p:set>
                                      <p:cBhvr additive="base">
                                        <p:cTn id="16" dur="1" fill="hold">
                                          <p:stCondLst>
                                            <p:cond delay="0"/>
                                          </p:stCondLst>
                                        </p:cTn>
                                        <p:tgtEl>
                                          <p:spTgt spid="2646"/>
                                        </p:tgtEl>
                                        <p:attrNameLst>
                                          <p:attrName>style.visibility</p:attrName>
                                        </p:attrNameLst>
                                      </p:cBhvr>
                                      <p:to>
                                        <p:strVal val="visible"/>
                                      </p:to>
                                    </p:set>
                                    <p:anim calcmode="lin" valueType="num">
                                      <p:cBhvr additive="base">
                                        <p:cTn id="17" dur="1000" fill="hold"/>
                                        <p:tgtEl>
                                          <p:spTgt spid="2646"/>
                                        </p:tgtEl>
                                        <p:attrNameLst>
                                          <p:attrName>ppt_x</p:attrName>
                                        </p:attrNameLst>
                                      </p:cBhvr>
                                      <p:tavLst>
                                        <p:tav tm="0">
                                          <p:val>
                                            <p:strVal val="#ppt_x-.2"/>
                                          </p:val>
                                        </p:tav>
                                        <p:tav tm="100000">
                                          <p:val>
                                            <p:strVal val="#ppt_x"/>
                                          </p:val>
                                        </p:tav>
                                      </p:tavLst>
                                    </p:anim>
                                    <p:anim calcmode="lin" valueType="num">
                                      <p:cBhvr additive="base">
                                        <p:cTn id="18" dur="1000" fill="hold"/>
                                        <p:tgtEl>
                                          <p:spTgt spid="2646"/>
                                        </p:tgtEl>
                                        <p:attrNameLst>
                                          <p:attrName>ppt_y</p:attrName>
                                        </p:attrNameLst>
                                      </p:cBhvr>
                                      <p:tavLst>
                                        <p:tav tm="0">
                                          <p:val>
                                            <p:strVal val="#ppt_y"/>
                                          </p:val>
                                        </p:tav>
                                        <p:tav tm="100000">
                                          <p:val>
                                            <p:strVal val="#ppt_y"/>
                                          </p:val>
                                        </p:tav>
                                      </p:tavLst>
                                    </p:anim>
                                    <p:animEffect transition="in" filter="wipe(right)">
                                      <p:cBhvr additive="base">
                                        <p:cTn id="19" dur="1000"/>
                                        <p:tgtEl>
                                          <p:spTgt spid="2646"/>
                                        </p:tgtEl>
                                      </p:cBhvr>
                                    </p:animEffect>
                                  </p:childTnLst>
                                </p:cTn>
                              </p:par>
                              <p:par>
                                <p:cTn id="20" presetID="29" presetClass="entr" presetSubtype="0" fill="hold" nodeType="withEffect">
                                  <p:childTnLst>
                                    <p:set>
                                      <p:cBhvr additive="base">
                                        <p:cTn id="21" dur="1" fill="hold">
                                          <p:stCondLst>
                                            <p:cond delay="0"/>
                                          </p:stCondLst>
                                        </p:cTn>
                                        <p:tgtEl>
                                          <p:spTgt spid="2647"/>
                                        </p:tgtEl>
                                        <p:attrNameLst>
                                          <p:attrName>style.visibility</p:attrName>
                                        </p:attrNameLst>
                                      </p:cBhvr>
                                      <p:to>
                                        <p:strVal val="visible"/>
                                      </p:to>
                                    </p:set>
                                    <p:anim calcmode="lin" valueType="num">
                                      <p:cBhvr additive="base">
                                        <p:cTn id="22" dur="1000" fill="hold"/>
                                        <p:tgtEl>
                                          <p:spTgt spid="2647"/>
                                        </p:tgtEl>
                                        <p:attrNameLst>
                                          <p:attrName>ppt_x</p:attrName>
                                        </p:attrNameLst>
                                      </p:cBhvr>
                                      <p:tavLst>
                                        <p:tav tm="0">
                                          <p:val>
                                            <p:strVal val="#ppt_x-.2"/>
                                          </p:val>
                                        </p:tav>
                                        <p:tav tm="100000">
                                          <p:val>
                                            <p:strVal val="#ppt_x"/>
                                          </p:val>
                                        </p:tav>
                                      </p:tavLst>
                                    </p:anim>
                                    <p:anim calcmode="lin" valueType="num">
                                      <p:cBhvr additive="base">
                                        <p:cTn id="23" dur="1000" fill="hold"/>
                                        <p:tgtEl>
                                          <p:spTgt spid="2647"/>
                                        </p:tgtEl>
                                        <p:attrNameLst>
                                          <p:attrName>ppt_y</p:attrName>
                                        </p:attrNameLst>
                                      </p:cBhvr>
                                      <p:tavLst>
                                        <p:tav tm="0">
                                          <p:val>
                                            <p:strVal val="#ppt_y"/>
                                          </p:val>
                                        </p:tav>
                                        <p:tav tm="100000">
                                          <p:val>
                                            <p:strVal val="#ppt_y"/>
                                          </p:val>
                                        </p:tav>
                                      </p:tavLst>
                                    </p:anim>
                                    <p:animEffect transition="in" filter="wipe(right)">
                                      <p:cBhvr additive="base">
                                        <p:cTn id="24" dur="1000"/>
                                        <p:tgtEl>
                                          <p:spTgt spid="2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89</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51" name="标题 2650"/>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4.3  </a:t>
            </a:r>
            <a:r>
              <a:rPr lang="zh-CN" altLang="en-US">
                <a:ea typeface="MingLiU_HKSCS-ExtB" panose="02020500000000000000" charset="-120"/>
              </a:rPr>
              <a:t>连续信源的信息率失真函数</a:t>
            </a:r>
          </a:p>
        </p:txBody>
      </p:sp>
      <p:sp>
        <p:nvSpPr>
          <p:cNvPr id="2652" name="文本占位符 2651"/>
          <p:cNvSpPr>
            <a:spLocks noGrp="1"/>
          </p:cNvSpPr>
          <p:nvPr>
            <p:ph type="body" idx="4294967295"/>
          </p:nvPr>
        </p:nvSpPr>
        <p:spPr/>
        <p:txBody>
          <a:bodyPr/>
          <a:lstStyle/>
          <a:p>
            <a:pPr marL="355600" indent="-355600">
              <a:buClr>
                <a:srgbClr val="993366"/>
              </a:buClr>
              <a:buNone/>
            </a:pPr>
            <a:r>
              <a:rPr lang="en-US" altLang="zh-CN">
                <a:ea typeface="MingLiU_HKSCS-ExtB" panose="02020500000000000000" charset="-120"/>
              </a:rPr>
              <a:t>4.3.1 </a:t>
            </a:r>
            <a:r>
              <a:rPr lang="zh-CN" altLang="en-US">
                <a:ea typeface="MingLiU_HKSCS-ExtB" panose="02020500000000000000" charset="-120"/>
                <a:hlinkClick r:id="" action="ppaction://hlinkshowjump?jump=nextslide" tooltip="下一页"/>
              </a:rPr>
              <a:t>连续信源的信息率失真函数的参量表达式</a:t>
            </a:r>
            <a:endParaRPr lang="zh-CN" altLang="en-US">
              <a:ea typeface="MingLiU_HKSCS-ExtB" panose="02020500000000000000" charset="-120"/>
            </a:endParaRPr>
          </a:p>
          <a:p>
            <a:pPr marL="355600" indent="-355600">
              <a:buClr>
                <a:srgbClr val="993366"/>
              </a:buClr>
              <a:buNone/>
            </a:pPr>
            <a:r>
              <a:rPr lang="en-US" altLang="zh-CN">
                <a:ea typeface="MingLiU_HKSCS-ExtB" panose="02020500000000000000" charset="-120"/>
              </a:rPr>
              <a:t>4.3.2 </a:t>
            </a:r>
            <a:r>
              <a:rPr lang="zh-CN" altLang="en-US">
                <a:ea typeface="MingLiU_HKSCS-ExtB" panose="02020500000000000000" charset="-120"/>
              </a:rPr>
              <a:t>高斯信源的信息率失真函数</a:t>
            </a:r>
          </a:p>
        </p:txBody>
      </p:sp>
    </p:spTree>
  </p:cSld>
  <p:clrMapOvr>
    <a:masterClrMapping/>
  </p:clrMapOvr>
  <p:transition spd="med">
    <p:spli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90</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55" name="标题 2654"/>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4.3.1 </a:t>
            </a:r>
            <a:r>
              <a:rPr lang="zh-CN" altLang="en-US" sz="2800">
                <a:ea typeface="MingLiU_HKSCS-ExtB" panose="02020500000000000000" charset="-120"/>
              </a:rPr>
              <a:t>连续信源的信息率失真函数的参量表达式</a:t>
            </a:r>
          </a:p>
        </p:txBody>
      </p:sp>
      <p:sp>
        <p:nvSpPr>
          <p:cNvPr id="2656" name="文本占位符 2655"/>
          <p:cNvSpPr>
            <a:spLocks noGrp="1"/>
          </p:cNvSpPr>
          <p:nvPr>
            <p:ph type="body" idx="4294967295"/>
          </p:nvPr>
        </p:nvSpPr>
        <p:spPr>
          <a:xfrm>
            <a:off x="663575" y="981075"/>
            <a:ext cx="8229600" cy="5327650"/>
          </a:xfrm>
        </p:spPr>
        <p:txBody>
          <a:bodyPr/>
          <a:lstStyle/>
          <a:p>
            <a:pPr>
              <a:buClr>
                <a:srgbClr val="993366"/>
              </a:buClr>
            </a:pPr>
            <a:r>
              <a:rPr lang="en-US" altLang="zh-CN" sz="2400">
                <a:ea typeface="MingLiU_HKSCS-ExtB" panose="02020500000000000000" charset="-120"/>
              </a:rPr>
              <a:t> </a:t>
            </a:r>
            <a:r>
              <a:rPr lang="zh-CN" altLang="en-US" sz="2400">
                <a:ea typeface="MingLiU_HKSCS-ExtB" panose="02020500000000000000" charset="-120"/>
              </a:rPr>
              <a:t>条件</a:t>
            </a:r>
          </a:p>
          <a:p>
            <a:pPr marL="355600" lvl="1">
              <a:buClr>
                <a:srgbClr val="993366"/>
              </a:buClr>
            </a:pPr>
            <a:r>
              <a:rPr lang="zh-CN" altLang="en-US">
                <a:ea typeface="MingLiU_HKSCS-ExtB" panose="02020500000000000000" charset="-120"/>
              </a:rPr>
              <a:t> 信源：</a:t>
            </a:r>
            <a:r>
              <a:rPr lang="en-US" altLang="zh-CN" i="1">
                <a:solidFill>
                  <a:srgbClr val="FF0000"/>
                </a:solidFill>
                <a:ea typeface="MingLiU_HKSCS-ExtB" panose="02020500000000000000" charset="-120"/>
              </a:rPr>
              <a:t>X</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R</a:t>
            </a:r>
            <a:r>
              <a:rPr lang="en-US" altLang="zh-CN">
                <a:solidFill>
                  <a:srgbClr val="FF0000"/>
                </a:solidFill>
                <a:ea typeface="MingLiU_HKSCS-ExtB" panose="02020500000000000000" charset="-120"/>
              </a:rPr>
              <a:t>=(</a:t>
            </a:r>
            <a:r>
              <a:rPr lang="zh-CN" altLang="en-US">
                <a:solidFill>
                  <a:srgbClr val="FF0000"/>
                </a:solidFill>
                <a:ea typeface="MingLiU_HKSCS-ExtB" panose="02020500000000000000" charset="-120"/>
              </a:rPr>
              <a:t>－</a:t>
            </a:r>
            <a:r>
              <a:rPr lang="en-US" altLang="zh-CN">
                <a:solidFill>
                  <a:srgbClr val="FF0000"/>
                </a:solidFill>
                <a:ea typeface="MingLiU_HKSCS-ExtB" panose="02020500000000000000" charset="-120"/>
              </a:rPr>
              <a:t>∞,∞) </a:t>
            </a:r>
          </a:p>
          <a:p>
            <a:pPr marL="355600" lvl="1">
              <a:buClr>
                <a:srgbClr val="993366"/>
              </a:buClr>
            </a:pPr>
            <a:r>
              <a:rPr lang="en-US" altLang="zh-CN">
                <a:ea typeface="MingLiU_HKSCS-ExtB" panose="02020500000000000000" charset="-120"/>
              </a:rPr>
              <a:t> </a:t>
            </a:r>
            <a:r>
              <a:rPr lang="zh-CN" altLang="en-US">
                <a:ea typeface="MingLiU_HKSCS-ExtB" panose="02020500000000000000" charset="-120"/>
              </a:rPr>
              <a:t>信源 </a:t>
            </a:r>
            <a:r>
              <a:rPr lang="en-US" altLang="zh-CN" i="1">
                <a:solidFill>
                  <a:srgbClr val="FF0000"/>
                </a:solidFill>
                <a:ea typeface="MingLiU_HKSCS-ExtB" panose="02020500000000000000" charset="-120"/>
              </a:rPr>
              <a:t>X </a:t>
            </a:r>
            <a:r>
              <a:rPr lang="zh-CN" altLang="en-US">
                <a:ea typeface="MingLiU_HKSCS-ExtB" panose="02020500000000000000" charset="-120"/>
              </a:rPr>
              <a:t>的概率密度函数为：</a:t>
            </a:r>
            <a:r>
              <a:rPr lang="en-US" altLang="zh-CN" i="1">
                <a:solidFill>
                  <a:srgbClr val="FF0000"/>
                </a:solidFill>
                <a:ea typeface="MingLiU_HKSCS-ExtB" panose="02020500000000000000" charset="-120"/>
              </a:rPr>
              <a:t>p</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x</a:t>
            </a:r>
            <a:r>
              <a:rPr lang="en-US" altLang="zh-CN">
                <a:solidFill>
                  <a:srgbClr val="FF0000"/>
                </a:solidFill>
                <a:ea typeface="MingLiU_HKSCS-ExtB" panose="02020500000000000000" charset="-120"/>
              </a:rPr>
              <a:t>)</a:t>
            </a:r>
          </a:p>
          <a:p>
            <a:pPr marL="355600" lvl="1">
              <a:buClr>
                <a:srgbClr val="993366"/>
              </a:buClr>
            </a:pPr>
            <a:r>
              <a:rPr lang="en-US" altLang="zh-CN">
                <a:ea typeface="MingLiU_HKSCS-ExtB" panose="02020500000000000000" charset="-120"/>
              </a:rPr>
              <a:t> </a:t>
            </a:r>
            <a:r>
              <a:rPr lang="zh-CN" altLang="en-US">
                <a:ea typeface="MingLiU_HKSCS-ExtB" panose="02020500000000000000" charset="-120"/>
              </a:rPr>
              <a:t>信道的传递概率密度函数为：</a:t>
            </a:r>
            <a:r>
              <a:rPr lang="en-US" altLang="zh-CN" i="1">
                <a:solidFill>
                  <a:srgbClr val="FF0000"/>
                </a:solidFill>
                <a:ea typeface="MingLiU_HKSCS-ExtB" panose="02020500000000000000" charset="-120"/>
              </a:rPr>
              <a:t>p</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y </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x</a:t>
            </a:r>
            <a:r>
              <a:rPr lang="en-US" altLang="zh-CN">
                <a:solidFill>
                  <a:srgbClr val="FF0000"/>
                </a:solidFill>
                <a:ea typeface="MingLiU_HKSCS-ExtB" panose="02020500000000000000" charset="-120"/>
              </a:rPr>
              <a:t>)</a:t>
            </a:r>
          </a:p>
          <a:p>
            <a:pPr marL="355600" lvl="1">
              <a:buClr>
                <a:srgbClr val="993366"/>
              </a:buClr>
            </a:pPr>
            <a:r>
              <a:rPr lang="en-US" altLang="zh-CN">
                <a:ea typeface="MingLiU_HKSCS-ExtB" panose="02020500000000000000" charset="-120"/>
              </a:rPr>
              <a:t> </a:t>
            </a:r>
            <a:r>
              <a:rPr lang="zh-CN" altLang="en-US">
                <a:ea typeface="MingLiU_HKSCS-ExtB" panose="02020500000000000000" charset="-120"/>
              </a:rPr>
              <a:t>信宿：</a:t>
            </a:r>
            <a:r>
              <a:rPr lang="en-US" altLang="zh-CN" i="1">
                <a:solidFill>
                  <a:srgbClr val="FF0000"/>
                </a:solidFill>
                <a:ea typeface="MingLiU_HKSCS-ExtB" panose="02020500000000000000" charset="-120"/>
              </a:rPr>
              <a:t>Y</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R</a:t>
            </a:r>
            <a:r>
              <a:rPr lang="en-US" altLang="zh-CN">
                <a:solidFill>
                  <a:srgbClr val="FF0000"/>
                </a:solidFill>
                <a:ea typeface="MingLiU_HKSCS-ExtB" panose="02020500000000000000" charset="-120"/>
              </a:rPr>
              <a:t>=(</a:t>
            </a:r>
            <a:r>
              <a:rPr lang="zh-CN" altLang="en-US">
                <a:solidFill>
                  <a:srgbClr val="FF0000"/>
                </a:solidFill>
                <a:ea typeface="MingLiU_HKSCS-ExtB" panose="02020500000000000000" charset="-120"/>
              </a:rPr>
              <a:t>－</a:t>
            </a:r>
            <a:r>
              <a:rPr lang="en-US" altLang="zh-CN">
                <a:solidFill>
                  <a:srgbClr val="FF0000"/>
                </a:solidFill>
                <a:ea typeface="MingLiU_HKSCS-ExtB" panose="02020500000000000000" charset="-120"/>
              </a:rPr>
              <a:t>∞,∞)</a:t>
            </a:r>
          </a:p>
          <a:p>
            <a:pPr marL="355600" lvl="1">
              <a:buClr>
                <a:srgbClr val="993366"/>
              </a:buClr>
            </a:pPr>
            <a:r>
              <a:rPr lang="en-US" altLang="zh-CN">
                <a:ea typeface="MingLiU_HKSCS-ExtB" panose="02020500000000000000" charset="-120"/>
              </a:rPr>
              <a:t> </a:t>
            </a:r>
            <a:r>
              <a:rPr lang="zh-CN" altLang="en-US">
                <a:ea typeface="MingLiU_HKSCS-ExtB" panose="02020500000000000000" charset="-120"/>
              </a:rPr>
              <a:t>信宿 </a:t>
            </a:r>
            <a:r>
              <a:rPr lang="en-US" altLang="zh-CN" i="1">
                <a:solidFill>
                  <a:srgbClr val="FF0000"/>
                </a:solidFill>
                <a:ea typeface="MingLiU_HKSCS-ExtB" panose="02020500000000000000" charset="-120"/>
              </a:rPr>
              <a:t>Y</a:t>
            </a:r>
            <a:r>
              <a:rPr lang="en-US" altLang="zh-CN" i="1">
                <a:solidFill>
                  <a:srgbClr val="FFFF00"/>
                </a:solidFill>
                <a:ea typeface="MingLiU_HKSCS-ExtB" panose="02020500000000000000" charset="-120"/>
              </a:rPr>
              <a:t> </a:t>
            </a:r>
            <a:r>
              <a:rPr lang="zh-CN" altLang="en-US">
                <a:ea typeface="MingLiU_HKSCS-ExtB" panose="02020500000000000000" charset="-120"/>
              </a:rPr>
              <a:t>的概率密度函数为：</a:t>
            </a:r>
            <a:r>
              <a:rPr lang="en-US" altLang="zh-CN" i="1">
                <a:solidFill>
                  <a:srgbClr val="FF0000"/>
                </a:solidFill>
                <a:ea typeface="MingLiU_HKSCS-ExtB" panose="02020500000000000000" charset="-120"/>
              </a:rPr>
              <a:t>p</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y</a:t>
            </a:r>
            <a:r>
              <a:rPr lang="en-US" altLang="zh-CN">
                <a:solidFill>
                  <a:srgbClr val="FF0000"/>
                </a:solidFill>
                <a:ea typeface="MingLiU_HKSCS-ExtB" panose="02020500000000000000" charset="-120"/>
              </a:rPr>
              <a:t>)</a:t>
            </a:r>
          </a:p>
          <a:p>
            <a:pPr marL="355600" lvl="1">
              <a:buClr>
                <a:srgbClr val="993366"/>
              </a:buClr>
            </a:pPr>
            <a:r>
              <a:rPr lang="en-US" altLang="zh-CN" i="1">
                <a:solidFill>
                  <a:srgbClr val="FF0000"/>
                </a:solidFill>
                <a:ea typeface="MingLiU_HKSCS-ExtB" panose="02020500000000000000" charset="-120"/>
              </a:rPr>
              <a:t> X</a:t>
            </a:r>
            <a:r>
              <a:rPr lang="en-US" altLang="zh-CN" i="1">
                <a:solidFill>
                  <a:srgbClr val="FFFF00"/>
                </a:solidFill>
                <a:ea typeface="MingLiU_HKSCS-ExtB" panose="02020500000000000000" charset="-120"/>
              </a:rPr>
              <a:t> </a:t>
            </a:r>
            <a:r>
              <a:rPr lang="zh-CN" altLang="en-US">
                <a:ea typeface="MingLiU_HKSCS-ExtB" panose="02020500000000000000" charset="-120"/>
              </a:rPr>
              <a:t>和</a:t>
            </a:r>
            <a:r>
              <a:rPr lang="zh-CN" altLang="en-US">
                <a:solidFill>
                  <a:srgbClr val="FF0000"/>
                </a:solidFill>
                <a:ea typeface="MingLiU_HKSCS-ExtB" panose="02020500000000000000" charset="-120"/>
              </a:rPr>
              <a:t> </a:t>
            </a:r>
            <a:r>
              <a:rPr lang="en-US" altLang="zh-CN" i="1">
                <a:solidFill>
                  <a:srgbClr val="FF0000"/>
                </a:solidFill>
                <a:ea typeface="MingLiU_HKSCS-ExtB" panose="02020500000000000000" charset="-120"/>
              </a:rPr>
              <a:t>Y</a:t>
            </a:r>
            <a:r>
              <a:rPr lang="en-US" altLang="zh-CN" i="1">
                <a:solidFill>
                  <a:srgbClr val="FFFF00"/>
                </a:solidFill>
                <a:ea typeface="MingLiU_HKSCS-ExtB" panose="02020500000000000000" charset="-120"/>
              </a:rPr>
              <a:t> </a:t>
            </a:r>
            <a:r>
              <a:rPr lang="zh-CN" altLang="en-US">
                <a:ea typeface="MingLiU_HKSCS-ExtB" panose="02020500000000000000" charset="-120"/>
              </a:rPr>
              <a:t>之间的失真度：</a:t>
            </a:r>
            <a:r>
              <a:rPr lang="en-US" altLang="zh-CN" i="1">
                <a:solidFill>
                  <a:srgbClr val="FF0000"/>
                </a:solidFill>
                <a:ea typeface="MingLiU_HKSCS-ExtB" panose="02020500000000000000" charset="-120"/>
              </a:rPr>
              <a:t>d</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x</a:t>
            </a:r>
            <a:r>
              <a:rPr lang="en-US" altLang="zh-CN">
                <a:solidFill>
                  <a:srgbClr val="FF0000"/>
                </a:solidFill>
                <a:ea typeface="MingLiU_HKSCS-ExtB" panose="02020500000000000000" charset="-120"/>
              </a:rPr>
              <a:t>,</a:t>
            </a:r>
            <a:r>
              <a:rPr lang="en-US" altLang="zh-CN" i="1">
                <a:solidFill>
                  <a:srgbClr val="FF0000"/>
                </a:solidFill>
                <a:ea typeface="MingLiU_HKSCS-ExtB" panose="02020500000000000000" charset="-120"/>
              </a:rPr>
              <a:t>y</a:t>
            </a:r>
            <a:r>
              <a:rPr lang="en-US" altLang="zh-CN">
                <a:solidFill>
                  <a:srgbClr val="FF0000"/>
                </a:solidFill>
                <a:ea typeface="MingLiU_HKSCS-ExtB" panose="02020500000000000000" charset="-120"/>
              </a:rPr>
              <a:t>)≥0</a:t>
            </a:r>
            <a:endParaRPr lang="en-US" altLang="zh-CN">
              <a:ea typeface="MingLiU_HKSCS-ExtB" panose="02020500000000000000" charset="-120"/>
            </a:endParaRPr>
          </a:p>
        </p:txBody>
      </p:sp>
      <p:sp>
        <p:nvSpPr>
          <p:cNvPr id="2657" name="矩形 2656"/>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4.3</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连</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续</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spd="med">
    <p:spli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91</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60" name="标题 2659"/>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4.3.1 </a:t>
            </a:r>
            <a:r>
              <a:rPr lang="zh-CN" altLang="en-US" sz="2800">
                <a:ea typeface="MingLiU_HKSCS-ExtB" panose="02020500000000000000" charset="-120"/>
              </a:rPr>
              <a:t>连续信源的信息率失真函数的参量表达式</a:t>
            </a:r>
          </a:p>
        </p:txBody>
      </p:sp>
      <p:sp>
        <p:nvSpPr>
          <p:cNvPr id="2661" name="文本占位符 2660"/>
          <p:cNvSpPr>
            <a:spLocks noGrp="1"/>
          </p:cNvSpPr>
          <p:nvPr>
            <p:ph type="body" idx="4294967295"/>
          </p:nvPr>
        </p:nvSpPr>
        <p:spPr>
          <a:xfrm>
            <a:off x="590550" y="981075"/>
            <a:ext cx="8229600" cy="5327650"/>
          </a:xfrm>
        </p:spPr>
        <p:txBody>
          <a:bodyPr/>
          <a:lstStyle/>
          <a:p>
            <a:pPr marL="355600" indent="-355600">
              <a:buClr>
                <a:srgbClr val="993366"/>
              </a:buClr>
            </a:pPr>
            <a:r>
              <a:rPr lang="zh-CN" altLang="en-US" sz="2400">
                <a:solidFill>
                  <a:srgbClr val="0000CC"/>
                </a:solidFill>
                <a:ea typeface="MingLiU_HKSCS-ExtB" panose="02020500000000000000" charset="-120"/>
              </a:rPr>
              <a:t>平均失真度为：</a:t>
            </a:r>
          </a:p>
          <a:p>
            <a:pPr marL="355600" indent="-355600">
              <a:buClr>
                <a:srgbClr val="993366"/>
              </a:buClr>
            </a:pPr>
            <a:endParaRPr lang="zh-CN" altLang="en-US" sz="2400">
              <a:solidFill>
                <a:srgbClr val="0000CC"/>
              </a:solidFill>
              <a:ea typeface="MingLiU_HKSCS-ExtB" panose="02020500000000000000" charset="-120"/>
            </a:endParaRPr>
          </a:p>
          <a:p>
            <a:pPr marL="355600" indent="-355600">
              <a:buClr>
                <a:srgbClr val="993366"/>
              </a:buClr>
            </a:pPr>
            <a:endParaRPr lang="zh-CN" altLang="en-US" sz="2400">
              <a:ea typeface="MingLiU_HKSCS-ExtB" panose="02020500000000000000" charset="-120"/>
            </a:endParaRPr>
          </a:p>
          <a:p>
            <a:pPr marL="355600" indent="-355600">
              <a:buClr>
                <a:srgbClr val="993366"/>
              </a:buClr>
            </a:pPr>
            <a:r>
              <a:rPr lang="zh-CN" altLang="en-US" sz="2400">
                <a:solidFill>
                  <a:srgbClr val="0000CC"/>
                </a:solidFill>
                <a:ea typeface="MingLiU_HKSCS-ExtB" panose="02020500000000000000" charset="-120"/>
              </a:rPr>
              <a:t>平均互信息为：</a:t>
            </a:r>
          </a:p>
        </p:txBody>
      </p:sp>
      <p:graphicFrame>
        <p:nvGraphicFramePr>
          <p:cNvPr id="2662" name="对象 2661"/>
          <p:cNvGraphicFramePr/>
          <p:nvPr/>
        </p:nvGraphicFramePr>
        <p:xfrm>
          <a:off x="1247775" y="1700213"/>
          <a:ext cx="7354888" cy="725487"/>
        </p:xfrm>
        <a:graphic>
          <a:graphicData uri="http://schemas.openxmlformats.org/presentationml/2006/ole">
            <mc:AlternateContent xmlns:mc="http://schemas.openxmlformats.org/markup-compatibility/2006">
              <mc:Choice xmlns:v="urn:schemas-microsoft-com:vml" Requires="v">
                <p:oleObj spid="_x0000_s57347" r:id="rId3" imgW="895350" imgH="330200" progId="Equation.3">
                  <p:embed/>
                </p:oleObj>
              </mc:Choice>
              <mc:Fallback>
                <p:oleObj r:id="rId3" imgW="895350" imgH="330200" progId="Equation.3">
                  <p:embed/>
                  <p:pic>
                    <p:nvPicPr>
                      <p:cNvPr id="0" name="图片 3113"/>
                      <p:cNvPicPr/>
                      <p:nvPr/>
                    </p:nvPicPr>
                    <p:blipFill>
                      <a:blip r:embed="rId4"/>
                      <a:stretch>
                        <a:fillRect/>
                      </a:stretch>
                    </p:blipFill>
                    <p:spPr>
                      <a:xfrm>
                        <a:off x="1247775" y="1700213"/>
                        <a:ext cx="7354888" cy="725487"/>
                      </a:xfrm>
                      <a:prstGeom prst="rect">
                        <a:avLst/>
                      </a:prstGeom>
                      <a:noFill/>
                      <a:ln w="38100">
                        <a:noFill/>
                        <a:miter/>
                      </a:ln>
                    </p:spPr>
                  </p:pic>
                </p:oleObj>
              </mc:Fallback>
            </mc:AlternateContent>
          </a:graphicData>
        </a:graphic>
      </p:graphicFrame>
      <p:graphicFrame>
        <p:nvGraphicFramePr>
          <p:cNvPr id="2663" name="对象 2662"/>
          <p:cNvGraphicFramePr/>
          <p:nvPr/>
        </p:nvGraphicFramePr>
        <p:xfrm>
          <a:off x="1182688" y="3502025"/>
          <a:ext cx="7748587" cy="2590800"/>
        </p:xfrm>
        <a:graphic>
          <a:graphicData uri="http://schemas.openxmlformats.org/presentationml/2006/ole">
            <mc:AlternateContent xmlns:mc="http://schemas.openxmlformats.org/markup-compatibility/2006">
              <mc:Choice xmlns:v="urn:schemas-microsoft-com:vml" Requires="v">
                <p:oleObj spid="_x0000_s57348" r:id="rId5" imgW="2663825" imgH="1459865" progId="Equation.3">
                  <p:embed/>
                </p:oleObj>
              </mc:Choice>
              <mc:Fallback>
                <p:oleObj r:id="rId5" imgW="2663825" imgH="1459865" progId="Equation.3">
                  <p:embed/>
                  <p:pic>
                    <p:nvPicPr>
                      <p:cNvPr id="0" name="图片 3114"/>
                      <p:cNvPicPr/>
                      <p:nvPr/>
                    </p:nvPicPr>
                    <p:blipFill>
                      <a:blip r:embed="rId6"/>
                      <a:stretch>
                        <a:fillRect/>
                      </a:stretch>
                    </p:blipFill>
                    <p:spPr>
                      <a:xfrm>
                        <a:off x="1182688" y="3502025"/>
                        <a:ext cx="7748587" cy="2590800"/>
                      </a:xfrm>
                      <a:prstGeom prst="rect">
                        <a:avLst/>
                      </a:prstGeom>
                      <a:noFill/>
                      <a:ln w="38100">
                        <a:noFill/>
                        <a:miter/>
                      </a:ln>
                    </p:spPr>
                  </p:pic>
                </p:oleObj>
              </mc:Fallback>
            </mc:AlternateContent>
          </a:graphicData>
        </a:graphic>
      </p:graphicFrame>
      <p:sp>
        <p:nvSpPr>
          <p:cNvPr id="2664" name="矩形 2663"/>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4.3</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连</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续</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spd="med">
    <p:spli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92</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67" name="标题 2666"/>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4.3.1 </a:t>
            </a:r>
            <a:r>
              <a:rPr lang="zh-CN" altLang="en-US" sz="2800">
                <a:ea typeface="MingLiU_HKSCS-ExtB" panose="02020500000000000000" charset="-120"/>
              </a:rPr>
              <a:t>连续信源的信息率失真函数的参量表达式</a:t>
            </a:r>
          </a:p>
        </p:txBody>
      </p:sp>
      <p:sp>
        <p:nvSpPr>
          <p:cNvPr id="2668" name="文本占位符 2667"/>
          <p:cNvSpPr>
            <a:spLocks noGrp="1"/>
          </p:cNvSpPr>
          <p:nvPr>
            <p:ph type="body" idx="4294967295"/>
          </p:nvPr>
        </p:nvSpPr>
        <p:spPr>
          <a:xfrm>
            <a:off x="590550" y="981075"/>
            <a:ext cx="8229600" cy="5327650"/>
          </a:xfrm>
        </p:spPr>
        <p:txBody>
          <a:bodyPr/>
          <a:lstStyle/>
          <a:p>
            <a:pPr marL="355600" indent="-355600">
              <a:lnSpc>
                <a:spcPct val="130000"/>
              </a:lnSpc>
              <a:buClr>
                <a:srgbClr val="993366"/>
              </a:buClr>
            </a:pPr>
            <a:r>
              <a:rPr lang="en-US" altLang="zh-CN" sz="2400" i="1">
                <a:solidFill>
                  <a:srgbClr val="0000CC"/>
                </a:solidFill>
                <a:ea typeface="MingLiU_HKSCS-ExtB" panose="02020500000000000000" charset="-120"/>
              </a:rPr>
              <a:t>P</a:t>
            </a:r>
            <a:r>
              <a:rPr lang="en-US" altLang="zh-CN" sz="2400" i="1" baseline="-25000">
                <a:solidFill>
                  <a:srgbClr val="0000CC"/>
                </a:solidFill>
                <a:ea typeface="MingLiU_HKSCS-ExtB" panose="02020500000000000000" charset="-120"/>
              </a:rPr>
              <a:t>D</a:t>
            </a:r>
            <a:r>
              <a:rPr lang="zh-CN" altLang="en-US" sz="2400">
                <a:ea typeface="MingLiU_HKSCS-ExtB" panose="02020500000000000000" charset="-120"/>
              </a:rPr>
              <a:t>为满足保真度准则                的所有试验信道集合。</a:t>
            </a:r>
          </a:p>
          <a:p>
            <a:pPr marL="355600" indent="-355600">
              <a:lnSpc>
                <a:spcPct val="130000"/>
              </a:lnSpc>
              <a:buClr>
                <a:srgbClr val="993366"/>
              </a:buClr>
            </a:pPr>
            <a:r>
              <a:rPr lang="zh-CN" altLang="en-US" sz="2400">
                <a:ea typeface="MingLiU_HKSCS-ExtB" panose="02020500000000000000" charset="-120"/>
              </a:rPr>
              <a:t>信息率失真函数为：</a:t>
            </a:r>
          </a:p>
          <a:p>
            <a:pPr marL="355600" indent="-355600">
              <a:lnSpc>
                <a:spcPct val="130000"/>
              </a:lnSpc>
              <a:buClr>
                <a:srgbClr val="993366"/>
              </a:buClr>
            </a:pPr>
            <a:endParaRPr lang="zh-CN" altLang="en-US" sz="2400">
              <a:ea typeface="MingLiU_HKSCS-ExtB" panose="02020500000000000000" charset="-120"/>
            </a:endParaRPr>
          </a:p>
          <a:p>
            <a:pPr marL="355600" indent="-355600">
              <a:lnSpc>
                <a:spcPct val="130000"/>
              </a:lnSpc>
              <a:buClr>
                <a:srgbClr val="993366"/>
              </a:buClr>
            </a:pPr>
            <a:endParaRPr lang="zh-CN" altLang="en-US" sz="2400">
              <a:ea typeface="MingLiU_HKSCS-ExtB" panose="02020500000000000000" charset="-120"/>
            </a:endParaRPr>
          </a:p>
          <a:p>
            <a:pPr marL="355600" indent="-355600">
              <a:lnSpc>
                <a:spcPct val="130000"/>
              </a:lnSpc>
              <a:buClr>
                <a:srgbClr val="993366"/>
              </a:buClr>
            </a:pPr>
            <a:endParaRPr lang="zh-CN" altLang="en-US" sz="2400">
              <a:ea typeface="MingLiU_HKSCS-ExtB" panose="02020500000000000000" charset="-120"/>
            </a:endParaRPr>
          </a:p>
          <a:p>
            <a:pPr marL="355600" indent="-355600">
              <a:lnSpc>
                <a:spcPct val="130000"/>
              </a:lnSpc>
              <a:buClr>
                <a:srgbClr val="993366"/>
              </a:buClr>
            </a:pPr>
            <a:endParaRPr lang="zh-CN" altLang="en-US" sz="2400">
              <a:ea typeface="MingLiU_HKSCS-ExtB" panose="02020500000000000000" charset="-120"/>
            </a:endParaRPr>
          </a:p>
          <a:p>
            <a:pPr marL="355600" indent="-355600">
              <a:lnSpc>
                <a:spcPct val="130000"/>
              </a:lnSpc>
              <a:buClr>
                <a:srgbClr val="993366"/>
              </a:buClr>
            </a:pPr>
            <a:endParaRPr lang="zh-CN" altLang="en-US" sz="2400">
              <a:ea typeface="MingLiU_HKSCS-ExtB" panose="02020500000000000000" charset="-120"/>
            </a:endParaRPr>
          </a:p>
          <a:p>
            <a:pPr marL="355600" indent="-355600">
              <a:lnSpc>
                <a:spcPct val="130000"/>
              </a:lnSpc>
              <a:buClr>
                <a:srgbClr val="993366"/>
              </a:buClr>
            </a:pPr>
            <a:r>
              <a:rPr lang="zh-CN" altLang="en-US" sz="2400">
                <a:ea typeface="MingLiU_HKSCS-ExtB" panose="02020500000000000000" charset="-120"/>
              </a:rPr>
              <a:t>相当于离散信源中求极小值，严格地说，连续集合未必存在极小值，但是一定存在下确界。</a:t>
            </a:r>
          </a:p>
        </p:txBody>
      </p:sp>
      <p:graphicFrame>
        <p:nvGraphicFramePr>
          <p:cNvPr id="2669" name="对象 2668"/>
          <p:cNvGraphicFramePr/>
          <p:nvPr/>
        </p:nvGraphicFramePr>
        <p:xfrm>
          <a:off x="4040188" y="1125538"/>
          <a:ext cx="742950" cy="338137"/>
        </p:xfrm>
        <a:graphic>
          <a:graphicData uri="http://schemas.openxmlformats.org/presentationml/2006/ole">
            <mc:AlternateContent xmlns:mc="http://schemas.openxmlformats.org/markup-compatibility/2006">
              <mc:Choice xmlns:v="urn:schemas-microsoft-com:vml" Requires="v">
                <p:oleObj spid="_x0000_s58372" r:id="rId3" imgW="370840" imgH="203200" progId="Equation.3">
                  <p:embed/>
                </p:oleObj>
              </mc:Choice>
              <mc:Fallback>
                <p:oleObj r:id="rId3" imgW="370840" imgH="203200" progId="Equation.3">
                  <p:embed/>
                  <p:pic>
                    <p:nvPicPr>
                      <p:cNvPr id="0" name="图片 3115"/>
                      <p:cNvPicPr/>
                      <p:nvPr/>
                    </p:nvPicPr>
                    <p:blipFill>
                      <a:blip r:embed="rId4"/>
                      <a:stretch>
                        <a:fillRect/>
                      </a:stretch>
                    </p:blipFill>
                    <p:spPr>
                      <a:xfrm>
                        <a:off x="4040188" y="1125538"/>
                        <a:ext cx="742950" cy="338137"/>
                      </a:xfrm>
                      <a:prstGeom prst="rect">
                        <a:avLst/>
                      </a:prstGeom>
                      <a:noFill/>
                      <a:ln w="38100">
                        <a:noFill/>
                        <a:miter/>
                      </a:ln>
                    </p:spPr>
                  </p:pic>
                </p:oleObj>
              </mc:Fallback>
            </mc:AlternateContent>
          </a:graphicData>
        </a:graphic>
      </p:graphicFrame>
      <p:graphicFrame>
        <p:nvGraphicFramePr>
          <p:cNvPr id="2670" name="对象 2669"/>
          <p:cNvGraphicFramePr/>
          <p:nvPr/>
        </p:nvGraphicFramePr>
        <p:xfrm>
          <a:off x="2247900" y="2349500"/>
          <a:ext cx="4021138" cy="798513"/>
        </p:xfrm>
        <a:graphic>
          <a:graphicData uri="http://schemas.openxmlformats.org/presentationml/2006/ole">
            <mc:AlternateContent xmlns:mc="http://schemas.openxmlformats.org/markup-compatibility/2006">
              <mc:Choice xmlns:v="urn:schemas-microsoft-com:vml" Requires="v">
                <p:oleObj spid="_x0000_s58373" r:id="rId5" imgW="584200" imgH="292100" progId="Equation.3">
                  <p:embed/>
                </p:oleObj>
              </mc:Choice>
              <mc:Fallback>
                <p:oleObj r:id="rId5" imgW="584200" imgH="292100" progId="Equation.3">
                  <p:embed/>
                  <p:pic>
                    <p:nvPicPr>
                      <p:cNvPr id="0" name="图片 3116"/>
                      <p:cNvPicPr/>
                      <p:nvPr/>
                    </p:nvPicPr>
                    <p:blipFill>
                      <a:blip r:embed="rId6"/>
                      <a:stretch>
                        <a:fillRect/>
                      </a:stretch>
                    </p:blipFill>
                    <p:spPr>
                      <a:xfrm>
                        <a:off x="2247900" y="2349500"/>
                        <a:ext cx="4021138" cy="798513"/>
                      </a:xfrm>
                      <a:prstGeom prst="rect">
                        <a:avLst/>
                      </a:prstGeom>
                      <a:noFill/>
                      <a:ln w="38100">
                        <a:noFill/>
                        <a:miter/>
                      </a:ln>
                    </p:spPr>
                  </p:pic>
                </p:oleObj>
              </mc:Fallback>
            </mc:AlternateContent>
          </a:graphicData>
        </a:graphic>
      </p:graphicFrame>
      <p:graphicFrame>
        <p:nvGraphicFramePr>
          <p:cNvPr id="2671" name="对象 2670"/>
          <p:cNvGraphicFramePr/>
          <p:nvPr/>
        </p:nvGraphicFramePr>
        <p:xfrm>
          <a:off x="1514475" y="3489325"/>
          <a:ext cx="2265363" cy="390525"/>
        </p:xfrm>
        <a:graphic>
          <a:graphicData uri="http://schemas.openxmlformats.org/presentationml/2006/ole">
            <mc:AlternateContent xmlns:mc="http://schemas.openxmlformats.org/markup-compatibility/2006">
              <mc:Choice xmlns:v="urn:schemas-microsoft-com:vml" Requires="v">
                <p:oleObj spid="_x0000_s58374" r:id="rId7" imgW="1231265" imgH="203200" progId="Equation.3">
                  <p:embed/>
                </p:oleObj>
              </mc:Choice>
              <mc:Fallback>
                <p:oleObj r:id="rId7" imgW="1231265" imgH="203200" progId="Equation.3">
                  <p:embed/>
                  <p:pic>
                    <p:nvPicPr>
                      <p:cNvPr id="0" name="图片 3122"/>
                      <p:cNvPicPr/>
                      <p:nvPr/>
                    </p:nvPicPr>
                    <p:blipFill>
                      <a:blip r:embed="rId8"/>
                      <a:stretch>
                        <a:fillRect/>
                      </a:stretch>
                    </p:blipFill>
                    <p:spPr>
                      <a:xfrm>
                        <a:off x="1514475" y="3489325"/>
                        <a:ext cx="2265363" cy="390525"/>
                      </a:xfrm>
                      <a:prstGeom prst="rect">
                        <a:avLst/>
                      </a:prstGeom>
                      <a:noFill/>
                      <a:ln w="38100">
                        <a:noFill/>
                        <a:miter/>
                      </a:ln>
                    </p:spPr>
                  </p:pic>
                </p:oleObj>
              </mc:Fallback>
            </mc:AlternateContent>
          </a:graphicData>
        </a:graphic>
      </p:graphicFrame>
      <p:sp>
        <p:nvSpPr>
          <p:cNvPr id="2672" name="矩形 2671"/>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4.3</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连</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续</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spd="med">
    <p:spli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93</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75" name="标题 2674"/>
          <p:cNvSpPr>
            <a:spLocks noGrp="1"/>
          </p:cNvSpPr>
          <p:nvPr>
            <p:ph type="title" idx="4294967295"/>
          </p:nvPr>
        </p:nvSpPr>
        <p:spPr>
          <a:xfrm>
            <a:off x="982663" y="188913"/>
            <a:ext cx="8161337" cy="719137"/>
          </a:xfrm>
        </p:spPr>
        <p:txBody>
          <a:bodyPr anchor="ctr" anchorCtr="0"/>
          <a:lstStyle/>
          <a:p>
            <a:r>
              <a:rPr lang="en-US" altLang="zh-CN" sz="2800">
                <a:ea typeface="MingLiU_HKSCS-ExtB" panose="02020500000000000000" charset="-120"/>
              </a:rPr>
              <a:t>4.3.1 </a:t>
            </a:r>
            <a:r>
              <a:rPr lang="zh-CN" altLang="en-US" sz="2800">
                <a:ea typeface="MingLiU_HKSCS-ExtB" panose="02020500000000000000" charset="-120"/>
              </a:rPr>
              <a:t>连续信源的信息率失真函数的参量表达式</a:t>
            </a:r>
          </a:p>
        </p:txBody>
      </p:sp>
      <p:sp>
        <p:nvSpPr>
          <p:cNvPr id="2676" name="文本占位符 2675"/>
          <p:cNvSpPr>
            <a:spLocks noGrp="1"/>
          </p:cNvSpPr>
          <p:nvPr>
            <p:ph type="body" idx="4294967295"/>
          </p:nvPr>
        </p:nvSpPr>
        <p:spPr>
          <a:xfrm>
            <a:off x="590550" y="981075"/>
            <a:ext cx="8229600" cy="5327650"/>
          </a:xfrm>
        </p:spPr>
        <p:txBody>
          <a:bodyPr/>
          <a:lstStyle/>
          <a:p>
            <a:pPr marL="355600" indent="-355600">
              <a:buClr>
                <a:srgbClr val="993366"/>
              </a:buClr>
            </a:pPr>
            <a:r>
              <a:rPr lang="en-US" altLang="zh-CN" sz="2400" i="1">
                <a:solidFill>
                  <a:srgbClr val="0000CC"/>
                </a:solidFill>
                <a:ea typeface="MingLiU_HKSCS-ExtB" panose="02020500000000000000" charset="-120"/>
              </a:rPr>
              <a:t>R</a:t>
            </a:r>
            <a:r>
              <a:rPr lang="en-US" altLang="zh-CN" sz="2400">
                <a:solidFill>
                  <a:srgbClr val="0000CC"/>
                </a:solidFill>
                <a:ea typeface="MingLiU_HKSCS-ExtB" panose="02020500000000000000" charset="-120"/>
              </a:rPr>
              <a:t>(</a:t>
            </a:r>
            <a:r>
              <a:rPr lang="en-US" altLang="zh-CN" sz="2400" i="1">
                <a:solidFill>
                  <a:srgbClr val="0000CC"/>
                </a:solidFill>
                <a:ea typeface="MingLiU_HKSCS-ExtB" panose="02020500000000000000" charset="-120"/>
              </a:rPr>
              <a:t>D</a:t>
            </a:r>
            <a:r>
              <a:rPr lang="en-US" altLang="zh-CN" sz="2400">
                <a:solidFill>
                  <a:srgbClr val="0000CC"/>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函数的参量表达式：</a:t>
            </a:r>
          </a:p>
          <a:p>
            <a:pPr marL="355600" indent="-355600">
              <a:buClr>
                <a:srgbClr val="993366"/>
              </a:buClr>
            </a:pPr>
            <a:endParaRPr lang="zh-CN" altLang="en-US" sz="2400">
              <a:ea typeface="MingLiU_HKSCS-ExtB" panose="02020500000000000000" charset="-120"/>
            </a:endParaRPr>
          </a:p>
          <a:p>
            <a:pPr marL="355600" indent="-355600">
              <a:buClr>
                <a:srgbClr val="993366"/>
              </a:buClr>
            </a:pPr>
            <a:endParaRPr lang="zh-CN" altLang="en-US" sz="2400">
              <a:ea typeface="MingLiU_HKSCS-ExtB" panose="02020500000000000000" charset="-120"/>
            </a:endParaRPr>
          </a:p>
          <a:p>
            <a:pPr marL="355600" indent="-355600">
              <a:buClr>
                <a:srgbClr val="993366"/>
              </a:buClr>
            </a:pPr>
            <a:endParaRPr lang="zh-CN" altLang="en-US" sz="2400">
              <a:ea typeface="MingLiU_HKSCS-ExtB" panose="02020500000000000000" charset="-120"/>
            </a:endParaRPr>
          </a:p>
          <a:p>
            <a:pPr marL="355600" indent="-355600">
              <a:buClr>
                <a:srgbClr val="993366"/>
              </a:buClr>
            </a:pPr>
            <a:endParaRPr lang="zh-CN" altLang="en-US" sz="2400">
              <a:ea typeface="MingLiU_HKSCS-ExtB" panose="02020500000000000000" charset="-120"/>
            </a:endParaRPr>
          </a:p>
          <a:p>
            <a:pPr marL="355600" indent="-355600">
              <a:buClr>
                <a:srgbClr val="993366"/>
              </a:buClr>
            </a:pPr>
            <a:endParaRPr lang="zh-CN" altLang="en-US" sz="2400">
              <a:ea typeface="MingLiU_HKSCS-ExtB" panose="02020500000000000000" charset="-120"/>
            </a:endParaRPr>
          </a:p>
          <a:p>
            <a:pPr marL="355600" indent="-355600">
              <a:buClr>
                <a:srgbClr val="993366"/>
              </a:buClr>
            </a:pPr>
            <a:r>
              <a:rPr lang="zh-CN" altLang="en-US" sz="2400">
                <a:ea typeface="MingLiU_HKSCS-ExtB" panose="02020500000000000000" charset="-120"/>
              </a:rPr>
              <a:t>一般情况，在平均失真度        积分存在情况下，</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R</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en-US" altLang="zh-CN" sz="2400">
                <a:solidFill>
                  <a:schemeClr val="bg1"/>
                </a:solidFill>
                <a:ea typeface="MingLiU_HKSCS-ExtB" panose="02020500000000000000" charset="-120"/>
              </a:rPr>
              <a:t> </a:t>
            </a:r>
            <a:r>
              <a:rPr lang="zh-CN" altLang="en-US" sz="2400">
                <a:ea typeface="MingLiU_HKSCS-ExtB" panose="02020500000000000000" charset="-120"/>
              </a:rPr>
              <a:t>的解存在，直接求解困难，用迭代算法计算机求解，只在特殊情况下求解比较简单。</a:t>
            </a:r>
          </a:p>
        </p:txBody>
      </p:sp>
      <p:graphicFrame>
        <p:nvGraphicFramePr>
          <p:cNvPr id="2677" name="对象 2676"/>
          <p:cNvGraphicFramePr/>
          <p:nvPr/>
        </p:nvGraphicFramePr>
        <p:xfrm>
          <a:off x="1816100" y="1730375"/>
          <a:ext cx="6510338" cy="1450975"/>
        </p:xfrm>
        <a:graphic>
          <a:graphicData uri="http://schemas.openxmlformats.org/presentationml/2006/ole">
            <mc:AlternateContent xmlns:mc="http://schemas.openxmlformats.org/markup-compatibility/2006">
              <mc:Choice xmlns:v="urn:schemas-microsoft-com:vml" Requires="v">
                <p:oleObj spid="_x0000_s59396" r:id="rId3" imgW="1397000" imgH="673100" progId="Equation.3">
                  <p:embed/>
                </p:oleObj>
              </mc:Choice>
              <mc:Fallback>
                <p:oleObj r:id="rId3" imgW="1397000" imgH="673100" progId="Equation.3">
                  <p:embed/>
                  <p:pic>
                    <p:nvPicPr>
                      <p:cNvPr id="0" name="图片 3118"/>
                      <p:cNvPicPr/>
                      <p:nvPr/>
                    </p:nvPicPr>
                    <p:blipFill>
                      <a:blip r:embed="rId4"/>
                      <a:stretch>
                        <a:fillRect/>
                      </a:stretch>
                    </p:blipFill>
                    <p:spPr>
                      <a:xfrm>
                        <a:off x="1816100" y="1730375"/>
                        <a:ext cx="6510338" cy="1450975"/>
                      </a:xfrm>
                      <a:prstGeom prst="rect">
                        <a:avLst/>
                      </a:prstGeom>
                      <a:noFill/>
                      <a:ln w="38100">
                        <a:noFill/>
                        <a:miter/>
                      </a:ln>
                    </p:spPr>
                  </p:pic>
                </p:oleObj>
              </mc:Fallback>
            </mc:AlternateContent>
          </a:graphicData>
        </a:graphic>
      </p:graphicFrame>
      <p:graphicFrame>
        <p:nvGraphicFramePr>
          <p:cNvPr id="2678" name="对象 2677"/>
          <p:cNvGraphicFramePr/>
          <p:nvPr/>
        </p:nvGraphicFramePr>
        <p:xfrm>
          <a:off x="1276350" y="3489325"/>
          <a:ext cx="4824413" cy="731838"/>
        </p:xfrm>
        <a:graphic>
          <a:graphicData uri="http://schemas.openxmlformats.org/presentationml/2006/ole">
            <mc:AlternateContent xmlns:mc="http://schemas.openxmlformats.org/markup-compatibility/2006">
              <mc:Choice xmlns:v="urn:schemas-microsoft-com:vml" Requires="v">
                <p:oleObj spid="_x0000_s59397" r:id="rId5" imgW="1082040" imgH="406400" progId="Equation.3">
                  <p:embed/>
                </p:oleObj>
              </mc:Choice>
              <mc:Fallback>
                <p:oleObj r:id="rId5" imgW="1082040" imgH="406400" progId="Equation.3">
                  <p:embed/>
                  <p:pic>
                    <p:nvPicPr>
                      <p:cNvPr id="0" name="图片 3117"/>
                      <p:cNvPicPr/>
                      <p:nvPr/>
                    </p:nvPicPr>
                    <p:blipFill>
                      <a:blip r:embed="rId6"/>
                      <a:stretch>
                        <a:fillRect/>
                      </a:stretch>
                    </p:blipFill>
                    <p:spPr>
                      <a:xfrm>
                        <a:off x="1276350" y="3489325"/>
                        <a:ext cx="4824413" cy="731838"/>
                      </a:xfrm>
                      <a:prstGeom prst="rect">
                        <a:avLst/>
                      </a:prstGeom>
                      <a:noFill/>
                      <a:ln w="38100">
                        <a:noFill/>
                        <a:miter/>
                      </a:ln>
                    </p:spPr>
                  </p:pic>
                </p:oleObj>
              </mc:Fallback>
            </mc:AlternateContent>
          </a:graphicData>
        </a:graphic>
      </p:graphicFrame>
      <p:graphicFrame>
        <p:nvGraphicFramePr>
          <p:cNvPr id="2679" name="对象 2678"/>
          <p:cNvGraphicFramePr/>
          <p:nvPr/>
        </p:nvGraphicFramePr>
        <p:xfrm>
          <a:off x="4505325" y="4581525"/>
          <a:ext cx="358775" cy="438150"/>
        </p:xfrm>
        <a:graphic>
          <a:graphicData uri="http://schemas.openxmlformats.org/presentationml/2006/ole">
            <mc:AlternateContent xmlns:mc="http://schemas.openxmlformats.org/markup-compatibility/2006">
              <mc:Choice xmlns:v="urn:schemas-microsoft-com:vml" Requires="v">
                <p:oleObj spid="_x0000_s59398" r:id="rId7" imgW="165100" imgH="114935" progId="Equation.3">
                  <p:embed/>
                </p:oleObj>
              </mc:Choice>
              <mc:Fallback>
                <p:oleObj r:id="rId7" imgW="165100" imgH="114935" progId="Equation.3">
                  <p:embed/>
                  <p:pic>
                    <p:nvPicPr>
                      <p:cNvPr id="0" name="图片 3119"/>
                      <p:cNvPicPr/>
                      <p:nvPr/>
                    </p:nvPicPr>
                    <p:blipFill>
                      <a:blip r:embed="rId8"/>
                      <a:stretch>
                        <a:fillRect/>
                      </a:stretch>
                    </p:blipFill>
                    <p:spPr>
                      <a:xfrm>
                        <a:off x="4505325" y="4581525"/>
                        <a:ext cx="358775" cy="438150"/>
                      </a:xfrm>
                      <a:prstGeom prst="rect">
                        <a:avLst/>
                      </a:prstGeom>
                      <a:noFill/>
                      <a:ln w="38100">
                        <a:noFill/>
                        <a:miter/>
                      </a:ln>
                    </p:spPr>
                  </p:pic>
                </p:oleObj>
              </mc:Fallback>
            </mc:AlternateContent>
          </a:graphicData>
        </a:graphic>
      </p:graphicFrame>
      <p:sp>
        <p:nvSpPr>
          <p:cNvPr id="2680" name="矩形 2679"/>
          <p:cNvSpPr/>
          <p:nvPr/>
        </p:nvSpPr>
        <p:spPr>
          <a:xfrm>
            <a:off x="8029575" y="5948363"/>
            <a:ext cx="796925" cy="360362"/>
          </a:xfrm>
          <a:solidFill>
            <a:srgbClr val="BBE0E3"/>
          </a:solidFill>
          <a:ln w="12700">
            <a:noFill/>
          </a:ln>
        </p:spPr>
        <p:txBody>
          <a:bodyPr/>
          <a:lstStyle/>
          <a:p>
            <a:endParaRPr lang="zh-CN" altLang="en-US"/>
          </a:p>
        </p:txBody>
      </p:sp>
      <p:sp>
        <p:nvSpPr>
          <p:cNvPr id="2681" name="矩形 2680"/>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4.3</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连</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续</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spd="med">
    <p:spli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94</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84" name="标题 2683"/>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4.3.2 </a:t>
            </a:r>
            <a:r>
              <a:rPr lang="zh-CN" altLang="en-US">
                <a:ea typeface="MingLiU_HKSCS-ExtB" panose="02020500000000000000" charset="-120"/>
              </a:rPr>
              <a:t>高斯信源的信息率失真函数</a:t>
            </a:r>
          </a:p>
        </p:txBody>
      </p:sp>
      <p:sp>
        <p:nvSpPr>
          <p:cNvPr id="2685" name="文本占位符 2684"/>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高斯信源特性及失真度</a:t>
            </a:r>
          </a:p>
          <a:p>
            <a:pPr marL="355600" indent="-355600">
              <a:buClr>
                <a:srgbClr val="993366"/>
              </a:buClr>
            </a:pPr>
            <a:r>
              <a:rPr lang="zh-CN" altLang="en-US" sz="2000">
                <a:ea typeface="MingLiU_HKSCS-ExtB" panose="02020500000000000000" charset="-120"/>
              </a:rPr>
              <a:t>设连续信源的概率密度为</a:t>
            </a:r>
            <a:r>
              <a:rPr lang="zh-CN" altLang="en-US" sz="2000">
                <a:solidFill>
                  <a:srgbClr val="FF0000"/>
                </a:solidFill>
                <a:ea typeface="MingLiU_HKSCS-ExtB" panose="02020500000000000000" charset="-120"/>
              </a:rPr>
              <a:t>正态分布函数：</a:t>
            </a:r>
          </a:p>
          <a:p>
            <a:pPr marL="355600" indent="-355600">
              <a:buClr>
                <a:srgbClr val="993366"/>
              </a:buClr>
            </a:pPr>
            <a:endParaRPr lang="zh-CN" altLang="en-US" sz="2000">
              <a:solidFill>
                <a:srgbClr val="FF0000"/>
              </a:solidFill>
              <a:ea typeface="MingLiU_HKSCS-ExtB" panose="02020500000000000000" charset="-120"/>
            </a:endParaRPr>
          </a:p>
          <a:p>
            <a:pPr marL="355600" indent="-355600">
              <a:buClr>
                <a:srgbClr val="993366"/>
              </a:buClr>
            </a:pPr>
            <a:endParaRPr lang="zh-CN" altLang="en-US" sz="2000">
              <a:solidFill>
                <a:schemeClr val="bg1"/>
              </a:solidFill>
              <a:ea typeface="MingLiU_HKSCS-ExtB" panose="02020500000000000000" charset="-120"/>
            </a:endParaRPr>
          </a:p>
          <a:p>
            <a:pPr marL="355600" indent="-355600">
              <a:buClr>
                <a:srgbClr val="993366"/>
              </a:buClr>
            </a:pPr>
            <a:r>
              <a:rPr lang="zh-CN" altLang="en-US" sz="2000">
                <a:ea typeface="MingLiU_HKSCS-ExtB" panose="02020500000000000000" charset="-120"/>
              </a:rPr>
              <a:t>数学期望为：</a:t>
            </a:r>
          </a:p>
          <a:p>
            <a:pPr marL="355600" indent="-355600">
              <a:buClr>
                <a:srgbClr val="993366"/>
              </a:buClr>
            </a:pPr>
            <a:r>
              <a:rPr lang="zh-CN" altLang="en-US" sz="2000">
                <a:ea typeface="MingLiU_HKSCS-ExtB" panose="02020500000000000000" charset="-120"/>
              </a:rPr>
              <a:t>方差为：</a:t>
            </a:r>
          </a:p>
          <a:p>
            <a:pPr marL="355600" indent="-355600">
              <a:buClr>
                <a:srgbClr val="993366"/>
              </a:buClr>
            </a:pPr>
            <a:endParaRPr lang="zh-CN" altLang="en-US" sz="2000">
              <a:ea typeface="MingLiU_HKSCS-ExtB" panose="02020500000000000000" charset="-120"/>
            </a:endParaRPr>
          </a:p>
          <a:p>
            <a:pPr marL="355600" indent="-355600">
              <a:buClr>
                <a:srgbClr val="993366"/>
              </a:buClr>
            </a:pPr>
            <a:r>
              <a:rPr lang="zh-CN" altLang="en-US" sz="2000">
                <a:solidFill>
                  <a:srgbClr val="FF0000"/>
                </a:solidFill>
                <a:ea typeface="MingLiU_HKSCS-ExtB" panose="02020500000000000000" charset="-120"/>
              </a:rPr>
              <a:t>失真度</a:t>
            </a:r>
            <a:r>
              <a:rPr lang="zh-CN" altLang="en-US" sz="2000">
                <a:ea typeface="MingLiU_HKSCS-ExtB" panose="02020500000000000000" charset="-120"/>
              </a:rPr>
              <a:t>为 </a:t>
            </a:r>
            <a:r>
              <a:rPr lang="en-US" altLang="zh-CN" sz="2000" i="1">
                <a:ea typeface="MingLiU_HKSCS-ExtB" panose="02020500000000000000" charset="-120"/>
              </a:rPr>
              <a:t>d</a:t>
            </a:r>
            <a:r>
              <a:rPr lang="en-US" altLang="zh-CN" sz="2000">
                <a:ea typeface="MingLiU_HKSCS-ExtB" panose="02020500000000000000" charset="-120"/>
              </a:rPr>
              <a:t>(</a:t>
            </a:r>
            <a:r>
              <a:rPr lang="en-US" altLang="zh-CN" sz="2000" i="1">
                <a:ea typeface="MingLiU_HKSCS-ExtB" panose="02020500000000000000" charset="-120"/>
              </a:rPr>
              <a:t>x</a:t>
            </a:r>
            <a:r>
              <a:rPr lang="en-US" altLang="zh-CN" sz="2000">
                <a:ea typeface="MingLiU_HKSCS-ExtB" panose="02020500000000000000" charset="-120"/>
              </a:rPr>
              <a:t>,</a:t>
            </a:r>
            <a:r>
              <a:rPr lang="en-US" altLang="zh-CN" sz="2000" i="1">
                <a:ea typeface="MingLiU_HKSCS-ExtB" panose="02020500000000000000" charset="-120"/>
              </a:rPr>
              <a:t>y</a:t>
            </a:r>
            <a:r>
              <a:rPr lang="en-US" altLang="zh-CN" sz="2000">
                <a:ea typeface="MingLiU_HKSCS-ExtB" panose="02020500000000000000" charset="-120"/>
              </a:rPr>
              <a:t>)=(</a:t>
            </a:r>
            <a:r>
              <a:rPr lang="en-US" altLang="zh-CN" sz="2000" i="1">
                <a:ea typeface="MingLiU_HKSCS-ExtB" panose="02020500000000000000" charset="-120"/>
              </a:rPr>
              <a:t>x</a:t>
            </a:r>
            <a:r>
              <a:rPr lang="zh-CN" altLang="en-US" sz="2000">
                <a:ea typeface="MingLiU_HKSCS-ExtB" panose="02020500000000000000" charset="-120"/>
              </a:rPr>
              <a:t>－</a:t>
            </a:r>
            <a:r>
              <a:rPr lang="en-US" altLang="zh-CN" sz="2000" i="1">
                <a:ea typeface="MingLiU_HKSCS-ExtB" panose="02020500000000000000" charset="-120"/>
              </a:rPr>
              <a:t>y</a:t>
            </a:r>
            <a:r>
              <a:rPr lang="en-US" altLang="zh-CN" sz="2000">
                <a:ea typeface="MingLiU_HKSCS-ExtB" panose="02020500000000000000" charset="-120"/>
              </a:rPr>
              <a:t>)</a:t>
            </a:r>
            <a:r>
              <a:rPr lang="en-US" altLang="zh-CN" sz="2000" baseline="30000">
                <a:ea typeface="MingLiU_HKSCS-ExtB" panose="02020500000000000000" charset="-120"/>
              </a:rPr>
              <a:t>2</a:t>
            </a:r>
            <a:r>
              <a:rPr lang="zh-CN" altLang="en-US" sz="2000">
                <a:ea typeface="MingLiU_HKSCS-ExtB" panose="02020500000000000000" charset="-120"/>
              </a:rPr>
              <a:t>，即把均方误差作为失真，表明通信系统中输入输出之间误差越大，失真越严重，严重程度随误差增大呈平方增长。</a:t>
            </a:r>
          </a:p>
        </p:txBody>
      </p:sp>
      <p:graphicFrame>
        <p:nvGraphicFramePr>
          <p:cNvPr id="2686" name="对象 2685"/>
          <p:cNvGraphicFramePr/>
          <p:nvPr/>
        </p:nvGraphicFramePr>
        <p:xfrm>
          <a:off x="3001963" y="2084388"/>
          <a:ext cx="2500312" cy="839787"/>
        </p:xfrm>
        <a:graphic>
          <a:graphicData uri="http://schemas.openxmlformats.org/presentationml/2006/ole">
            <mc:AlternateContent xmlns:mc="http://schemas.openxmlformats.org/markup-compatibility/2006">
              <mc:Choice xmlns:v="urn:schemas-microsoft-com:vml" Requires="v">
                <p:oleObj spid="_x0000_s60419" r:id="rId3" imgW="784225" imgH="393700" progId="Equation.3">
                  <p:embed/>
                </p:oleObj>
              </mc:Choice>
              <mc:Fallback>
                <p:oleObj r:id="rId3" imgW="784225" imgH="393700" progId="Equation.3">
                  <p:embed/>
                  <p:pic>
                    <p:nvPicPr>
                      <p:cNvPr id="0" name="图片 3120"/>
                      <p:cNvPicPr/>
                      <p:nvPr/>
                    </p:nvPicPr>
                    <p:blipFill>
                      <a:blip r:embed="rId4"/>
                      <a:stretch>
                        <a:fillRect/>
                      </a:stretch>
                    </p:blipFill>
                    <p:spPr>
                      <a:xfrm>
                        <a:off x="3001963" y="2084388"/>
                        <a:ext cx="2500312" cy="839787"/>
                      </a:xfrm>
                      <a:prstGeom prst="rect">
                        <a:avLst/>
                      </a:prstGeom>
                      <a:noFill/>
                      <a:ln w="38100">
                        <a:noFill/>
                        <a:miter/>
                      </a:ln>
                    </p:spPr>
                  </p:pic>
                </p:oleObj>
              </mc:Fallback>
            </mc:AlternateContent>
          </a:graphicData>
        </a:graphic>
      </p:graphicFrame>
      <p:graphicFrame>
        <p:nvGraphicFramePr>
          <p:cNvPr id="2687" name="对象 2686"/>
          <p:cNvGraphicFramePr/>
          <p:nvPr/>
        </p:nvGraphicFramePr>
        <p:xfrm>
          <a:off x="2646363" y="3125788"/>
          <a:ext cx="2667000" cy="1166812"/>
        </p:xfrm>
        <a:graphic>
          <a:graphicData uri="http://schemas.openxmlformats.org/presentationml/2006/ole">
            <mc:AlternateContent xmlns:mc="http://schemas.openxmlformats.org/markup-compatibility/2006">
              <mc:Choice xmlns:v="urn:schemas-microsoft-com:vml" Requires="v">
                <p:oleObj spid="_x0000_s60420" r:id="rId5" imgW="1239520" imgH="673100" progId="Equation.3">
                  <p:embed/>
                </p:oleObj>
              </mc:Choice>
              <mc:Fallback>
                <p:oleObj r:id="rId5" imgW="1239520" imgH="673100" progId="Equation.3">
                  <p:embed/>
                  <p:pic>
                    <p:nvPicPr>
                      <p:cNvPr id="0" name="图片 3121"/>
                      <p:cNvPicPr/>
                      <p:nvPr/>
                    </p:nvPicPr>
                    <p:blipFill>
                      <a:blip r:embed="rId6"/>
                      <a:stretch>
                        <a:fillRect/>
                      </a:stretch>
                    </p:blipFill>
                    <p:spPr>
                      <a:xfrm>
                        <a:off x="2646363" y="3125788"/>
                        <a:ext cx="2667000" cy="1166812"/>
                      </a:xfrm>
                      <a:prstGeom prst="rect">
                        <a:avLst/>
                      </a:prstGeom>
                      <a:noFill/>
                      <a:ln w="38100">
                        <a:noFill/>
                        <a:miter/>
                      </a:ln>
                    </p:spPr>
                  </p:pic>
                </p:oleObj>
              </mc:Fallback>
            </mc:AlternateContent>
          </a:graphicData>
        </a:graphic>
      </p:graphicFrame>
      <p:sp>
        <p:nvSpPr>
          <p:cNvPr id="2688" name="矩形 2687"/>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4.3</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连</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续</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spd="med">
    <p:spli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95</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91" name="标题 2690"/>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4.3.2 </a:t>
            </a:r>
            <a:r>
              <a:rPr lang="zh-CN" altLang="en-US">
                <a:ea typeface="MingLiU_HKSCS-ExtB" panose="02020500000000000000" charset="-120"/>
              </a:rPr>
              <a:t>高斯信源的信息率失真函数</a:t>
            </a:r>
          </a:p>
        </p:txBody>
      </p:sp>
      <p:sp>
        <p:nvSpPr>
          <p:cNvPr id="2692" name="矩形 2691"/>
          <p:cNvSpPr/>
          <p:nvPr/>
        </p:nvSpPr>
        <p:spPr>
          <a:xfrm>
            <a:off x="539750" y="981075"/>
            <a:ext cx="8280400" cy="5183188"/>
          </a:xfrm>
          <a:prstGeom prst="rect">
            <a:avLst/>
          </a:prstGeom>
          <a:noFill/>
          <a:ln w="9525">
            <a:noFill/>
          </a:ln>
        </p:spPr>
        <p:txBody>
          <a:bodyPr/>
          <a:lstStyle>
            <a:lvl1pPr marL="0" lvl="0"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ÿ"/>
              <a:defRPr sz="2400" b="1" u="none" kern="1200">
                <a:solidFill>
                  <a:schemeClr val="tx1"/>
                </a:solidFill>
                <a:latin typeface="Times New Roman" panose="02020603050405020304" pitchFamily="18" charset="0"/>
                <a:ea typeface="宋体" panose="02010600030101010101" pitchFamily="2" charset="-122"/>
              </a:defRPr>
            </a:lvl1pPr>
            <a:lvl2pPr marL="357505" lvl="1"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q"/>
              <a:defRPr sz="2000" b="1" u="none" kern="1200">
                <a:solidFill>
                  <a:schemeClr val="tx1"/>
                </a:solidFill>
                <a:latin typeface="Times New Roman" panose="02020603050405020304" pitchFamily="18" charset="0"/>
                <a:ea typeface="楷体_GB2312" pitchFamily="49" charset="-122"/>
              </a:defRPr>
            </a:lvl2pPr>
            <a:lvl3pPr marL="713105" lvl="2" indent="0" algn="l" defTabSz="914400" rtl="0" eaLnBrk="1" fontAlgn="base" latinLnBrk="0" hangingPunct="1">
              <a:lnSpc>
                <a:spcPct val="140000"/>
              </a:lnSpc>
              <a:spcBef>
                <a:spcPct val="0"/>
              </a:spcBef>
              <a:spcAft>
                <a:spcPct val="20000"/>
              </a:spcAft>
              <a:buClr>
                <a:srgbClr val="993366"/>
              </a:buClr>
              <a:buSzPct val="90000"/>
              <a:buFont typeface="Arial" panose="020B0604020202020204"/>
              <a:buChar char="▼"/>
              <a:defRPr sz="1800" b="1" u="none" kern="1200">
                <a:solidFill>
                  <a:schemeClr val="tx1"/>
                </a:solidFill>
                <a:latin typeface="Times New Roman" panose="02020603050405020304" pitchFamily="18" charset="0"/>
                <a:ea typeface="楷体_GB2312" pitchFamily="49" charset="-122"/>
              </a:defRPr>
            </a:lvl3pPr>
            <a:lvl4pPr marL="1079500" lvl="3"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v"/>
              <a:defRPr sz="1800" b="1" u="none" kern="1200">
                <a:solidFill>
                  <a:schemeClr val="tx1"/>
                </a:solidFill>
                <a:latin typeface="Times New Roman" panose="02020603050405020304" pitchFamily="18" charset="0"/>
                <a:ea typeface="楷体_GB2312" pitchFamily="49" charset="-122"/>
              </a:defRPr>
            </a:lvl4pPr>
            <a:lvl5pPr marL="1435100" lvl="4"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
              <a:defRPr sz="1800" b="1" u="none" kern="1200">
                <a:solidFill>
                  <a:schemeClr val="tx1"/>
                </a:solidFill>
                <a:latin typeface="Times New Roman" panose="02020603050405020304" pitchFamily="18" charset="0"/>
                <a:ea typeface="楷体_GB2312" pitchFamily="49" charset="-122"/>
              </a:defRPr>
            </a:lvl5pPr>
          </a:lstStyle>
          <a:p>
            <a:pPr lvl="0">
              <a:buClr>
                <a:srgbClr val="993366"/>
              </a:buClr>
              <a:buNone/>
            </a:pPr>
            <a:r>
              <a:rPr lang="en-US" altLang="zh-CN" sz="2800">
                <a:ea typeface="MingLiU_HKSCS-ExtB" panose="02020500000000000000" charset="-120"/>
              </a:rPr>
              <a:t>(2) </a:t>
            </a:r>
            <a:r>
              <a:rPr lang="zh-CN" altLang="en-US" sz="2800">
                <a:ea typeface="MingLiU_HKSCS-ExtB" panose="02020500000000000000" charset="-120"/>
              </a:rPr>
              <a:t>高斯信源 </a:t>
            </a:r>
            <a:r>
              <a:rPr lang="en-US" altLang="zh-CN" sz="2800" i="1">
                <a:ea typeface="MingLiU_HKSCS-ExtB" panose="02020500000000000000" charset="-120"/>
              </a:rPr>
              <a:t>R</a:t>
            </a:r>
            <a:r>
              <a:rPr lang="en-US" altLang="zh-CN" sz="2800">
                <a:ea typeface="MingLiU_HKSCS-ExtB" panose="02020500000000000000" charset="-120"/>
              </a:rPr>
              <a:t>(</a:t>
            </a:r>
            <a:r>
              <a:rPr lang="en-US" altLang="zh-CN" sz="2800" i="1">
                <a:ea typeface="MingLiU_HKSCS-ExtB" panose="02020500000000000000" charset="-120"/>
              </a:rPr>
              <a:t>D</a:t>
            </a:r>
            <a:r>
              <a:rPr lang="en-US" altLang="zh-CN" sz="2800">
                <a:ea typeface="MingLiU_HKSCS-ExtB" panose="02020500000000000000" charset="-120"/>
              </a:rPr>
              <a:t>) </a:t>
            </a:r>
            <a:r>
              <a:rPr lang="zh-CN" altLang="en-US" sz="2800">
                <a:ea typeface="MingLiU_HKSCS-ExtB" panose="02020500000000000000" charset="-120"/>
              </a:rPr>
              <a:t>的特性</a:t>
            </a:r>
          </a:p>
        </p:txBody>
      </p:sp>
      <p:pic>
        <p:nvPicPr>
          <p:cNvPr id="2693" name="图片 2692"/>
          <p:cNvPicPr>
            <a:picLocks noChangeAspect="1"/>
          </p:cNvPicPr>
          <p:nvPr/>
        </p:nvPicPr>
        <p:blipFill>
          <a:blip r:embed="rId3"/>
          <a:stretch>
            <a:fillRect/>
          </a:stretch>
        </p:blipFill>
        <p:spPr>
          <a:xfrm>
            <a:off x="4806950" y="1247775"/>
            <a:ext cx="4152900" cy="4845050"/>
          </a:xfrm>
          <a:prstGeom prst="rect">
            <a:avLst/>
          </a:prstGeom>
          <a:noFill/>
          <a:ln w="9525">
            <a:noFill/>
          </a:ln>
        </p:spPr>
      </p:pic>
      <p:graphicFrame>
        <p:nvGraphicFramePr>
          <p:cNvPr id="2694" name="对象 2693"/>
          <p:cNvGraphicFramePr/>
          <p:nvPr/>
        </p:nvGraphicFramePr>
        <p:xfrm>
          <a:off x="1258888" y="1989138"/>
          <a:ext cx="3036887" cy="1100137"/>
        </p:xfrm>
        <a:graphic>
          <a:graphicData uri="http://schemas.openxmlformats.org/presentationml/2006/ole">
            <mc:AlternateContent xmlns:mc="http://schemas.openxmlformats.org/markup-compatibility/2006">
              <mc:Choice xmlns:v="urn:schemas-microsoft-com:vml" Requires="v">
                <p:oleObj spid="_x0000_s61442" r:id="rId4" imgW="1153160" imgH="635000" progId="Equation.3">
                  <p:embed/>
                </p:oleObj>
              </mc:Choice>
              <mc:Fallback>
                <p:oleObj r:id="rId4" imgW="1153160" imgH="635000" progId="Equation.3">
                  <p:embed/>
                  <p:pic>
                    <p:nvPicPr>
                      <p:cNvPr id="0" name="图片 3123"/>
                      <p:cNvPicPr/>
                      <p:nvPr/>
                    </p:nvPicPr>
                    <p:blipFill>
                      <a:blip r:embed="rId5"/>
                      <a:stretch>
                        <a:fillRect/>
                      </a:stretch>
                    </p:blipFill>
                    <p:spPr>
                      <a:xfrm>
                        <a:off x="1258888" y="1989138"/>
                        <a:ext cx="3036887" cy="1100137"/>
                      </a:xfrm>
                      <a:prstGeom prst="rect">
                        <a:avLst/>
                      </a:prstGeom>
                      <a:noFill/>
                      <a:ln w="38100">
                        <a:noFill/>
                        <a:miter/>
                      </a:ln>
                    </p:spPr>
                  </p:pic>
                </p:oleObj>
              </mc:Fallback>
            </mc:AlternateContent>
          </a:graphicData>
        </a:graphic>
      </p:graphicFrame>
      <p:sp>
        <p:nvSpPr>
          <p:cNvPr id="2695" name="矩形 2694"/>
          <p:cNvSpPr/>
          <p:nvPr/>
        </p:nvSpPr>
        <p:spPr>
          <a:xfrm>
            <a:off x="900113" y="3378200"/>
            <a:ext cx="3598862" cy="2654300"/>
          </a:xfrm>
          <a:prstGeom prst="rect">
            <a:avLst/>
          </a:prstGeom>
          <a:noFill/>
          <a:ln w="12700">
            <a:noFill/>
          </a:ln>
        </p:spPr>
        <p:txBody>
          <a:bodyPr>
            <a:spAutoFit/>
          </a:bodyPr>
          <a:lstStyle/>
          <a:p>
            <a:pPr marL="357505" indent="-357505" eaLnBrk="0" hangingPunct="0">
              <a:lnSpc>
                <a:spcPct val="140000"/>
              </a:lnSpc>
              <a:spcBef>
                <a:spcPct val="20000"/>
              </a:spcBef>
              <a:buClr>
                <a:srgbClr val="660033"/>
              </a:buClr>
              <a:buSzPct val="90000"/>
              <a:buFont typeface="Wingdings" panose="05000000000000000000" pitchFamily="2" charset="2"/>
              <a:buChar char="ÿ"/>
            </a:pPr>
            <a:r>
              <a:rPr lang="zh-CN" altLang="en-US" sz="2400" b="1">
                <a:latin typeface="Times New Roman" panose="02020603050405020304" pitchFamily="18" charset="0"/>
                <a:ea typeface="MingLiU_HKSCS-ExtB" panose="02020500000000000000" charset="-120"/>
              </a:rPr>
              <a:t>当信源均值不为 </a:t>
            </a:r>
            <a:r>
              <a:rPr lang="en-US" altLang="zh-CN" sz="2400" b="1">
                <a:latin typeface="Times New Roman" panose="02020603050405020304" pitchFamily="18" charset="0"/>
                <a:ea typeface="MingLiU_HKSCS-ExtB" panose="02020500000000000000" charset="-120"/>
              </a:rPr>
              <a:t>0 </a:t>
            </a:r>
            <a:r>
              <a:rPr lang="zh-CN" altLang="en-US" sz="2400" b="1">
                <a:latin typeface="Times New Roman" panose="02020603050405020304" pitchFamily="18" charset="0"/>
                <a:ea typeface="MingLiU_HKSCS-ExtB" panose="02020500000000000000" charset="-120"/>
              </a:rPr>
              <a:t>时，仍有这个结果，因为高斯信源的熵只与随机变量的方差有关，与均值无关。</a:t>
            </a:r>
          </a:p>
        </p:txBody>
      </p:sp>
      <p:sp>
        <p:nvSpPr>
          <p:cNvPr id="2696" name="矩形 2695"/>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4.3</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连</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续</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spd="med">
    <p:pull dir="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96</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699" name="标题 2698"/>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4.3.2 </a:t>
            </a:r>
            <a:r>
              <a:rPr lang="zh-CN" altLang="en-US">
                <a:ea typeface="MingLiU_HKSCS-ExtB" panose="02020500000000000000" charset="-120"/>
              </a:rPr>
              <a:t>高斯信源的信息率失真函数</a:t>
            </a:r>
          </a:p>
        </p:txBody>
      </p:sp>
      <p:sp>
        <p:nvSpPr>
          <p:cNvPr id="2700" name="矩形 2699"/>
          <p:cNvSpPr/>
          <p:nvPr/>
        </p:nvSpPr>
        <p:spPr>
          <a:xfrm>
            <a:off x="539750" y="981075"/>
            <a:ext cx="8208963" cy="5183188"/>
          </a:xfrm>
          <a:prstGeom prst="rect">
            <a:avLst/>
          </a:prstGeom>
          <a:noFill/>
          <a:ln w="9525">
            <a:noFill/>
          </a:ln>
        </p:spPr>
        <p:txBody>
          <a:bodyPr/>
          <a:lstStyle>
            <a:lvl1pPr marL="0" lvl="0"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ÿ"/>
              <a:defRPr sz="2400" b="1" u="none" kern="1200">
                <a:solidFill>
                  <a:schemeClr val="tx1"/>
                </a:solidFill>
                <a:latin typeface="Times New Roman" panose="02020603050405020304" pitchFamily="18" charset="0"/>
                <a:ea typeface="宋体" panose="02010600030101010101" pitchFamily="2" charset="-122"/>
              </a:defRPr>
            </a:lvl1pPr>
            <a:lvl2pPr marL="357505" lvl="1"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q"/>
              <a:defRPr sz="2000" b="1" u="none" kern="1200">
                <a:solidFill>
                  <a:schemeClr val="tx1"/>
                </a:solidFill>
                <a:latin typeface="Times New Roman" panose="02020603050405020304" pitchFamily="18" charset="0"/>
                <a:ea typeface="楷体_GB2312" pitchFamily="49" charset="-122"/>
              </a:defRPr>
            </a:lvl2pPr>
            <a:lvl3pPr marL="713105" lvl="2" indent="0" algn="l" defTabSz="914400" rtl="0" eaLnBrk="1" fontAlgn="base" latinLnBrk="0" hangingPunct="1">
              <a:lnSpc>
                <a:spcPct val="140000"/>
              </a:lnSpc>
              <a:spcBef>
                <a:spcPct val="0"/>
              </a:spcBef>
              <a:spcAft>
                <a:spcPct val="20000"/>
              </a:spcAft>
              <a:buClr>
                <a:srgbClr val="993366"/>
              </a:buClr>
              <a:buSzPct val="90000"/>
              <a:buFont typeface="Arial" panose="020B0604020202020204"/>
              <a:buChar char="▼"/>
              <a:defRPr sz="1800" b="1" u="none" kern="1200">
                <a:solidFill>
                  <a:schemeClr val="tx1"/>
                </a:solidFill>
                <a:latin typeface="Times New Roman" panose="02020603050405020304" pitchFamily="18" charset="0"/>
                <a:ea typeface="楷体_GB2312" pitchFamily="49" charset="-122"/>
              </a:defRPr>
            </a:lvl3pPr>
            <a:lvl4pPr marL="1079500" lvl="3"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v"/>
              <a:defRPr sz="1800" b="1" u="none" kern="1200">
                <a:solidFill>
                  <a:schemeClr val="tx1"/>
                </a:solidFill>
                <a:latin typeface="Times New Roman" panose="02020603050405020304" pitchFamily="18" charset="0"/>
                <a:ea typeface="楷体_GB2312" pitchFamily="49" charset="-122"/>
              </a:defRPr>
            </a:lvl4pPr>
            <a:lvl5pPr marL="1435100" lvl="4"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
              <a:defRPr sz="1800" b="1" u="none" kern="1200">
                <a:solidFill>
                  <a:schemeClr val="tx1"/>
                </a:solidFill>
                <a:latin typeface="Times New Roman" panose="02020603050405020304" pitchFamily="18" charset="0"/>
                <a:ea typeface="楷体_GB2312" pitchFamily="49" charset="-122"/>
              </a:defRPr>
            </a:lvl5pPr>
          </a:lstStyle>
          <a:p>
            <a:pPr marL="355600" lvl="0" indent="-355600" defTabSz="762000">
              <a:buClr>
                <a:srgbClr val="993366"/>
              </a:buClr>
              <a:buNone/>
            </a:pPr>
            <a:r>
              <a:rPr lang="en-US" altLang="zh-CN" sz="2800">
                <a:ea typeface="MingLiU_HKSCS-ExtB" panose="02020500000000000000" charset="-120"/>
              </a:rPr>
              <a:t>(2) </a:t>
            </a:r>
            <a:r>
              <a:rPr lang="zh-CN" altLang="en-US" sz="2800">
                <a:ea typeface="MingLiU_HKSCS-ExtB" panose="02020500000000000000" charset="-120"/>
              </a:rPr>
              <a:t>高斯信源 </a:t>
            </a:r>
            <a:r>
              <a:rPr lang="en-US" altLang="zh-CN" sz="2800" i="1">
                <a:ea typeface="MingLiU_HKSCS-ExtB" panose="02020500000000000000" charset="-120"/>
              </a:rPr>
              <a:t>R</a:t>
            </a:r>
            <a:r>
              <a:rPr lang="en-US" altLang="zh-CN" sz="2800">
                <a:ea typeface="MingLiU_HKSCS-ExtB" panose="02020500000000000000" charset="-120"/>
              </a:rPr>
              <a:t>(</a:t>
            </a:r>
            <a:r>
              <a:rPr lang="en-US" altLang="zh-CN" sz="2800" i="1">
                <a:ea typeface="MingLiU_HKSCS-ExtB" panose="02020500000000000000" charset="-120"/>
              </a:rPr>
              <a:t>D</a:t>
            </a:r>
            <a:r>
              <a:rPr lang="en-US" altLang="zh-CN" sz="2800">
                <a:ea typeface="MingLiU_HKSCS-ExtB" panose="02020500000000000000" charset="-120"/>
              </a:rPr>
              <a:t>) </a:t>
            </a:r>
            <a:r>
              <a:rPr lang="zh-CN" altLang="en-US" sz="2800">
                <a:ea typeface="MingLiU_HKSCS-ExtB" panose="02020500000000000000" charset="-120"/>
              </a:rPr>
              <a:t>的特性</a:t>
            </a:r>
          </a:p>
        </p:txBody>
      </p:sp>
      <p:pic>
        <p:nvPicPr>
          <p:cNvPr id="2701" name="图片 2700"/>
          <p:cNvPicPr>
            <a:picLocks noChangeAspect="1"/>
          </p:cNvPicPr>
          <p:nvPr/>
        </p:nvPicPr>
        <p:blipFill>
          <a:blip r:embed="rId2"/>
          <a:stretch>
            <a:fillRect/>
          </a:stretch>
        </p:blipFill>
        <p:spPr>
          <a:xfrm>
            <a:off x="4806950" y="1247775"/>
            <a:ext cx="4152900" cy="4845050"/>
          </a:xfrm>
          <a:prstGeom prst="rect">
            <a:avLst/>
          </a:prstGeom>
          <a:noFill/>
          <a:ln w="9525">
            <a:noFill/>
          </a:ln>
        </p:spPr>
      </p:pic>
      <p:sp>
        <p:nvSpPr>
          <p:cNvPr id="2702" name="矩形 2701"/>
          <p:cNvSpPr/>
          <p:nvPr/>
        </p:nvSpPr>
        <p:spPr>
          <a:xfrm>
            <a:off x="900113" y="1773238"/>
            <a:ext cx="3675062" cy="3679825"/>
          </a:xfrm>
          <a:prstGeom prst="rect">
            <a:avLst/>
          </a:prstGeom>
          <a:noFill/>
          <a:ln w="12700">
            <a:noFill/>
          </a:ln>
        </p:spPr>
        <p:txBody>
          <a:bodyPr>
            <a:spAutoFit/>
          </a:bodyPr>
          <a:lstStyle/>
          <a:p>
            <a:pPr marL="357505" indent="-357505" eaLnBrk="0" hangingPunct="0">
              <a:lnSpc>
                <a:spcPct val="140000"/>
              </a:lnSpc>
              <a:spcBef>
                <a:spcPct val="20000"/>
              </a:spcBef>
              <a:buClr>
                <a:srgbClr val="660033"/>
              </a:buClr>
              <a:buSzPct val="90000"/>
              <a:buFont typeface="Wingdings" panose="05000000000000000000" pitchFamily="2" charset="2"/>
              <a:buChar char="ÿ"/>
            </a:pPr>
            <a:r>
              <a:rPr lang="zh-CN" altLang="en-US" sz="2400" b="1">
                <a:solidFill>
                  <a:srgbClr val="0000CC"/>
                </a:solidFill>
                <a:latin typeface="Times New Roman" panose="02020603050405020304" pitchFamily="18" charset="0"/>
                <a:ea typeface="MingLiU_HKSCS-ExtB" panose="02020500000000000000" charset="-120"/>
              </a:rPr>
              <a:t>当 </a:t>
            </a:r>
            <a:r>
              <a:rPr lang="en-US" altLang="zh-CN" sz="2400" b="1" i="1">
                <a:solidFill>
                  <a:srgbClr val="0000CC"/>
                </a:solidFill>
                <a:latin typeface="Times New Roman" panose="02020603050405020304" pitchFamily="18" charset="0"/>
                <a:ea typeface="MingLiU_HKSCS-ExtB" panose="02020500000000000000" charset="-120"/>
              </a:rPr>
              <a:t>D</a:t>
            </a:r>
            <a:r>
              <a:rPr lang="en-US" altLang="zh-CN" sz="2400" b="1">
                <a:solidFill>
                  <a:srgbClr val="0000CC"/>
                </a:solidFill>
                <a:latin typeface="Times New Roman" panose="02020603050405020304" pitchFamily="18" charset="0"/>
                <a:ea typeface="MingLiU_HKSCS-ExtB" panose="02020500000000000000" charset="-120"/>
              </a:rPr>
              <a:t>=</a:t>
            </a:r>
            <a:r>
              <a:rPr lang="en-US" altLang="zh-CN" sz="2400" b="1" i="1">
                <a:solidFill>
                  <a:srgbClr val="0000CC"/>
                </a:solidFill>
                <a:latin typeface="Times New Roman" panose="02020603050405020304" pitchFamily="18" charset="0"/>
                <a:ea typeface="MingLiU_HKSCS-ExtB" panose="02020500000000000000" charset="-120"/>
              </a:rPr>
              <a:t>σ</a:t>
            </a:r>
            <a:r>
              <a:rPr lang="en-US" altLang="zh-CN" sz="2400" b="1" baseline="30000">
                <a:solidFill>
                  <a:srgbClr val="0000CC"/>
                </a:solidFill>
                <a:latin typeface="Times New Roman" panose="02020603050405020304" pitchFamily="18" charset="0"/>
                <a:ea typeface="MingLiU_HKSCS-ExtB" panose="02020500000000000000" charset="-120"/>
              </a:rPr>
              <a:t>2</a:t>
            </a:r>
            <a:r>
              <a:rPr lang="en-US" altLang="zh-CN" sz="2400" b="1">
                <a:solidFill>
                  <a:srgbClr val="0000CC"/>
                </a:solidFill>
                <a:latin typeface="Times New Roman" panose="02020603050405020304" pitchFamily="18" charset="0"/>
                <a:ea typeface="MingLiU_HKSCS-ExtB" panose="02020500000000000000" charset="-120"/>
              </a:rPr>
              <a:t>  </a:t>
            </a:r>
            <a:r>
              <a:rPr lang="zh-CN" altLang="en-US" sz="2400" b="1">
                <a:solidFill>
                  <a:srgbClr val="0000CC"/>
                </a:solidFill>
                <a:latin typeface="Times New Roman" panose="02020603050405020304" pitchFamily="18" charset="0"/>
                <a:ea typeface="MingLiU_HKSCS-ExtB" panose="02020500000000000000" charset="-120"/>
              </a:rPr>
              <a:t>时，</a:t>
            </a:r>
            <a:r>
              <a:rPr lang="en-US" altLang="zh-CN" sz="2400" b="1" i="1">
                <a:solidFill>
                  <a:srgbClr val="0000CC"/>
                </a:solidFill>
                <a:latin typeface="Times New Roman" panose="02020603050405020304" pitchFamily="18" charset="0"/>
                <a:ea typeface="MingLiU_HKSCS-ExtB" panose="02020500000000000000" charset="-120"/>
              </a:rPr>
              <a:t>R</a:t>
            </a:r>
            <a:r>
              <a:rPr lang="en-US" altLang="zh-CN" sz="2400" b="1">
                <a:solidFill>
                  <a:srgbClr val="0000CC"/>
                </a:solidFill>
                <a:latin typeface="Times New Roman" panose="02020603050405020304" pitchFamily="18" charset="0"/>
                <a:ea typeface="MingLiU_HKSCS-ExtB" panose="02020500000000000000" charset="-120"/>
              </a:rPr>
              <a:t>(</a:t>
            </a:r>
            <a:r>
              <a:rPr lang="en-US" altLang="zh-CN" sz="2400" b="1" i="1">
                <a:solidFill>
                  <a:srgbClr val="0000CC"/>
                </a:solidFill>
                <a:latin typeface="Times New Roman" panose="02020603050405020304" pitchFamily="18" charset="0"/>
                <a:ea typeface="MingLiU_HKSCS-ExtB" panose="02020500000000000000" charset="-120"/>
              </a:rPr>
              <a:t>D</a:t>
            </a:r>
            <a:r>
              <a:rPr lang="en-US" altLang="zh-CN" sz="2400" b="1">
                <a:solidFill>
                  <a:srgbClr val="0000CC"/>
                </a:solidFill>
                <a:latin typeface="Times New Roman" panose="02020603050405020304" pitchFamily="18" charset="0"/>
                <a:ea typeface="MingLiU_HKSCS-ExtB" panose="02020500000000000000" charset="-120"/>
              </a:rPr>
              <a:t>)=0 </a:t>
            </a:r>
            <a:r>
              <a:rPr lang="zh-CN" altLang="en-US" sz="2400" b="1">
                <a:solidFill>
                  <a:srgbClr val="0000CC"/>
                </a:solidFill>
                <a:latin typeface="Times New Roman" panose="02020603050405020304" pitchFamily="18" charset="0"/>
                <a:ea typeface="MingLiU_HKSCS-ExtB" panose="02020500000000000000" charset="-120"/>
              </a:rPr>
              <a:t>：</a:t>
            </a:r>
            <a:r>
              <a:rPr lang="zh-CN" altLang="en-US" sz="2400" b="1">
                <a:latin typeface="Times New Roman" panose="02020603050405020304" pitchFamily="18" charset="0"/>
                <a:ea typeface="MingLiU_HKSCS-ExtB" panose="02020500000000000000" charset="-120"/>
              </a:rPr>
              <a:t>这就是说，如果允许失真（均方误差）等于信源的方差，只需用确知的均值 </a:t>
            </a:r>
            <a:r>
              <a:rPr lang="en-US" altLang="zh-CN" sz="2400" b="1" i="1">
                <a:latin typeface="Times New Roman" panose="02020603050405020304" pitchFamily="18" charset="0"/>
                <a:ea typeface="MingLiU_HKSCS-ExtB" panose="02020500000000000000" charset="-120"/>
              </a:rPr>
              <a:t>m </a:t>
            </a:r>
            <a:r>
              <a:rPr lang="zh-CN" altLang="en-US" sz="2400" b="1">
                <a:latin typeface="Times New Roman" panose="02020603050405020304" pitchFamily="18" charset="0"/>
                <a:ea typeface="MingLiU_HKSCS-ExtB" panose="02020500000000000000" charset="-120"/>
              </a:rPr>
              <a:t>来表示信源的输出，不需要传送信源的任何实际输出。</a:t>
            </a:r>
          </a:p>
        </p:txBody>
      </p:sp>
      <p:sp>
        <p:nvSpPr>
          <p:cNvPr id="2703" name="矩形 2702"/>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4.3</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连</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续</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childTnLst>
                                    <p:set>
                                      <p:cBhvr additive="base">
                                        <p:cTn id="6" dur="1" fill="hold">
                                          <p:stCondLst>
                                            <p:cond delay="0"/>
                                          </p:stCondLst>
                                        </p:cTn>
                                        <p:tgtEl>
                                          <p:spTgt spid="2702"/>
                                        </p:tgtEl>
                                        <p:attrNameLst>
                                          <p:attrName>style.visibility</p:attrName>
                                        </p:attrNameLst>
                                      </p:cBhvr>
                                      <p:to>
                                        <p:strVal val="visible"/>
                                      </p:to>
                                    </p:set>
                                    <p:anim calcmode="lin" valueType="num">
                                      <p:cBhvr additive="base">
                                        <p:cTn id="7" dur="1000" fill="hold"/>
                                        <p:tgtEl>
                                          <p:spTgt spid="2702"/>
                                        </p:tgtEl>
                                        <p:attrNameLst>
                                          <p:attrName>ppt_x</p:attrName>
                                        </p:attrNameLst>
                                      </p:cBhvr>
                                      <p:tavLst>
                                        <p:tav tm="0">
                                          <p:val>
                                            <p:strVal val="#ppt_x-.2"/>
                                          </p:val>
                                        </p:tav>
                                        <p:tav tm="100000">
                                          <p:val>
                                            <p:strVal val="#ppt_x"/>
                                          </p:val>
                                        </p:tav>
                                      </p:tavLst>
                                    </p:anim>
                                    <p:anim calcmode="lin" valueType="num">
                                      <p:cBhvr additive="base">
                                        <p:cTn id="8" dur="1000" fill="hold"/>
                                        <p:tgtEl>
                                          <p:spTgt spid="2702"/>
                                        </p:tgtEl>
                                        <p:attrNameLst>
                                          <p:attrName>ppt_y</p:attrName>
                                        </p:attrNameLst>
                                      </p:cBhvr>
                                      <p:tavLst>
                                        <p:tav tm="0">
                                          <p:val>
                                            <p:strVal val="#ppt_y"/>
                                          </p:val>
                                        </p:tav>
                                        <p:tav tm="100000">
                                          <p:val>
                                            <p:strVal val="#ppt_y"/>
                                          </p:val>
                                        </p:tav>
                                      </p:tavLst>
                                    </p:anim>
                                    <p:animEffect transition="in" filter="wipe(right)">
                                      <p:cBhvr additive="base">
                                        <p:cTn id="9" dur="1000"/>
                                        <p:tgtEl>
                                          <p:spTgt spid="2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2"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97</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06" name="标题 2705"/>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4.3.2 </a:t>
            </a:r>
            <a:r>
              <a:rPr lang="zh-CN" altLang="en-US">
                <a:ea typeface="MingLiU_HKSCS-ExtB" panose="02020500000000000000" charset="-120"/>
              </a:rPr>
              <a:t>高斯信源的信息率失真函数</a:t>
            </a:r>
          </a:p>
        </p:txBody>
      </p:sp>
      <p:sp>
        <p:nvSpPr>
          <p:cNvPr id="2707" name="矩形 2706"/>
          <p:cNvSpPr/>
          <p:nvPr/>
        </p:nvSpPr>
        <p:spPr>
          <a:xfrm>
            <a:off x="539750" y="981075"/>
            <a:ext cx="7583488" cy="5183188"/>
          </a:xfrm>
          <a:prstGeom prst="rect">
            <a:avLst/>
          </a:prstGeom>
          <a:noFill/>
          <a:ln w="9525">
            <a:noFill/>
          </a:ln>
        </p:spPr>
        <p:txBody>
          <a:bodyPr/>
          <a:lstStyle>
            <a:lvl1pPr marL="0" lvl="0"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ÿ"/>
              <a:defRPr sz="2400" b="1" u="none" kern="1200">
                <a:solidFill>
                  <a:schemeClr val="tx1"/>
                </a:solidFill>
                <a:latin typeface="Times New Roman" panose="02020603050405020304" pitchFamily="18" charset="0"/>
                <a:ea typeface="宋体" panose="02010600030101010101" pitchFamily="2" charset="-122"/>
              </a:defRPr>
            </a:lvl1pPr>
            <a:lvl2pPr marL="357505" lvl="1"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q"/>
              <a:defRPr sz="2000" b="1" u="none" kern="1200">
                <a:solidFill>
                  <a:schemeClr val="tx1"/>
                </a:solidFill>
                <a:latin typeface="Times New Roman" panose="02020603050405020304" pitchFamily="18" charset="0"/>
                <a:ea typeface="楷体_GB2312" pitchFamily="49" charset="-122"/>
              </a:defRPr>
            </a:lvl2pPr>
            <a:lvl3pPr marL="713105" lvl="2" indent="0" algn="l" defTabSz="914400" rtl="0" eaLnBrk="1" fontAlgn="base" latinLnBrk="0" hangingPunct="1">
              <a:lnSpc>
                <a:spcPct val="140000"/>
              </a:lnSpc>
              <a:spcBef>
                <a:spcPct val="0"/>
              </a:spcBef>
              <a:spcAft>
                <a:spcPct val="20000"/>
              </a:spcAft>
              <a:buClr>
                <a:srgbClr val="993366"/>
              </a:buClr>
              <a:buSzPct val="90000"/>
              <a:buFont typeface="Arial" panose="020B0604020202020204"/>
              <a:buChar char="▼"/>
              <a:defRPr sz="1800" b="1" u="none" kern="1200">
                <a:solidFill>
                  <a:schemeClr val="tx1"/>
                </a:solidFill>
                <a:latin typeface="Times New Roman" panose="02020603050405020304" pitchFamily="18" charset="0"/>
                <a:ea typeface="楷体_GB2312" pitchFamily="49" charset="-122"/>
              </a:defRPr>
            </a:lvl3pPr>
            <a:lvl4pPr marL="1079500" lvl="3"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v"/>
              <a:defRPr sz="1800" b="1" u="none" kern="1200">
                <a:solidFill>
                  <a:schemeClr val="tx1"/>
                </a:solidFill>
                <a:latin typeface="Times New Roman" panose="02020603050405020304" pitchFamily="18" charset="0"/>
                <a:ea typeface="楷体_GB2312" pitchFamily="49" charset="-122"/>
              </a:defRPr>
            </a:lvl4pPr>
            <a:lvl5pPr marL="1435100" lvl="4"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
              <a:defRPr sz="1800" b="1" u="none" kern="1200">
                <a:solidFill>
                  <a:schemeClr val="tx1"/>
                </a:solidFill>
                <a:latin typeface="Times New Roman" panose="02020603050405020304" pitchFamily="18" charset="0"/>
                <a:ea typeface="楷体_GB2312" pitchFamily="49" charset="-122"/>
              </a:defRPr>
            </a:lvl5pPr>
          </a:lstStyle>
          <a:p>
            <a:pPr marL="355600" lvl="0" indent="-355600" defTabSz="762000">
              <a:buClr>
                <a:srgbClr val="993366"/>
              </a:buClr>
              <a:buNone/>
            </a:pPr>
            <a:r>
              <a:rPr lang="en-US" altLang="zh-CN" sz="2800">
                <a:ea typeface="MingLiU_HKSCS-ExtB" panose="02020500000000000000" charset="-120"/>
              </a:rPr>
              <a:t>(2) </a:t>
            </a:r>
            <a:r>
              <a:rPr lang="zh-CN" altLang="en-US" sz="2800">
                <a:ea typeface="MingLiU_HKSCS-ExtB" panose="02020500000000000000" charset="-120"/>
              </a:rPr>
              <a:t>高斯信源 </a:t>
            </a:r>
            <a:r>
              <a:rPr lang="en-US" altLang="zh-CN" sz="2800" i="1">
                <a:ea typeface="MingLiU_HKSCS-ExtB" panose="02020500000000000000" charset="-120"/>
              </a:rPr>
              <a:t>R</a:t>
            </a:r>
            <a:r>
              <a:rPr lang="en-US" altLang="zh-CN" sz="2800">
                <a:ea typeface="MingLiU_HKSCS-ExtB" panose="02020500000000000000" charset="-120"/>
              </a:rPr>
              <a:t>(</a:t>
            </a:r>
            <a:r>
              <a:rPr lang="en-US" altLang="zh-CN" sz="2800" i="1">
                <a:ea typeface="MingLiU_HKSCS-ExtB" panose="02020500000000000000" charset="-120"/>
              </a:rPr>
              <a:t>D</a:t>
            </a:r>
            <a:r>
              <a:rPr lang="en-US" altLang="zh-CN" sz="2800">
                <a:ea typeface="MingLiU_HKSCS-ExtB" panose="02020500000000000000" charset="-120"/>
              </a:rPr>
              <a:t>) </a:t>
            </a:r>
            <a:r>
              <a:rPr lang="zh-CN" altLang="en-US" sz="2800">
                <a:ea typeface="MingLiU_HKSCS-ExtB" panose="02020500000000000000" charset="-120"/>
              </a:rPr>
              <a:t>的特性</a:t>
            </a:r>
          </a:p>
        </p:txBody>
      </p:sp>
      <p:pic>
        <p:nvPicPr>
          <p:cNvPr id="2708" name="图片 2707"/>
          <p:cNvPicPr>
            <a:picLocks noChangeAspect="1"/>
          </p:cNvPicPr>
          <p:nvPr/>
        </p:nvPicPr>
        <p:blipFill>
          <a:blip r:embed="rId2"/>
          <a:stretch>
            <a:fillRect/>
          </a:stretch>
        </p:blipFill>
        <p:spPr>
          <a:xfrm>
            <a:off x="4806950" y="1247775"/>
            <a:ext cx="4152900" cy="4845050"/>
          </a:xfrm>
          <a:prstGeom prst="rect">
            <a:avLst/>
          </a:prstGeom>
          <a:noFill/>
          <a:ln w="9525">
            <a:noFill/>
          </a:ln>
        </p:spPr>
      </p:pic>
      <p:sp>
        <p:nvSpPr>
          <p:cNvPr id="2709" name="矩形 2708"/>
          <p:cNvSpPr/>
          <p:nvPr/>
        </p:nvSpPr>
        <p:spPr>
          <a:xfrm>
            <a:off x="827088" y="1700213"/>
            <a:ext cx="3614737" cy="3679825"/>
          </a:xfrm>
          <a:prstGeom prst="rect">
            <a:avLst/>
          </a:prstGeom>
          <a:noFill/>
          <a:ln w="12700">
            <a:noFill/>
          </a:ln>
        </p:spPr>
        <p:txBody>
          <a:bodyPr>
            <a:spAutoFit/>
          </a:bodyPr>
          <a:lstStyle/>
          <a:p>
            <a:pPr marL="357505" indent="-357505" eaLnBrk="0" hangingPunct="0">
              <a:lnSpc>
                <a:spcPct val="140000"/>
              </a:lnSpc>
              <a:spcBef>
                <a:spcPct val="20000"/>
              </a:spcBef>
              <a:buClr>
                <a:srgbClr val="660033"/>
              </a:buClr>
              <a:buSzPct val="90000"/>
              <a:buFont typeface="Wingdings" panose="05000000000000000000" pitchFamily="2" charset="2"/>
              <a:buChar char="ÿ"/>
            </a:pPr>
            <a:r>
              <a:rPr lang="zh-CN" altLang="en-US" sz="2400" b="1">
                <a:solidFill>
                  <a:srgbClr val="0000CC"/>
                </a:solidFill>
                <a:latin typeface="Times New Roman" panose="02020603050405020304" pitchFamily="18" charset="0"/>
                <a:ea typeface="MingLiU_HKSCS-ExtB" panose="02020500000000000000" charset="-120"/>
              </a:rPr>
              <a:t>当 </a:t>
            </a:r>
            <a:r>
              <a:rPr lang="en-US" altLang="zh-CN" sz="2400" b="1" i="1">
                <a:solidFill>
                  <a:srgbClr val="0000CC"/>
                </a:solidFill>
                <a:latin typeface="Times New Roman" panose="02020603050405020304" pitchFamily="18" charset="0"/>
                <a:ea typeface="MingLiU_HKSCS-ExtB" panose="02020500000000000000" charset="-120"/>
              </a:rPr>
              <a:t>D</a:t>
            </a:r>
            <a:r>
              <a:rPr lang="en-US" altLang="zh-CN" sz="2400" b="1">
                <a:solidFill>
                  <a:srgbClr val="0000CC"/>
                </a:solidFill>
                <a:latin typeface="Times New Roman" panose="02020603050405020304" pitchFamily="18" charset="0"/>
                <a:ea typeface="MingLiU_HKSCS-ExtB" panose="02020500000000000000" charset="-120"/>
              </a:rPr>
              <a:t>=0 </a:t>
            </a:r>
            <a:r>
              <a:rPr lang="zh-CN" altLang="en-US" sz="2400" b="1">
                <a:solidFill>
                  <a:srgbClr val="0000CC"/>
                </a:solidFill>
                <a:latin typeface="Times New Roman" panose="02020603050405020304" pitchFamily="18" charset="0"/>
                <a:ea typeface="MingLiU_HKSCS-ExtB" panose="02020500000000000000" charset="-120"/>
              </a:rPr>
              <a:t>时，</a:t>
            </a:r>
            <a:r>
              <a:rPr lang="en-US" altLang="zh-CN" sz="2400" b="1" i="1">
                <a:solidFill>
                  <a:srgbClr val="0000CC"/>
                </a:solidFill>
                <a:latin typeface="Times New Roman" panose="02020603050405020304" pitchFamily="18" charset="0"/>
                <a:ea typeface="MingLiU_HKSCS-ExtB" panose="02020500000000000000" charset="-120"/>
              </a:rPr>
              <a:t>R</a:t>
            </a:r>
            <a:r>
              <a:rPr lang="en-US" altLang="zh-CN" sz="2400" b="1">
                <a:solidFill>
                  <a:srgbClr val="0000CC"/>
                </a:solidFill>
                <a:latin typeface="Times New Roman" panose="02020603050405020304" pitchFamily="18" charset="0"/>
                <a:ea typeface="MingLiU_HKSCS-ExtB" panose="02020500000000000000" charset="-120"/>
              </a:rPr>
              <a:t>(</a:t>
            </a:r>
            <a:r>
              <a:rPr lang="en-US" altLang="zh-CN" sz="2400" b="1" i="1">
                <a:solidFill>
                  <a:srgbClr val="0000CC"/>
                </a:solidFill>
                <a:latin typeface="Times New Roman" panose="02020603050405020304" pitchFamily="18" charset="0"/>
                <a:ea typeface="MingLiU_HKSCS-ExtB" panose="02020500000000000000" charset="-120"/>
              </a:rPr>
              <a:t>D</a:t>
            </a:r>
            <a:r>
              <a:rPr lang="en-US" altLang="zh-CN" sz="2400" b="1">
                <a:solidFill>
                  <a:srgbClr val="0000CC"/>
                </a:solidFill>
                <a:latin typeface="Times New Roman" panose="02020603050405020304" pitchFamily="18" charset="0"/>
                <a:ea typeface="MingLiU_HKSCS-ExtB" panose="02020500000000000000" charset="-120"/>
              </a:rPr>
              <a:t>)→∞</a:t>
            </a:r>
            <a:r>
              <a:rPr lang="zh-CN" altLang="en-US" sz="2400" b="1">
                <a:solidFill>
                  <a:srgbClr val="0000CC"/>
                </a:solidFill>
                <a:latin typeface="Times New Roman" panose="02020603050405020304" pitchFamily="18" charset="0"/>
                <a:ea typeface="MingLiU_HKSCS-ExtB" panose="02020500000000000000" charset="-120"/>
              </a:rPr>
              <a:t>：</a:t>
            </a:r>
            <a:r>
              <a:rPr lang="zh-CN" altLang="en-US" sz="2400" b="1">
                <a:latin typeface="Times New Roman" panose="02020603050405020304" pitchFamily="18" charset="0"/>
                <a:ea typeface="MingLiU_HKSCS-ExtB" panose="02020500000000000000" charset="-120"/>
              </a:rPr>
              <a:t>这点说明在连续信源情况下，要毫无失真地传送信源的输出是不可能的。即要毫无失真地传送信源的输出必须要求信道具有无限大的容量。</a:t>
            </a:r>
          </a:p>
        </p:txBody>
      </p:sp>
      <p:sp>
        <p:nvSpPr>
          <p:cNvPr id="2710" name="矩形 2709"/>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4.3</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连</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续</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childTnLst>
                                    <p:set>
                                      <p:cBhvr additive="base">
                                        <p:cTn id="6" dur="1" fill="hold">
                                          <p:stCondLst>
                                            <p:cond delay="0"/>
                                          </p:stCondLst>
                                        </p:cTn>
                                        <p:tgtEl>
                                          <p:spTgt spid="2709"/>
                                        </p:tgtEl>
                                        <p:attrNameLst>
                                          <p:attrName>style.visibility</p:attrName>
                                        </p:attrNameLst>
                                      </p:cBhvr>
                                      <p:to>
                                        <p:strVal val="visible"/>
                                      </p:to>
                                    </p:set>
                                    <p:anim calcmode="lin" valueType="num">
                                      <p:cBhvr additive="base">
                                        <p:cTn id="7" dur="1000" fill="hold"/>
                                        <p:tgtEl>
                                          <p:spTgt spid="2709"/>
                                        </p:tgtEl>
                                        <p:attrNameLst>
                                          <p:attrName>ppt_x</p:attrName>
                                        </p:attrNameLst>
                                      </p:cBhvr>
                                      <p:tavLst>
                                        <p:tav tm="0">
                                          <p:val>
                                            <p:strVal val="#ppt_x-.2"/>
                                          </p:val>
                                        </p:tav>
                                        <p:tav tm="100000">
                                          <p:val>
                                            <p:strVal val="#ppt_x"/>
                                          </p:val>
                                        </p:tav>
                                      </p:tavLst>
                                    </p:anim>
                                    <p:anim calcmode="lin" valueType="num">
                                      <p:cBhvr additive="base">
                                        <p:cTn id="8" dur="1000" fill="hold"/>
                                        <p:tgtEl>
                                          <p:spTgt spid="2709"/>
                                        </p:tgtEl>
                                        <p:attrNameLst>
                                          <p:attrName>ppt_y</p:attrName>
                                        </p:attrNameLst>
                                      </p:cBhvr>
                                      <p:tavLst>
                                        <p:tav tm="0">
                                          <p:val>
                                            <p:strVal val="#ppt_y"/>
                                          </p:val>
                                        </p:tav>
                                        <p:tav tm="100000">
                                          <p:val>
                                            <p:strVal val="#ppt_y"/>
                                          </p:val>
                                        </p:tav>
                                      </p:tavLst>
                                    </p:anim>
                                    <p:animEffect transition="in" filter="wipe(right)">
                                      <p:cBhvr additive="base">
                                        <p:cTn id="9" dur="1000"/>
                                        <p:tgtEl>
                                          <p:spTgt spid="2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9"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98</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13" name="标题 2712"/>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4.3.2 </a:t>
            </a:r>
            <a:r>
              <a:rPr lang="zh-CN" altLang="en-US">
                <a:ea typeface="MingLiU_HKSCS-ExtB" panose="02020500000000000000" charset="-120"/>
              </a:rPr>
              <a:t>高斯信源的信息率失真函数</a:t>
            </a:r>
          </a:p>
        </p:txBody>
      </p:sp>
      <p:sp>
        <p:nvSpPr>
          <p:cNvPr id="2714" name="矩形 2713"/>
          <p:cNvSpPr/>
          <p:nvPr/>
        </p:nvSpPr>
        <p:spPr>
          <a:xfrm>
            <a:off x="539750" y="981075"/>
            <a:ext cx="7583488" cy="5183188"/>
          </a:xfrm>
          <a:prstGeom prst="rect">
            <a:avLst/>
          </a:prstGeom>
          <a:noFill/>
          <a:ln w="9525">
            <a:noFill/>
          </a:ln>
        </p:spPr>
        <p:txBody>
          <a:bodyPr/>
          <a:lstStyle>
            <a:lvl1pPr marL="0" lvl="0"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ÿ"/>
              <a:defRPr sz="2400" b="1" u="none" kern="1200">
                <a:solidFill>
                  <a:schemeClr val="tx1"/>
                </a:solidFill>
                <a:latin typeface="Times New Roman" panose="02020603050405020304" pitchFamily="18" charset="0"/>
                <a:ea typeface="宋体" panose="02010600030101010101" pitchFamily="2" charset="-122"/>
              </a:defRPr>
            </a:lvl1pPr>
            <a:lvl2pPr marL="357505" lvl="1"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q"/>
              <a:defRPr sz="2000" b="1" u="none" kern="1200">
                <a:solidFill>
                  <a:schemeClr val="tx1"/>
                </a:solidFill>
                <a:latin typeface="Times New Roman" panose="02020603050405020304" pitchFamily="18" charset="0"/>
                <a:ea typeface="楷体_GB2312" pitchFamily="49" charset="-122"/>
              </a:defRPr>
            </a:lvl2pPr>
            <a:lvl3pPr marL="713105" lvl="2" indent="0" algn="l" defTabSz="914400" rtl="0" eaLnBrk="1" fontAlgn="base" latinLnBrk="0" hangingPunct="1">
              <a:lnSpc>
                <a:spcPct val="140000"/>
              </a:lnSpc>
              <a:spcBef>
                <a:spcPct val="0"/>
              </a:spcBef>
              <a:spcAft>
                <a:spcPct val="20000"/>
              </a:spcAft>
              <a:buClr>
                <a:srgbClr val="993366"/>
              </a:buClr>
              <a:buSzPct val="90000"/>
              <a:buFont typeface="Arial" panose="020B0604020202020204"/>
              <a:buChar char="▼"/>
              <a:defRPr sz="1800" b="1" u="none" kern="1200">
                <a:solidFill>
                  <a:schemeClr val="tx1"/>
                </a:solidFill>
                <a:latin typeface="Times New Roman" panose="02020603050405020304" pitchFamily="18" charset="0"/>
                <a:ea typeface="楷体_GB2312" pitchFamily="49" charset="-122"/>
              </a:defRPr>
            </a:lvl3pPr>
            <a:lvl4pPr marL="1079500" lvl="3"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v"/>
              <a:defRPr sz="1800" b="1" u="none" kern="1200">
                <a:solidFill>
                  <a:schemeClr val="tx1"/>
                </a:solidFill>
                <a:latin typeface="Times New Roman" panose="02020603050405020304" pitchFamily="18" charset="0"/>
                <a:ea typeface="楷体_GB2312" pitchFamily="49" charset="-122"/>
              </a:defRPr>
            </a:lvl4pPr>
            <a:lvl5pPr marL="1435100" lvl="4"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
              <a:defRPr sz="1800" b="1" u="none" kern="1200">
                <a:solidFill>
                  <a:schemeClr val="tx1"/>
                </a:solidFill>
                <a:latin typeface="Times New Roman" panose="02020603050405020304" pitchFamily="18" charset="0"/>
                <a:ea typeface="楷体_GB2312" pitchFamily="49" charset="-122"/>
              </a:defRPr>
            </a:lvl5pPr>
          </a:lstStyle>
          <a:p>
            <a:pPr marL="355600" lvl="0" indent="-355600" defTabSz="762000">
              <a:buClr>
                <a:srgbClr val="993366"/>
              </a:buClr>
              <a:buNone/>
            </a:pPr>
            <a:r>
              <a:rPr lang="en-US" altLang="zh-CN" sz="2800">
                <a:ea typeface="MingLiU_HKSCS-ExtB" panose="02020500000000000000" charset="-120"/>
              </a:rPr>
              <a:t>(2) </a:t>
            </a:r>
            <a:r>
              <a:rPr lang="zh-CN" altLang="en-US" sz="2800">
                <a:ea typeface="MingLiU_HKSCS-ExtB" panose="02020500000000000000" charset="-120"/>
              </a:rPr>
              <a:t>高斯信源 </a:t>
            </a:r>
            <a:r>
              <a:rPr lang="en-US" altLang="zh-CN" sz="2800" i="1">
                <a:ea typeface="MingLiU_HKSCS-ExtB" panose="02020500000000000000" charset="-120"/>
              </a:rPr>
              <a:t>R</a:t>
            </a:r>
            <a:r>
              <a:rPr lang="en-US" altLang="zh-CN" sz="2800">
                <a:ea typeface="MingLiU_HKSCS-ExtB" panose="02020500000000000000" charset="-120"/>
              </a:rPr>
              <a:t>(</a:t>
            </a:r>
            <a:r>
              <a:rPr lang="en-US" altLang="zh-CN" sz="2800" i="1">
                <a:ea typeface="MingLiU_HKSCS-ExtB" panose="02020500000000000000" charset="-120"/>
              </a:rPr>
              <a:t>D</a:t>
            </a:r>
            <a:r>
              <a:rPr lang="en-US" altLang="zh-CN" sz="2800">
                <a:ea typeface="MingLiU_HKSCS-ExtB" panose="02020500000000000000" charset="-120"/>
              </a:rPr>
              <a:t>) </a:t>
            </a:r>
            <a:r>
              <a:rPr lang="zh-CN" altLang="en-US" sz="2800">
                <a:ea typeface="MingLiU_HKSCS-ExtB" panose="02020500000000000000" charset="-120"/>
              </a:rPr>
              <a:t>的特性</a:t>
            </a:r>
          </a:p>
        </p:txBody>
      </p:sp>
      <p:pic>
        <p:nvPicPr>
          <p:cNvPr id="2715" name="图片 2714"/>
          <p:cNvPicPr>
            <a:picLocks noChangeAspect="1"/>
          </p:cNvPicPr>
          <p:nvPr/>
        </p:nvPicPr>
        <p:blipFill>
          <a:blip r:embed="rId2"/>
          <a:stretch>
            <a:fillRect/>
          </a:stretch>
        </p:blipFill>
        <p:spPr>
          <a:xfrm>
            <a:off x="4705350" y="1247775"/>
            <a:ext cx="4152900" cy="4845050"/>
          </a:xfrm>
          <a:prstGeom prst="rect">
            <a:avLst/>
          </a:prstGeom>
          <a:noFill/>
          <a:ln w="9525">
            <a:noFill/>
          </a:ln>
        </p:spPr>
      </p:pic>
      <p:sp>
        <p:nvSpPr>
          <p:cNvPr id="2716" name="矩形 2715"/>
          <p:cNvSpPr/>
          <p:nvPr/>
        </p:nvSpPr>
        <p:spPr>
          <a:xfrm>
            <a:off x="827088" y="1773238"/>
            <a:ext cx="3614737" cy="3679825"/>
          </a:xfrm>
          <a:prstGeom prst="rect">
            <a:avLst/>
          </a:prstGeom>
          <a:noFill/>
          <a:ln w="12700">
            <a:noFill/>
          </a:ln>
        </p:spPr>
        <p:txBody>
          <a:bodyPr>
            <a:spAutoFit/>
          </a:bodyPr>
          <a:lstStyle/>
          <a:p>
            <a:pPr marL="357505" indent="-357505" eaLnBrk="0" hangingPunct="0">
              <a:lnSpc>
                <a:spcPct val="140000"/>
              </a:lnSpc>
              <a:spcBef>
                <a:spcPct val="20000"/>
              </a:spcBef>
              <a:buClr>
                <a:srgbClr val="660033"/>
              </a:buClr>
              <a:buSzPct val="90000"/>
              <a:buFont typeface="Wingdings" panose="05000000000000000000" pitchFamily="2" charset="2"/>
              <a:buChar char="ÿ"/>
            </a:pPr>
            <a:r>
              <a:rPr lang="zh-CN" altLang="en-US" sz="2400" b="1">
                <a:solidFill>
                  <a:srgbClr val="0000CC"/>
                </a:solidFill>
                <a:latin typeface="Times New Roman" panose="02020603050405020304" pitchFamily="18" charset="0"/>
                <a:ea typeface="MingLiU_HKSCS-ExtB" panose="02020500000000000000" charset="-120"/>
              </a:rPr>
              <a:t>当 </a:t>
            </a:r>
            <a:r>
              <a:rPr lang="en-US" altLang="zh-CN" sz="2400" b="1">
                <a:solidFill>
                  <a:srgbClr val="0000CC"/>
                </a:solidFill>
                <a:latin typeface="Times New Roman" panose="02020603050405020304" pitchFamily="18" charset="0"/>
                <a:ea typeface="MingLiU_HKSCS-ExtB" panose="02020500000000000000" charset="-120"/>
              </a:rPr>
              <a:t>0&lt;</a:t>
            </a:r>
            <a:r>
              <a:rPr lang="en-US" altLang="zh-CN" sz="2400" b="1" i="1">
                <a:solidFill>
                  <a:srgbClr val="0000CC"/>
                </a:solidFill>
                <a:latin typeface="Times New Roman" panose="02020603050405020304" pitchFamily="18" charset="0"/>
                <a:ea typeface="MingLiU_HKSCS-ExtB" panose="02020500000000000000" charset="-120"/>
              </a:rPr>
              <a:t>D</a:t>
            </a:r>
            <a:r>
              <a:rPr lang="en-US" altLang="zh-CN" sz="2400" b="1">
                <a:solidFill>
                  <a:srgbClr val="0000CC"/>
                </a:solidFill>
                <a:latin typeface="Times New Roman" panose="02020603050405020304" pitchFamily="18" charset="0"/>
                <a:ea typeface="MingLiU_HKSCS-ExtB" panose="02020500000000000000" charset="-120"/>
              </a:rPr>
              <a:t>&lt;</a:t>
            </a:r>
            <a:r>
              <a:rPr lang="en-US" altLang="zh-CN" sz="2400" b="1" i="1">
                <a:solidFill>
                  <a:srgbClr val="0000CC"/>
                </a:solidFill>
                <a:latin typeface="Times New Roman" panose="02020603050405020304" pitchFamily="18" charset="0"/>
                <a:ea typeface="MingLiU_HKSCS-ExtB" panose="02020500000000000000" charset="-120"/>
              </a:rPr>
              <a:t>σ</a:t>
            </a:r>
            <a:r>
              <a:rPr lang="en-US" altLang="zh-CN" sz="2400" b="1" baseline="30000">
                <a:solidFill>
                  <a:srgbClr val="0000CC"/>
                </a:solidFill>
                <a:latin typeface="Times New Roman" panose="02020603050405020304" pitchFamily="18" charset="0"/>
                <a:ea typeface="MingLiU_HKSCS-ExtB" panose="02020500000000000000" charset="-120"/>
              </a:rPr>
              <a:t>2</a:t>
            </a:r>
            <a:r>
              <a:rPr lang="en-US" altLang="zh-CN" sz="2400" b="1">
                <a:solidFill>
                  <a:srgbClr val="0000CC"/>
                </a:solidFill>
                <a:latin typeface="Times New Roman" panose="02020603050405020304" pitchFamily="18" charset="0"/>
                <a:ea typeface="MingLiU_HKSCS-ExtB" panose="02020500000000000000" charset="-120"/>
              </a:rPr>
              <a:t> </a:t>
            </a:r>
            <a:r>
              <a:rPr lang="zh-CN" altLang="en-US" sz="2400" b="1">
                <a:solidFill>
                  <a:srgbClr val="0000CC"/>
                </a:solidFill>
                <a:latin typeface="Times New Roman" panose="02020603050405020304" pitchFamily="18" charset="0"/>
                <a:ea typeface="MingLiU_HKSCS-ExtB" panose="02020500000000000000" charset="-120"/>
              </a:rPr>
              <a:t>时：</a:t>
            </a:r>
            <a:r>
              <a:rPr lang="zh-CN" altLang="en-US" sz="2400" b="1">
                <a:latin typeface="Times New Roman" panose="02020603050405020304" pitchFamily="18" charset="0"/>
                <a:ea typeface="MingLiU_HKSCS-ExtB" panose="02020500000000000000" charset="-120"/>
              </a:rPr>
              <a:t>即允许一定的失真，传送信源的信息率可以降低，意味着信源的信息率可以压缩，连续信源的率失真理论正是连续信源量化、压缩的理论基础。</a:t>
            </a:r>
          </a:p>
        </p:txBody>
      </p:sp>
      <p:sp>
        <p:nvSpPr>
          <p:cNvPr id="2717" name="矩形 2716"/>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4.3</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连</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续</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childTnLst>
                                    <p:set>
                                      <p:cBhvr additive="base">
                                        <p:cTn id="6" dur="1" fill="hold">
                                          <p:stCondLst>
                                            <p:cond delay="0"/>
                                          </p:stCondLst>
                                        </p:cTn>
                                        <p:tgtEl>
                                          <p:spTgt spid="2716"/>
                                        </p:tgtEl>
                                        <p:attrNameLst>
                                          <p:attrName>style.visibility</p:attrName>
                                        </p:attrNameLst>
                                      </p:cBhvr>
                                      <p:to>
                                        <p:strVal val="visible"/>
                                      </p:to>
                                    </p:set>
                                    <p:anim calcmode="lin" valueType="num">
                                      <p:cBhvr additive="base">
                                        <p:cTn id="7" dur="1000" fill="hold"/>
                                        <p:tgtEl>
                                          <p:spTgt spid="2716"/>
                                        </p:tgtEl>
                                        <p:attrNameLst>
                                          <p:attrName>ppt_x</p:attrName>
                                        </p:attrNameLst>
                                      </p:cBhvr>
                                      <p:tavLst>
                                        <p:tav tm="0">
                                          <p:val>
                                            <p:strVal val="#ppt_x-.2"/>
                                          </p:val>
                                        </p:tav>
                                        <p:tav tm="100000">
                                          <p:val>
                                            <p:strVal val="#ppt_x"/>
                                          </p:val>
                                        </p:tav>
                                      </p:tavLst>
                                    </p:anim>
                                    <p:anim calcmode="lin" valueType="num">
                                      <p:cBhvr additive="base">
                                        <p:cTn id="8" dur="1000" fill="hold"/>
                                        <p:tgtEl>
                                          <p:spTgt spid="2716"/>
                                        </p:tgtEl>
                                        <p:attrNameLst>
                                          <p:attrName>ppt_y</p:attrName>
                                        </p:attrNameLst>
                                      </p:cBhvr>
                                      <p:tavLst>
                                        <p:tav tm="0">
                                          <p:val>
                                            <p:strVal val="#ppt_y"/>
                                          </p:val>
                                        </p:tav>
                                        <p:tav tm="100000">
                                          <p:val>
                                            <p:strVal val="#ppt_y"/>
                                          </p:val>
                                        </p:tav>
                                      </p:tavLst>
                                    </p:anim>
                                    <p:animEffect transition="in" filter="wipe(right)">
                                      <p:cBhvr additive="base">
                                        <p:cTn id="9" dur="1000"/>
                                        <p:tgtEl>
                                          <p:spTgt spid="2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6"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99</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20" name="标题 2719"/>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4.3.2 </a:t>
            </a:r>
            <a:r>
              <a:rPr lang="zh-CN" altLang="en-US">
                <a:ea typeface="MingLiU_HKSCS-ExtB" panose="02020500000000000000" charset="-120"/>
              </a:rPr>
              <a:t>高斯信源的信息率失真函数</a:t>
            </a:r>
          </a:p>
        </p:txBody>
      </p:sp>
      <p:sp>
        <p:nvSpPr>
          <p:cNvPr id="2721" name="矩形 2720"/>
          <p:cNvSpPr/>
          <p:nvPr/>
        </p:nvSpPr>
        <p:spPr>
          <a:xfrm>
            <a:off x="539750" y="981075"/>
            <a:ext cx="7583488" cy="5183188"/>
          </a:xfrm>
          <a:prstGeom prst="rect">
            <a:avLst/>
          </a:prstGeom>
          <a:noFill/>
          <a:ln w="9525">
            <a:noFill/>
          </a:ln>
        </p:spPr>
        <p:txBody>
          <a:bodyPr/>
          <a:lstStyle>
            <a:lvl1pPr marL="0" lvl="0"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ÿ"/>
              <a:defRPr sz="2400" b="1" u="none" kern="1200">
                <a:solidFill>
                  <a:schemeClr val="tx1"/>
                </a:solidFill>
                <a:latin typeface="Times New Roman" panose="02020603050405020304" pitchFamily="18" charset="0"/>
                <a:ea typeface="宋体" panose="02010600030101010101" pitchFamily="2" charset="-122"/>
              </a:defRPr>
            </a:lvl1pPr>
            <a:lvl2pPr marL="357505" lvl="1"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q"/>
              <a:defRPr sz="2000" b="1" u="none" kern="1200">
                <a:solidFill>
                  <a:schemeClr val="tx1"/>
                </a:solidFill>
                <a:latin typeface="Times New Roman" panose="02020603050405020304" pitchFamily="18" charset="0"/>
                <a:ea typeface="楷体_GB2312" pitchFamily="49" charset="-122"/>
              </a:defRPr>
            </a:lvl2pPr>
            <a:lvl3pPr marL="713105" lvl="2" indent="0" algn="l" defTabSz="914400" rtl="0" eaLnBrk="1" fontAlgn="base" latinLnBrk="0" hangingPunct="1">
              <a:lnSpc>
                <a:spcPct val="140000"/>
              </a:lnSpc>
              <a:spcBef>
                <a:spcPct val="0"/>
              </a:spcBef>
              <a:spcAft>
                <a:spcPct val="20000"/>
              </a:spcAft>
              <a:buClr>
                <a:srgbClr val="993366"/>
              </a:buClr>
              <a:buSzPct val="90000"/>
              <a:buFont typeface="Arial" panose="020B0604020202020204"/>
              <a:buChar char="▼"/>
              <a:defRPr sz="1800" b="1" u="none" kern="1200">
                <a:solidFill>
                  <a:schemeClr val="tx1"/>
                </a:solidFill>
                <a:latin typeface="Times New Roman" panose="02020603050405020304" pitchFamily="18" charset="0"/>
                <a:ea typeface="楷体_GB2312" pitchFamily="49" charset="-122"/>
              </a:defRPr>
            </a:lvl3pPr>
            <a:lvl4pPr marL="1079500" lvl="3"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v"/>
              <a:defRPr sz="1800" b="1" u="none" kern="1200">
                <a:solidFill>
                  <a:schemeClr val="tx1"/>
                </a:solidFill>
                <a:latin typeface="Times New Roman" panose="02020603050405020304" pitchFamily="18" charset="0"/>
                <a:ea typeface="楷体_GB2312" pitchFamily="49" charset="-122"/>
              </a:defRPr>
            </a:lvl4pPr>
            <a:lvl5pPr marL="1435100" lvl="4" indent="0" algn="l" defTabSz="914400" rtl="0" eaLnBrk="1" fontAlgn="base" latinLnBrk="0" hangingPunct="1">
              <a:lnSpc>
                <a:spcPct val="140000"/>
              </a:lnSpc>
              <a:spcBef>
                <a:spcPct val="0"/>
              </a:spcBef>
              <a:spcAft>
                <a:spcPct val="20000"/>
              </a:spcAft>
              <a:buClr>
                <a:srgbClr val="993366"/>
              </a:buClr>
              <a:buSzPct val="90000"/>
              <a:buFont typeface="Wingdings" panose="05000000000000000000" pitchFamily="2" charset="2"/>
              <a:buChar char="]"/>
              <a:defRPr sz="1800" b="1" u="none" kern="1200">
                <a:solidFill>
                  <a:schemeClr val="tx1"/>
                </a:solidFill>
                <a:latin typeface="Times New Roman" panose="02020603050405020304" pitchFamily="18" charset="0"/>
                <a:ea typeface="楷体_GB2312" pitchFamily="49" charset="-122"/>
              </a:defRPr>
            </a:lvl5pPr>
          </a:lstStyle>
          <a:p>
            <a:pPr marL="355600" lvl="0" indent="-355600" defTabSz="762000">
              <a:buClr>
                <a:srgbClr val="993366"/>
              </a:buClr>
              <a:buNone/>
            </a:pPr>
            <a:r>
              <a:rPr lang="en-US" altLang="zh-CN" sz="2800">
                <a:ea typeface="MingLiU_HKSCS-ExtB" panose="02020500000000000000" charset="-120"/>
              </a:rPr>
              <a:t>(2) </a:t>
            </a:r>
            <a:r>
              <a:rPr lang="zh-CN" altLang="en-US" sz="2800">
                <a:ea typeface="MingLiU_HKSCS-ExtB" panose="02020500000000000000" charset="-120"/>
              </a:rPr>
              <a:t>高斯信源 </a:t>
            </a:r>
            <a:r>
              <a:rPr lang="en-US" altLang="zh-CN" sz="2800" i="1">
                <a:ea typeface="MingLiU_HKSCS-ExtB" panose="02020500000000000000" charset="-120"/>
              </a:rPr>
              <a:t>R</a:t>
            </a:r>
            <a:r>
              <a:rPr lang="en-US" altLang="zh-CN" sz="2800">
                <a:ea typeface="MingLiU_HKSCS-ExtB" panose="02020500000000000000" charset="-120"/>
              </a:rPr>
              <a:t>(</a:t>
            </a:r>
            <a:r>
              <a:rPr lang="en-US" altLang="zh-CN" sz="2800" i="1">
                <a:ea typeface="MingLiU_HKSCS-ExtB" panose="02020500000000000000" charset="-120"/>
              </a:rPr>
              <a:t>D</a:t>
            </a:r>
            <a:r>
              <a:rPr lang="en-US" altLang="zh-CN" sz="2800">
                <a:ea typeface="MingLiU_HKSCS-ExtB" panose="02020500000000000000" charset="-120"/>
              </a:rPr>
              <a:t>) </a:t>
            </a:r>
            <a:r>
              <a:rPr lang="zh-CN" altLang="en-US" sz="2800">
                <a:ea typeface="MingLiU_HKSCS-ExtB" panose="02020500000000000000" charset="-120"/>
              </a:rPr>
              <a:t>的特性</a:t>
            </a:r>
          </a:p>
        </p:txBody>
      </p:sp>
      <p:pic>
        <p:nvPicPr>
          <p:cNvPr id="2722" name="图片 2721"/>
          <p:cNvPicPr>
            <a:picLocks noChangeAspect="1"/>
          </p:cNvPicPr>
          <p:nvPr/>
        </p:nvPicPr>
        <p:blipFill>
          <a:blip r:embed="rId2"/>
          <a:stretch>
            <a:fillRect/>
          </a:stretch>
        </p:blipFill>
        <p:spPr>
          <a:xfrm>
            <a:off x="4705350" y="1247775"/>
            <a:ext cx="4152900" cy="4845050"/>
          </a:xfrm>
          <a:prstGeom prst="rect">
            <a:avLst/>
          </a:prstGeom>
          <a:noFill/>
          <a:ln w="9525">
            <a:noFill/>
          </a:ln>
        </p:spPr>
      </p:pic>
      <p:sp>
        <p:nvSpPr>
          <p:cNvPr id="2723" name="矩形 2722"/>
          <p:cNvSpPr/>
          <p:nvPr/>
        </p:nvSpPr>
        <p:spPr>
          <a:xfrm>
            <a:off x="900113" y="1700213"/>
            <a:ext cx="3541712" cy="4362450"/>
          </a:xfrm>
          <a:prstGeom prst="rect">
            <a:avLst/>
          </a:prstGeom>
          <a:noFill/>
          <a:ln w="12700">
            <a:noFill/>
          </a:ln>
        </p:spPr>
        <p:txBody>
          <a:bodyPr>
            <a:spAutoFit/>
          </a:bodyPr>
          <a:lstStyle/>
          <a:p>
            <a:pPr marL="357505" indent="-357505" eaLnBrk="0" hangingPunct="0">
              <a:lnSpc>
                <a:spcPct val="140000"/>
              </a:lnSpc>
              <a:spcBef>
                <a:spcPct val="20000"/>
              </a:spcBef>
              <a:buClr>
                <a:srgbClr val="660033"/>
              </a:buClr>
              <a:buSzPct val="90000"/>
              <a:buFont typeface="Wingdings" panose="05000000000000000000" pitchFamily="2" charset="2"/>
              <a:buChar char="ÿ"/>
            </a:pPr>
            <a:r>
              <a:rPr lang="zh-CN" altLang="en-US" sz="2000" b="1">
                <a:solidFill>
                  <a:srgbClr val="0000CC"/>
                </a:solidFill>
                <a:latin typeface="Times New Roman" panose="02020603050405020304" pitchFamily="18" charset="0"/>
                <a:ea typeface="MingLiU_HKSCS-ExtB" panose="02020500000000000000" charset="-120"/>
              </a:rPr>
              <a:t>当 </a:t>
            </a:r>
            <a:r>
              <a:rPr lang="en-US" altLang="zh-CN" sz="2000" b="1" i="1">
                <a:solidFill>
                  <a:srgbClr val="0000CC"/>
                </a:solidFill>
                <a:latin typeface="Times New Roman" panose="02020603050405020304" pitchFamily="18" charset="0"/>
                <a:ea typeface="MingLiU_HKSCS-ExtB" panose="02020500000000000000" charset="-120"/>
              </a:rPr>
              <a:t>D</a:t>
            </a:r>
            <a:r>
              <a:rPr lang="en-US" altLang="zh-CN" sz="2000" b="1">
                <a:solidFill>
                  <a:srgbClr val="0000CC"/>
                </a:solidFill>
                <a:latin typeface="Times New Roman" panose="02020603050405020304" pitchFamily="18" charset="0"/>
                <a:ea typeface="MingLiU_HKSCS-ExtB" panose="02020500000000000000" charset="-120"/>
              </a:rPr>
              <a:t>=0.25</a:t>
            </a:r>
            <a:r>
              <a:rPr lang="en-US" altLang="zh-CN" sz="2000" b="1" i="1">
                <a:solidFill>
                  <a:srgbClr val="0000CC"/>
                </a:solidFill>
                <a:latin typeface="Times New Roman" panose="02020603050405020304" pitchFamily="18" charset="0"/>
                <a:ea typeface="MingLiU_HKSCS-ExtB" panose="02020500000000000000" charset="-120"/>
              </a:rPr>
              <a:t>σ</a:t>
            </a:r>
            <a:r>
              <a:rPr lang="en-US" altLang="zh-CN" sz="2000" b="1" baseline="30000">
                <a:solidFill>
                  <a:srgbClr val="0000CC"/>
                </a:solidFill>
                <a:latin typeface="Times New Roman" panose="02020603050405020304" pitchFamily="18" charset="0"/>
                <a:ea typeface="MingLiU_HKSCS-ExtB" panose="02020500000000000000" charset="-120"/>
              </a:rPr>
              <a:t>2</a:t>
            </a:r>
            <a:r>
              <a:rPr lang="en-US" altLang="zh-CN" sz="2000" b="1">
                <a:solidFill>
                  <a:srgbClr val="0000CC"/>
                </a:solidFill>
                <a:latin typeface="Times New Roman" panose="02020603050405020304" pitchFamily="18" charset="0"/>
                <a:ea typeface="MingLiU_HKSCS-ExtB" panose="02020500000000000000" charset="-120"/>
              </a:rPr>
              <a:t> </a:t>
            </a:r>
            <a:r>
              <a:rPr lang="zh-CN" altLang="en-US" sz="2000" b="1">
                <a:solidFill>
                  <a:srgbClr val="0000CC"/>
                </a:solidFill>
                <a:latin typeface="Times New Roman" panose="02020603050405020304" pitchFamily="18" charset="0"/>
                <a:ea typeface="MingLiU_HKSCS-ExtB" panose="02020500000000000000" charset="-120"/>
              </a:rPr>
              <a:t>时， </a:t>
            </a:r>
            <a:r>
              <a:rPr lang="en-US" altLang="zh-CN" sz="2000" b="1" i="1">
                <a:solidFill>
                  <a:srgbClr val="0000CC"/>
                </a:solidFill>
                <a:latin typeface="Times New Roman" panose="02020603050405020304" pitchFamily="18" charset="0"/>
                <a:ea typeface="MingLiU_HKSCS-ExtB" panose="02020500000000000000" charset="-120"/>
              </a:rPr>
              <a:t>R</a:t>
            </a:r>
            <a:r>
              <a:rPr lang="en-US" altLang="zh-CN" sz="2000" b="1">
                <a:solidFill>
                  <a:srgbClr val="0000CC"/>
                </a:solidFill>
                <a:latin typeface="Times New Roman" panose="02020603050405020304" pitchFamily="18" charset="0"/>
                <a:ea typeface="MingLiU_HKSCS-ExtB" panose="02020500000000000000" charset="-120"/>
              </a:rPr>
              <a:t>(</a:t>
            </a:r>
            <a:r>
              <a:rPr lang="en-US" altLang="zh-CN" sz="2000" b="1" i="1">
                <a:solidFill>
                  <a:srgbClr val="0000CC"/>
                </a:solidFill>
                <a:latin typeface="Times New Roman" panose="02020603050405020304" pitchFamily="18" charset="0"/>
                <a:ea typeface="MingLiU_HKSCS-ExtB" panose="02020500000000000000" charset="-120"/>
              </a:rPr>
              <a:t>D</a:t>
            </a:r>
            <a:r>
              <a:rPr lang="en-US" altLang="zh-CN" sz="2000" b="1">
                <a:solidFill>
                  <a:srgbClr val="0000CC"/>
                </a:solidFill>
                <a:latin typeface="Times New Roman" panose="02020603050405020304" pitchFamily="18" charset="0"/>
                <a:ea typeface="MingLiU_HKSCS-ExtB" panose="02020500000000000000" charset="-120"/>
              </a:rPr>
              <a:t>)=1 </a:t>
            </a:r>
            <a:r>
              <a:rPr lang="zh-CN" altLang="en-US" sz="2000" b="1">
                <a:solidFill>
                  <a:srgbClr val="0000CC"/>
                </a:solidFill>
                <a:latin typeface="Times New Roman" panose="02020603050405020304" pitchFamily="18" charset="0"/>
                <a:ea typeface="MingLiU_HKSCS-ExtB" panose="02020500000000000000" charset="-120"/>
              </a:rPr>
              <a:t>比特</a:t>
            </a:r>
            <a:r>
              <a:rPr lang="en-US" altLang="zh-CN" sz="2000" b="1">
                <a:solidFill>
                  <a:srgbClr val="0000CC"/>
                </a:solidFill>
                <a:latin typeface="Times New Roman" panose="02020603050405020304" pitchFamily="18" charset="0"/>
                <a:ea typeface="MingLiU_HKSCS-ExtB" panose="02020500000000000000" charset="-120"/>
              </a:rPr>
              <a:t>/</a:t>
            </a:r>
            <a:r>
              <a:rPr lang="zh-CN" altLang="en-US" sz="2000" b="1">
                <a:solidFill>
                  <a:srgbClr val="0000CC"/>
                </a:solidFill>
                <a:latin typeface="Times New Roman" panose="02020603050405020304" pitchFamily="18" charset="0"/>
                <a:ea typeface="MingLiU_HKSCS-ExtB" panose="02020500000000000000" charset="-120"/>
              </a:rPr>
              <a:t>符号：</a:t>
            </a:r>
            <a:r>
              <a:rPr lang="zh-CN" altLang="en-US" sz="2000" b="1">
                <a:latin typeface="Times New Roman" panose="02020603050405020304" pitchFamily="18" charset="0"/>
                <a:ea typeface="MingLiU_HKSCS-ExtB" panose="02020500000000000000" charset="-120"/>
              </a:rPr>
              <a:t>这就是说在允许均方误差小于或等于</a:t>
            </a:r>
            <a:r>
              <a:rPr lang="zh-CN" altLang="en-US" sz="2000" b="1">
                <a:solidFill>
                  <a:schemeClr val="bg1"/>
                </a:solidFill>
                <a:latin typeface="Times New Roman" panose="02020603050405020304" pitchFamily="18" charset="0"/>
                <a:ea typeface="MingLiU_HKSCS-ExtB" panose="02020500000000000000" charset="-120"/>
              </a:rPr>
              <a:t> </a:t>
            </a:r>
            <a:r>
              <a:rPr lang="en-US" altLang="zh-CN" sz="2000" b="1">
                <a:solidFill>
                  <a:srgbClr val="FF0000"/>
                </a:solidFill>
                <a:latin typeface="Times New Roman" panose="02020603050405020304" pitchFamily="18" charset="0"/>
                <a:ea typeface="MingLiU_HKSCS-ExtB" panose="02020500000000000000" charset="-120"/>
              </a:rPr>
              <a:t>0.25</a:t>
            </a:r>
            <a:r>
              <a:rPr lang="en-US" altLang="zh-CN" sz="2000" b="1" i="1">
                <a:solidFill>
                  <a:srgbClr val="FF0000"/>
                </a:solidFill>
                <a:latin typeface="Times New Roman" panose="02020603050405020304" pitchFamily="18" charset="0"/>
                <a:ea typeface="MingLiU_HKSCS-ExtB" panose="02020500000000000000" charset="-120"/>
              </a:rPr>
              <a:t>σ</a:t>
            </a:r>
            <a:r>
              <a:rPr lang="en-US" altLang="zh-CN" sz="2000" b="1" baseline="30000">
                <a:solidFill>
                  <a:srgbClr val="FF0000"/>
                </a:solidFill>
                <a:latin typeface="Times New Roman" panose="02020603050405020304" pitchFamily="18" charset="0"/>
                <a:ea typeface="MingLiU_HKSCS-ExtB" panose="02020500000000000000" charset="-120"/>
              </a:rPr>
              <a:t>2 </a:t>
            </a:r>
            <a:r>
              <a:rPr lang="en-US" altLang="zh-CN" sz="2000" b="1">
                <a:solidFill>
                  <a:srgbClr val="FF0000"/>
                </a:solidFill>
                <a:latin typeface="Times New Roman" panose="02020603050405020304" pitchFamily="18" charset="0"/>
                <a:ea typeface="MingLiU_HKSCS-ExtB" panose="02020500000000000000" charset="-120"/>
              </a:rPr>
              <a:t> </a:t>
            </a:r>
            <a:r>
              <a:rPr lang="zh-CN" altLang="en-US" sz="2000" b="1">
                <a:latin typeface="Times New Roman" panose="02020603050405020304" pitchFamily="18" charset="0"/>
                <a:ea typeface="MingLiU_HKSCS-ExtB" panose="02020500000000000000" charset="-120"/>
              </a:rPr>
              <a:t>时，连续信号的每个样本值最少需用一个二进制符号来传输。由香农第三定理证明了这种压缩编码是存在的，然而实际上要找到这种可实现的最佳编码方法很困难的。</a:t>
            </a:r>
          </a:p>
        </p:txBody>
      </p:sp>
      <p:sp>
        <p:nvSpPr>
          <p:cNvPr id="2724" name="矩形 2723"/>
          <p:cNvSpPr/>
          <p:nvPr/>
        </p:nvSpPr>
        <p:spPr>
          <a:xfrm>
            <a:off x="7896225" y="6237288"/>
            <a:ext cx="796925" cy="360362"/>
          </a:xfrm>
          <a:solidFill>
            <a:srgbClr val="BBE0E3"/>
          </a:solidFill>
          <a:ln w="12700">
            <a:noFill/>
          </a:ln>
        </p:spPr>
        <p:txBody>
          <a:bodyPr/>
          <a:lstStyle/>
          <a:p>
            <a:endParaRPr lang="zh-CN" altLang="en-US"/>
          </a:p>
        </p:txBody>
      </p:sp>
      <p:sp>
        <p:nvSpPr>
          <p:cNvPr id="2725" name="矩形 2724"/>
          <p:cNvSpPr/>
          <p:nvPr/>
        </p:nvSpPr>
        <p:spPr>
          <a:xfrm>
            <a:off x="20638" y="1225550"/>
            <a:ext cx="565150" cy="4375150"/>
          </a:xfrm>
          <a:prstGeom prst="rect">
            <a:avLst/>
          </a:prstGeom>
          <a:noFill/>
          <a:ln w="9525">
            <a:noFill/>
          </a:ln>
        </p:spPr>
        <p:txBody>
          <a:bodyPr wrap="none" anchor="t" anchorCtr="0">
            <a:spAutoFit/>
          </a:bodyPr>
          <a:lstStyle/>
          <a:p>
            <a:pPr algn="ctr" eaLnBrk="0" hangingPunct="0">
              <a:lnSpc>
                <a:spcPct val="90000"/>
              </a:lnSpc>
            </a:pPr>
            <a:r>
              <a:rPr lang="en-US" altLang="zh-CN" sz="2400">
                <a:solidFill>
                  <a:schemeClr val="bg2"/>
                </a:solidFill>
                <a:latin typeface="Times New Roman" panose="02020603050405020304" pitchFamily="18" charset="0"/>
                <a:ea typeface="MingLiU_HKSCS-ExtB" panose="02020500000000000000" charset="-120"/>
              </a:rPr>
              <a:t>4.3</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连</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续</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源</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的</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信</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息</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率</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失</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真</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函</a:t>
            </a:r>
          </a:p>
          <a:p>
            <a:pPr algn="ctr" eaLnBrk="0" hangingPunct="0">
              <a:lnSpc>
                <a:spcPct val="90000"/>
              </a:lnSpc>
            </a:pPr>
            <a:r>
              <a:rPr lang="zh-CN" altLang="en-US" sz="2400">
                <a:solidFill>
                  <a:schemeClr val="bg2"/>
                </a:solidFill>
                <a:latin typeface="Times New Roman" panose="02020603050405020304" pitchFamily="18" charset="0"/>
                <a:ea typeface="MingLiU_HKSCS-ExtB" panose="02020500000000000000" charset="-120"/>
              </a:rPr>
              <a:t>数</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withEffect">
                                  <p:childTnLst>
                                    <p:set>
                                      <p:cBhvr additive="base">
                                        <p:cTn id="6" dur="1" fill="hold">
                                          <p:stCondLst>
                                            <p:cond delay="0"/>
                                          </p:stCondLst>
                                        </p:cTn>
                                        <p:tgtEl>
                                          <p:spTgt spid="2724"/>
                                        </p:tgtEl>
                                        <p:attrNameLst>
                                          <p:attrName>style.visibility</p:attrName>
                                        </p:attrNameLst>
                                      </p:cBhvr>
                                      <p:to>
                                        <p:strVal val="visible"/>
                                      </p:to>
                                    </p:set>
                                    <p:anim calcmode="lin" valueType="num">
                                      <p:cBhvr additive="base">
                                        <p:cTn id="7" dur="1000" fill="hold"/>
                                        <p:tgtEl>
                                          <p:spTgt spid="2724"/>
                                        </p:tgtEl>
                                        <p:attrNameLst>
                                          <p:attrName>ppt_x</p:attrName>
                                        </p:attrNameLst>
                                      </p:cBhvr>
                                      <p:tavLst>
                                        <p:tav tm="0">
                                          <p:val>
                                            <p:strVal val="#ppt_x-.2"/>
                                          </p:val>
                                        </p:tav>
                                        <p:tav tm="100000">
                                          <p:val>
                                            <p:strVal val="#ppt_x"/>
                                          </p:val>
                                        </p:tav>
                                      </p:tavLst>
                                    </p:anim>
                                    <p:anim calcmode="lin" valueType="num">
                                      <p:cBhvr additive="base">
                                        <p:cTn id="8" dur="1000" fill="hold"/>
                                        <p:tgtEl>
                                          <p:spTgt spid="2724"/>
                                        </p:tgtEl>
                                        <p:attrNameLst>
                                          <p:attrName>ppt_y</p:attrName>
                                        </p:attrNameLst>
                                      </p:cBhvr>
                                      <p:tavLst>
                                        <p:tav tm="0">
                                          <p:val>
                                            <p:strVal val="#ppt_y"/>
                                          </p:val>
                                        </p:tav>
                                        <p:tav tm="100000">
                                          <p:val>
                                            <p:strVal val="#ppt_y"/>
                                          </p:val>
                                        </p:tav>
                                      </p:tavLst>
                                    </p:anim>
                                    <p:animEffect transition="in" filter="wipe(right)">
                                      <p:cBhvr additive="base">
                                        <p:cTn id="9" dur="1000"/>
                                        <p:tgtEl>
                                          <p:spTgt spid="2724"/>
                                        </p:tgtEl>
                                      </p:cBhvr>
                                    </p:animEffect>
                                  </p:childTnLst>
                                </p:cTn>
                              </p:par>
                              <p:par>
                                <p:cTn id="10" presetID="29" presetClass="entr" presetSubtype="0" fill="hold" grpId="0" nodeType="withEffect">
                                  <p:childTnLst>
                                    <p:set>
                                      <p:cBhvr additive="base">
                                        <p:cTn id="11" dur="1" fill="hold">
                                          <p:stCondLst>
                                            <p:cond delay="0"/>
                                          </p:stCondLst>
                                        </p:cTn>
                                        <p:tgtEl>
                                          <p:spTgt spid="2723"/>
                                        </p:tgtEl>
                                        <p:attrNameLst>
                                          <p:attrName>style.visibility</p:attrName>
                                        </p:attrNameLst>
                                      </p:cBhvr>
                                      <p:to>
                                        <p:strVal val="visible"/>
                                      </p:to>
                                    </p:set>
                                    <p:anim calcmode="lin" valueType="num">
                                      <p:cBhvr additive="base">
                                        <p:cTn id="12" dur="1000" fill="hold"/>
                                        <p:tgtEl>
                                          <p:spTgt spid="2723"/>
                                        </p:tgtEl>
                                        <p:attrNameLst>
                                          <p:attrName>ppt_x</p:attrName>
                                        </p:attrNameLst>
                                      </p:cBhvr>
                                      <p:tavLst>
                                        <p:tav tm="0">
                                          <p:val>
                                            <p:strVal val="#ppt_x-.2"/>
                                          </p:val>
                                        </p:tav>
                                        <p:tav tm="100000">
                                          <p:val>
                                            <p:strVal val="#ppt_x"/>
                                          </p:val>
                                        </p:tav>
                                      </p:tavLst>
                                    </p:anim>
                                    <p:anim calcmode="lin" valueType="num">
                                      <p:cBhvr additive="base">
                                        <p:cTn id="13" dur="1000" fill="hold"/>
                                        <p:tgtEl>
                                          <p:spTgt spid="2723"/>
                                        </p:tgtEl>
                                        <p:attrNameLst>
                                          <p:attrName>ppt_y</p:attrName>
                                        </p:attrNameLst>
                                      </p:cBhvr>
                                      <p:tavLst>
                                        <p:tav tm="0">
                                          <p:val>
                                            <p:strVal val="#ppt_y"/>
                                          </p:val>
                                        </p:tav>
                                        <p:tav tm="100000">
                                          <p:val>
                                            <p:strVal val="#ppt_y"/>
                                          </p:val>
                                        </p:tav>
                                      </p:tavLst>
                                    </p:anim>
                                    <p:animEffect transition="in" filter="wipe(right)">
                                      <p:cBhvr additive="base">
                                        <p:cTn id="14" dur="1000"/>
                                        <p:tgtEl>
                                          <p:spTgt spid="2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 grpId="0" animBg="1"/>
      <p:bldP spid="2724" grpId="1"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100</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28" name="标题 2727"/>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4.4 </a:t>
            </a:r>
            <a:r>
              <a:rPr lang="zh-CN" altLang="en-US">
                <a:ea typeface="MingLiU_HKSCS-ExtB" panose="02020500000000000000" charset="-120"/>
              </a:rPr>
              <a:t>信息率失真函数与信息价值</a:t>
            </a:r>
          </a:p>
        </p:txBody>
      </p:sp>
      <p:sp>
        <p:nvSpPr>
          <p:cNvPr id="2729" name="文本占位符 2728"/>
          <p:cNvSpPr>
            <a:spLocks noGrp="1"/>
          </p:cNvSpPr>
          <p:nvPr>
            <p:ph type="body" idx="4294967295"/>
          </p:nvPr>
        </p:nvSpPr>
        <p:spPr/>
        <p:txBody>
          <a:bodyPr/>
          <a:lstStyle/>
          <a:p>
            <a:pPr marL="355600" indent="-355600">
              <a:buClr>
                <a:srgbClr val="993366"/>
              </a:buClr>
            </a:pPr>
            <a:endParaRPr lang="en-US" altLang="zh-CN">
              <a:ea typeface="MingLiU_HKSCS-ExtB" panose="02020500000000000000" charset="-120"/>
            </a:endParaRPr>
          </a:p>
          <a:p>
            <a:pPr marL="355600" indent="-355600">
              <a:buClr>
                <a:srgbClr val="993366"/>
              </a:buClr>
            </a:pPr>
            <a:endParaRPr lang="en-US" altLang="zh-CN">
              <a:ea typeface="MingLiU_HKSCS-ExtB" panose="02020500000000000000" charset="-120"/>
            </a:endParaRPr>
          </a:p>
        </p:txBody>
      </p:sp>
      <p:sp>
        <p:nvSpPr>
          <p:cNvPr id="2730" name="矩形 2729"/>
          <p:cNvSpPr/>
          <p:nvPr/>
        </p:nvSpPr>
        <p:spPr>
          <a:xfrm>
            <a:off x="1579563" y="4437063"/>
            <a:ext cx="1928812" cy="284162"/>
          </a:xfrm>
          <a:prstGeom prst="rect">
            <a:avLst/>
          </a:prstGeom>
          <a:noFill/>
          <a:ln w="12700">
            <a:noFill/>
          </a:ln>
        </p:spPr>
        <p:txBody>
          <a:bodyPr>
            <a:spAutoFit/>
          </a:bodyPr>
          <a:lstStyle/>
          <a:p>
            <a:pPr algn="ctr" eaLnBrk="0" hangingPunct="0">
              <a:lnSpc>
                <a:spcPct val="90000"/>
              </a:lnSpc>
              <a:spcBef>
                <a:spcPct val="50000"/>
              </a:spcBef>
            </a:pPr>
            <a:endParaRPr sz="1400">
              <a:latin typeface="Times New Roman" panose="02020603050405020304" pitchFamily="18" charset="0"/>
              <a:ea typeface="MingLiU_HKSCS-ExtB" panose="02020500000000000000" charset="-120"/>
            </a:endParaRPr>
          </a:p>
        </p:txBody>
      </p:sp>
      <p:sp>
        <p:nvSpPr>
          <p:cNvPr id="2731" name="矩形 2730"/>
          <p:cNvSpPr/>
          <p:nvPr/>
        </p:nvSpPr>
        <p:spPr>
          <a:xfrm>
            <a:off x="849313" y="1268413"/>
            <a:ext cx="6519862" cy="1409700"/>
          </a:xfrm>
          <a:prstGeom prst="rect">
            <a:avLst/>
          </a:prstGeom>
          <a:pattFill prst="sphere">
            <a:fgClr>
              <a:srgbClr val="FFCCFF"/>
            </a:fgClr>
            <a:bgClr>
              <a:srgbClr val="FFFFFF"/>
            </a:bgClr>
          </a:pattFill>
          <a:ln w="12700">
            <a:noFill/>
          </a:ln>
        </p:spPr>
        <p:txBody>
          <a:bodyPr>
            <a:spAutoFit/>
          </a:bodyPr>
          <a:lstStyle/>
          <a:p>
            <a:pPr marL="355600" indent="-355600" eaLnBrk="0" hangingPunct="0">
              <a:lnSpc>
                <a:spcPct val="120000"/>
              </a:lnSpc>
              <a:buClr>
                <a:srgbClr val="660033"/>
              </a:buClr>
              <a:buSzPct val="90000"/>
              <a:buFont typeface="Wingdings" panose="05000000000000000000" pitchFamily="2" charset="2"/>
              <a:buChar char="ÿ"/>
            </a:pPr>
            <a:r>
              <a:rPr lang="zh-CN" altLang="en-US" sz="2400" b="1" u="sng">
                <a:solidFill>
                  <a:srgbClr val="0000CC"/>
                </a:solidFill>
                <a:latin typeface="Times New Roman" panose="02020603050405020304" pitchFamily="18" charset="0"/>
                <a:ea typeface="MingLiU_HKSCS-ExtB" panose="02020500000000000000" charset="-120"/>
              </a:rPr>
              <a:t>信息价值</a:t>
            </a:r>
            <a:r>
              <a:rPr lang="zh-CN" altLang="en-US" sz="2400" b="1">
                <a:latin typeface="Times New Roman" panose="02020603050405020304" pitchFamily="18" charset="0"/>
                <a:ea typeface="MingLiU_HKSCS-ExtB" panose="02020500000000000000" charset="-120"/>
              </a:rPr>
              <a:t>比信息量更难定义，它与信息的接收者有关。同样的信息对不同的使用者，信息量相同但价值却不一样。</a:t>
            </a:r>
          </a:p>
        </p:txBody>
      </p:sp>
      <p:sp>
        <p:nvSpPr>
          <p:cNvPr id="2732" name="矩形 2731"/>
          <p:cNvSpPr/>
          <p:nvPr/>
        </p:nvSpPr>
        <p:spPr>
          <a:xfrm>
            <a:off x="1714500" y="2965450"/>
            <a:ext cx="6519863" cy="969963"/>
          </a:xfrm>
          <a:prstGeom prst="rect">
            <a:avLst/>
          </a:prstGeom>
          <a:pattFill prst="sphere">
            <a:fgClr>
              <a:srgbClr val="CCFFFF"/>
            </a:fgClr>
            <a:bgClr>
              <a:srgbClr val="FFFFFF"/>
            </a:bgClr>
          </a:pattFill>
          <a:ln w="12700">
            <a:noFill/>
          </a:ln>
        </p:spPr>
        <p:txBody>
          <a:bodyPr>
            <a:spAutoFit/>
          </a:bodyPr>
          <a:lstStyle/>
          <a:p>
            <a:pPr marL="355600" indent="-355600" eaLnBrk="0" hangingPunct="0">
              <a:lnSpc>
                <a:spcPct val="120000"/>
              </a:lnSpc>
              <a:buClr>
                <a:srgbClr val="660033"/>
              </a:buClr>
              <a:buSzPct val="90000"/>
              <a:buFont typeface="Wingdings" panose="05000000000000000000" pitchFamily="2" charset="2"/>
              <a:buChar char="ÿ"/>
            </a:pPr>
            <a:r>
              <a:rPr lang="zh-CN" altLang="en-US" sz="2400" b="1">
                <a:latin typeface="Times New Roman" panose="02020603050405020304" pitchFamily="18" charset="0"/>
                <a:ea typeface="MingLiU_HKSCS-ExtB" panose="02020500000000000000" charset="-120"/>
              </a:rPr>
              <a:t>香农信息论研究的是客观信息量，一般不涉及接收者的情况。</a:t>
            </a:r>
          </a:p>
        </p:txBody>
      </p:sp>
      <p:sp>
        <p:nvSpPr>
          <p:cNvPr id="2733" name="矩形 2732"/>
          <p:cNvSpPr/>
          <p:nvPr/>
        </p:nvSpPr>
        <p:spPr>
          <a:xfrm>
            <a:off x="1182688" y="4292600"/>
            <a:ext cx="7386637" cy="1849438"/>
          </a:xfrm>
          <a:prstGeom prst="rect">
            <a:avLst/>
          </a:prstGeom>
          <a:pattFill prst="sphere">
            <a:fgClr>
              <a:srgbClr val="FFFFCC"/>
            </a:fgClr>
            <a:bgClr>
              <a:srgbClr val="FFFFFF"/>
            </a:bgClr>
          </a:pattFill>
          <a:ln w="12700">
            <a:noFill/>
          </a:ln>
        </p:spPr>
        <p:txBody>
          <a:bodyPr>
            <a:spAutoFit/>
          </a:bodyPr>
          <a:lstStyle/>
          <a:p>
            <a:pPr marL="355600" indent="-355600" eaLnBrk="0" hangingPunct="0">
              <a:lnSpc>
                <a:spcPct val="120000"/>
              </a:lnSpc>
              <a:buClr>
                <a:srgbClr val="660033"/>
              </a:buClr>
              <a:buSzPct val="90000"/>
              <a:buFont typeface="Wingdings" panose="05000000000000000000" pitchFamily="2" charset="2"/>
              <a:buChar char="ÿ"/>
            </a:pPr>
            <a:r>
              <a:rPr lang="zh-CN" altLang="en-US" sz="2400" b="1">
                <a:latin typeface="Times New Roman" panose="02020603050405020304" pitchFamily="18" charset="0"/>
                <a:ea typeface="MingLiU_HKSCS-ExtB" panose="02020500000000000000" charset="-120"/>
              </a:rPr>
              <a:t>从信息率失真理论出发，如果把平均失真理解成平均损失，则损失的大小就与接收者的情况有关了，在此基础上可定义信息价值，从而用信息论解决实际问题。</a:t>
            </a:r>
          </a:p>
        </p:txBody>
      </p:sp>
    </p:spTree>
  </p:cSld>
  <p:clrMapOvr>
    <a:masterClrMapping/>
  </p:clrMapOvr>
  <p:transition spd="med">
    <p:spli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101</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36" name="标题 2735"/>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4.4 </a:t>
            </a:r>
            <a:r>
              <a:rPr lang="zh-CN" altLang="en-US">
                <a:ea typeface="MingLiU_HKSCS-ExtB" panose="02020500000000000000" charset="-120"/>
              </a:rPr>
              <a:t>信息率失真函数与信息价值</a:t>
            </a:r>
          </a:p>
        </p:txBody>
      </p:sp>
      <p:sp>
        <p:nvSpPr>
          <p:cNvPr id="2737" name="文本占位符 2736"/>
          <p:cNvSpPr>
            <a:spLocks noGrp="1"/>
          </p:cNvSpPr>
          <p:nvPr>
            <p:ph type="body" idx="4294967295"/>
          </p:nvPr>
        </p:nvSpPr>
        <p:spPr>
          <a:xfrm>
            <a:off x="590550" y="981075"/>
            <a:ext cx="8229600" cy="5327650"/>
          </a:xfrm>
        </p:spPr>
        <p:txBody>
          <a:bodyPr/>
          <a:lstStyle/>
          <a:p>
            <a:pPr>
              <a:buClr>
                <a:srgbClr val="993366"/>
              </a:buClr>
            </a:pPr>
            <a:r>
              <a:rPr lang="en-US" altLang="zh-CN" sz="2400">
                <a:ea typeface="MingLiU_HKSCS-ExtB" panose="02020500000000000000" charset="-120"/>
              </a:rPr>
              <a:t> </a:t>
            </a:r>
            <a:r>
              <a:rPr lang="zh-CN" altLang="en-US" sz="2400">
                <a:ea typeface="MingLiU_HKSCS-ExtB" panose="02020500000000000000" charset="-120"/>
              </a:rPr>
              <a:t>例子说明：</a:t>
            </a:r>
          </a:p>
          <a:p>
            <a:pPr marL="355600" lvl="1">
              <a:buClr>
                <a:srgbClr val="993366"/>
              </a:buClr>
            </a:pPr>
            <a:r>
              <a:rPr lang="zh-CN" altLang="en-US" sz="2200">
                <a:solidFill>
                  <a:srgbClr val="FF0000"/>
                </a:solidFill>
                <a:ea typeface="MingLiU_HKSCS-ExtB" panose="02020500000000000000" charset="-120"/>
              </a:rPr>
              <a:t> 信息价值</a:t>
            </a:r>
            <a:r>
              <a:rPr lang="zh-CN" altLang="en-US" sz="2200">
                <a:ea typeface="MingLiU_HKSCS-ExtB" panose="02020500000000000000" charset="-120"/>
              </a:rPr>
              <a:t>随着信息率的增加而增加；</a:t>
            </a:r>
          </a:p>
          <a:p>
            <a:pPr marL="355600" lvl="1">
              <a:buClr>
                <a:srgbClr val="993366"/>
              </a:buClr>
            </a:pPr>
            <a:r>
              <a:rPr lang="zh-CN" altLang="en-US" sz="2200">
                <a:ea typeface="MingLiU_HKSCS-ExtB" panose="02020500000000000000" charset="-120"/>
              </a:rPr>
              <a:t> 获取信息要付出代价，得到信息会获得利益。一般来说，获得的信息越多，付出的代价也越大；</a:t>
            </a:r>
          </a:p>
          <a:p>
            <a:pPr marL="355600" lvl="1">
              <a:buClr>
                <a:srgbClr val="993366"/>
              </a:buClr>
            </a:pPr>
            <a:r>
              <a:rPr lang="zh-CN" altLang="en-US" sz="2200">
                <a:ea typeface="MingLiU_HKSCS-ExtB" panose="02020500000000000000" charset="-120"/>
              </a:rPr>
              <a:t> 信息价值的概念从理论上定量地证明了</a:t>
            </a:r>
            <a:r>
              <a:rPr lang="zh-CN" altLang="en-US" sz="2200">
                <a:solidFill>
                  <a:srgbClr val="FF0000"/>
                </a:solidFill>
                <a:ea typeface="MingLiU_HKSCS-ExtB" panose="02020500000000000000" charset="-120"/>
              </a:rPr>
              <a:t>信息是财富</a:t>
            </a:r>
            <a:r>
              <a:rPr lang="zh-CN" altLang="en-US" sz="2200">
                <a:ea typeface="MingLiU_HKSCS-ExtB" panose="02020500000000000000" charset="-120"/>
              </a:rPr>
              <a:t>的假说；</a:t>
            </a:r>
          </a:p>
          <a:p>
            <a:pPr marL="355600" lvl="1">
              <a:buClr>
                <a:srgbClr val="993366"/>
              </a:buClr>
            </a:pPr>
            <a:r>
              <a:rPr lang="zh-CN" altLang="en-US" sz="2200">
                <a:ea typeface="MingLiU_HKSCS-ExtB" panose="02020500000000000000" charset="-120"/>
              </a:rPr>
              <a:t> 进一步的研究证明：信息还可以代替</a:t>
            </a:r>
            <a:r>
              <a:rPr lang="zh-CN" altLang="en-US" sz="2200">
                <a:solidFill>
                  <a:srgbClr val="FF0000"/>
                </a:solidFill>
                <a:ea typeface="MingLiU_HKSCS-ExtB" panose="02020500000000000000" charset="-120"/>
              </a:rPr>
              <a:t>人力</a:t>
            </a:r>
            <a:r>
              <a:rPr lang="zh-CN" altLang="en-US" sz="2200">
                <a:ea typeface="MingLiU_HKSCS-ExtB" panose="02020500000000000000" charset="-120"/>
              </a:rPr>
              <a:t>、</a:t>
            </a:r>
            <a:r>
              <a:rPr lang="zh-CN" altLang="en-US" sz="2200">
                <a:solidFill>
                  <a:srgbClr val="FF0000"/>
                </a:solidFill>
                <a:ea typeface="MingLiU_HKSCS-ExtB" panose="02020500000000000000" charset="-120"/>
              </a:rPr>
              <a:t>物质</a:t>
            </a:r>
            <a:r>
              <a:rPr lang="zh-CN" altLang="en-US" sz="2200">
                <a:ea typeface="MingLiU_HKSCS-ExtB" panose="02020500000000000000" charset="-120"/>
              </a:rPr>
              <a:t>、</a:t>
            </a:r>
            <a:r>
              <a:rPr lang="zh-CN" altLang="en-US" sz="2200">
                <a:solidFill>
                  <a:srgbClr val="FF0000"/>
                </a:solidFill>
                <a:ea typeface="MingLiU_HKSCS-ExtB" panose="02020500000000000000" charset="-120"/>
              </a:rPr>
              <a:t>能源</a:t>
            </a:r>
            <a:r>
              <a:rPr lang="zh-CN" altLang="en-US" sz="2200">
                <a:ea typeface="MingLiU_HKSCS-ExtB" panose="02020500000000000000" charset="-120"/>
              </a:rPr>
              <a:t>和</a:t>
            </a:r>
            <a:r>
              <a:rPr lang="zh-CN" altLang="en-US" sz="2200">
                <a:solidFill>
                  <a:srgbClr val="FF0000"/>
                </a:solidFill>
                <a:ea typeface="MingLiU_HKSCS-ExtB" panose="02020500000000000000" charset="-120"/>
              </a:rPr>
              <a:t>资本</a:t>
            </a:r>
            <a:r>
              <a:rPr lang="zh-CN" altLang="en-US" sz="2200">
                <a:ea typeface="MingLiU_HKSCS-ExtB" panose="02020500000000000000" charset="-120"/>
              </a:rPr>
              <a:t>，从而得到更多的</a:t>
            </a:r>
            <a:r>
              <a:rPr lang="zh-CN" altLang="en-US" sz="2200">
                <a:solidFill>
                  <a:srgbClr val="FF0000"/>
                </a:solidFill>
                <a:ea typeface="MingLiU_HKSCS-ExtB" panose="02020500000000000000" charset="-120"/>
              </a:rPr>
              <a:t>经济利益</a:t>
            </a:r>
            <a:r>
              <a:rPr lang="zh-CN" altLang="en-US" sz="2200">
                <a:ea typeface="MingLiU_HKSCS-ExtB" panose="02020500000000000000" charset="-120"/>
              </a:rPr>
              <a:t>。</a:t>
            </a:r>
          </a:p>
          <a:p>
            <a:pPr>
              <a:buClr>
                <a:srgbClr val="993366"/>
              </a:buClr>
            </a:pPr>
            <a:r>
              <a:rPr lang="zh-CN" altLang="en-US" sz="2400">
                <a:ea typeface="MingLiU_HKSCS-ExtB" panose="02020500000000000000" charset="-120"/>
              </a:rPr>
              <a:t> 这些问题的深入讨论涉及到</a:t>
            </a:r>
            <a:r>
              <a:rPr lang="zh-CN" altLang="en-US" sz="2400">
                <a:solidFill>
                  <a:srgbClr val="000066"/>
                </a:solidFill>
                <a:ea typeface="MingLiU_HKSCS-ExtB" panose="02020500000000000000" charset="-120"/>
              </a:rPr>
              <a:t>信息经济学</a:t>
            </a:r>
            <a:r>
              <a:rPr lang="zh-CN" altLang="en-US" sz="2400">
                <a:ea typeface="MingLiU_HKSCS-ExtB" panose="02020500000000000000" charset="-120"/>
              </a:rPr>
              <a:t>理论，属于</a:t>
            </a:r>
            <a:r>
              <a:rPr lang="zh-CN" altLang="en-US" sz="2400">
                <a:solidFill>
                  <a:srgbClr val="000066"/>
                </a:solidFill>
                <a:ea typeface="MingLiU_HKSCS-ExtB" panose="02020500000000000000" charset="-120"/>
              </a:rPr>
              <a:t>广义信息论</a:t>
            </a:r>
            <a:r>
              <a:rPr lang="zh-CN" altLang="en-US" sz="2400">
                <a:ea typeface="MingLiU_HKSCS-ExtB" panose="02020500000000000000" charset="-120"/>
              </a:rPr>
              <a:t>范畴。</a:t>
            </a:r>
          </a:p>
        </p:txBody>
      </p:sp>
      <p:sp>
        <p:nvSpPr>
          <p:cNvPr id="2738" name="矩形 2737"/>
          <p:cNvSpPr/>
          <p:nvPr/>
        </p:nvSpPr>
        <p:spPr>
          <a:xfrm>
            <a:off x="8029575" y="5949950"/>
            <a:ext cx="796925" cy="360363"/>
          </a:xfrm>
          <a:solidFill>
            <a:srgbClr val="BBE0E3"/>
          </a:solidFill>
          <a:ln w="12700">
            <a:noFill/>
          </a:ln>
        </p:spPr>
        <p:txBody>
          <a:bodyPr/>
          <a:lstStyle/>
          <a:p>
            <a:endParaRPr lang="zh-CN" altLang="en-US"/>
          </a:p>
        </p:txBody>
      </p:sp>
    </p:spTree>
  </p:cSld>
  <p:clrMapOvr>
    <a:masterClrMapping/>
  </p:clrMapOvr>
  <p:transition spd="med">
    <p:spli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102</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41" name="标题 2740"/>
          <p:cNvSpPr>
            <a:spLocks noGrp="1"/>
          </p:cNvSpPr>
          <p:nvPr>
            <p:ph type="title" idx="4294967295"/>
          </p:nvPr>
        </p:nvSpPr>
        <p:spPr>
          <a:xfrm>
            <a:off x="982663" y="188913"/>
            <a:ext cx="8161337" cy="719137"/>
          </a:xfrm>
        </p:spPr>
        <p:txBody>
          <a:bodyPr anchor="ctr" anchorCtr="0"/>
          <a:lstStyle/>
          <a:p>
            <a:r>
              <a:rPr lang="en-US" altLang="zh-CN" sz="3600">
                <a:ea typeface="MingLiU_HKSCS-ExtB" panose="02020500000000000000" charset="-120"/>
              </a:rPr>
              <a:t>4.5 </a:t>
            </a:r>
            <a:r>
              <a:rPr lang="zh-CN" altLang="en-US" sz="3600">
                <a:ea typeface="MingLiU_HKSCS-ExtB" panose="02020500000000000000" charset="-120"/>
              </a:rPr>
              <a:t>信道容量与信息率失真函数的比较</a:t>
            </a:r>
          </a:p>
        </p:txBody>
      </p:sp>
      <p:sp>
        <p:nvSpPr>
          <p:cNvPr id="2742" name="文本占位符 2741"/>
          <p:cNvSpPr>
            <a:spLocks noGrp="1"/>
          </p:cNvSpPr>
          <p:nvPr>
            <p:ph type="body" idx="4294967295"/>
          </p:nvPr>
        </p:nvSpPr>
        <p:spPr/>
        <p:txBody>
          <a:bodyPr/>
          <a:lstStyle/>
          <a:p>
            <a:pPr marL="355600" indent="-355600">
              <a:buClr>
                <a:srgbClr val="993366"/>
              </a:buClr>
              <a:buNone/>
            </a:pPr>
            <a:r>
              <a:rPr lang="en-US" altLang="zh-CN" sz="2400">
                <a:ea typeface="MingLiU_HKSCS-ExtB" panose="02020500000000000000" charset="-120"/>
              </a:rPr>
              <a:t>     </a:t>
            </a:r>
            <a:r>
              <a:rPr lang="zh-CN" altLang="en-US" sz="2400">
                <a:ea typeface="MingLiU_HKSCS-ExtB" panose="02020500000000000000" charset="-120"/>
              </a:rPr>
              <a:t>从数学上说，</a:t>
            </a:r>
            <a:r>
              <a:rPr lang="zh-CN" altLang="en-US" sz="2400">
                <a:solidFill>
                  <a:srgbClr val="FF0000"/>
                </a:solidFill>
                <a:ea typeface="MingLiU_HKSCS-ExtB" panose="02020500000000000000" charset="-120"/>
              </a:rPr>
              <a:t>信道容量和信息率失真函数</a:t>
            </a:r>
            <a:r>
              <a:rPr lang="zh-CN" altLang="en-US" sz="2400">
                <a:ea typeface="MingLiU_HKSCS-ExtB" panose="02020500000000000000" charset="-120"/>
              </a:rPr>
              <a:t>的问题，都是求平均互信息</a:t>
            </a:r>
            <a:r>
              <a:rPr lang="zh-CN" altLang="en-US" sz="2400" u="sng">
                <a:ea typeface="MingLiU_HKSCS-ExtB" panose="02020500000000000000" charset="-120"/>
              </a:rPr>
              <a:t>极值问题</a:t>
            </a:r>
            <a:r>
              <a:rPr lang="zh-CN" altLang="en-US" sz="2400">
                <a:ea typeface="MingLiU_HKSCS-ExtB" panose="02020500000000000000" charset="-120"/>
              </a:rPr>
              <a:t>，有相仿之处，故常称为</a:t>
            </a:r>
            <a:r>
              <a:rPr lang="zh-CN" altLang="en-US" sz="2400">
                <a:solidFill>
                  <a:srgbClr val="FF0000"/>
                </a:solidFill>
                <a:ea typeface="MingLiU_HKSCS-ExtB" panose="02020500000000000000" charset="-120"/>
              </a:rPr>
              <a:t>对偶问题。</a:t>
            </a:r>
            <a:endParaRPr lang="zh-CN" altLang="en-US" sz="2400">
              <a:ea typeface="MingLiU_HKSCS-ExtB" panose="02020500000000000000" charset="-120"/>
            </a:endParaRPr>
          </a:p>
        </p:txBody>
      </p:sp>
      <p:sp>
        <p:nvSpPr>
          <p:cNvPr id="2743" name="矩形 2742">
            <a:hlinkClick r:id="" action="ppaction://hlinkshowjump?jump=nextslide" tooltip="下一页"/>
          </p:cNvPr>
          <p:cNvSpPr/>
          <p:nvPr/>
        </p:nvSpPr>
        <p:spPr>
          <a:xfrm>
            <a:off x="1116013" y="2565400"/>
            <a:ext cx="3455987" cy="719138"/>
          </a:xfrm>
          <a:prstGeom prst="rect">
            <a:avLst/>
          </a:prstGeom>
          <a:pattFill prst="sphere">
            <a:fgClr>
              <a:srgbClr val="FFCCFF"/>
            </a:fgClr>
            <a:bgClr>
              <a:srgbClr val="FFFFFF"/>
            </a:bgClr>
          </a:pattFill>
          <a:ln w="9525">
            <a:noFill/>
          </a:ln>
        </p:spPr>
        <p:txBody>
          <a:bodyPr wrap="none" anchor="ctr" anchorCtr="0"/>
          <a:lstStyle/>
          <a:p>
            <a:pPr eaLnBrk="0" hangingPunct="0">
              <a:lnSpc>
                <a:spcPct val="90000"/>
              </a:lnSpc>
            </a:pPr>
            <a:r>
              <a:rPr lang="en-US" altLang="zh-CN" sz="4000" b="1">
                <a:latin typeface="Times New Roman" panose="02020603050405020304" pitchFamily="18" charset="0"/>
                <a:ea typeface="MingLiU_HKSCS-ExtB" panose="02020500000000000000" charset="-120"/>
              </a:rPr>
              <a:t>(1)</a:t>
            </a:r>
            <a:r>
              <a:rPr lang="en-US" altLang="zh-CN" sz="4000">
                <a:latin typeface="Times New Roman" panose="02020603050405020304" pitchFamily="18" charset="0"/>
                <a:ea typeface="MingLiU_HKSCS-ExtB" panose="02020500000000000000" charset="-120"/>
              </a:rPr>
              <a:t> </a:t>
            </a:r>
            <a:r>
              <a:rPr lang="zh-CN" altLang="en-US" sz="4000">
                <a:latin typeface="Times New Roman" panose="02020603050405020304" pitchFamily="18" charset="0"/>
                <a:ea typeface="MingLiU_HKSCS-ExtB" panose="02020500000000000000" charset="-120"/>
              </a:rPr>
              <a:t>求极值问题</a:t>
            </a:r>
          </a:p>
        </p:txBody>
      </p:sp>
      <p:sp>
        <p:nvSpPr>
          <p:cNvPr id="2744" name="矩形 2743"/>
          <p:cNvSpPr/>
          <p:nvPr/>
        </p:nvSpPr>
        <p:spPr>
          <a:xfrm>
            <a:off x="3175000" y="3644900"/>
            <a:ext cx="2325688" cy="720725"/>
          </a:xfrm>
          <a:prstGeom prst="rect">
            <a:avLst/>
          </a:prstGeom>
          <a:pattFill prst="sphere">
            <a:fgClr>
              <a:srgbClr val="FFFF99"/>
            </a:fgClr>
            <a:bgClr>
              <a:srgbClr val="FFFFFF"/>
            </a:bgClr>
          </a:pattFill>
          <a:ln w="9525">
            <a:noFill/>
          </a:ln>
        </p:spPr>
        <p:txBody>
          <a:bodyPr wrap="none" anchor="ctr" anchorCtr="0"/>
          <a:lstStyle/>
          <a:p>
            <a:pPr eaLnBrk="0" hangingPunct="0">
              <a:lnSpc>
                <a:spcPct val="90000"/>
              </a:lnSpc>
            </a:pPr>
            <a:r>
              <a:rPr lang="en-US" altLang="zh-CN" sz="4000" b="1">
                <a:latin typeface="Times New Roman" panose="02020603050405020304" pitchFamily="18" charset="0"/>
                <a:ea typeface="MingLiU_HKSCS-ExtB" panose="02020500000000000000" charset="-120"/>
              </a:rPr>
              <a:t>(2)</a:t>
            </a:r>
            <a:r>
              <a:rPr lang="en-US" altLang="zh-CN" sz="4000">
                <a:latin typeface="Times New Roman" panose="02020603050405020304" pitchFamily="18" charset="0"/>
                <a:ea typeface="MingLiU_HKSCS-ExtB" panose="02020500000000000000" charset="-120"/>
              </a:rPr>
              <a:t> </a:t>
            </a:r>
            <a:r>
              <a:rPr lang="zh-CN" altLang="en-US" sz="4000">
                <a:latin typeface="Times New Roman" panose="02020603050405020304" pitchFamily="18" charset="0"/>
                <a:ea typeface="MingLiU_HKSCS-ExtB" panose="02020500000000000000" charset="-120"/>
              </a:rPr>
              <a:t>特  性</a:t>
            </a:r>
          </a:p>
        </p:txBody>
      </p:sp>
      <p:sp>
        <p:nvSpPr>
          <p:cNvPr id="2745" name="矩形 2744"/>
          <p:cNvSpPr/>
          <p:nvPr/>
        </p:nvSpPr>
        <p:spPr>
          <a:xfrm>
            <a:off x="4643438" y="4797425"/>
            <a:ext cx="3517900" cy="720725"/>
          </a:xfrm>
          <a:prstGeom prst="rect">
            <a:avLst/>
          </a:prstGeom>
          <a:pattFill prst="sphere">
            <a:fgClr>
              <a:srgbClr val="CCFFCC"/>
            </a:fgClr>
            <a:bgClr>
              <a:srgbClr val="FFFFFF"/>
            </a:bgClr>
          </a:pattFill>
          <a:ln w="9525">
            <a:noFill/>
          </a:ln>
        </p:spPr>
        <p:txBody>
          <a:bodyPr wrap="none" anchor="ctr" anchorCtr="0"/>
          <a:lstStyle/>
          <a:p>
            <a:pPr eaLnBrk="0" hangingPunct="0">
              <a:lnSpc>
                <a:spcPct val="90000"/>
              </a:lnSpc>
            </a:pPr>
            <a:r>
              <a:rPr lang="en-US" altLang="zh-CN" sz="4000" b="1">
                <a:latin typeface="Times New Roman" panose="02020603050405020304" pitchFamily="18" charset="0"/>
                <a:ea typeface="MingLiU_HKSCS-ExtB" panose="02020500000000000000" charset="-120"/>
              </a:rPr>
              <a:t>(3)</a:t>
            </a:r>
            <a:r>
              <a:rPr lang="en-US" altLang="zh-CN" sz="4000">
                <a:latin typeface="Times New Roman" panose="02020603050405020304" pitchFamily="18" charset="0"/>
                <a:ea typeface="MingLiU_HKSCS-ExtB" panose="02020500000000000000" charset="-120"/>
              </a:rPr>
              <a:t> </a:t>
            </a:r>
            <a:r>
              <a:rPr lang="zh-CN" altLang="en-US" sz="4000">
                <a:latin typeface="Times New Roman" panose="02020603050405020304" pitchFamily="18" charset="0"/>
                <a:ea typeface="MingLiU_HKSCS-ExtB" panose="02020500000000000000" charset="-120"/>
              </a:rPr>
              <a:t>解决的问题</a:t>
            </a:r>
          </a:p>
        </p:txBody>
      </p:sp>
    </p:spTree>
  </p:cSld>
  <p:clrMapOvr>
    <a:masterClrMapping/>
  </p:clrMapOvr>
  <p:transition spd="med">
    <p:spli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103</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48" name="标题 2747"/>
          <p:cNvSpPr>
            <a:spLocks noGrp="1"/>
          </p:cNvSpPr>
          <p:nvPr>
            <p:ph type="title" idx="4294967295"/>
          </p:nvPr>
        </p:nvSpPr>
        <p:spPr>
          <a:xfrm>
            <a:off x="982663" y="188913"/>
            <a:ext cx="8161337" cy="719137"/>
          </a:xfrm>
        </p:spPr>
        <p:txBody>
          <a:bodyPr anchor="ctr" anchorCtr="0"/>
          <a:lstStyle/>
          <a:p>
            <a:r>
              <a:rPr lang="en-US" altLang="zh-CN" sz="3600">
                <a:ea typeface="MingLiU_HKSCS-ExtB" panose="02020500000000000000" charset="-120"/>
              </a:rPr>
              <a:t>4.5 </a:t>
            </a:r>
            <a:r>
              <a:rPr lang="zh-CN" altLang="en-US" sz="3600">
                <a:ea typeface="MingLiU_HKSCS-ExtB" panose="02020500000000000000" charset="-120"/>
              </a:rPr>
              <a:t>信道容量与信息率失真函数的比较</a:t>
            </a:r>
          </a:p>
        </p:txBody>
      </p:sp>
      <p:sp>
        <p:nvSpPr>
          <p:cNvPr id="2749" name="文本占位符 2748"/>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求极值问题</a:t>
            </a:r>
          </a:p>
          <a:p>
            <a:pPr marL="355600" indent="-355600">
              <a:buClr>
                <a:srgbClr val="993366"/>
              </a:buClr>
            </a:pPr>
            <a:r>
              <a:rPr lang="zh-CN" altLang="en-US" sz="2400">
                <a:ea typeface="MingLiU_HKSCS-ExtB" panose="02020500000000000000" charset="-120"/>
              </a:rPr>
              <a:t>平均互信息</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Y</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是信源概率分布</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p</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i="1" baseline="-25000">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i</a:t>
            </a:r>
            <a:r>
              <a:rPr lang="en-US" altLang="zh-CN" sz="2400">
                <a:solidFill>
                  <a:srgbClr val="FF0000"/>
                </a:solidFill>
                <a:ea typeface="MingLiU_HKSCS-ExtB" panose="02020500000000000000" charset="-120"/>
              </a:rPr>
              <a:t>=1,2,…,</a:t>
            </a:r>
            <a:r>
              <a:rPr lang="en-US" altLang="zh-CN" sz="2400" i="1">
                <a:solidFill>
                  <a:srgbClr val="FF0000"/>
                </a:solidFill>
                <a:ea typeface="MingLiU_HKSCS-ExtB" panose="02020500000000000000" charset="-120"/>
              </a:rPr>
              <a:t>n</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或概率密度函数</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p</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的上凸函数。根据上凸函数定义，如果</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Y</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在定义域内对</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p</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i="1" baseline="-25000">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或 </a:t>
            </a:r>
            <a:r>
              <a:rPr lang="en-US" altLang="zh-CN" sz="2400" i="1">
                <a:solidFill>
                  <a:srgbClr val="FF0000"/>
                </a:solidFill>
                <a:ea typeface="MingLiU_HKSCS-ExtB" panose="02020500000000000000" charset="-120"/>
              </a:rPr>
              <a:t>p</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的极值存在，则该极值一定是极大值。</a:t>
            </a:r>
            <a:r>
              <a:rPr lang="zh-CN" altLang="en-US" sz="2400">
                <a:solidFill>
                  <a:srgbClr val="0000CC"/>
                </a:solidFill>
                <a:ea typeface="MingLiU_HKSCS-ExtB" panose="02020500000000000000" charset="-120"/>
              </a:rPr>
              <a:t>信道容量就是在固定信道情况下，求平均互信息极大值的问题</a:t>
            </a:r>
            <a:r>
              <a:rPr lang="zh-CN" altLang="en-US" sz="2400">
                <a:ea typeface="MingLiU_HKSCS-ExtB" panose="02020500000000000000" charset="-120"/>
              </a:rPr>
              <a:t>，即：</a:t>
            </a:r>
          </a:p>
        </p:txBody>
      </p:sp>
      <p:graphicFrame>
        <p:nvGraphicFramePr>
          <p:cNvPr id="2750" name="对象 2749"/>
          <p:cNvGraphicFramePr/>
          <p:nvPr/>
        </p:nvGraphicFramePr>
        <p:xfrm>
          <a:off x="2092325" y="4508500"/>
          <a:ext cx="5348288" cy="663575"/>
        </p:xfrm>
        <a:graphic>
          <a:graphicData uri="http://schemas.openxmlformats.org/presentationml/2006/ole">
            <mc:AlternateContent xmlns:mc="http://schemas.openxmlformats.org/markup-compatibility/2006">
              <mc:Choice xmlns:v="urn:schemas-microsoft-com:vml" Requires="v">
                <p:oleObj spid="_x0000_s62466" r:id="rId3" imgW="669290" imgH="292100" progId="Equation.3">
                  <p:embed/>
                </p:oleObj>
              </mc:Choice>
              <mc:Fallback>
                <p:oleObj r:id="rId3" imgW="669290" imgH="292100" progId="Equation.3">
                  <p:embed/>
                  <p:pic>
                    <p:nvPicPr>
                      <p:cNvPr id="0" name="图片 3124"/>
                      <p:cNvPicPr/>
                      <p:nvPr/>
                    </p:nvPicPr>
                    <p:blipFill>
                      <a:blip r:embed="rId4"/>
                      <a:stretch>
                        <a:fillRect/>
                      </a:stretch>
                    </p:blipFill>
                    <p:spPr>
                      <a:xfrm>
                        <a:off x="2092325" y="4508500"/>
                        <a:ext cx="5348288" cy="663575"/>
                      </a:xfrm>
                      <a:prstGeom prst="rect">
                        <a:avLst/>
                      </a:prstGeom>
                      <a:noFill/>
                      <a:ln w="38100">
                        <a:noFill/>
                        <a:miter/>
                      </a:ln>
                    </p:spPr>
                  </p:pic>
                </p:oleObj>
              </mc:Fallback>
            </mc:AlternateContent>
          </a:graphicData>
        </a:graphic>
      </p:graphicFrame>
    </p:spTree>
  </p:cSld>
  <p:clrMapOvr>
    <a:masterClrMapping/>
  </p:clrMapOvr>
  <p:transition spd="med">
    <p:spli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104</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53" name="标题 2752"/>
          <p:cNvSpPr>
            <a:spLocks noGrp="1"/>
          </p:cNvSpPr>
          <p:nvPr>
            <p:ph type="title" idx="4294967295"/>
          </p:nvPr>
        </p:nvSpPr>
        <p:spPr>
          <a:xfrm>
            <a:off x="982663" y="188913"/>
            <a:ext cx="8161337" cy="719137"/>
          </a:xfrm>
        </p:spPr>
        <p:txBody>
          <a:bodyPr anchor="ctr" anchorCtr="0"/>
          <a:lstStyle/>
          <a:p>
            <a:r>
              <a:rPr lang="en-US" altLang="zh-CN" sz="3600">
                <a:ea typeface="MingLiU_HKSCS-ExtB" panose="02020500000000000000" charset="-120"/>
              </a:rPr>
              <a:t>4.5 </a:t>
            </a:r>
            <a:r>
              <a:rPr lang="zh-CN" altLang="en-US" sz="3600">
                <a:ea typeface="MingLiU_HKSCS-ExtB" panose="02020500000000000000" charset="-120"/>
              </a:rPr>
              <a:t>信道容量与信息率失真函数的比较</a:t>
            </a:r>
          </a:p>
        </p:txBody>
      </p:sp>
      <p:sp>
        <p:nvSpPr>
          <p:cNvPr id="2754" name="文本占位符 2753"/>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(1)  </a:t>
            </a:r>
            <a:r>
              <a:rPr lang="zh-CN" altLang="en-US">
                <a:ea typeface="MingLiU_HKSCS-ExtB" panose="02020500000000000000" charset="-120"/>
              </a:rPr>
              <a:t>求极值问题</a:t>
            </a:r>
          </a:p>
          <a:p>
            <a:pPr marL="355600" indent="-355600">
              <a:buClr>
                <a:srgbClr val="993366"/>
              </a:buClr>
            </a:pPr>
            <a:r>
              <a:rPr lang="en-US" altLang="zh-CN" sz="2400" i="1">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Y</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又是信道转移概率分布</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p</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y</a:t>
            </a:r>
            <a:r>
              <a:rPr lang="en-US" altLang="zh-CN" sz="2400" i="1" baseline="-25000">
                <a:solidFill>
                  <a:srgbClr val="FF0000"/>
                </a:solidFill>
                <a:ea typeface="MingLiU_HKSCS-ExtB" panose="02020500000000000000" charset="-120"/>
              </a:rPr>
              <a:t>j</a:t>
            </a:r>
            <a:r>
              <a:rPr lang="en-US" altLang="zh-CN" sz="2400">
                <a:solidFill>
                  <a:srgbClr val="FF0000"/>
                </a:solidFill>
                <a:ea typeface="MingLiU_HKSCS-ExtB" panose="02020500000000000000" charset="-120"/>
              </a:rPr>
              <a:t> /</a:t>
            </a:r>
            <a:r>
              <a:rPr lang="en-US" altLang="zh-CN" sz="2400" i="1">
                <a:solidFill>
                  <a:srgbClr val="FF0000"/>
                </a:solidFill>
                <a:ea typeface="MingLiU_HKSCS-ExtB" panose="02020500000000000000" charset="-120"/>
              </a:rPr>
              <a:t>x</a:t>
            </a:r>
            <a:r>
              <a:rPr lang="en-US" altLang="zh-CN" sz="2400" i="1" baseline="-25000">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i</a:t>
            </a:r>
            <a:r>
              <a:rPr lang="en-US" altLang="zh-CN" sz="2400">
                <a:solidFill>
                  <a:srgbClr val="FF0000"/>
                </a:solidFill>
                <a:ea typeface="MingLiU_HKSCS-ExtB" panose="02020500000000000000" charset="-120"/>
              </a:rPr>
              <a:t>=1,2,…,</a:t>
            </a:r>
            <a:r>
              <a:rPr lang="en-US" altLang="zh-CN" sz="2400" i="1">
                <a:solidFill>
                  <a:srgbClr val="FF0000"/>
                </a:solidFill>
                <a:ea typeface="MingLiU_HKSCS-ExtB" panose="02020500000000000000" charset="-120"/>
              </a:rPr>
              <a:t>n</a:t>
            </a:r>
            <a:r>
              <a:rPr lang="zh-CN" altLang="en-US"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j</a:t>
            </a:r>
            <a:r>
              <a:rPr lang="en-US" altLang="zh-CN" sz="2400">
                <a:solidFill>
                  <a:srgbClr val="FF0000"/>
                </a:solidFill>
                <a:ea typeface="MingLiU_HKSCS-ExtB" panose="02020500000000000000" charset="-120"/>
              </a:rPr>
              <a:t>=1,2,…,</a:t>
            </a:r>
            <a:r>
              <a:rPr lang="en-US" altLang="zh-CN" sz="2400" i="1">
                <a:solidFill>
                  <a:srgbClr val="FF0000"/>
                </a:solidFill>
                <a:ea typeface="MingLiU_HKSCS-ExtB" panose="02020500000000000000" charset="-120"/>
              </a:rPr>
              <a:t>m</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或条件概率密度函数</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p</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y</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的下凸函数，因此在满足保真度准则条件下，</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Y</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对</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p</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y</a:t>
            </a:r>
            <a:r>
              <a:rPr lang="en-US" altLang="zh-CN" sz="2400" i="1" baseline="-25000">
                <a:solidFill>
                  <a:srgbClr val="FF0000"/>
                </a:solidFill>
                <a:ea typeface="MingLiU_HKSCS-ExtB" panose="02020500000000000000" charset="-120"/>
              </a:rPr>
              <a:t>j</a:t>
            </a:r>
            <a:r>
              <a:rPr lang="en-US" altLang="zh-CN" sz="2400">
                <a:solidFill>
                  <a:srgbClr val="FF0000"/>
                </a:solidFill>
                <a:ea typeface="MingLiU_HKSCS-ExtB" panose="02020500000000000000" charset="-120"/>
              </a:rPr>
              <a:t> /</a:t>
            </a:r>
            <a:r>
              <a:rPr lang="en-US" altLang="zh-CN" sz="2400" i="1">
                <a:solidFill>
                  <a:srgbClr val="FF0000"/>
                </a:solidFill>
                <a:ea typeface="MingLiU_HKSCS-ExtB" panose="02020500000000000000" charset="-120"/>
              </a:rPr>
              <a:t>x</a:t>
            </a:r>
            <a:r>
              <a:rPr lang="en-US" altLang="zh-CN" sz="2400" i="1" baseline="-25000">
                <a:solidFill>
                  <a:srgbClr val="FF0000"/>
                </a:solidFill>
                <a:ea typeface="MingLiU_HKSCS-ExtB" panose="02020500000000000000" charset="-120"/>
              </a:rPr>
              <a:t>i</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或</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p</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y</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的条件极值若存在，则一定是极小值。信息率失真函数就是在试验信道（满足保真度准则的信道）中寻找平均互信息极小值的问题，即：</a:t>
            </a:r>
          </a:p>
        </p:txBody>
      </p:sp>
      <p:graphicFrame>
        <p:nvGraphicFramePr>
          <p:cNvPr id="2755" name="对象 2754"/>
          <p:cNvGraphicFramePr/>
          <p:nvPr/>
        </p:nvGraphicFramePr>
        <p:xfrm>
          <a:off x="1514475" y="5013325"/>
          <a:ext cx="6965950" cy="577850"/>
        </p:xfrm>
        <a:graphic>
          <a:graphicData uri="http://schemas.openxmlformats.org/presentationml/2006/ole">
            <mc:AlternateContent xmlns:mc="http://schemas.openxmlformats.org/markup-compatibility/2006">
              <mc:Choice xmlns:v="urn:schemas-microsoft-com:vml" Requires="v">
                <p:oleObj spid="_x0000_s63490" r:id="rId3" imgW="679450" imgH="292100" progId="Equation.3">
                  <p:embed/>
                </p:oleObj>
              </mc:Choice>
              <mc:Fallback>
                <p:oleObj r:id="rId3" imgW="679450" imgH="292100" progId="Equation.3">
                  <p:embed/>
                  <p:pic>
                    <p:nvPicPr>
                      <p:cNvPr id="0" name="图片 3127"/>
                      <p:cNvPicPr/>
                      <p:nvPr/>
                    </p:nvPicPr>
                    <p:blipFill>
                      <a:blip r:embed="rId4"/>
                      <a:stretch>
                        <a:fillRect/>
                      </a:stretch>
                    </p:blipFill>
                    <p:spPr>
                      <a:xfrm>
                        <a:off x="1514475" y="5013325"/>
                        <a:ext cx="6965950" cy="577850"/>
                      </a:xfrm>
                      <a:prstGeom prst="rect">
                        <a:avLst/>
                      </a:prstGeom>
                      <a:noFill/>
                      <a:ln w="38100">
                        <a:noFill/>
                        <a:miter/>
                      </a:ln>
                    </p:spPr>
                  </p:pic>
                </p:oleObj>
              </mc:Fallback>
            </mc:AlternateContent>
          </a:graphicData>
        </a:graphic>
      </p:graphicFrame>
      <p:sp>
        <p:nvSpPr>
          <p:cNvPr id="2756" name="矩形 2755"/>
          <p:cNvSpPr/>
          <p:nvPr/>
        </p:nvSpPr>
        <p:spPr>
          <a:xfrm>
            <a:off x="8029575" y="5949950"/>
            <a:ext cx="796925" cy="360363"/>
          </a:xfrm>
          <a:solidFill>
            <a:srgbClr val="BBE0E3"/>
          </a:solidFill>
          <a:ln w="12700">
            <a:noFill/>
          </a:ln>
        </p:spPr>
        <p:txBody>
          <a:bodyPr/>
          <a:lstStyle/>
          <a:p>
            <a:endParaRPr lang="zh-CN" altLang="en-US"/>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childTnLst>
                                    <p:set>
                                      <p:cBhvr additive="base">
                                        <p:cTn id="6" dur="1" fill="hold">
                                          <p:stCondLst>
                                            <p:cond delay="0"/>
                                          </p:stCondLst>
                                        </p:cTn>
                                        <p:tgtEl>
                                          <p:spTgt spid="2755"/>
                                        </p:tgtEl>
                                        <p:attrNameLst>
                                          <p:attrName>style.visibility</p:attrName>
                                        </p:attrNameLst>
                                      </p:cBhvr>
                                      <p:to>
                                        <p:strVal val="visible"/>
                                      </p:to>
                                    </p:set>
                                    <p:anim calcmode="lin" valueType="num">
                                      <p:cBhvr additive="base">
                                        <p:cTn id="7" dur="1000" fill="hold"/>
                                        <p:tgtEl>
                                          <p:spTgt spid="2755"/>
                                        </p:tgtEl>
                                        <p:attrNameLst>
                                          <p:attrName>ppt_x</p:attrName>
                                        </p:attrNameLst>
                                      </p:cBhvr>
                                      <p:tavLst>
                                        <p:tav tm="0">
                                          <p:val>
                                            <p:strVal val="#ppt_x-.2"/>
                                          </p:val>
                                        </p:tav>
                                        <p:tav tm="100000">
                                          <p:val>
                                            <p:strVal val="#ppt_x"/>
                                          </p:val>
                                        </p:tav>
                                      </p:tavLst>
                                    </p:anim>
                                    <p:anim calcmode="lin" valueType="num">
                                      <p:cBhvr additive="base">
                                        <p:cTn id="8" dur="1000" fill="hold"/>
                                        <p:tgtEl>
                                          <p:spTgt spid="2755"/>
                                        </p:tgtEl>
                                        <p:attrNameLst>
                                          <p:attrName>ppt_y</p:attrName>
                                        </p:attrNameLst>
                                      </p:cBhvr>
                                      <p:tavLst>
                                        <p:tav tm="0">
                                          <p:val>
                                            <p:strVal val="#ppt_y"/>
                                          </p:val>
                                        </p:tav>
                                        <p:tav tm="100000">
                                          <p:val>
                                            <p:strVal val="#ppt_y"/>
                                          </p:val>
                                        </p:tav>
                                      </p:tavLst>
                                    </p:anim>
                                    <p:animEffect transition="in" filter="wipe(right)">
                                      <p:cBhvr additive="base">
                                        <p:cTn id="9" dur="1000"/>
                                        <p:tgtEl>
                                          <p:spTgt spid="2755"/>
                                        </p:tgtEl>
                                      </p:cBhvr>
                                    </p:animEffect>
                                  </p:childTnLst>
                                </p:cTn>
                              </p:par>
                              <p:par>
                                <p:cTn id="10" presetID="29" presetClass="entr" presetSubtype="0" fill="hold" nodeType="withEffect">
                                  <p:childTnLst>
                                    <p:set>
                                      <p:cBhvr additive="base">
                                        <p:cTn id="11" dur="1" fill="hold">
                                          <p:stCondLst>
                                            <p:cond delay="0"/>
                                          </p:stCondLst>
                                        </p:cTn>
                                        <p:tgtEl>
                                          <p:spTgt spid="2754">
                                            <p:txEl>
                                              <p:pRg st="1" end="1"/>
                                            </p:txEl>
                                          </p:spTgt>
                                        </p:tgtEl>
                                        <p:attrNameLst>
                                          <p:attrName>style.visibility</p:attrName>
                                        </p:attrNameLst>
                                      </p:cBhvr>
                                      <p:to>
                                        <p:strVal val="visible"/>
                                      </p:to>
                                    </p:set>
                                    <p:anim calcmode="lin" valueType="num">
                                      <p:cBhvr additive="base">
                                        <p:cTn id="12" dur="1000" fill="hold"/>
                                        <p:tgtEl>
                                          <p:spTgt spid="2754">
                                            <p:txEl>
                                              <p:pRg st="1" end="1"/>
                                            </p:txEl>
                                          </p:spTgt>
                                        </p:tgtEl>
                                        <p:attrNameLst>
                                          <p:attrName>ppt_x</p:attrName>
                                        </p:attrNameLst>
                                      </p:cBhvr>
                                      <p:tavLst>
                                        <p:tav tm="0">
                                          <p:val>
                                            <p:strVal val="#ppt_x-.2"/>
                                          </p:val>
                                        </p:tav>
                                        <p:tav tm="100000">
                                          <p:val>
                                            <p:strVal val="#ppt_x"/>
                                          </p:val>
                                        </p:tav>
                                      </p:tavLst>
                                    </p:anim>
                                    <p:anim calcmode="lin" valueType="num">
                                      <p:cBhvr additive="base">
                                        <p:cTn id="13" dur="1000" fill="hold"/>
                                        <p:tgtEl>
                                          <p:spTgt spid="2754">
                                            <p:txEl>
                                              <p:pRg st="1" end="1"/>
                                            </p:txEl>
                                          </p:spTgt>
                                        </p:tgtEl>
                                        <p:attrNameLst>
                                          <p:attrName>ppt_y</p:attrName>
                                        </p:attrNameLst>
                                      </p:cBhvr>
                                      <p:tavLst>
                                        <p:tav tm="0">
                                          <p:val>
                                            <p:strVal val="#ppt_y"/>
                                          </p:val>
                                        </p:tav>
                                        <p:tav tm="100000">
                                          <p:val>
                                            <p:strVal val="#ppt_y"/>
                                          </p:val>
                                        </p:tav>
                                      </p:tavLst>
                                    </p:anim>
                                    <p:animEffect transition="in" filter="wipe(right)">
                                      <p:cBhvr additive="base">
                                        <p:cTn id="14" dur="1000"/>
                                        <p:tgtEl>
                                          <p:spTgt spid="2754">
                                            <p:txEl>
                                              <p:pRg st="1" end="1"/>
                                            </p:txEl>
                                          </p:spTgt>
                                        </p:tgtEl>
                                      </p:cBhvr>
                                    </p:animEffect>
                                  </p:childTnLst>
                                </p:cTn>
                              </p:par>
                              <p:par>
                                <p:cTn id="15" presetID="29" presetClass="entr" presetSubtype="0" fill="hold" grpId="0" nodeType="withEffect">
                                  <p:childTnLst>
                                    <p:set>
                                      <p:cBhvr additive="base">
                                        <p:cTn id="16" dur="1" fill="hold">
                                          <p:stCondLst>
                                            <p:cond delay="0"/>
                                          </p:stCondLst>
                                        </p:cTn>
                                        <p:tgtEl>
                                          <p:spTgt spid="2756"/>
                                        </p:tgtEl>
                                        <p:attrNameLst>
                                          <p:attrName>style.visibility</p:attrName>
                                        </p:attrNameLst>
                                      </p:cBhvr>
                                      <p:to>
                                        <p:strVal val="visible"/>
                                      </p:to>
                                    </p:set>
                                    <p:anim calcmode="lin" valueType="num">
                                      <p:cBhvr additive="base">
                                        <p:cTn id="17" dur="1000" fill="hold"/>
                                        <p:tgtEl>
                                          <p:spTgt spid="2756"/>
                                        </p:tgtEl>
                                        <p:attrNameLst>
                                          <p:attrName>ppt_x</p:attrName>
                                        </p:attrNameLst>
                                      </p:cBhvr>
                                      <p:tavLst>
                                        <p:tav tm="0">
                                          <p:val>
                                            <p:strVal val="#ppt_x-.2"/>
                                          </p:val>
                                        </p:tav>
                                        <p:tav tm="100000">
                                          <p:val>
                                            <p:strVal val="#ppt_x"/>
                                          </p:val>
                                        </p:tav>
                                      </p:tavLst>
                                    </p:anim>
                                    <p:anim calcmode="lin" valueType="num">
                                      <p:cBhvr additive="base">
                                        <p:cTn id="18" dur="1000" fill="hold"/>
                                        <p:tgtEl>
                                          <p:spTgt spid="2756"/>
                                        </p:tgtEl>
                                        <p:attrNameLst>
                                          <p:attrName>ppt_y</p:attrName>
                                        </p:attrNameLst>
                                      </p:cBhvr>
                                      <p:tavLst>
                                        <p:tav tm="0">
                                          <p:val>
                                            <p:strVal val="#ppt_y"/>
                                          </p:val>
                                        </p:tav>
                                        <p:tav tm="100000">
                                          <p:val>
                                            <p:strVal val="#ppt_y"/>
                                          </p:val>
                                        </p:tav>
                                      </p:tavLst>
                                    </p:anim>
                                    <p:animEffect transition="in" filter="wipe(right)">
                                      <p:cBhvr additive="base">
                                        <p:cTn id="19" dur="1000"/>
                                        <p:tgtEl>
                                          <p:spTgt spid="2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6"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105</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59" name="标题 2758"/>
          <p:cNvSpPr>
            <a:spLocks noGrp="1"/>
          </p:cNvSpPr>
          <p:nvPr>
            <p:ph type="title" idx="4294967295"/>
          </p:nvPr>
        </p:nvSpPr>
        <p:spPr>
          <a:xfrm>
            <a:off x="982663" y="188913"/>
            <a:ext cx="8161337" cy="719137"/>
          </a:xfrm>
        </p:spPr>
        <p:txBody>
          <a:bodyPr anchor="ctr" anchorCtr="0"/>
          <a:lstStyle/>
          <a:p>
            <a:r>
              <a:rPr lang="en-US" altLang="zh-CN" sz="3600">
                <a:ea typeface="MingLiU_HKSCS-ExtB" panose="02020500000000000000" charset="-120"/>
              </a:rPr>
              <a:t>4.5 </a:t>
            </a:r>
            <a:r>
              <a:rPr lang="zh-CN" altLang="en-US" sz="3600">
                <a:ea typeface="MingLiU_HKSCS-ExtB" panose="02020500000000000000" charset="-120"/>
              </a:rPr>
              <a:t>信道容量与信息率失真函数的比较</a:t>
            </a:r>
          </a:p>
        </p:txBody>
      </p:sp>
      <p:sp>
        <p:nvSpPr>
          <p:cNvPr id="2760" name="文本占位符 2759"/>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(2)  </a:t>
            </a:r>
            <a:r>
              <a:rPr lang="zh-CN" altLang="en-US">
                <a:ea typeface="MingLiU_HKSCS-ExtB" panose="02020500000000000000" charset="-120"/>
              </a:rPr>
              <a:t>特  性</a:t>
            </a:r>
            <a:endParaRPr lang="zh-CN" altLang="en-US" u="sng">
              <a:ea typeface="MingLiU_HKSCS-ExtB" panose="02020500000000000000" charset="-120"/>
            </a:endParaRPr>
          </a:p>
          <a:p>
            <a:pPr marL="355600" indent="-355600">
              <a:buClr>
                <a:srgbClr val="993366"/>
              </a:buClr>
            </a:pPr>
            <a:r>
              <a:rPr lang="zh-CN" altLang="en-US" sz="2400">
                <a:solidFill>
                  <a:srgbClr val="FF0000"/>
                </a:solidFill>
                <a:ea typeface="MingLiU_HKSCS-ExtB" panose="02020500000000000000" charset="-120"/>
              </a:rPr>
              <a:t>信道容量 </a:t>
            </a:r>
            <a:r>
              <a:rPr lang="en-US" altLang="zh-CN" sz="2400" i="1">
                <a:solidFill>
                  <a:srgbClr val="FF0000"/>
                </a:solidFill>
                <a:ea typeface="MingLiU_HKSCS-ExtB" panose="02020500000000000000" charset="-120"/>
              </a:rPr>
              <a:t>C</a:t>
            </a:r>
            <a:r>
              <a:rPr lang="en-US" altLang="zh-CN" sz="2400" i="1" u="sng">
                <a:solidFill>
                  <a:srgbClr val="FFFF00"/>
                </a:solidFill>
                <a:ea typeface="MingLiU_HKSCS-ExtB" panose="02020500000000000000" charset="-120"/>
              </a:rPr>
              <a:t> </a:t>
            </a:r>
            <a:r>
              <a:rPr lang="zh-CN" altLang="en-US" sz="2400">
                <a:ea typeface="MingLiU_HKSCS-ExtB" panose="02020500000000000000" charset="-120"/>
              </a:rPr>
              <a:t>一旦求出后，就只与信道转移概率 </a:t>
            </a:r>
            <a:r>
              <a:rPr lang="en-US" altLang="zh-CN" sz="2400" i="1">
                <a:ea typeface="MingLiU_HKSCS-ExtB" panose="02020500000000000000" charset="-120"/>
              </a:rPr>
              <a:t>p</a:t>
            </a:r>
            <a:r>
              <a:rPr lang="en-US" altLang="zh-CN" sz="2400">
                <a:ea typeface="MingLiU_HKSCS-ExtB" panose="02020500000000000000" charset="-120"/>
              </a:rPr>
              <a:t>(</a:t>
            </a:r>
            <a:r>
              <a:rPr lang="en-US" altLang="zh-CN" sz="2400" i="1">
                <a:ea typeface="MingLiU_HKSCS-ExtB" panose="02020500000000000000" charset="-120"/>
              </a:rPr>
              <a:t>y</a:t>
            </a:r>
            <a:r>
              <a:rPr lang="en-US" altLang="zh-CN" sz="2400" i="1" baseline="-25000">
                <a:ea typeface="MingLiU_HKSCS-ExtB" panose="02020500000000000000" charset="-120"/>
              </a:rPr>
              <a:t>j</a:t>
            </a:r>
            <a:r>
              <a:rPr lang="en-US" altLang="zh-CN" sz="2400">
                <a:ea typeface="MingLiU_HKSCS-ExtB" panose="02020500000000000000" charset="-120"/>
              </a:rPr>
              <a:t> /</a:t>
            </a:r>
            <a:r>
              <a:rPr lang="en-US" altLang="zh-CN" sz="2400" i="1">
                <a:ea typeface="MingLiU_HKSCS-ExtB" panose="02020500000000000000" charset="-120"/>
              </a:rPr>
              <a:t>x</a:t>
            </a:r>
            <a:r>
              <a:rPr lang="en-US" altLang="zh-CN" sz="2400" i="1" baseline="-25000">
                <a:ea typeface="MingLiU_HKSCS-ExtB" panose="02020500000000000000" charset="-120"/>
              </a:rPr>
              <a:t>i</a:t>
            </a:r>
            <a:r>
              <a:rPr lang="en-US" altLang="zh-CN" sz="2400">
                <a:ea typeface="MingLiU_HKSCS-ExtB" panose="02020500000000000000" charset="-120"/>
              </a:rPr>
              <a:t>) </a:t>
            </a:r>
            <a:r>
              <a:rPr lang="zh-CN" altLang="en-US" sz="2400">
                <a:ea typeface="MingLiU_HKSCS-ExtB" panose="02020500000000000000" charset="-120"/>
              </a:rPr>
              <a:t>或条件概率密度 </a:t>
            </a:r>
            <a:r>
              <a:rPr lang="en-US" altLang="zh-CN" sz="2400" i="1">
                <a:ea typeface="MingLiU_HKSCS-ExtB" panose="02020500000000000000" charset="-120"/>
              </a:rPr>
              <a:t>p</a:t>
            </a:r>
            <a:r>
              <a:rPr lang="en-US" altLang="zh-CN" sz="2400">
                <a:ea typeface="MingLiU_HKSCS-ExtB" panose="02020500000000000000" charset="-120"/>
              </a:rPr>
              <a:t>(</a:t>
            </a:r>
            <a:r>
              <a:rPr lang="en-US" altLang="zh-CN" sz="2400" i="1">
                <a:ea typeface="MingLiU_HKSCS-ExtB" panose="02020500000000000000" charset="-120"/>
              </a:rPr>
              <a:t>y</a:t>
            </a:r>
            <a:r>
              <a:rPr lang="en-US" altLang="zh-CN" sz="2400">
                <a:ea typeface="MingLiU_HKSCS-ExtB" panose="02020500000000000000" charset="-120"/>
              </a:rPr>
              <a:t>/</a:t>
            </a:r>
            <a:r>
              <a:rPr lang="en-US" altLang="zh-CN" sz="2400" i="1">
                <a:ea typeface="MingLiU_HKSCS-ExtB" panose="02020500000000000000" charset="-120"/>
              </a:rPr>
              <a:t>x</a:t>
            </a:r>
            <a:r>
              <a:rPr lang="en-US" altLang="zh-CN" sz="2400">
                <a:ea typeface="MingLiU_HKSCS-ExtB" panose="02020500000000000000" charset="-120"/>
              </a:rPr>
              <a:t>) </a:t>
            </a:r>
            <a:r>
              <a:rPr lang="zh-CN" altLang="en-US" sz="2400">
                <a:ea typeface="MingLiU_HKSCS-ExtB" panose="02020500000000000000" charset="-120"/>
              </a:rPr>
              <a:t>有关，反映信道特性，与信源特性无关；</a:t>
            </a:r>
            <a:endParaRPr lang="zh-CN" altLang="en-US" sz="2400" u="sng">
              <a:ea typeface="MingLiU_HKSCS-ExtB" panose="02020500000000000000" charset="-120"/>
            </a:endParaRPr>
          </a:p>
          <a:p>
            <a:pPr marL="355600" indent="-355600">
              <a:buClr>
                <a:srgbClr val="993366"/>
              </a:buClr>
            </a:pPr>
            <a:r>
              <a:rPr lang="zh-CN" altLang="en-US" sz="2400">
                <a:solidFill>
                  <a:srgbClr val="FF0000"/>
                </a:solidFill>
                <a:ea typeface="MingLiU_HKSCS-ExtB" panose="02020500000000000000" charset="-120"/>
              </a:rPr>
              <a:t>信息率失真函数 </a:t>
            </a:r>
            <a:r>
              <a:rPr lang="en-US" altLang="zh-CN" sz="2400" i="1">
                <a:solidFill>
                  <a:srgbClr val="FF0000"/>
                </a:solidFill>
                <a:ea typeface="MingLiU_HKSCS-ExtB" panose="02020500000000000000" charset="-120"/>
              </a:rPr>
              <a:t>R</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en-US" altLang="zh-CN" sz="2400" u="sng">
                <a:solidFill>
                  <a:srgbClr val="FFFF00"/>
                </a:solidFill>
                <a:ea typeface="MingLiU_HKSCS-ExtB" panose="02020500000000000000" charset="-120"/>
              </a:rPr>
              <a:t> </a:t>
            </a:r>
            <a:r>
              <a:rPr lang="zh-CN" altLang="en-US" sz="2400">
                <a:ea typeface="MingLiU_HKSCS-ExtB" panose="02020500000000000000" charset="-120"/>
              </a:rPr>
              <a:t>一旦求出后，就只与信源概率分布 </a:t>
            </a:r>
            <a:r>
              <a:rPr lang="en-US" altLang="zh-CN" sz="2400" i="1">
                <a:ea typeface="MingLiU_HKSCS-ExtB" panose="02020500000000000000" charset="-120"/>
              </a:rPr>
              <a:t>p</a:t>
            </a:r>
            <a:r>
              <a:rPr lang="en-US" altLang="zh-CN" sz="2400">
                <a:ea typeface="MingLiU_HKSCS-ExtB" panose="02020500000000000000" charset="-120"/>
              </a:rPr>
              <a:t>(</a:t>
            </a:r>
            <a:r>
              <a:rPr lang="en-US" altLang="zh-CN" sz="2400" i="1">
                <a:ea typeface="MingLiU_HKSCS-ExtB" panose="02020500000000000000" charset="-120"/>
              </a:rPr>
              <a:t>x</a:t>
            </a:r>
            <a:r>
              <a:rPr lang="en-US" altLang="zh-CN" sz="2400" i="1" baseline="-25000">
                <a:ea typeface="MingLiU_HKSCS-ExtB" panose="02020500000000000000" charset="-120"/>
              </a:rPr>
              <a:t>i</a:t>
            </a:r>
            <a:r>
              <a:rPr lang="en-US" altLang="zh-CN" sz="2400">
                <a:ea typeface="MingLiU_HKSCS-ExtB" panose="02020500000000000000" charset="-120"/>
              </a:rPr>
              <a:t>) </a:t>
            </a:r>
            <a:r>
              <a:rPr lang="zh-CN" altLang="en-US" sz="2400">
                <a:ea typeface="MingLiU_HKSCS-ExtB" panose="02020500000000000000" charset="-120"/>
              </a:rPr>
              <a:t>或概率密度函数 </a:t>
            </a:r>
            <a:r>
              <a:rPr lang="en-US" altLang="zh-CN" sz="2400" i="1">
                <a:ea typeface="MingLiU_HKSCS-ExtB" panose="02020500000000000000" charset="-120"/>
              </a:rPr>
              <a:t>p</a:t>
            </a:r>
            <a:r>
              <a:rPr lang="en-US" altLang="zh-CN" sz="2400">
                <a:ea typeface="MingLiU_HKSCS-ExtB" panose="02020500000000000000" charset="-120"/>
              </a:rPr>
              <a:t>(</a:t>
            </a:r>
            <a:r>
              <a:rPr lang="en-US" altLang="zh-CN" sz="2400" i="1">
                <a:ea typeface="MingLiU_HKSCS-ExtB" panose="02020500000000000000" charset="-120"/>
              </a:rPr>
              <a:t>x</a:t>
            </a:r>
            <a:r>
              <a:rPr lang="en-US" altLang="zh-CN" sz="2400">
                <a:ea typeface="MingLiU_HKSCS-ExtB" panose="02020500000000000000" charset="-120"/>
              </a:rPr>
              <a:t>) </a:t>
            </a:r>
            <a:r>
              <a:rPr lang="zh-CN" altLang="en-US" sz="2400">
                <a:ea typeface="MingLiU_HKSCS-ExtB" panose="02020500000000000000" charset="-120"/>
              </a:rPr>
              <a:t>有关，反映信源特性，与信道特性无关。</a:t>
            </a:r>
          </a:p>
        </p:txBody>
      </p:sp>
      <p:sp>
        <p:nvSpPr>
          <p:cNvPr id="2761" name="矩形 2760"/>
          <p:cNvSpPr/>
          <p:nvPr/>
        </p:nvSpPr>
        <p:spPr>
          <a:xfrm>
            <a:off x="8029575" y="5949950"/>
            <a:ext cx="796925" cy="360363"/>
          </a:xfrm>
          <a:solidFill>
            <a:srgbClr val="BBE0E3"/>
          </a:solidFill>
          <a:ln w="12700">
            <a:noFill/>
          </a:ln>
        </p:spPr>
        <p:txBody>
          <a:bodyPr/>
          <a:lstStyle/>
          <a:p>
            <a:endParaRPr lang="zh-CN" altLang="en-US"/>
          </a:p>
        </p:txBody>
      </p:sp>
    </p:spTree>
  </p:cSld>
  <p:clrMapOvr>
    <a:masterClrMapping/>
  </p:clrMapOvr>
  <p:transition spd="med">
    <p:spli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106</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64" name="标题 2763"/>
          <p:cNvSpPr>
            <a:spLocks noGrp="1"/>
          </p:cNvSpPr>
          <p:nvPr>
            <p:ph type="title" idx="4294967295"/>
          </p:nvPr>
        </p:nvSpPr>
        <p:spPr>
          <a:xfrm>
            <a:off x="982663" y="188913"/>
            <a:ext cx="8161337" cy="719137"/>
          </a:xfrm>
        </p:spPr>
        <p:txBody>
          <a:bodyPr anchor="ctr" anchorCtr="0"/>
          <a:lstStyle/>
          <a:p>
            <a:r>
              <a:rPr lang="en-US" altLang="zh-CN" sz="3600">
                <a:ea typeface="MingLiU_HKSCS-ExtB" panose="02020500000000000000" charset="-120"/>
              </a:rPr>
              <a:t>4.5 </a:t>
            </a:r>
            <a:r>
              <a:rPr lang="zh-CN" altLang="en-US" sz="3600">
                <a:ea typeface="MingLiU_HKSCS-ExtB" panose="02020500000000000000" charset="-120"/>
              </a:rPr>
              <a:t>信道容量与信息率失真函数的比较</a:t>
            </a:r>
          </a:p>
        </p:txBody>
      </p:sp>
      <p:sp>
        <p:nvSpPr>
          <p:cNvPr id="2765" name="文本占位符 2764"/>
          <p:cNvSpPr>
            <a:spLocks noGrp="1"/>
          </p:cNvSpPr>
          <p:nvPr>
            <p:ph type="body" idx="4294967295"/>
          </p:nvPr>
        </p:nvSpPr>
        <p:spPr>
          <a:xfrm>
            <a:off x="590550" y="981075"/>
            <a:ext cx="8229600" cy="5327650"/>
          </a:xfrm>
        </p:spPr>
        <p:txBody>
          <a:bodyPr/>
          <a:lstStyle/>
          <a:p>
            <a:pPr marL="355600" indent="-355600">
              <a:buClr>
                <a:srgbClr val="993366"/>
              </a:buClr>
              <a:buNone/>
            </a:pPr>
            <a:r>
              <a:rPr lang="en-US" altLang="zh-CN">
                <a:ea typeface="MingLiU_HKSCS-ExtB" panose="02020500000000000000" charset="-120"/>
              </a:rPr>
              <a:t>(3) </a:t>
            </a:r>
            <a:r>
              <a:rPr lang="zh-CN" altLang="en-US">
                <a:ea typeface="MingLiU_HKSCS-ExtB" panose="02020500000000000000" charset="-120"/>
              </a:rPr>
              <a:t>解决的问题</a:t>
            </a:r>
            <a:endParaRPr lang="zh-CN" altLang="en-US" u="sng">
              <a:ea typeface="MingLiU_HKSCS-ExtB" panose="02020500000000000000" charset="-120"/>
            </a:endParaRPr>
          </a:p>
          <a:p>
            <a:pPr marL="355600" indent="-355600">
              <a:buClr>
                <a:srgbClr val="993366"/>
              </a:buClr>
            </a:pPr>
            <a:r>
              <a:rPr lang="zh-CN" altLang="en-US" sz="2400">
                <a:solidFill>
                  <a:srgbClr val="FF0000"/>
                </a:solidFill>
                <a:ea typeface="MingLiU_HKSCS-ExtB" panose="02020500000000000000" charset="-120"/>
              </a:rPr>
              <a:t>信道容量</a:t>
            </a:r>
            <a:r>
              <a:rPr lang="zh-CN" altLang="en-US" sz="2400">
                <a:ea typeface="MingLiU_HKSCS-ExtB" panose="02020500000000000000" charset="-120"/>
              </a:rPr>
              <a:t>是为了解决通信的可靠性问题，是信息传输的理论基础，通过信道编码增加信息的冗余度来实现；</a:t>
            </a:r>
            <a:endParaRPr lang="zh-CN" altLang="en-US" sz="2400" u="sng">
              <a:ea typeface="MingLiU_HKSCS-ExtB" panose="02020500000000000000" charset="-120"/>
            </a:endParaRPr>
          </a:p>
          <a:p>
            <a:pPr marL="355600" indent="-355600">
              <a:buClr>
                <a:srgbClr val="993366"/>
              </a:buClr>
            </a:pPr>
            <a:r>
              <a:rPr lang="zh-CN" altLang="en-US" sz="2400">
                <a:solidFill>
                  <a:srgbClr val="FF0000"/>
                </a:solidFill>
                <a:ea typeface="MingLiU_HKSCS-ExtB" panose="02020500000000000000" charset="-120"/>
              </a:rPr>
              <a:t>信息率失真函数</a:t>
            </a:r>
            <a:r>
              <a:rPr lang="zh-CN" altLang="en-US" sz="2400">
                <a:ea typeface="MingLiU_HKSCS-ExtB" panose="02020500000000000000" charset="-120"/>
              </a:rPr>
              <a:t>是为了解决通信的有效性问题，是信源压缩的理论基础，通过信源编码减少信息的冗余度来实现。</a:t>
            </a:r>
          </a:p>
        </p:txBody>
      </p:sp>
      <p:sp>
        <p:nvSpPr>
          <p:cNvPr id="2766" name="矩形 2765"/>
          <p:cNvSpPr/>
          <p:nvPr/>
        </p:nvSpPr>
        <p:spPr>
          <a:xfrm>
            <a:off x="8029575" y="5949950"/>
            <a:ext cx="796925" cy="360363"/>
          </a:xfrm>
          <a:solidFill>
            <a:srgbClr val="BBE0E3"/>
          </a:solidFill>
          <a:ln w="12700">
            <a:noFill/>
          </a:ln>
        </p:spPr>
        <p:txBody>
          <a:bodyPr/>
          <a:lstStyle/>
          <a:p>
            <a:endParaRPr lang="zh-CN" altLang="en-US"/>
          </a:p>
        </p:txBody>
      </p:sp>
    </p:spTree>
  </p:cSld>
  <p:clrMapOvr>
    <a:masterClrMapping/>
  </p:clrMapOvr>
  <p:transition spd="med">
    <p:spli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107</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69" name="标题 2768"/>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4.6 </a:t>
            </a:r>
            <a:r>
              <a:rPr lang="zh-CN" altLang="en-US">
                <a:ea typeface="MingLiU_HKSCS-ExtB" panose="02020500000000000000" charset="-120"/>
              </a:rPr>
              <a:t>保真度准则下的信源编码定理</a:t>
            </a:r>
          </a:p>
        </p:txBody>
      </p:sp>
      <p:sp>
        <p:nvSpPr>
          <p:cNvPr id="2770" name="文本占位符 2769"/>
          <p:cNvSpPr>
            <a:spLocks noGrp="1"/>
          </p:cNvSpPr>
          <p:nvPr>
            <p:ph type="body" idx="4294967295"/>
          </p:nvPr>
        </p:nvSpPr>
        <p:spPr>
          <a:xfrm>
            <a:off x="519113" y="981075"/>
            <a:ext cx="8374062" cy="5327650"/>
          </a:xfrm>
        </p:spPr>
        <p:txBody>
          <a:bodyPr/>
          <a:lstStyle/>
          <a:p>
            <a:pPr marL="355600" indent="-355600">
              <a:buClr>
                <a:srgbClr val="993366"/>
              </a:buClr>
            </a:pPr>
            <a:r>
              <a:rPr lang="zh-CN" altLang="en-US" sz="2400">
                <a:ea typeface="MingLiU_HKSCS-ExtB" panose="02020500000000000000" charset="-120"/>
              </a:rPr>
              <a:t>设一离散平稳无记忆信源的输出随机变量序列为</a:t>
            </a:r>
            <a:r>
              <a:rPr lang="en-US" altLang="zh-CN" sz="2400" i="1">
                <a:solidFill>
                  <a:srgbClr val="FF0000"/>
                </a:solidFill>
                <a:latin typeface="Arial Black" panose="020B0A04020102020204" pitchFamily="34" charset="0"/>
                <a:ea typeface="MingLiU_HKSCS-ExtB" panose="02020500000000000000" charset="-120"/>
              </a:rPr>
              <a:t>X</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baseline="-25000">
                <a:solidFill>
                  <a:srgbClr val="FF0000"/>
                </a:solidFill>
                <a:ea typeface="MingLiU_HKSCS-ExtB" panose="02020500000000000000" charset="-120"/>
              </a:rPr>
              <a:t>1</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baseline="-25000">
                <a:solidFill>
                  <a:srgbClr val="FF0000"/>
                </a:solidFill>
                <a:ea typeface="MingLiU_HKSCS-ExtB" panose="02020500000000000000" charset="-120"/>
              </a:rPr>
              <a:t>2</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X</a:t>
            </a:r>
            <a:r>
              <a:rPr lang="en-US" altLang="zh-CN" sz="2400" i="1" baseline="-25000">
                <a:solidFill>
                  <a:srgbClr val="FF0000"/>
                </a:solidFill>
                <a:ea typeface="MingLiU_HKSCS-ExtB" panose="02020500000000000000" charset="-120"/>
              </a:rPr>
              <a:t>L</a:t>
            </a:r>
            <a:r>
              <a:rPr lang="en-US" altLang="zh-CN" sz="2400">
                <a:solidFill>
                  <a:srgbClr val="FF0000"/>
                </a:solidFill>
                <a:ea typeface="MingLiU_HKSCS-ExtB" panose="02020500000000000000" charset="-120"/>
              </a:rPr>
              <a:t>)</a:t>
            </a:r>
            <a:r>
              <a:rPr lang="zh-CN" altLang="en-US" sz="2400">
                <a:solidFill>
                  <a:srgbClr val="FF0000"/>
                </a:solidFill>
                <a:ea typeface="MingLiU_HKSCS-ExtB" panose="02020500000000000000" charset="-120"/>
              </a:rPr>
              <a:t>，</a:t>
            </a:r>
            <a:r>
              <a:rPr lang="zh-CN" altLang="en-US" sz="2400">
                <a:ea typeface="MingLiU_HKSCS-ExtB" panose="02020500000000000000" charset="-120"/>
              </a:rPr>
              <a:t>若该信源的信息率失真函数是</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R</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zh-CN" altLang="en-US" sz="2400">
                <a:ea typeface="MingLiU_HKSCS-ExtB" panose="02020500000000000000" charset="-120"/>
              </a:rPr>
              <a:t>，并选定有限的失真函数。对于任意允许平均失真度 </a:t>
            </a:r>
            <a:r>
              <a:rPr lang="en-US" altLang="zh-CN" sz="2400" i="1">
                <a:ea typeface="MingLiU_HKSCS-ExtB" panose="02020500000000000000" charset="-120"/>
              </a:rPr>
              <a:t>D</a:t>
            </a:r>
            <a:r>
              <a:rPr lang="en-US" altLang="zh-CN" sz="2400">
                <a:ea typeface="MingLiU_HKSCS-ExtB" panose="02020500000000000000" charset="-120"/>
              </a:rPr>
              <a:t>≥0</a:t>
            </a:r>
            <a:r>
              <a:rPr lang="zh-CN" altLang="en-US" sz="2400">
                <a:ea typeface="MingLiU_HKSCS-ExtB" panose="02020500000000000000" charset="-120"/>
              </a:rPr>
              <a:t>，和任意小的</a:t>
            </a:r>
            <a:r>
              <a:rPr lang="en-US" altLang="zh-CN" sz="2400" i="1">
                <a:solidFill>
                  <a:srgbClr val="FF0000"/>
                </a:solidFill>
                <a:ea typeface="MingLiU_HKSCS-ExtB" panose="02020500000000000000" charset="-120"/>
              </a:rPr>
              <a:t>ε</a:t>
            </a:r>
            <a:r>
              <a:rPr lang="en-US" altLang="zh-CN" sz="2400">
                <a:solidFill>
                  <a:srgbClr val="FF0000"/>
                </a:solidFill>
                <a:ea typeface="MingLiU_HKSCS-ExtB" panose="02020500000000000000" charset="-120"/>
              </a:rPr>
              <a:t>&gt;0</a:t>
            </a:r>
            <a:r>
              <a:rPr lang="zh-CN" altLang="en-US" sz="2400">
                <a:ea typeface="MingLiU_HKSCS-ExtB" panose="02020500000000000000" charset="-120"/>
              </a:rPr>
              <a:t>，当信息率</a:t>
            </a:r>
            <a:r>
              <a:rPr lang="zh-CN" altLang="en-US" sz="2400">
                <a:solidFill>
                  <a:schemeClr val="bg1"/>
                </a:solidFill>
                <a:ea typeface="MingLiU_HKSCS-ExtB" panose="02020500000000000000" charset="-120"/>
              </a:rPr>
              <a:t> </a:t>
            </a:r>
            <a:r>
              <a:rPr lang="en-US" altLang="zh-CN" sz="2400" i="1">
                <a:solidFill>
                  <a:srgbClr val="FF0000"/>
                </a:solidFill>
                <a:ea typeface="MingLiU_HKSCS-ExtB" panose="02020500000000000000" charset="-120"/>
              </a:rPr>
              <a:t>R</a:t>
            </a:r>
            <a:r>
              <a:rPr lang="en-US" altLang="zh-CN" sz="2400">
                <a:solidFill>
                  <a:srgbClr val="FF0000"/>
                </a:solidFill>
                <a:ea typeface="MingLiU_HKSCS-ExtB" panose="02020500000000000000" charset="-120"/>
              </a:rPr>
              <a:t>&gt;</a:t>
            </a:r>
            <a:r>
              <a:rPr lang="en-US" altLang="zh-CN" sz="2400" i="1">
                <a:solidFill>
                  <a:srgbClr val="FF0000"/>
                </a:solidFill>
                <a:ea typeface="MingLiU_HKSCS-ExtB" panose="02020500000000000000" charset="-120"/>
              </a:rPr>
              <a:t>R</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en-US" altLang="zh-CN" sz="2400">
                <a:solidFill>
                  <a:srgbClr val="FFFF00"/>
                </a:solidFill>
                <a:ea typeface="MingLiU_HKSCS-ExtB" panose="02020500000000000000" charset="-120"/>
              </a:rPr>
              <a:t> </a:t>
            </a:r>
            <a:r>
              <a:rPr lang="zh-CN" altLang="en-US" sz="2400">
                <a:ea typeface="MingLiU_HKSCS-ExtB" panose="02020500000000000000" charset="-120"/>
              </a:rPr>
              <a:t>，只要信源序列长度 </a:t>
            </a:r>
            <a:r>
              <a:rPr lang="en-US" altLang="zh-CN" sz="2400" i="1">
                <a:ea typeface="MingLiU_HKSCS-ExtB" panose="02020500000000000000" charset="-120"/>
              </a:rPr>
              <a:t>L </a:t>
            </a:r>
            <a:r>
              <a:rPr lang="zh-CN" altLang="en-US" sz="2400">
                <a:ea typeface="MingLiU_HKSCS-ExtB" panose="02020500000000000000" charset="-120"/>
              </a:rPr>
              <a:t>足够长，一定存在一种编码方式</a:t>
            </a:r>
            <a:r>
              <a:rPr lang="zh-CN" altLang="en-US" sz="2400">
                <a:solidFill>
                  <a:srgbClr val="FF0000"/>
                </a:solidFill>
                <a:ea typeface="MingLiU_HKSCS-ExtB" panose="02020500000000000000" charset="-120"/>
              </a:rPr>
              <a:t> </a:t>
            </a:r>
            <a:r>
              <a:rPr lang="en-US" altLang="zh-CN" sz="2400" i="1">
                <a:solidFill>
                  <a:srgbClr val="FF0000"/>
                </a:solidFill>
                <a:ea typeface="MingLiU_HKSCS-ExtB" panose="02020500000000000000" charset="-120"/>
              </a:rPr>
              <a:t>C</a:t>
            </a:r>
            <a:r>
              <a:rPr lang="zh-CN" altLang="en-US" sz="2400">
                <a:ea typeface="MingLiU_HKSCS-ExtB" panose="02020500000000000000" charset="-120"/>
              </a:rPr>
              <a:t>，使译码后的平均失真度                         ；</a:t>
            </a:r>
          </a:p>
          <a:p>
            <a:pPr marL="355600" indent="-355600">
              <a:buClr>
                <a:srgbClr val="993366"/>
              </a:buClr>
            </a:pPr>
            <a:r>
              <a:rPr lang="zh-CN" altLang="en-US" sz="2400">
                <a:ea typeface="MingLiU_HKSCS-ExtB" panose="02020500000000000000" charset="-120"/>
              </a:rPr>
              <a:t>反之，若：</a:t>
            </a:r>
            <a:r>
              <a:rPr lang="en-US" altLang="zh-CN" sz="2400" i="1">
                <a:solidFill>
                  <a:srgbClr val="FF0000"/>
                </a:solidFill>
                <a:ea typeface="MingLiU_HKSCS-ExtB" panose="02020500000000000000" charset="-120"/>
              </a:rPr>
              <a:t>R</a:t>
            </a:r>
            <a:r>
              <a:rPr lang="en-US" altLang="zh-CN" sz="2400">
                <a:solidFill>
                  <a:srgbClr val="FF0000"/>
                </a:solidFill>
                <a:ea typeface="MingLiU_HKSCS-ExtB" panose="02020500000000000000" charset="-120"/>
              </a:rPr>
              <a:t>&lt;</a:t>
            </a:r>
            <a:r>
              <a:rPr lang="en-US" altLang="zh-CN" sz="2400" i="1">
                <a:solidFill>
                  <a:srgbClr val="FF0000"/>
                </a:solidFill>
                <a:ea typeface="MingLiU_HKSCS-ExtB" panose="02020500000000000000" charset="-120"/>
              </a:rPr>
              <a:t>R</a:t>
            </a:r>
            <a:r>
              <a:rPr lang="en-US" altLang="zh-CN" sz="2400">
                <a:solidFill>
                  <a:srgbClr val="FF0000"/>
                </a:solidFill>
                <a:ea typeface="MingLiU_HKSCS-ExtB" panose="02020500000000000000" charset="-120"/>
              </a:rPr>
              <a:t>(</a:t>
            </a:r>
            <a:r>
              <a:rPr lang="en-US" altLang="zh-CN" sz="2400" i="1">
                <a:solidFill>
                  <a:srgbClr val="FF0000"/>
                </a:solidFill>
                <a:ea typeface="MingLiU_HKSCS-ExtB" panose="02020500000000000000" charset="-120"/>
              </a:rPr>
              <a:t>D</a:t>
            </a:r>
            <a:r>
              <a:rPr lang="en-US" altLang="zh-CN" sz="2400">
                <a:solidFill>
                  <a:srgbClr val="FF0000"/>
                </a:solidFill>
                <a:ea typeface="MingLiU_HKSCS-ExtB" panose="02020500000000000000" charset="-120"/>
              </a:rPr>
              <a:t>)</a:t>
            </a:r>
            <a:r>
              <a:rPr lang="zh-CN" altLang="en-US" sz="2400">
                <a:solidFill>
                  <a:srgbClr val="FF0000"/>
                </a:solidFill>
                <a:ea typeface="MingLiU_HKSCS-ExtB" panose="02020500000000000000" charset="-120"/>
              </a:rPr>
              <a:t>，</a:t>
            </a:r>
            <a:r>
              <a:rPr lang="zh-CN" altLang="en-US" sz="2400">
                <a:ea typeface="MingLiU_HKSCS-ExtB" panose="02020500000000000000" charset="-120"/>
              </a:rPr>
              <a:t>则无论用什么编码方式，必有：</a:t>
            </a:r>
          </a:p>
          <a:p>
            <a:pPr marL="355600" indent="-355600">
              <a:buClr>
                <a:srgbClr val="993366"/>
              </a:buClr>
              <a:buNone/>
            </a:pPr>
            <a:endParaRPr lang="zh-CN" altLang="en-US" sz="2400">
              <a:ea typeface="MingLiU_HKSCS-ExtB" panose="02020500000000000000" charset="-120"/>
            </a:endParaRPr>
          </a:p>
          <a:p>
            <a:pPr marL="355600" indent="-355600">
              <a:buClr>
                <a:srgbClr val="993366"/>
              </a:buClr>
            </a:pPr>
            <a:r>
              <a:rPr lang="zh-CN" altLang="en-US" sz="2400">
                <a:ea typeface="MingLiU_HKSCS-ExtB" panose="02020500000000000000" charset="-120"/>
              </a:rPr>
              <a:t>即译码平均失真必大于允许失真。</a:t>
            </a:r>
          </a:p>
        </p:txBody>
      </p:sp>
      <p:graphicFrame>
        <p:nvGraphicFramePr>
          <p:cNvPr id="2771" name="对象 2770"/>
          <p:cNvGraphicFramePr/>
          <p:nvPr/>
        </p:nvGraphicFramePr>
        <p:xfrm>
          <a:off x="4067175" y="4797425"/>
          <a:ext cx="1219200" cy="466725"/>
        </p:xfrm>
        <a:graphic>
          <a:graphicData uri="http://schemas.openxmlformats.org/presentationml/2006/ole">
            <mc:AlternateContent xmlns:mc="http://schemas.openxmlformats.org/markup-compatibility/2006">
              <mc:Choice xmlns:v="urn:schemas-microsoft-com:vml" Requires="v">
                <p:oleObj spid="_x0000_s64515" r:id="rId3" imgW="565150" imgH="241300" progId="Equation.3">
                  <p:embed/>
                </p:oleObj>
              </mc:Choice>
              <mc:Fallback>
                <p:oleObj r:id="rId3" imgW="565150" imgH="241300" progId="Equation.3">
                  <p:embed/>
                  <p:pic>
                    <p:nvPicPr>
                      <p:cNvPr id="0" name="图片 3126"/>
                      <p:cNvPicPr/>
                      <p:nvPr/>
                    </p:nvPicPr>
                    <p:blipFill>
                      <a:blip r:embed="rId4"/>
                      <a:stretch>
                        <a:fillRect/>
                      </a:stretch>
                    </p:blipFill>
                    <p:spPr>
                      <a:xfrm>
                        <a:off x="4067175" y="4797425"/>
                        <a:ext cx="1219200" cy="466725"/>
                      </a:xfrm>
                      <a:prstGeom prst="rect">
                        <a:avLst/>
                      </a:prstGeom>
                      <a:noFill/>
                      <a:ln w="38100">
                        <a:noFill/>
                        <a:miter/>
                      </a:ln>
                    </p:spPr>
                  </p:pic>
                </p:oleObj>
              </mc:Fallback>
            </mc:AlternateContent>
          </a:graphicData>
        </a:graphic>
      </p:graphicFrame>
      <p:graphicFrame>
        <p:nvGraphicFramePr>
          <p:cNvPr id="2772" name="对象 2771"/>
          <p:cNvGraphicFramePr/>
          <p:nvPr/>
        </p:nvGraphicFramePr>
        <p:xfrm>
          <a:off x="1414463" y="3644900"/>
          <a:ext cx="1573212" cy="452438"/>
        </p:xfrm>
        <a:graphic>
          <a:graphicData uri="http://schemas.openxmlformats.org/presentationml/2006/ole">
            <mc:AlternateContent xmlns:mc="http://schemas.openxmlformats.org/markup-compatibility/2006">
              <mc:Choice xmlns:v="urn:schemas-microsoft-com:vml" Requires="v">
                <p:oleObj spid="_x0000_s64516" r:id="rId5" imgW="577215" imgH="241300" progId="Equation.3">
                  <p:embed/>
                </p:oleObj>
              </mc:Choice>
              <mc:Fallback>
                <p:oleObj r:id="rId5" imgW="577215" imgH="241300" progId="Equation.3">
                  <p:embed/>
                  <p:pic>
                    <p:nvPicPr>
                      <p:cNvPr id="0" name="图片 3125"/>
                      <p:cNvPicPr/>
                      <p:nvPr/>
                    </p:nvPicPr>
                    <p:blipFill>
                      <a:blip r:embed="rId6"/>
                      <a:stretch>
                        <a:fillRect/>
                      </a:stretch>
                    </p:blipFill>
                    <p:spPr>
                      <a:xfrm>
                        <a:off x="1414463" y="3644900"/>
                        <a:ext cx="1573212" cy="452438"/>
                      </a:xfrm>
                      <a:prstGeom prst="rect">
                        <a:avLst/>
                      </a:prstGeom>
                      <a:noFill/>
                      <a:ln w="38100">
                        <a:noFill/>
                        <a:miter/>
                      </a:ln>
                    </p:spPr>
                  </p:pic>
                </p:oleObj>
              </mc:Fallback>
            </mc:AlternateContent>
          </a:graphicData>
        </a:graphic>
      </p:graphicFrame>
    </p:spTree>
  </p:cSld>
  <p:clrMapOvr>
    <a:masterClrMapping/>
  </p:clrMapOvr>
  <p:transition spd="med">
    <p:spli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108</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75" name="标题 2774"/>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4.6 </a:t>
            </a:r>
            <a:r>
              <a:rPr lang="zh-CN" altLang="en-US">
                <a:ea typeface="MingLiU_HKSCS-ExtB" panose="02020500000000000000" charset="-120"/>
              </a:rPr>
              <a:t>保真度准则下的信源编码定理</a:t>
            </a:r>
          </a:p>
        </p:txBody>
      </p:sp>
      <p:sp>
        <p:nvSpPr>
          <p:cNvPr id="2776" name="文本占位符 2775"/>
          <p:cNvSpPr>
            <a:spLocks noGrp="1"/>
          </p:cNvSpPr>
          <p:nvPr>
            <p:ph type="body" idx="4294967295"/>
          </p:nvPr>
        </p:nvSpPr>
        <p:spPr>
          <a:xfrm>
            <a:off x="590550" y="981075"/>
            <a:ext cx="8229600" cy="5327650"/>
          </a:xfrm>
        </p:spPr>
        <p:txBody>
          <a:bodyPr/>
          <a:lstStyle/>
          <a:p>
            <a:pPr marL="355600" indent="-355600">
              <a:buClr>
                <a:srgbClr val="993366"/>
              </a:buClr>
            </a:pPr>
            <a:r>
              <a:rPr lang="zh-CN" altLang="en-US" sz="2400">
                <a:ea typeface="MingLiU_HKSCS-ExtB" panose="02020500000000000000" charset="-120"/>
              </a:rPr>
              <a:t>上述定理也称为限失真信源编码定理。该定理可推广到连续平稳无记忆信源的情况。</a:t>
            </a:r>
          </a:p>
          <a:p>
            <a:pPr marL="355600" indent="-355600">
              <a:buClr>
                <a:srgbClr val="993366"/>
              </a:buClr>
            </a:pPr>
            <a:r>
              <a:rPr lang="zh-CN" altLang="en-US" sz="2400">
                <a:ea typeface="MingLiU_HKSCS-ExtB" panose="02020500000000000000" charset="-120"/>
              </a:rPr>
              <a:t>信息率失真函数也是一个界限。只要信息率大于这个界限，译码失真就可限制在给定的范围内。即通信的过程中虽然有失真，但仍能满足要求，否则就不能满足要求。</a:t>
            </a:r>
          </a:p>
        </p:txBody>
      </p:sp>
      <p:sp>
        <p:nvSpPr>
          <p:cNvPr id="2777" name="矩形 2776"/>
          <p:cNvSpPr/>
          <p:nvPr/>
        </p:nvSpPr>
        <p:spPr>
          <a:xfrm>
            <a:off x="8029575" y="5948363"/>
            <a:ext cx="796925" cy="360362"/>
          </a:xfrm>
          <a:solidFill>
            <a:srgbClr val="BBE0E3"/>
          </a:solidFill>
          <a:ln w="12700">
            <a:noFill/>
          </a:ln>
        </p:spPr>
        <p:txBody>
          <a:bodyPr/>
          <a:lstStyle/>
          <a:p>
            <a:endParaRPr lang="zh-CN" altLang="en-US"/>
          </a:p>
        </p:txBody>
      </p:sp>
    </p:spTree>
  </p:cSld>
  <p:clrMapOvr>
    <a:masterClrMapping/>
  </p:clrMapOvr>
  <p:transition spd="med">
    <p:spli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109</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80" name="标题 2779"/>
          <p:cNvSpPr>
            <a:spLocks noGrp="1"/>
          </p:cNvSpPr>
          <p:nvPr>
            <p:ph type="title" idx="4294967295"/>
          </p:nvPr>
        </p:nvSpPr>
        <p:spPr>
          <a:xfrm>
            <a:off x="982663" y="188913"/>
            <a:ext cx="8161337" cy="719137"/>
          </a:xfrm>
        </p:spPr>
        <p:txBody>
          <a:bodyPr anchor="ctr" anchorCtr="0"/>
          <a:lstStyle/>
          <a:p>
            <a:r>
              <a:rPr lang="en-US" altLang="zh-CN">
                <a:ea typeface="MingLiU_HKSCS-ExtB" panose="02020500000000000000" charset="-120"/>
              </a:rPr>
              <a:t>4.7 </a:t>
            </a:r>
            <a:r>
              <a:rPr lang="zh-CN" altLang="en-US">
                <a:ea typeface="MingLiU_HKSCS-ExtB" panose="02020500000000000000" charset="-120"/>
              </a:rPr>
              <a:t>信息论“三大定理”总结</a:t>
            </a:r>
          </a:p>
        </p:txBody>
      </p:sp>
      <p:sp>
        <p:nvSpPr>
          <p:cNvPr id="2781" name="文本占位符 2780"/>
          <p:cNvSpPr>
            <a:spLocks noGrp="1"/>
          </p:cNvSpPr>
          <p:nvPr>
            <p:ph type="body" idx="4294967295"/>
          </p:nvPr>
        </p:nvSpPr>
        <p:spPr/>
        <p:txBody>
          <a:bodyPr/>
          <a:lstStyle/>
          <a:p>
            <a:pPr marL="355600" indent="-355600">
              <a:buClr>
                <a:srgbClr val="993366"/>
              </a:buClr>
            </a:pPr>
            <a:r>
              <a:rPr lang="zh-CN" altLang="en-US" sz="2400">
                <a:solidFill>
                  <a:srgbClr val="0000CC"/>
                </a:solidFill>
                <a:ea typeface="MingLiU_HKSCS-ExtB" panose="02020500000000000000" charset="-120"/>
              </a:rPr>
              <a:t>香农信息论的三个基本概念</a:t>
            </a:r>
            <a:r>
              <a:rPr lang="en-US" altLang="zh-CN" sz="2400">
                <a:ea typeface="MingLiU_HKSCS-ExtB" panose="02020500000000000000" charset="-120"/>
              </a:rPr>
              <a:t>—</a:t>
            </a:r>
            <a:r>
              <a:rPr lang="zh-CN" altLang="en-US" sz="2400">
                <a:solidFill>
                  <a:srgbClr val="FF0000"/>
                </a:solidFill>
                <a:ea typeface="MingLiU_HKSCS-ExtB" panose="02020500000000000000" charset="-120"/>
              </a:rPr>
              <a:t>信息熵</a:t>
            </a:r>
            <a:r>
              <a:rPr lang="zh-CN" altLang="en-US" sz="2400">
                <a:ea typeface="MingLiU_HKSCS-ExtB" panose="02020500000000000000" charset="-120"/>
              </a:rPr>
              <a:t>、</a:t>
            </a:r>
            <a:r>
              <a:rPr lang="zh-CN" altLang="en-US" sz="2400">
                <a:solidFill>
                  <a:srgbClr val="FF0000"/>
                </a:solidFill>
                <a:ea typeface="MingLiU_HKSCS-ExtB" panose="02020500000000000000" charset="-120"/>
              </a:rPr>
              <a:t>信道容量</a:t>
            </a:r>
            <a:r>
              <a:rPr lang="zh-CN" altLang="en-US" sz="2400">
                <a:ea typeface="MingLiU_HKSCS-ExtB" panose="02020500000000000000" charset="-120"/>
              </a:rPr>
              <a:t>、</a:t>
            </a:r>
            <a:r>
              <a:rPr lang="zh-CN" altLang="en-US" sz="2400">
                <a:solidFill>
                  <a:srgbClr val="FF0000"/>
                </a:solidFill>
                <a:ea typeface="MingLiU_HKSCS-ExtB" panose="02020500000000000000" charset="-120"/>
              </a:rPr>
              <a:t>信息率失真函数</a:t>
            </a:r>
            <a:r>
              <a:rPr lang="zh-CN" altLang="en-US" sz="2400">
                <a:ea typeface="MingLiU_HKSCS-ExtB" panose="02020500000000000000" charset="-120"/>
              </a:rPr>
              <a:t>，都是临界值，是从理论上衡量通信能否满足要求的重要界限。</a:t>
            </a:r>
            <a:endParaRPr lang="zh-CN" altLang="en-US" sz="2400" u="sng">
              <a:ea typeface="MingLiU_HKSCS-ExtB" panose="02020500000000000000" charset="-120"/>
            </a:endParaRPr>
          </a:p>
          <a:p>
            <a:pPr marL="355600" indent="-355600">
              <a:buClr>
                <a:srgbClr val="993366"/>
              </a:buClr>
            </a:pPr>
            <a:r>
              <a:rPr lang="zh-CN" altLang="en-US" sz="2400">
                <a:solidFill>
                  <a:srgbClr val="0000CC"/>
                </a:solidFill>
                <a:ea typeface="MingLiU_HKSCS-ExtB" panose="02020500000000000000" charset="-120"/>
              </a:rPr>
              <a:t>香农的三个基本编码定理</a:t>
            </a:r>
            <a:r>
              <a:rPr lang="en-US" altLang="zh-CN" sz="2400">
                <a:ea typeface="MingLiU_HKSCS-ExtB" panose="02020500000000000000" charset="-120"/>
              </a:rPr>
              <a:t>—</a:t>
            </a:r>
            <a:r>
              <a:rPr lang="zh-CN" altLang="en-US" sz="2400">
                <a:solidFill>
                  <a:srgbClr val="FF0000"/>
                </a:solidFill>
                <a:ea typeface="MingLiU_HKSCS-ExtB" panose="02020500000000000000" charset="-120"/>
              </a:rPr>
              <a:t>无失真信源编码定理</a:t>
            </a:r>
            <a:r>
              <a:rPr lang="zh-CN" altLang="en-US" sz="2400">
                <a:ea typeface="MingLiU_HKSCS-ExtB" panose="02020500000000000000" charset="-120"/>
              </a:rPr>
              <a:t>、</a:t>
            </a:r>
            <a:r>
              <a:rPr lang="zh-CN" altLang="en-US" sz="2400">
                <a:solidFill>
                  <a:srgbClr val="FF0000"/>
                </a:solidFill>
                <a:ea typeface="MingLiU_HKSCS-ExtB" panose="02020500000000000000" charset="-120"/>
              </a:rPr>
              <a:t>信道编码定理</a:t>
            </a:r>
            <a:r>
              <a:rPr lang="zh-CN" altLang="en-US" sz="2400">
                <a:ea typeface="MingLiU_HKSCS-ExtB" panose="02020500000000000000" charset="-120"/>
              </a:rPr>
              <a:t>、</a:t>
            </a:r>
            <a:r>
              <a:rPr lang="zh-CN" altLang="en-US" sz="2400">
                <a:solidFill>
                  <a:srgbClr val="FF0000"/>
                </a:solidFill>
                <a:ea typeface="MingLiU_HKSCS-ExtB" panose="02020500000000000000" charset="-120"/>
              </a:rPr>
              <a:t>限失真信源编码定理</a:t>
            </a:r>
            <a:r>
              <a:rPr lang="zh-CN" altLang="en-US" sz="2400">
                <a:ea typeface="MingLiU_HKSCS-ExtB" panose="02020500000000000000" charset="-120"/>
              </a:rPr>
              <a:t>，这是三个理想编码的存在性定理。分别又称为香农第一、第二、</a:t>
            </a:r>
            <a:r>
              <a:rPr lang="zh-CN" altLang="en-US" sz="2400" b="0">
                <a:ea typeface="MingLiU_HKSCS-ExtB" panose="02020500000000000000" charset="-120"/>
              </a:rPr>
              <a:t>第三</a:t>
            </a:r>
            <a:r>
              <a:rPr lang="zh-CN" altLang="en-US" sz="2400">
                <a:ea typeface="MingLiU_HKSCS-ExtB" panose="02020500000000000000" charset="-120"/>
              </a:rPr>
              <a:t>定理。</a:t>
            </a:r>
          </a:p>
          <a:p>
            <a:pPr marL="355600" indent="-355600">
              <a:buClr>
                <a:srgbClr val="993366"/>
              </a:buClr>
            </a:pPr>
            <a:r>
              <a:rPr lang="zh-CN" altLang="en-US" sz="2400">
                <a:ea typeface="MingLiU_HKSCS-ExtB" panose="02020500000000000000" charset="-120"/>
              </a:rPr>
              <a:t>虽然三个定理都指出理想编码是存在的，但如何寻找编码以及能否做到“理想编码”，则完全是另外一回事。正是后面两章信源编码或信道编码所要讨论的问题。</a:t>
            </a:r>
          </a:p>
        </p:txBody>
      </p:sp>
    </p:spTree>
  </p:cSld>
  <p:clrMapOvr>
    <a:masterClrMapping/>
  </p:clrMapOvr>
  <p:transition spd="med">
    <p:spli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r>
              <a:rPr lang="zh-CN" altLang="en-US"/>
              <a:t>第</a:t>
            </a:r>
            <a:fld id="{9A0DB2DC-4C9A-4742-B13C-FB6460FD3503}" type="slidenum">
              <a:rPr lang="ru-RU" sz="1600" u="none">
                <a:solidFill>
                  <a:srgbClr val="808080"/>
                </a:solidFill>
                <a:latin typeface="Times New Roman" panose="02020603050405020304" pitchFamily="18" charset="0"/>
              </a:rPr>
              <a:t>110</a:t>
            </a:fld>
            <a:r>
              <a:rPr lang="zh-CN" altLang="en-US" sz="1600" u="none">
                <a:solidFill>
                  <a:srgbClr val="808080"/>
                </a:solidFill>
                <a:latin typeface="Times New Roman" panose="02020603050405020304" pitchFamily="18" charset="0"/>
              </a:rPr>
              <a:t>页</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09.04.2025</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h</a:t>
            </a:r>
            <a:endParaRPr lang="en-US" altLang="zh-CN" sz="1600" b="1" u="none">
              <a:solidFill>
                <a:srgbClr val="808080"/>
              </a:solidFill>
              <a:latin typeface="Times New Roman" panose="02020603050405020304" pitchFamily="18" charset="0"/>
            </a:endParaRPr>
          </a:p>
        </p:txBody>
      </p:sp>
      <p:sp>
        <p:nvSpPr>
          <p:cNvPr id="2784" name="矩形 2783"/>
          <p:cNvSpPr/>
          <p:nvPr/>
        </p:nvSpPr>
        <p:spPr>
          <a:xfrm>
            <a:off x="1247775" y="2133600"/>
            <a:ext cx="6515100" cy="2378075"/>
          </a:xfrm>
          <a:prstGeom prst="rect">
            <a:avLst/>
          </a:prstGeom>
        </p:spPr>
        <p:txBody>
          <a:bodyPr wrap="none" fromWordArt="1">
            <a:prstTxWarp prst="textPlain">
              <a:avLst>
                <a:gd name="adj" fmla="val 50000"/>
              </a:avLst>
            </a:prstTxWarp>
            <a:normAutofit/>
          </a:bodyPr>
          <a:lstStyle/>
          <a:p>
            <a:pPr lvl="0" algn="ctr"/>
            <a:r>
              <a:rPr sz="3600">
                <a:ln w="12700" cap="flat" cmpd="sng">
                  <a:solidFill>
                    <a:srgbClr val="EAEAEA"/>
                  </a:solidFill>
                  <a:prstDash val="solid"/>
                  <a:headEnd type="none" w="med" len="med"/>
                  <a:tailEnd type="none" w="med" len="med"/>
                </a:ln>
                <a:gradFill rotWithShape="0">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gs>
                  </a:gsLst>
                  <a:lin ang="0"/>
                  <a:tileRect/>
                </a:gradFill>
                <a:effectLst>
                  <a:outerShdw dist="35921" dir="2699999" sy="50000" kx="2115830" algn="bl" rotWithShape="0">
                    <a:srgbClr val="C0C0C0">
                      <a:alpha val="80000"/>
                    </a:srgbClr>
                  </a:outerShdw>
                </a:effectLst>
                <a:latin typeface="Arial Black" panose="020B0A04020102020204" pitchFamily="34" charset="0"/>
                <a:ea typeface="Arial Black" panose="020B0A04020102020204" pitchFamily="34" charset="0"/>
              </a:rPr>
              <a:t>THE END</a:t>
            </a:r>
          </a:p>
        </p:txBody>
      </p:sp>
    </p:spTree>
  </p:cSld>
  <p:clrMapOvr>
    <a:masterClrMapping/>
  </p:clrMapOvr>
  <p:transition spd="med">
    <p:split/>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cxYmFiYWNhMDc3ZDFiMzFhOTY2NmNhMjhiNzAzNWMifQ=="/>
</p:tagLst>
</file>

<file path=ppt/theme/theme1.xml><?xml version="1.0" encoding="utf-8"?>
<a:theme xmlns:a="http://schemas.openxmlformats.org/drawingml/2006/main" name=" overriden">
  <a:themeElements>
    <a:clrScheme name="">
      <a:dk1>
        <a:srgbClr val="000000"/>
      </a:dk1>
      <a:lt1>
        <a:srgbClr val="FFFFFF"/>
      </a:lt1>
      <a:dk2>
        <a:srgbClr val="000000"/>
      </a:dk2>
      <a:lt2>
        <a:srgbClr val="808080"/>
      </a:lt2>
      <a:accent1>
        <a:srgbClr val="BBE0E3"/>
      </a:accent1>
      <a:accent2>
        <a:srgbClr val="660066"/>
      </a:accent2>
      <a:accent3>
        <a:srgbClr val="9BBB59"/>
      </a:accent3>
      <a:accent4>
        <a:srgbClr val="8064A2"/>
      </a:accent4>
      <a:accent5>
        <a:srgbClr val="4BACC6"/>
      </a:accent5>
      <a:accent6>
        <a:srgbClr val="F79646"/>
      </a:accent6>
      <a:hlink>
        <a:srgbClr val="000000"/>
      </a:hlink>
      <a:folHlink>
        <a:srgbClr val="0000FF"/>
      </a:folHlink>
    </a:clrScheme>
    <a:fontScheme name="">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9BBB59"/>
        </a:accent3>
        <a:accent4>
          <a:srgbClr val="8064A2"/>
        </a:accent4>
        <a:accent5>
          <a:srgbClr val="4BACC6"/>
        </a:accent5>
        <a:accent6>
          <a:srgbClr val="F79646"/>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9BBB59"/>
        </a:accent3>
        <a:accent4>
          <a:srgbClr val="8064A2"/>
        </a:accent4>
        <a:accent5>
          <a:srgbClr val="4BACC6"/>
        </a:accent5>
        <a:accent6>
          <a:srgbClr val="F79646"/>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9BBB59"/>
        </a:accent3>
        <a:accent4>
          <a:srgbClr val="8064A2"/>
        </a:accent4>
        <a:accent5>
          <a:srgbClr val="4BACC6"/>
        </a:accent5>
        <a:accent6>
          <a:srgbClr val="F79646"/>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9BBB59"/>
        </a:accent3>
        <a:accent4>
          <a:srgbClr val="8064A2"/>
        </a:accent4>
        <a:accent5>
          <a:srgbClr val="4BACC6"/>
        </a:accent5>
        <a:accent6>
          <a:srgbClr val="F79646"/>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9BBB59"/>
        </a:accent3>
        <a:accent4>
          <a:srgbClr val="8064A2"/>
        </a:accent4>
        <a:accent5>
          <a:srgbClr val="4BACC6"/>
        </a:accent5>
        <a:accent6>
          <a:srgbClr val="F79646"/>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9BBB59"/>
        </a:accent3>
        <a:accent4>
          <a:srgbClr val="8064A2"/>
        </a:accent4>
        <a:accent5>
          <a:srgbClr val="4BACC6"/>
        </a:accent5>
        <a:accent6>
          <a:srgbClr val="F79646"/>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9BBB59"/>
        </a:accent3>
        <a:accent4>
          <a:srgbClr val="8064A2"/>
        </a:accent4>
        <a:accent5>
          <a:srgbClr val="4BACC6"/>
        </a:accent5>
        <a:accent6>
          <a:srgbClr val="F79646"/>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9BBB59"/>
        </a:accent3>
        <a:accent4>
          <a:srgbClr val="8064A2"/>
        </a:accent4>
        <a:accent5>
          <a:srgbClr val="4BACC6"/>
        </a:accent5>
        <a:accent6>
          <a:srgbClr val="F79646"/>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9BBB59"/>
        </a:accent3>
        <a:accent4>
          <a:srgbClr val="8064A2"/>
        </a:accent4>
        <a:accent5>
          <a:srgbClr val="4BACC6"/>
        </a:accent5>
        <a:accent6>
          <a:srgbClr val="F79646"/>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9BBB59"/>
        </a:accent3>
        <a:accent4>
          <a:srgbClr val="8064A2"/>
        </a:accent4>
        <a:accent5>
          <a:srgbClr val="4BACC6"/>
        </a:accent5>
        <a:accent6>
          <a:srgbClr val="F7964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9BBB59"/>
        </a:accent3>
        <a:accent4>
          <a:srgbClr val="8064A2"/>
        </a:accent4>
        <a:accent5>
          <a:srgbClr val="4BACC6"/>
        </a:accent5>
        <a:accent6>
          <a:srgbClr val="F79646"/>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9BBB59"/>
        </a:accent3>
        <a:accent4>
          <a:srgbClr val="8064A2"/>
        </a:accent4>
        <a:accent5>
          <a:srgbClr val="4BACC6"/>
        </a:accent5>
        <a:accent6>
          <a:srgbClr val="F79646"/>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660066"/>
        </a:accent2>
        <a:accent3>
          <a:srgbClr val="9BBB59"/>
        </a:accent3>
        <a:accent4>
          <a:srgbClr val="8064A2"/>
        </a:accent4>
        <a:accent5>
          <a:srgbClr val="4BACC6"/>
        </a:accent5>
        <a:accent6>
          <a:srgbClr val="F79646"/>
        </a:accent6>
        <a:hlink>
          <a:srgbClr val="000000"/>
        </a:hlink>
        <a:folHlink>
          <a:srgbClr val="0000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333399"/>
        </a:accent2>
        <a:accent3>
          <a:srgbClr val="9BBB59"/>
        </a:accent3>
        <a:accent4>
          <a:srgbClr val="8064A2"/>
        </a:accent4>
        <a:accent5>
          <a:srgbClr val="4BACC6"/>
        </a:accent5>
        <a:accent6>
          <a:srgbClr val="F79646"/>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9BBB59"/>
        </a:accent3>
        <a:accent4>
          <a:srgbClr val="8064A2"/>
        </a:accent4>
        <a:accent5>
          <a:srgbClr val="4BACC6"/>
        </a:accent5>
        <a:accent6>
          <a:srgbClr val="F79646"/>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9BBB59"/>
        </a:accent3>
        <a:accent4>
          <a:srgbClr val="8064A2"/>
        </a:accent4>
        <a:accent5>
          <a:srgbClr val="4BACC6"/>
        </a:accent5>
        <a:accent6>
          <a:srgbClr val="F79646"/>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9BBB59"/>
        </a:accent3>
        <a:accent4>
          <a:srgbClr val="8064A2"/>
        </a:accent4>
        <a:accent5>
          <a:srgbClr val="4BACC6"/>
        </a:accent5>
        <a:accent6>
          <a:srgbClr val="F79646"/>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9BBB59"/>
        </a:accent3>
        <a:accent4>
          <a:srgbClr val="8064A2"/>
        </a:accent4>
        <a:accent5>
          <a:srgbClr val="4BACC6"/>
        </a:accent5>
        <a:accent6>
          <a:srgbClr val="F79646"/>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9BBB59"/>
        </a:accent3>
        <a:accent4>
          <a:srgbClr val="8064A2"/>
        </a:accent4>
        <a:accent5>
          <a:srgbClr val="4BACC6"/>
        </a:accent5>
        <a:accent6>
          <a:srgbClr val="F79646"/>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9BBB59"/>
        </a:accent3>
        <a:accent4>
          <a:srgbClr val="8064A2"/>
        </a:accent4>
        <a:accent5>
          <a:srgbClr val="4BACC6"/>
        </a:accent5>
        <a:accent6>
          <a:srgbClr val="F79646"/>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9BBB59"/>
        </a:accent3>
        <a:accent4>
          <a:srgbClr val="8064A2"/>
        </a:accent4>
        <a:accent5>
          <a:srgbClr val="4BACC6"/>
        </a:accent5>
        <a:accent6>
          <a:srgbClr val="F79646"/>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9BBB59"/>
        </a:accent3>
        <a:accent4>
          <a:srgbClr val="8064A2"/>
        </a:accent4>
        <a:accent5>
          <a:srgbClr val="4BACC6"/>
        </a:accent5>
        <a:accent6>
          <a:srgbClr val="F79646"/>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9BBB59"/>
        </a:accent3>
        <a:accent4>
          <a:srgbClr val="8064A2"/>
        </a:accent4>
        <a:accent5>
          <a:srgbClr val="4BACC6"/>
        </a:accent5>
        <a:accent6>
          <a:srgbClr val="F7964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9BBB59"/>
        </a:accent3>
        <a:accent4>
          <a:srgbClr val="8064A2"/>
        </a:accent4>
        <a:accent5>
          <a:srgbClr val="4BACC6"/>
        </a:accent5>
        <a:accent6>
          <a:srgbClr val="F79646"/>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9BBB59"/>
        </a:accent3>
        <a:accent4>
          <a:srgbClr val="8064A2"/>
        </a:accent4>
        <a:accent5>
          <a:srgbClr val="4BACC6"/>
        </a:accent5>
        <a:accent6>
          <a:srgbClr val="F79646"/>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660066"/>
        </a:accent2>
        <a:accent3>
          <a:srgbClr val="9BBB59"/>
        </a:accent3>
        <a:accent4>
          <a:srgbClr val="8064A2"/>
        </a:accent4>
        <a:accent5>
          <a:srgbClr val="4BACC6"/>
        </a:accent5>
        <a:accent6>
          <a:srgbClr val="F79646"/>
        </a:accent6>
        <a:hlink>
          <a:srgbClr val="000000"/>
        </a:hlink>
        <a:folHlink>
          <a:srgbClr val="0000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333399"/>
        </a:accent2>
        <a:accent3>
          <a:srgbClr val="9BBB59"/>
        </a:accent3>
        <a:accent4>
          <a:srgbClr val="8064A2"/>
        </a:accent4>
        <a:accent5>
          <a:srgbClr val="4BACC6"/>
        </a:accent5>
        <a:accent6>
          <a:srgbClr val="F79646"/>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9BBB59"/>
        </a:accent3>
        <a:accent4>
          <a:srgbClr val="8064A2"/>
        </a:accent4>
        <a:accent5>
          <a:srgbClr val="4BACC6"/>
        </a:accent5>
        <a:accent6>
          <a:srgbClr val="F79646"/>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9BBB59"/>
        </a:accent3>
        <a:accent4>
          <a:srgbClr val="8064A2"/>
        </a:accent4>
        <a:accent5>
          <a:srgbClr val="4BACC6"/>
        </a:accent5>
        <a:accent6>
          <a:srgbClr val="F79646"/>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9BBB59"/>
        </a:accent3>
        <a:accent4>
          <a:srgbClr val="8064A2"/>
        </a:accent4>
        <a:accent5>
          <a:srgbClr val="4BACC6"/>
        </a:accent5>
        <a:accent6>
          <a:srgbClr val="F79646"/>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9BBB59"/>
        </a:accent3>
        <a:accent4>
          <a:srgbClr val="8064A2"/>
        </a:accent4>
        <a:accent5>
          <a:srgbClr val="4BACC6"/>
        </a:accent5>
        <a:accent6>
          <a:srgbClr val="F79646"/>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9BBB59"/>
        </a:accent3>
        <a:accent4>
          <a:srgbClr val="8064A2"/>
        </a:accent4>
        <a:accent5>
          <a:srgbClr val="4BACC6"/>
        </a:accent5>
        <a:accent6>
          <a:srgbClr val="F79646"/>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9BBB59"/>
        </a:accent3>
        <a:accent4>
          <a:srgbClr val="8064A2"/>
        </a:accent4>
        <a:accent5>
          <a:srgbClr val="4BACC6"/>
        </a:accent5>
        <a:accent6>
          <a:srgbClr val="F79646"/>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9BBB59"/>
        </a:accent3>
        <a:accent4>
          <a:srgbClr val="8064A2"/>
        </a:accent4>
        <a:accent5>
          <a:srgbClr val="4BACC6"/>
        </a:accent5>
        <a:accent6>
          <a:srgbClr val="F79646"/>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9BBB59"/>
        </a:accent3>
        <a:accent4>
          <a:srgbClr val="8064A2"/>
        </a:accent4>
        <a:accent5>
          <a:srgbClr val="4BACC6"/>
        </a:accent5>
        <a:accent6>
          <a:srgbClr val="F79646"/>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9BBB59"/>
        </a:accent3>
        <a:accent4>
          <a:srgbClr val="8064A2"/>
        </a:accent4>
        <a:accent5>
          <a:srgbClr val="4BACC6"/>
        </a:accent5>
        <a:accent6>
          <a:srgbClr val="F7964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9BBB59"/>
        </a:accent3>
        <a:accent4>
          <a:srgbClr val="8064A2"/>
        </a:accent4>
        <a:accent5>
          <a:srgbClr val="4BACC6"/>
        </a:accent5>
        <a:accent6>
          <a:srgbClr val="F79646"/>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9BBB59"/>
        </a:accent3>
        <a:accent4>
          <a:srgbClr val="8064A2"/>
        </a:accent4>
        <a:accent5>
          <a:srgbClr val="4BACC6"/>
        </a:accent5>
        <a:accent6>
          <a:srgbClr val="F79646"/>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660066"/>
        </a:accent2>
        <a:accent3>
          <a:srgbClr val="9BBB59"/>
        </a:accent3>
        <a:accent4>
          <a:srgbClr val="8064A2"/>
        </a:accent4>
        <a:accent5>
          <a:srgbClr val="4BACC6"/>
        </a:accent5>
        <a:accent6>
          <a:srgbClr val="F79646"/>
        </a:accent6>
        <a:hlink>
          <a:srgbClr val="000000"/>
        </a:hlink>
        <a:folHlink>
          <a:srgbClr val="0000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333399"/>
        </a:accent2>
        <a:accent3>
          <a:srgbClr val="9BBB59"/>
        </a:accent3>
        <a:accent4>
          <a:srgbClr val="8064A2"/>
        </a:accent4>
        <a:accent5>
          <a:srgbClr val="4BACC6"/>
        </a:accent5>
        <a:accent6>
          <a:srgbClr val="F79646"/>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9BBB59"/>
        </a:accent3>
        <a:accent4>
          <a:srgbClr val="8064A2"/>
        </a:accent4>
        <a:accent5>
          <a:srgbClr val="4BACC6"/>
        </a:accent5>
        <a:accent6>
          <a:srgbClr val="F79646"/>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9BBB59"/>
        </a:accent3>
        <a:accent4>
          <a:srgbClr val="8064A2"/>
        </a:accent4>
        <a:accent5>
          <a:srgbClr val="4BACC6"/>
        </a:accent5>
        <a:accent6>
          <a:srgbClr val="F79646"/>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9BBB59"/>
        </a:accent3>
        <a:accent4>
          <a:srgbClr val="8064A2"/>
        </a:accent4>
        <a:accent5>
          <a:srgbClr val="4BACC6"/>
        </a:accent5>
        <a:accent6>
          <a:srgbClr val="F79646"/>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9BBB59"/>
        </a:accent3>
        <a:accent4>
          <a:srgbClr val="8064A2"/>
        </a:accent4>
        <a:accent5>
          <a:srgbClr val="4BACC6"/>
        </a:accent5>
        <a:accent6>
          <a:srgbClr val="F79646"/>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9BBB59"/>
        </a:accent3>
        <a:accent4>
          <a:srgbClr val="8064A2"/>
        </a:accent4>
        <a:accent5>
          <a:srgbClr val="4BACC6"/>
        </a:accent5>
        <a:accent6>
          <a:srgbClr val="F79646"/>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9BBB59"/>
        </a:accent3>
        <a:accent4>
          <a:srgbClr val="8064A2"/>
        </a:accent4>
        <a:accent5>
          <a:srgbClr val="4BACC6"/>
        </a:accent5>
        <a:accent6>
          <a:srgbClr val="F79646"/>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9BBB59"/>
        </a:accent3>
        <a:accent4>
          <a:srgbClr val="8064A2"/>
        </a:accent4>
        <a:accent5>
          <a:srgbClr val="4BACC6"/>
        </a:accent5>
        <a:accent6>
          <a:srgbClr val="F79646"/>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9BBB59"/>
        </a:accent3>
        <a:accent4>
          <a:srgbClr val="8064A2"/>
        </a:accent4>
        <a:accent5>
          <a:srgbClr val="4BACC6"/>
        </a:accent5>
        <a:accent6>
          <a:srgbClr val="F79646"/>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9BBB59"/>
        </a:accent3>
        <a:accent4>
          <a:srgbClr val="8064A2"/>
        </a:accent4>
        <a:accent5>
          <a:srgbClr val="4BACC6"/>
        </a:accent5>
        <a:accent6>
          <a:srgbClr val="F7964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9BBB59"/>
        </a:accent3>
        <a:accent4>
          <a:srgbClr val="8064A2"/>
        </a:accent4>
        <a:accent5>
          <a:srgbClr val="4BACC6"/>
        </a:accent5>
        <a:accent6>
          <a:srgbClr val="F79646"/>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9BBB59"/>
        </a:accent3>
        <a:accent4>
          <a:srgbClr val="8064A2"/>
        </a:accent4>
        <a:accent5>
          <a:srgbClr val="4BACC6"/>
        </a:accent5>
        <a:accent6>
          <a:srgbClr val="F79646"/>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660066"/>
        </a:accent2>
        <a:accent3>
          <a:srgbClr val="9BBB59"/>
        </a:accent3>
        <a:accent4>
          <a:srgbClr val="8064A2"/>
        </a:accent4>
        <a:accent5>
          <a:srgbClr val="4BACC6"/>
        </a:accent5>
        <a:accent6>
          <a:srgbClr val="F79646"/>
        </a:accent6>
        <a:hlink>
          <a:srgbClr val="000000"/>
        </a:hlink>
        <a:folHlink>
          <a:srgbClr val="0000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 overriden">
  <a:themeElements>
    <a:clrScheme name="">
      <a:dk1>
        <a:srgbClr val="000000"/>
      </a:dk1>
      <a:lt1>
        <a:srgbClr val="FFFFFF"/>
      </a:lt1>
      <a:dk2>
        <a:srgbClr val="000000"/>
      </a:dk2>
      <a:lt2>
        <a:srgbClr val="808080"/>
      </a:lt2>
      <a:accent1>
        <a:srgbClr val="BBE0E3"/>
      </a:accent1>
      <a:accent2>
        <a:srgbClr val="333399"/>
      </a:accent2>
      <a:accent3>
        <a:srgbClr val="9BBB59"/>
      </a:accent3>
      <a:accent4>
        <a:srgbClr val="8064A2"/>
      </a:accent4>
      <a:accent5>
        <a:srgbClr val="4BACC6"/>
      </a:accent5>
      <a:accent6>
        <a:srgbClr val="F79646"/>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9BBB59"/>
        </a:accent3>
        <a:accent4>
          <a:srgbClr val="8064A2"/>
        </a:accent4>
        <a:accent5>
          <a:srgbClr val="4BACC6"/>
        </a:accent5>
        <a:accent6>
          <a:srgbClr val="F79646"/>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9BBB59"/>
        </a:accent3>
        <a:accent4>
          <a:srgbClr val="8064A2"/>
        </a:accent4>
        <a:accent5>
          <a:srgbClr val="4BACC6"/>
        </a:accent5>
        <a:accent6>
          <a:srgbClr val="F79646"/>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9BBB59"/>
        </a:accent3>
        <a:accent4>
          <a:srgbClr val="8064A2"/>
        </a:accent4>
        <a:accent5>
          <a:srgbClr val="4BACC6"/>
        </a:accent5>
        <a:accent6>
          <a:srgbClr val="F79646"/>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9BBB59"/>
        </a:accent3>
        <a:accent4>
          <a:srgbClr val="8064A2"/>
        </a:accent4>
        <a:accent5>
          <a:srgbClr val="4BACC6"/>
        </a:accent5>
        <a:accent6>
          <a:srgbClr val="F79646"/>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9BBB59"/>
        </a:accent3>
        <a:accent4>
          <a:srgbClr val="8064A2"/>
        </a:accent4>
        <a:accent5>
          <a:srgbClr val="4BACC6"/>
        </a:accent5>
        <a:accent6>
          <a:srgbClr val="F79646"/>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9BBB59"/>
        </a:accent3>
        <a:accent4>
          <a:srgbClr val="8064A2"/>
        </a:accent4>
        <a:accent5>
          <a:srgbClr val="4BACC6"/>
        </a:accent5>
        <a:accent6>
          <a:srgbClr val="F79646"/>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9BBB59"/>
        </a:accent3>
        <a:accent4>
          <a:srgbClr val="8064A2"/>
        </a:accent4>
        <a:accent5>
          <a:srgbClr val="4BACC6"/>
        </a:accent5>
        <a:accent6>
          <a:srgbClr val="F79646"/>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9BBB59"/>
        </a:accent3>
        <a:accent4>
          <a:srgbClr val="8064A2"/>
        </a:accent4>
        <a:accent5>
          <a:srgbClr val="4BACC6"/>
        </a:accent5>
        <a:accent6>
          <a:srgbClr val="F79646"/>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9BBB59"/>
        </a:accent3>
        <a:accent4>
          <a:srgbClr val="8064A2"/>
        </a:accent4>
        <a:accent5>
          <a:srgbClr val="4BACC6"/>
        </a:accent5>
        <a:accent6>
          <a:srgbClr val="F79646"/>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9BBB59"/>
        </a:accent3>
        <a:accent4>
          <a:srgbClr val="8064A2"/>
        </a:accent4>
        <a:accent5>
          <a:srgbClr val="4BACC6"/>
        </a:accent5>
        <a:accent6>
          <a:srgbClr val="F7964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9BBB59"/>
        </a:accent3>
        <a:accent4>
          <a:srgbClr val="8064A2"/>
        </a:accent4>
        <a:accent5>
          <a:srgbClr val="4BACC6"/>
        </a:accent5>
        <a:accent6>
          <a:srgbClr val="F79646"/>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9BBB59"/>
        </a:accent3>
        <a:accent4>
          <a:srgbClr val="8064A2"/>
        </a:accent4>
        <a:accent5>
          <a:srgbClr val="4BACC6"/>
        </a:accent5>
        <a:accent6>
          <a:srgbClr val="F79646"/>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333399"/>
        </a:accent2>
        <a:accent3>
          <a:srgbClr val="9BBB59"/>
        </a:accent3>
        <a:accent4>
          <a:srgbClr val="8064A2"/>
        </a:accent4>
        <a:accent5>
          <a:srgbClr val="4BACC6"/>
        </a:accent5>
        <a:accent6>
          <a:srgbClr val="F79646"/>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9BBB59"/>
        </a:accent3>
        <a:accent4>
          <a:srgbClr val="8064A2"/>
        </a:accent4>
        <a:accent5>
          <a:srgbClr val="4BACC6"/>
        </a:accent5>
        <a:accent6>
          <a:srgbClr val="F79646"/>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9BBB59"/>
        </a:accent3>
        <a:accent4>
          <a:srgbClr val="8064A2"/>
        </a:accent4>
        <a:accent5>
          <a:srgbClr val="4BACC6"/>
        </a:accent5>
        <a:accent6>
          <a:srgbClr val="F79646"/>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9BBB59"/>
        </a:accent3>
        <a:accent4>
          <a:srgbClr val="8064A2"/>
        </a:accent4>
        <a:accent5>
          <a:srgbClr val="4BACC6"/>
        </a:accent5>
        <a:accent6>
          <a:srgbClr val="F79646"/>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9BBB59"/>
        </a:accent3>
        <a:accent4>
          <a:srgbClr val="8064A2"/>
        </a:accent4>
        <a:accent5>
          <a:srgbClr val="4BACC6"/>
        </a:accent5>
        <a:accent6>
          <a:srgbClr val="F79646"/>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9BBB59"/>
        </a:accent3>
        <a:accent4>
          <a:srgbClr val="8064A2"/>
        </a:accent4>
        <a:accent5>
          <a:srgbClr val="4BACC6"/>
        </a:accent5>
        <a:accent6>
          <a:srgbClr val="F79646"/>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9BBB59"/>
        </a:accent3>
        <a:accent4>
          <a:srgbClr val="8064A2"/>
        </a:accent4>
        <a:accent5>
          <a:srgbClr val="4BACC6"/>
        </a:accent5>
        <a:accent6>
          <a:srgbClr val="F79646"/>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9BBB59"/>
        </a:accent3>
        <a:accent4>
          <a:srgbClr val="8064A2"/>
        </a:accent4>
        <a:accent5>
          <a:srgbClr val="4BACC6"/>
        </a:accent5>
        <a:accent6>
          <a:srgbClr val="F79646"/>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9BBB59"/>
        </a:accent3>
        <a:accent4>
          <a:srgbClr val="8064A2"/>
        </a:accent4>
        <a:accent5>
          <a:srgbClr val="4BACC6"/>
        </a:accent5>
        <a:accent6>
          <a:srgbClr val="F79646"/>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9BBB59"/>
        </a:accent3>
        <a:accent4>
          <a:srgbClr val="8064A2"/>
        </a:accent4>
        <a:accent5>
          <a:srgbClr val="4BACC6"/>
        </a:accent5>
        <a:accent6>
          <a:srgbClr val="F7964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9BBB59"/>
        </a:accent3>
        <a:accent4>
          <a:srgbClr val="8064A2"/>
        </a:accent4>
        <a:accent5>
          <a:srgbClr val="4BACC6"/>
        </a:accent5>
        <a:accent6>
          <a:srgbClr val="F79646"/>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9BBB59"/>
        </a:accent3>
        <a:accent4>
          <a:srgbClr val="8064A2"/>
        </a:accent4>
        <a:accent5>
          <a:srgbClr val="4BACC6"/>
        </a:accent5>
        <a:accent6>
          <a:srgbClr val="F79646"/>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333399"/>
        </a:accent2>
        <a:accent3>
          <a:srgbClr val="9BBB59"/>
        </a:accent3>
        <a:accent4>
          <a:srgbClr val="8064A2"/>
        </a:accent4>
        <a:accent5>
          <a:srgbClr val="4BACC6"/>
        </a:accent5>
        <a:accent6>
          <a:srgbClr val="F79646"/>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9BBB59"/>
        </a:accent3>
        <a:accent4>
          <a:srgbClr val="8064A2"/>
        </a:accent4>
        <a:accent5>
          <a:srgbClr val="4BACC6"/>
        </a:accent5>
        <a:accent6>
          <a:srgbClr val="F79646"/>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9BBB59"/>
        </a:accent3>
        <a:accent4>
          <a:srgbClr val="8064A2"/>
        </a:accent4>
        <a:accent5>
          <a:srgbClr val="4BACC6"/>
        </a:accent5>
        <a:accent6>
          <a:srgbClr val="F79646"/>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9BBB59"/>
        </a:accent3>
        <a:accent4>
          <a:srgbClr val="8064A2"/>
        </a:accent4>
        <a:accent5>
          <a:srgbClr val="4BACC6"/>
        </a:accent5>
        <a:accent6>
          <a:srgbClr val="F79646"/>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9BBB59"/>
        </a:accent3>
        <a:accent4>
          <a:srgbClr val="8064A2"/>
        </a:accent4>
        <a:accent5>
          <a:srgbClr val="4BACC6"/>
        </a:accent5>
        <a:accent6>
          <a:srgbClr val="F79646"/>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9BBB59"/>
        </a:accent3>
        <a:accent4>
          <a:srgbClr val="8064A2"/>
        </a:accent4>
        <a:accent5>
          <a:srgbClr val="4BACC6"/>
        </a:accent5>
        <a:accent6>
          <a:srgbClr val="F79646"/>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9BBB59"/>
        </a:accent3>
        <a:accent4>
          <a:srgbClr val="8064A2"/>
        </a:accent4>
        <a:accent5>
          <a:srgbClr val="4BACC6"/>
        </a:accent5>
        <a:accent6>
          <a:srgbClr val="F79646"/>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9BBB59"/>
        </a:accent3>
        <a:accent4>
          <a:srgbClr val="8064A2"/>
        </a:accent4>
        <a:accent5>
          <a:srgbClr val="4BACC6"/>
        </a:accent5>
        <a:accent6>
          <a:srgbClr val="F79646"/>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9BBB59"/>
        </a:accent3>
        <a:accent4>
          <a:srgbClr val="8064A2"/>
        </a:accent4>
        <a:accent5>
          <a:srgbClr val="4BACC6"/>
        </a:accent5>
        <a:accent6>
          <a:srgbClr val="F79646"/>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9BBB59"/>
        </a:accent3>
        <a:accent4>
          <a:srgbClr val="8064A2"/>
        </a:accent4>
        <a:accent5>
          <a:srgbClr val="4BACC6"/>
        </a:accent5>
        <a:accent6>
          <a:srgbClr val="F7964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9BBB59"/>
        </a:accent3>
        <a:accent4>
          <a:srgbClr val="8064A2"/>
        </a:accent4>
        <a:accent5>
          <a:srgbClr val="4BACC6"/>
        </a:accent5>
        <a:accent6>
          <a:srgbClr val="F79646"/>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9BBB59"/>
        </a:accent3>
        <a:accent4>
          <a:srgbClr val="8064A2"/>
        </a:accent4>
        <a:accent5>
          <a:srgbClr val="4BACC6"/>
        </a:accent5>
        <a:accent6>
          <a:srgbClr val="F79646"/>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BBE0E3"/>
        </a:accent1>
        <a:accent2>
          <a:srgbClr val="333399"/>
        </a:accent2>
        <a:accent3>
          <a:srgbClr val="9BBB59"/>
        </a:accent3>
        <a:accent4>
          <a:srgbClr val="8064A2"/>
        </a:accent4>
        <a:accent5>
          <a:srgbClr val="4BACC6"/>
        </a:accent5>
        <a:accent6>
          <a:srgbClr val="F79646"/>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9BBB59"/>
        </a:accent3>
        <a:accent4>
          <a:srgbClr val="8064A2"/>
        </a:accent4>
        <a:accent5>
          <a:srgbClr val="4BACC6"/>
        </a:accent5>
        <a:accent6>
          <a:srgbClr val="F79646"/>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9BBB59"/>
        </a:accent3>
        <a:accent4>
          <a:srgbClr val="8064A2"/>
        </a:accent4>
        <a:accent5>
          <a:srgbClr val="4BACC6"/>
        </a:accent5>
        <a:accent6>
          <a:srgbClr val="F79646"/>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9BBB59"/>
        </a:accent3>
        <a:accent4>
          <a:srgbClr val="8064A2"/>
        </a:accent4>
        <a:accent5>
          <a:srgbClr val="4BACC6"/>
        </a:accent5>
        <a:accent6>
          <a:srgbClr val="F79646"/>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9BBB59"/>
        </a:accent3>
        <a:accent4>
          <a:srgbClr val="8064A2"/>
        </a:accent4>
        <a:accent5>
          <a:srgbClr val="4BACC6"/>
        </a:accent5>
        <a:accent6>
          <a:srgbClr val="F79646"/>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9BBB59"/>
        </a:accent3>
        <a:accent4>
          <a:srgbClr val="8064A2"/>
        </a:accent4>
        <a:accent5>
          <a:srgbClr val="4BACC6"/>
        </a:accent5>
        <a:accent6>
          <a:srgbClr val="F79646"/>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9BBB59"/>
        </a:accent3>
        <a:accent4>
          <a:srgbClr val="8064A2"/>
        </a:accent4>
        <a:accent5>
          <a:srgbClr val="4BACC6"/>
        </a:accent5>
        <a:accent6>
          <a:srgbClr val="F79646"/>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9BBB59"/>
        </a:accent3>
        <a:accent4>
          <a:srgbClr val="8064A2"/>
        </a:accent4>
        <a:accent5>
          <a:srgbClr val="4BACC6"/>
        </a:accent5>
        <a:accent6>
          <a:srgbClr val="F79646"/>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9BBB59"/>
        </a:accent3>
        <a:accent4>
          <a:srgbClr val="8064A2"/>
        </a:accent4>
        <a:accent5>
          <a:srgbClr val="4BACC6"/>
        </a:accent5>
        <a:accent6>
          <a:srgbClr val="F79646"/>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9BBB59"/>
        </a:accent3>
        <a:accent4>
          <a:srgbClr val="8064A2"/>
        </a:accent4>
        <a:accent5>
          <a:srgbClr val="4BACC6"/>
        </a:accent5>
        <a:accent6>
          <a:srgbClr val="F7964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9BBB59"/>
        </a:accent3>
        <a:accent4>
          <a:srgbClr val="8064A2"/>
        </a:accent4>
        <a:accent5>
          <a:srgbClr val="4BACC6"/>
        </a:accent5>
        <a:accent6>
          <a:srgbClr val="F79646"/>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9BBB59"/>
        </a:accent3>
        <a:accent4>
          <a:srgbClr val="8064A2"/>
        </a:accent4>
        <a:accent5>
          <a:srgbClr val="4BACC6"/>
        </a:accent5>
        <a:accent6>
          <a:srgbClr val="F79646"/>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000000"/>
      </a:dk2>
      <a:lt2>
        <a:srgbClr val="808080"/>
      </a:lt2>
      <a:accent1>
        <a:srgbClr val="BBE0E3"/>
      </a:accent1>
      <a:accent2>
        <a:srgbClr val="333399"/>
      </a:accent2>
      <a:accent3>
        <a:srgbClr val="9BBB59"/>
      </a:accent3>
      <a:accent4>
        <a:srgbClr val="8064A2"/>
      </a:accent4>
      <a:accent5>
        <a:srgbClr val="4BACC6"/>
      </a:accent5>
      <a:accent6>
        <a:srgbClr val="F79646"/>
      </a:accent6>
      <a:hlink>
        <a:srgbClr val="009999"/>
      </a:hlink>
      <a:folHlink>
        <a:srgbClr val="99CC00"/>
      </a:folHlink>
    </a:clrScheme>
    <a:fontScheme name="Arial">
      <a:majorFont>
        <a:latin typeface="Arial"/>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8111</Words>
  <Application>Microsoft Office PowerPoint</Application>
  <PresentationFormat>全屏显示(4:3)</PresentationFormat>
  <Paragraphs>1704</Paragraphs>
  <Slides>110</Slides>
  <Notes>0</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2</vt:i4>
      </vt:variant>
      <vt:variant>
        <vt:lpstr>幻灯片标题</vt:lpstr>
      </vt:variant>
      <vt:variant>
        <vt:i4>110</vt:i4>
      </vt:variant>
    </vt:vector>
  </HeadingPairs>
  <TitlesOfParts>
    <vt:vector size="123" baseType="lpstr">
      <vt:lpstr>MingLiU_HKSCS-ExtB</vt:lpstr>
      <vt:lpstr>黑体</vt:lpstr>
      <vt:lpstr>华文琥珀</vt:lpstr>
      <vt:lpstr>楷体_GB2312</vt:lpstr>
      <vt:lpstr>宋体</vt:lpstr>
      <vt:lpstr>Arial</vt:lpstr>
      <vt:lpstr>Arial Black</vt:lpstr>
      <vt:lpstr>Times New Roman</vt:lpstr>
      <vt:lpstr>Wingdings</vt:lpstr>
      <vt:lpstr> overriden</vt:lpstr>
      <vt:lpstr> overriden</vt:lpstr>
      <vt:lpstr>Visio.Drawing.11</vt:lpstr>
      <vt:lpstr>Microsoft 公式 3.0</vt:lpstr>
      <vt:lpstr>PowerPoint 演示文稿</vt:lpstr>
      <vt:lpstr>Chapter4  Rate Distortion Function</vt:lpstr>
      <vt:lpstr>4.1 基本概念</vt:lpstr>
      <vt:lpstr>4.1.1 引    言 (Introduction)</vt:lpstr>
      <vt:lpstr>4.1.1 引    言 (Introduction)</vt:lpstr>
      <vt:lpstr>4.1.1 引    言 (Introduction)</vt:lpstr>
      <vt:lpstr>4.1.1 引    言 (Introduction)</vt:lpstr>
      <vt:lpstr>4.1.1 引    言 (Introduction)</vt:lpstr>
      <vt:lpstr>4.1.1 引    言 (Introduction)</vt:lpstr>
      <vt:lpstr>4.1.1 引    言 (Introduction)</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4.1.2 失真度与平均失真度</vt:lpstr>
      <vt:lpstr>4.1.3 信息率失真函数的定义</vt:lpstr>
      <vt:lpstr>4.1.3 信息率失真函数的定义</vt:lpstr>
      <vt:lpstr>4.1.3 信息率失真函数的定义</vt:lpstr>
      <vt:lpstr>4.1.3 信息率失真函数的定义</vt:lpstr>
      <vt:lpstr>4.1.3 信息率失真函数的定义</vt:lpstr>
      <vt:lpstr>4.1.3 信息率失真函数的定义</vt:lpstr>
      <vt:lpstr>4.1.3 信息率失真函数的定义</vt:lpstr>
      <vt:lpstr>4.1.3 信息率失真函数的定义</vt:lpstr>
      <vt:lpstr>4.1.4 信息率失真函数的性质</vt:lpstr>
      <vt:lpstr>4.1.4 信息率失真函数的性质</vt:lpstr>
      <vt:lpstr>4.1.4 信息率失真函数的性质</vt:lpstr>
      <vt:lpstr>4.1.4 信息率失真函数的性质</vt:lpstr>
      <vt:lpstr>4.1.4 信息率失真函数的性质</vt:lpstr>
      <vt:lpstr>4.1.4 信息率失真函数的性质</vt:lpstr>
      <vt:lpstr>4.1.4 信息率失真函数的性质</vt:lpstr>
      <vt:lpstr>4.1.4 信息率失真函数的性质</vt:lpstr>
      <vt:lpstr>4.1.4 信息率失真函数的性质</vt:lpstr>
      <vt:lpstr>4.1.4 信息率失真函数的性质</vt:lpstr>
      <vt:lpstr>4.1.4 信息率失真函数的性质</vt:lpstr>
      <vt:lpstr>4.1.4 信息率失真函数的性质</vt:lpstr>
      <vt:lpstr>4.1.4 信息率失真函数的性质</vt:lpstr>
      <vt:lpstr>4.1.4 信息率失真函数的性质</vt:lpstr>
      <vt:lpstr>4.1.4 信息率失真函数的性质</vt:lpstr>
      <vt:lpstr>4.1.4 信息率失真函数的性质</vt:lpstr>
      <vt:lpstr>4.2 离散信源的信息率失真函数</vt:lpstr>
      <vt:lpstr>4.2.1 离散信源率失真函数的参量表达式</vt:lpstr>
      <vt:lpstr>4.2.1 离散信源率失真函数的参量表达式</vt:lpstr>
      <vt:lpstr>4.2.1 离散信源率失真函数的参量表达式</vt:lpstr>
      <vt:lpstr>4.2.1 离散信源率失真函数的参量表达式</vt:lpstr>
      <vt:lpstr>4.2.1 离散信源率失真函数的参量表达式</vt:lpstr>
      <vt:lpstr>4.2.1 离散信源率失真函数的参量表达式</vt:lpstr>
      <vt:lpstr>4.2.1 离散信源率失真函数的参量表达式</vt:lpstr>
      <vt:lpstr>4.2.1 离散信源率失真函数的参量表达式</vt:lpstr>
      <vt:lpstr>4.2.1 离散信源率失真函数的参量表达式</vt:lpstr>
      <vt:lpstr>4.2.1 离散信源率失真函数的参量表达式</vt:lpstr>
      <vt:lpstr>4.2.1 离散信源率失真函数的参量表达式</vt:lpstr>
      <vt:lpstr>4.2.1 离散信源率失真函数的参量表达式</vt:lpstr>
      <vt:lpstr>4.2.1 离散信源率失真函数的参量表达式</vt:lpstr>
      <vt:lpstr>4.2.1 离散信源率失真函数的参量表达式</vt:lpstr>
      <vt:lpstr>4.2.1 离散信源率失真函数的参量表达式</vt:lpstr>
      <vt:lpstr>4.2.1 离散信源率失真函数的参量表达式</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4.2.2  二元及等概率离散信源的信息率失真函数</vt:lpstr>
      <vt:lpstr>4.3  连续信源的信息率失真函数</vt:lpstr>
      <vt:lpstr>4.3.1 连续信源的信息率失真函数的参量表达式</vt:lpstr>
      <vt:lpstr>4.3.1 连续信源的信息率失真函数的参量表达式</vt:lpstr>
      <vt:lpstr>4.3.1 连续信源的信息率失真函数的参量表达式</vt:lpstr>
      <vt:lpstr>4.3.1 连续信源的信息率失真函数的参量表达式</vt:lpstr>
      <vt:lpstr>4.3.2 高斯信源的信息率失真函数</vt:lpstr>
      <vt:lpstr>4.3.2 高斯信源的信息率失真函数</vt:lpstr>
      <vt:lpstr>4.3.2 高斯信源的信息率失真函数</vt:lpstr>
      <vt:lpstr>4.3.2 高斯信源的信息率失真函数</vt:lpstr>
      <vt:lpstr>4.3.2 高斯信源的信息率失真函数</vt:lpstr>
      <vt:lpstr>4.3.2 高斯信源的信息率失真函数</vt:lpstr>
      <vt:lpstr>4.4 信息率失真函数与信息价值</vt:lpstr>
      <vt:lpstr>4.4 信息率失真函数与信息价值</vt:lpstr>
      <vt:lpstr>4.5 信道容量与信息率失真函数的比较</vt:lpstr>
      <vt:lpstr>4.5 信道容量与信息率失真函数的比较</vt:lpstr>
      <vt:lpstr>4.5 信道容量与信息率失真函数的比较</vt:lpstr>
      <vt:lpstr>4.5 信道容量与信息率失真函数的比较</vt:lpstr>
      <vt:lpstr>4.5 信道容量与信息率失真函数的比较</vt:lpstr>
      <vt:lpstr>4.6 保真度准则下的信源编码定理</vt:lpstr>
      <vt:lpstr>4.6 保真度准则下的信源编码定理</vt:lpstr>
      <vt:lpstr>4.7 信息论“三大定理”总结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th</dc:creator>
  <cp:lastModifiedBy>SWPU</cp:lastModifiedBy>
  <cp:revision>3178</cp:revision>
  <dcterms:created xsi:type="dcterms:W3CDTF">2007-12-15T03:38:00Z</dcterms:created>
  <dcterms:modified xsi:type="dcterms:W3CDTF">2025-04-09T01:21:21Z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72220D1863874FF1BE7C3E3ABA4FA011_13</vt:lpwstr>
  </property>
  <property fmtid="{D5CDD505-2E9C-101B-9397-08002B2CF9AE}" pid="3" name="KSOProductBuildVer">
    <vt:lpwstr>2052-12.1.0.16729</vt:lpwstr>
  </property>
</Properties>
</file>